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4"/>
  </p:notesMasterIdLst>
  <p:handoutMasterIdLst>
    <p:handoutMasterId r:id="rId125"/>
  </p:handoutMasterIdLst>
  <p:sldIdLst>
    <p:sldId id="309" r:id="rId2"/>
    <p:sldId id="446" r:id="rId3"/>
    <p:sldId id="519" r:id="rId4"/>
    <p:sldId id="525" r:id="rId5"/>
    <p:sldId id="520" r:id="rId6"/>
    <p:sldId id="521" r:id="rId7"/>
    <p:sldId id="522" r:id="rId8"/>
    <p:sldId id="523" r:id="rId9"/>
    <p:sldId id="526" r:id="rId10"/>
    <p:sldId id="447" r:id="rId11"/>
    <p:sldId id="524" r:id="rId12"/>
    <p:sldId id="527" r:id="rId13"/>
    <p:sldId id="528" r:id="rId14"/>
    <p:sldId id="451" r:id="rId15"/>
    <p:sldId id="452" r:id="rId16"/>
    <p:sldId id="453" r:id="rId17"/>
    <p:sldId id="454" r:id="rId18"/>
    <p:sldId id="456" r:id="rId19"/>
    <p:sldId id="459" r:id="rId20"/>
    <p:sldId id="460" r:id="rId21"/>
    <p:sldId id="432" r:id="rId22"/>
    <p:sldId id="366" r:id="rId23"/>
    <p:sldId id="397" r:id="rId24"/>
    <p:sldId id="398" r:id="rId25"/>
    <p:sldId id="399" r:id="rId26"/>
    <p:sldId id="401" r:id="rId27"/>
    <p:sldId id="402" r:id="rId28"/>
    <p:sldId id="403" r:id="rId29"/>
    <p:sldId id="404" r:id="rId30"/>
    <p:sldId id="411" r:id="rId31"/>
    <p:sldId id="412" r:id="rId32"/>
    <p:sldId id="413" r:id="rId33"/>
    <p:sldId id="422" r:id="rId34"/>
    <p:sldId id="414" r:id="rId35"/>
    <p:sldId id="415" r:id="rId36"/>
    <p:sldId id="418" r:id="rId37"/>
    <p:sldId id="486" r:id="rId38"/>
    <p:sldId id="487" r:id="rId39"/>
    <p:sldId id="488" r:id="rId40"/>
    <p:sldId id="489" r:id="rId41"/>
    <p:sldId id="462" r:id="rId42"/>
    <p:sldId id="463" r:id="rId43"/>
    <p:sldId id="464" r:id="rId44"/>
    <p:sldId id="465" r:id="rId45"/>
    <p:sldId id="466" r:id="rId46"/>
    <p:sldId id="472" r:id="rId47"/>
    <p:sldId id="474" r:id="rId48"/>
    <p:sldId id="475" r:id="rId49"/>
    <p:sldId id="476" r:id="rId50"/>
    <p:sldId id="477" r:id="rId51"/>
    <p:sldId id="478" r:id="rId52"/>
    <p:sldId id="479" r:id="rId53"/>
    <p:sldId id="480" r:id="rId54"/>
    <p:sldId id="481" r:id="rId55"/>
    <p:sldId id="483" r:id="rId56"/>
    <p:sldId id="406" r:id="rId57"/>
    <p:sldId id="405" r:id="rId58"/>
    <p:sldId id="407" r:id="rId59"/>
    <p:sldId id="408" r:id="rId60"/>
    <p:sldId id="409" r:id="rId61"/>
    <p:sldId id="490" r:id="rId62"/>
    <p:sldId id="491" r:id="rId63"/>
    <p:sldId id="492" r:id="rId64"/>
    <p:sldId id="493" r:id="rId65"/>
    <p:sldId id="494" r:id="rId66"/>
    <p:sldId id="495" r:id="rId67"/>
    <p:sldId id="496" r:id="rId68"/>
    <p:sldId id="497" r:id="rId69"/>
    <p:sldId id="498" r:id="rId70"/>
    <p:sldId id="499" r:id="rId71"/>
    <p:sldId id="500" r:id="rId72"/>
    <p:sldId id="501" r:id="rId73"/>
    <p:sldId id="502" r:id="rId74"/>
    <p:sldId id="503" r:id="rId75"/>
    <p:sldId id="504" r:id="rId76"/>
    <p:sldId id="505" r:id="rId77"/>
    <p:sldId id="506" r:id="rId78"/>
    <p:sldId id="507" r:id="rId79"/>
    <p:sldId id="508" r:id="rId80"/>
    <p:sldId id="509" r:id="rId81"/>
    <p:sldId id="510" r:id="rId82"/>
    <p:sldId id="511" r:id="rId83"/>
    <p:sldId id="512" r:id="rId84"/>
    <p:sldId id="513" r:id="rId85"/>
    <p:sldId id="514" r:id="rId86"/>
    <p:sldId id="515" r:id="rId87"/>
    <p:sldId id="529" r:id="rId88"/>
    <p:sldId id="547" r:id="rId89"/>
    <p:sldId id="530" r:id="rId90"/>
    <p:sldId id="533" r:id="rId91"/>
    <p:sldId id="534" r:id="rId92"/>
    <p:sldId id="535" r:id="rId93"/>
    <p:sldId id="537" r:id="rId94"/>
    <p:sldId id="531" r:id="rId95"/>
    <p:sldId id="538" r:id="rId96"/>
    <p:sldId id="539" r:id="rId97"/>
    <p:sldId id="540" r:id="rId98"/>
    <p:sldId id="541" r:id="rId99"/>
    <p:sldId id="544" r:id="rId100"/>
    <p:sldId id="542" r:id="rId101"/>
    <p:sldId id="554" r:id="rId102"/>
    <p:sldId id="555" r:id="rId103"/>
    <p:sldId id="556" r:id="rId104"/>
    <p:sldId id="557" r:id="rId105"/>
    <p:sldId id="558" r:id="rId106"/>
    <p:sldId id="559" r:id="rId107"/>
    <p:sldId id="560" r:id="rId108"/>
    <p:sldId id="561" r:id="rId109"/>
    <p:sldId id="562" r:id="rId110"/>
    <p:sldId id="430" r:id="rId111"/>
    <p:sldId id="385" r:id="rId112"/>
    <p:sldId id="431" r:id="rId113"/>
    <p:sldId id="429" r:id="rId114"/>
    <p:sldId id="428" r:id="rId115"/>
    <p:sldId id="545" r:id="rId116"/>
    <p:sldId id="546" r:id="rId117"/>
    <p:sldId id="548" r:id="rId118"/>
    <p:sldId id="549" r:id="rId119"/>
    <p:sldId id="550" r:id="rId120"/>
    <p:sldId id="551" r:id="rId121"/>
    <p:sldId id="552" r:id="rId122"/>
    <p:sldId id="553" r:id="rId123"/>
  </p:sldIdLst>
  <p:sldSz cx="9906000" cy="6858000" type="A4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돋움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돋움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돋움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돋움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돋움" panose="020B0600000101010101" pitchFamily="50" charset="-127"/>
        <a:cs typeface="+mn-cs"/>
      </a:defRPr>
    </a:lvl5pPr>
    <a:lvl6pPr marL="2286000" algn="l" defTabSz="914400" rtl="0" eaLnBrk="1" latinLnBrk="1" hangingPunct="1">
      <a:defRPr kumimoji="1" sz="1200" kern="1200">
        <a:solidFill>
          <a:schemeClr val="tx1"/>
        </a:solidFill>
        <a:latin typeface="Times New Roman" panose="02020603050405020304" pitchFamily="18" charset="0"/>
        <a:ea typeface="돋움" panose="020B0600000101010101" pitchFamily="50" charset="-127"/>
        <a:cs typeface="+mn-cs"/>
      </a:defRPr>
    </a:lvl6pPr>
    <a:lvl7pPr marL="2743200" algn="l" defTabSz="914400" rtl="0" eaLnBrk="1" latinLnBrk="1" hangingPunct="1">
      <a:defRPr kumimoji="1" sz="1200" kern="1200">
        <a:solidFill>
          <a:schemeClr val="tx1"/>
        </a:solidFill>
        <a:latin typeface="Times New Roman" panose="02020603050405020304" pitchFamily="18" charset="0"/>
        <a:ea typeface="돋움" panose="020B0600000101010101" pitchFamily="50" charset="-127"/>
        <a:cs typeface="+mn-cs"/>
      </a:defRPr>
    </a:lvl7pPr>
    <a:lvl8pPr marL="3200400" algn="l" defTabSz="914400" rtl="0" eaLnBrk="1" latinLnBrk="1" hangingPunct="1">
      <a:defRPr kumimoji="1" sz="1200" kern="1200">
        <a:solidFill>
          <a:schemeClr val="tx1"/>
        </a:solidFill>
        <a:latin typeface="Times New Roman" panose="02020603050405020304" pitchFamily="18" charset="0"/>
        <a:ea typeface="돋움" panose="020B0600000101010101" pitchFamily="50" charset="-127"/>
        <a:cs typeface="+mn-cs"/>
      </a:defRPr>
    </a:lvl8pPr>
    <a:lvl9pPr marL="3657600" algn="l" defTabSz="914400" rtl="0" eaLnBrk="1" latinLnBrk="1" hangingPunct="1">
      <a:defRPr kumimoji="1" sz="1200" kern="1200">
        <a:solidFill>
          <a:schemeClr val="tx1"/>
        </a:solidFill>
        <a:latin typeface="Times New Roman" panose="02020603050405020304" pitchFamily="18" charset="0"/>
        <a:ea typeface="돋움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0">
          <p15:clr>
            <a:srgbClr val="A4A3A4"/>
          </p15:clr>
        </p15:guide>
        <p15:guide id="2" pos="56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97" userDrawn="1">
          <p15:clr>
            <a:srgbClr val="A4A3A4"/>
          </p15:clr>
        </p15:guide>
        <p15:guide id="2" pos="312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DCAF0"/>
    <a:srgbClr val="2467A9"/>
    <a:srgbClr val="FF99FF"/>
    <a:srgbClr val="FFCCCC"/>
    <a:srgbClr val="FF99CC"/>
    <a:srgbClr val="E7260F"/>
    <a:srgbClr val="FFFFCC"/>
    <a:srgbClr val="FFFF99"/>
    <a:srgbClr val="9DAFFD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49" autoAdjust="0"/>
    <p:restoredTop sz="94660" autoAdjust="0"/>
  </p:normalViewPr>
  <p:slideViewPr>
    <p:cSldViewPr snapToGrid="0">
      <p:cViewPr varScale="1">
        <p:scale>
          <a:sx n="104" d="100"/>
          <a:sy n="104" d="100"/>
        </p:scale>
        <p:origin x="245" y="96"/>
      </p:cViewPr>
      <p:guideLst>
        <p:guide orient="horz" pos="4080"/>
        <p:guide pos="561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9" d="100"/>
          <a:sy n="39" d="100"/>
        </p:scale>
        <p:origin x="-1402" y="-102"/>
      </p:cViewPr>
      <p:guideLst>
        <p:guide orient="horz" pos="2197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notesMaster" Target="notesMasters/notesMaster1.xml"/><Relationship Id="rId12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89.xml"/><Relationship Id="rId1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D91211-418B-49B1-B12B-2210661C2433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pPr latinLnBrk="1"/>
          <a:endParaRPr lang="ko-KR" altLang="en-US"/>
        </a:p>
      </dgm:t>
    </dgm:pt>
    <dgm:pt modelId="{1182D511-DFD0-4CFC-9DAA-81C5DB899458}">
      <dgm:prSet phldrT="[텍스트]"/>
      <dgm:spPr>
        <a:xfrm>
          <a:off x="304800" y="39399"/>
          <a:ext cx="4267200" cy="531360"/>
        </a:xfrm>
        <a:prstGeom prst="roundRect">
          <a:avLst/>
        </a:prstGeom>
        <a:solidFill>
          <a:srgbClr val="132E6F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latinLnBrk="1"/>
          <a:r>
            <a:rPr lang="en-US" altLang="ko-KR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1. </a:t>
          </a:r>
          <a:r>
            <a:rPr lang="ko-KR" altLang="en-US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연구과제 개요</a:t>
          </a:r>
          <a:endParaRPr lang="ko-KR" altLang="en-US" dirty="0">
            <a:solidFill>
              <a:srgbClr val="FFFFFF"/>
            </a:solidFill>
            <a:latin typeface="나눔고딕 ExtraBold" pitchFamily="50" charset="-127"/>
            <a:ea typeface="나눔고딕 ExtraBold" pitchFamily="50" charset="-127"/>
            <a:cs typeface="+mn-cs"/>
          </a:endParaRPr>
        </a:p>
      </dgm:t>
    </dgm:pt>
    <dgm:pt modelId="{5FC963D7-82AD-4DB6-9CA1-5CF5E1F10BA3}" type="parTrans" cxnId="{A9E99702-7DE5-44DC-89B3-7C71DEAADABE}">
      <dgm:prSet/>
      <dgm:spPr/>
      <dgm:t>
        <a:bodyPr/>
        <a:lstStyle/>
        <a:p>
          <a:pPr latinLnBrk="1"/>
          <a:endParaRPr lang="ko-KR" altLang="en-US">
            <a:latin typeface="나눔고딕 ExtraBold" pitchFamily="50" charset="-127"/>
            <a:ea typeface="나눔고딕 ExtraBold" pitchFamily="50" charset="-127"/>
          </a:endParaRPr>
        </a:p>
      </dgm:t>
    </dgm:pt>
    <dgm:pt modelId="{962FF35D-DA44-47FA-A282-B0A780A60DE8}" type="sibTrans" cxnId="{A9E99702-7DE5-44DC-89B3-7C71DEAADABE}">
      <dgm:prSet/>
      <dgm:spPr/>
      <dgm:t>
        <a:bodyPr/>
        <a:lstStyle/>
        <a:p>
          <a:pPr latinLnBrk="1"/>
          <a:endParaRPr lang="ko-KR" altLang="en-US">
            <a:latin typeface="나눔고딕 ExtraBold" pitchFamily="50" charset="-127"/>
            <a:ea typeface="나눔고딕 ExtraBold" pitchFamily="50" charset="-127"/>
          </a:endParaRPr>
        </a:p>
      </dgm:t>
    </dgm:pt>
    <dgm:pt modelId="{126E0A88-E086-4FD7-899C-BF6073711D68}">
      <dgm:prSet phldrT="[텍스트]"/>
      <dgm:spPr>
        <a:xfrm>
          <a:off x="304800" y="855879"/>
          <a:ext cx="4267200" cy="531360"/>
        </a:xfrm>
        <a:prstGeom prst="roundRect">
          <a:avLst/>
        </a:prstGeom>
        <a:solidFill>
          <a:srgbClr val="132E6F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latinLnBrk="1"/>
          <a:r>
            <a:rPr lang="en-US" altLang="ko-KR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2. </a:t>
          </a:r>
          <a:r>
            <a:rPr lang="ko-KR" altLang="en-US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연구개발의 필요성 및 목표</a:t>
          </a:r>
          <a:endParaRPr lang="ko-KR" altLang="en-US" dirty="0">
            <a:solidFill>
              <a:srgbClr val="FFFFFF"/>
            </a:solidFill>
            <a:latin typeface="나눔고딕 ExtraBold" pitchFamily="50" charset="-127"/>
            <a:ea typeface="나눔고딕 ExtraBold" pitchFamily="50" charset="-127"/>
            <a:cs typeface="+mn-cs"/>
          </a:endParaRPr>
        </a:p>
      </dgm:t>
    </dgm:pt>
    <dgm:pt modelId="{C18E0CCF-C607-4B87-BA08-AE87679E179C}" type="parTrans" cxnId="{0D2FADD8-6D4D-45E9-92B6-CAF4F7E613BD}">
      <dgm:prSet/>
      <dgm:spPr/>
      <dgm:t>
        <a:bodyPr/>
        <a:lstStyle/>
        <a:p>
          <a:pPr latinLnBrk="1"/>
          <a:endParaRPr lang="ko-KR" altLang="en-US">
            <a:latin typeface="나눔고딕 ExtraBold" pitchFamily="50" charset="-127"/>
            <a:ea typeface="나눔고딕 ExtraBold" pitchFamily="50" charset="-127"/>
          </a:endParaRPr>
        </a:p>
      </dgm:t>
    </dgm:pt>
    <dgm:pt modelId="{56C1F5F0-6DBF-4EF9-A3F3-DDB5A1B2DE5B}" type="sibTrans" cxnId="{0D2FADD8-6D4D-45E9-92B6-CAF4F7E613BD}">
      <dgm:prSet/>
      <dgm:spPr/>
      <dgm:t>
        <a:bodyPr/>
        <a:lstStyle/>
        <a:p>
          <a:pPr latinLnBrk="1"/>
          <a:endParaRPr lang="ko-KR" altLang="en-US">
            <a:latin typeface="나눔고딕 ExtraBold" pitchFamily="50" charset="-127"/>
            <a:ea typeface="나눔고딕 ExtraBold" pitchFamily="50" charset="-127"/>
          </a:endParaRPr>
        </a:p>
      </dgm:t>
    </dgm:pt>
    <dgm:pt modelId="{A6913625-15B2-46B1-82B4-E0F152BB51FE}">
      <dgm:prSet phldrT="[텍스트]"/>
      <dgm:spPr>
        <a:xfrm>
          <a:off x="304800" y="1672359"/>
          <a:ext cx="4267200" cy="531360"/>
        </a:xfrm>
        <a:prstGeom prst="roundRect">
          <a:avLst/>
        </a:prstGeom>
        <a:solidFill>
          <a:srgbClr val="132E6F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latinLnBrk="1"/>
          <a:r>
            <a:rPr lang="en-US" altLang="ko-KR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3. 1</a:t>
          </a:r>
          <a:r>
            <a:rPr lang="ko-KR" altLang="en-US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차년도 연구 내용 및 결과</a:t>
          </a:r>
          <a:endParaRPr lang="ko-KR" altLang="en-US" dirty="0">
            <a:solidFill>
              <a:srgbClr val="FFFFFF"/>
            </a:solidFill>
            <a:latin typeface="나눔고딕 ExtraBold" pitchFamily="50" charset="-127"/>
            <a:ea typeface="나눔고딕 ExtraBold" pitchFamily="50" charset="-127"/>
            <a:cs typeface="+mn-cs"/>
          </a:endParaRPr>
        </a:p>
      </dgm:t>
    </dgm:pt>
    <dgm:pt modelId="{081E7F25-8D28-4DA2-B7FA-B4BEBCCF48CC}" type="parTrans" cxnId="{9C6E403C-3D0E-4DD1-AD6D-207E010F032A}">
      <dgm:prSet/>
      <dgm:spPr/>
      <dgm:t>
        <a:bodyPr/>
        <a:lstStyle/>
        <a:p>
          <a:pPr latinLnBrk="1"/>
          <a:endParaRPr lang="ko-KR" altLang="en-US">
            <a:latin typeface="나눔고딕 ExtraBold" pitchFamily="50" charset="-127"/>
            <a:ea typeface="나눔고딕 ExtraBold" pitchFamily="50" charset="-127"/>
          </a:endParaRPr>
        </a:p>
      </dgm:t>
    </dgm:pt>
    <dgm:pt modelId="{81096C71-D98B-4740-AA30-4B3F23307F6A}" type="sibTrans" cxnId="{9C6E403C-3D0E-4DD1-AD6D-207E010F032A}">
      <dgm:prSet/>
      <dgm:spPr/>
      <dgm:t>
        <a:bodyPr/>
        <a:lstStyle/>
        <a:p>
          <a:pPr latinLnBrk="1"/>
          <a:endParaRPr lang="ko-KR" altLang="en-US">
            <a:latin typeface="나눔고딕 ExtraBold" pitchFamily="50" charset="-127"/>
            <a:ea typeface="나눔고딕 ExtraBold" pitchFamily="50" charset="-127"/>
          </a:endParaRPr>
        </a:p>
      </dgm:t>
    </dgm:pt>
    <dgm:pt modelId="{D5239EE3-ACB0-4BCA-9FA0-139AD99276A2}">
      <dgm:prSet phldrT="[텍스트]"/>
      <dgm:spPr>
        <a:xfrm>
          <a:off x="304800" y="2488840"/>
          <a:ext cx="4267200" cy="531360"/>
        </a:xfrm>
        <a:prstGeom prst="roundRect">
          <a:avLst/>
        </a:prstGeom>
        <a:solidFill>
          <a:srgbClr val="132E6F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latinLnBrk="1"/>
          <a:r>
            <a:rPr lang="en-US" altLang="ko-KR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4.</a:t>
          </a:r>
          <a:r>
            <a:rPr lang="ko-KR" altLang="en-US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 </a:t>
          </a:r>
          <a:r>
            <a:rPr lang="en-US" altLang="ko-KR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2</a:t>
          </a:r>
          <a:r>
            <a:rPr lang="ko-KR" altLang="en-US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차년도 연구 내용 및 목표</a:t>
          </a:r>
          <a:endParaRPr lang="ko-KR" altLang="en-US" dirty="0">
            <a:solidFill>
              <a:srgbClr val="FFFFFF"/>
            </a:solidFill>
            <a:latin typeface="나눔고딕 ExtraBold" pitchFamily="50" charset="-127"/>
            <a:ea typeface="나눔고딕 ExtraBold" pitchFamily="50" charset="-127"/>
            <a:cs typeface="+mn-cs"/>
          </a:endParaRPr>
        </a:p>
      </dgm:t>
    </dgm:pt>
    <dgm:pt modelId="{0CCDD071-9D6D-4924-830F-85F04182DCE3}" type="parTrans" cxnId="{A133B4B6-2F28-437A-96AD-65F7E9D93923}">
      <dgm:prSet/>
      <dgm:spPr/>
      <dgm:t>
        <a:bodyPr/>
        <a:lstStyle/>
        <a:p>
          <a:pPr latinLnBrk="1"/>
          <a:endParaRPr lang="ko-KR" altLang="en-US">
            <a:latin typeface="나눔고딕 ExtraBold" pitchFamily="50" charset="-127"/>
            <a:ea typeface="나눔고딕 ExtraBold" pitchFamily="50" charset="-127"/>
          </a:endParaRPr>
        </a:p>
      </dgm:t>
    </dgm:pt>
    <dgm:pt modelId="{625D5818-FFA0-4378-93D4-2F54FC9B9283}" type="sibTrans" cxnId="{A133B4B6-2F28-437A-96AD-65F7E9D93923}">
      <dgm:prSet/>
      <dgm:spPr/>
      <dgm:t>
        <a:bodyPr/>
        <a:lstStyle/>
        <a:p>
          <a:pPr latinLnBrk="1"/>
          <a:endParaRPr lang="ko-KR" altLang="en-US">
            <a:latin typeface="나눔고딕 ExtraBold" pitchFamily="50" charset="-127"/>
            <a:ea typeface="나눔고딕 ExtraBold" pitchFamily="50" charset="-127"/>
          </a:endParaRPr>
        </a:p>
      </dgm:t>
    </dgm:pt>
    <dgm:pt modelId="{770BD8D7-D906-4D7A-B720-1726B3BF5BB2}">
      <dgm:prSet phldrT="[텍스트]"/>
      <dgm:spPr>
        <a:xfrm>
          <a:off x="304800" y="3305320"/>
          <a:ext cx="4267200" cy="531360"/>
        </a:xfrm>
        <a:prstGeom prst="roundRect">
          <a:avLst/>
        </a:prstGeom>
        <a:solidFill>
          <a:srgbClr val="132E6F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latinLnBrk="1"/>
          <a:r>
            <a:rPr lang="en-US" altLang="ko-KR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5. </a:t>
          </a:r>
          <a:r>
            <a:rPr lang="ko-KR" altLang="en-US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활용방안 및 평가</a:t>
          </a:r>
          <a:r>
            <a:rPr lang="en-US" altLang="ko-KR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, </a:t>
          </a:r>
          <a:r>
            <a:rPr lang="ko-KR" altLang="en-US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추진전략</a:t>
          </a:r>
          <a:r>
            <a:rPr lang="en-US" altLang="ko-KR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, </a:t>
          </a:r>
          <a:r>
            <a:rPr lang="ko-KR" altLang="en-US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일정</a:t>
          </a:r>
          <a:r>
            <a:rPr lang="en-US" altLang="ko-KR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, </a:t>
          </a:r>
          <a:r>
            <a:rPr lang="ko-KR" altLang="en-US" dirty="0" smtClean="0">
              <a:solidFill>
                <a:srgbClr val="FFFFFF"/>
              </a:solidFill>
              <a:latin typeface="나눔고딕 ExtraBold" pitchFamily="50" charset="-127"/>
              <a:ea typeface="나눔고딕 ExtraBold" pitchFamily="50" charset="-127"/>
              <a:cs typeface="+mn-cs"/>
            </a:rPr>
            <a:t>예산</a:t>
          </a:r>
          <a:endParaRPr lang="ko-KR" altLang="en-US" dirty="0">
            <a:solidFill>
              <a:srgbClr val="FFFFFF"/>
            </a:solidFill>
            <a:latin typeface="나눔고딕 ExtraBold" pitchFamily="50" charset="-127"/>
            <a:ea typeface="나눔고딕 ExtraBold" pitchFamily="50" charset="-127"/>
            <a:cs typeface="+mn-cs"/>
          </a:endParaRPr>
        </a:p>
      </dgm:t>
    </dgm:pt>
    <dgm:pt modelId="{9548A39D-052D-4D43-BC7E-F511629369CE}" type="parTrans" cxnId="{90EBA271-5DF7-4902-AAB8-DEB71F3E3CD9}">
      <dgm:prSet/>
      <dgm:spPr/>
      <dgm:t>
        <a:bodyPr/>
        <a:lstStyle/>
        <a:p>
          <a:pPr latinLnBrk="1"/>
          <a:endParaRPr lang="ko-KR" altLang="en-US">
            <a:latin typeface="나눔고딕 ExtraBold" pitchFamily="50" charset="-127"/>
            <a:ea typeface="나눔고딕 ExtraBold" pitchFamily="50" charset="-127"/>
          </a:endParaRPr>
        </a:p>
      </dgm:t>
    </dgm:pt>
    <dgm:pt modelId="{249EDB6E-AABE-4443-A6DB-9AD07E54D3A0}" type="sibTrans" cxnId="{90EBA271-5DF7-4902-AAB8-DEB71F3E3CD9}">
      <dgm:prSet/>
      <dgm:spPr/>
      <dgm:t>
        <a:bodyPr/>
        <a:lstStyle/>
        <a:p>
          <a:pPr latinLnBrk="1"/>
          <a:endParaRPr lang="ko-KR" altLang="en-US">
            <a:latin typeface="나눔고딕 ExtraBold" pitchFamily="50" charset="-127"/>
            <a:ea typeface="나눔고딕 ExtraBold" pitchFamily="50" charset="-127"/>
          </a:endParaRPr>
        </a:p>
      </dgm:t>
    </dgm:pt>
    <dgm:pt modelId="{79252939-F18B-4CD1-A6E9-636EE413E056}" type="pres">
      <dgm:prSet presAssocID="{A6D91211-418B-49B1-B12B-2210661C2433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A2135F2-75BD-41C7-9D26-7C3F43F57D29}" type="pres">
      <dgm:prSet presAssocID="{1182D511-DFD0-4CFC-9DAA-81C5DB899458}" presName="parentLin" presStyleCnt="0"/>
      <dgm:spPr/>
    </dgm:pt>
    <dgm:pt modelId="{77F93B01-7EDA-4EAD-8262-FFA51C18C286}" type="pres">
      <dgm:prSet presAssocID="{1182D511-DFD0-4CFC-9DAA-81C5DB899458}" presName="parentLeftMargin" presStyleLbl="node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AD997F45-09AF-4D2F-9298-6EC47DBE46FB}" type="pres">
      <dgm:prSet presAssocID="{1182D511-DFD0-4CFC-9DAA-81C5DB899458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A212774-8697-4B77-8057-0546ECF07421}" type="pres">
      <dgm:prSet presAssocID="{1182D511-DFD0-4CFC-9DAA-81C5DB899458}" presName="negativeSpace" presStyleCnt="0"/>
      <dgm:spPr/>
    </dgm:pt>
    <dgm:pt modelId="{96F2D8CC-29B3-4C25-8B7F-634E342F6E0F}" type="pres">
      <dgm:prSet presAssocID="{1182D511-DFD0-4CFC-9DAA-81C5DB899458}" presName="childText" presStyleLbl="conFgAcc1" presStyleIdx="0" presStyleCnt="5">
        <dgm:presLayoutVars>
          <dgm:bulletEnabled val="1"/>
        </dgm:presLayoutVars>
      </dgm:prSet>
      <dgm:spPr>
        <a:xfrm>
          <a:off x="0" y="305079"/>
          <a:ext cx="6096000" cy="453600"/>
        </a:xfrm>
        <a:prstGeom prst="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132E6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latinLnBrk="1"/>
          <a:endParaRPr lang="ko-KR" altLang="en-US"/>
        </a:p>
      </dgm:t>
    </dgm:pt>
    <dgm:pt modelId="{5647DF6F-3385-4A77-88AD-5D671E676598}" type="pres">
      <dgm:prSet presAssocID="{962FF35D-DA44-47FA-A282-B0A780A60DE8}" presName="spaceBetweenRectangles" presStyleCnt="0"/>
      <dgm:spPr/>
    </dgm:pt>
    <dgm:pt modelId="{1DEB187C-1C18-4FCC-9BA4-FC04F8E272B5}" type="pres">
      <dgm:prSet presAssocID="{126E0A88-E086-4FD7-899C-BF6073711D68}" presName="parentLin" presStyleCnt="0"/>
      <dgm:spPr/>
    </dgm:pt>
    <dgm:pt modelId="{98122B5D-A558-49CE-A961-350235EE1F6D}" type="pres">
      <dgm:prSet presAssocID="{126E0A88-E086-4FD7-899C-BF6073711D68}" presName="parentLeftMargin" presStyleLbl="node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B61A63D8-C947-4E20-A519-55D1E05AFFC7}" type="pres">
      <dgm:prSet presAssocID="{126E0A88-E086-4FD7-899C-BF6073711D68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84660B1-0410-4FF6-9FF1-DFCD2FF2C2E9}" type="pres">
      <dgm:prSet presAssocID="{126E0A88-E086-4FD7-899C-BF6073711D68}" presName="negativeSpace" presStyleCnt="0"/>
      <dgm:spPr/>
    </dgm:pt>
    <dgm:pt modelId="{6B259B3C-4A71-493D-B9BF-ED59B0146B44}" type="pres">
      <dgm:prSet presAssocID="{126E0A88-E086-4FD7-899C-BF6073711D68}" presName="childText" presStyleLbl="conFgAcc1" presStyleIdx="1" presStyleCnt="5">
        <dgm:presLayoutVars>
          <dgm:bulletEnabled val="1"/>
        </dgm:presLayoutVars>
      </dgm:prSet>
      <dgm:spPr>
        <a:xfrm>
          <a:off x="0" y="1121559"/>
          <a:ext cx="6096000" cy="453600"/>
        </a:xfrm>
        <a:prstGeom prst="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132E6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latinLnBrk="1"/>
          <a:endParaRPr lang="ko-KR" altLang="en-US"/>
        </a:p>
      </dgm:t>
    </dgm:pt>
    <dgm:pt modelId="{1AB284D4-8EFD-4AB2-86A0-788B26A53EBF}" type="pres">
      <dgm:prSet presAssocID="{56C1F5F0-6DBF-4EF9-A3F3-DDB5A1B2DE5B}" presName="spaceBetweenRectangles" presStyleCnt="0"/>
      <dgm:spPr/>
    </dgm:pt>
    <dgm:pt modelId="{2E060C00-E9CB-48CA-86FB-56F0153B5CB6}" type="pres">
      <dgm:prSet presAssocID="{A6913625-15B2-46B1-82B4-E0F152BB51FE}" presName="parentLin" presStyleCnt="0"/>
      <dgm:spPr/>
    </dgm:pt>
    <dgm:pt modelId="{3954F035-31D9-44EA-9F4E-B0506CAF440E}" type="pres">
      <dgm:prSet presAssocID="{A6913625-15B2-46B1-82B4-E0F152BB51FE}" presName="parentLeftMargin" presStyleLbl="node1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FAD8E6A4-251A-47E7-9811-25ADE7293589}" type="pres">
      <dgm:prSet presAssocID="{A6913625-15B2-46B1-82B4-E0F152BB51FE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0723434-4B9C-4A0B-BC74-C74815B73BAF}" type="pres">
      <dgm:prSet presAssocID="{A6913625-15B2-46B1-82B4-E0F152BB51FE}" presName="negativeSpace" presStyleCnt="0"/>
      <dgm:spPr/>
    </dgm:pt>
    <dgm:pt modelId="{567F5E57-196F-441D-B2B5-84FFEB6FE8B9}" type="pres">
      <dgm:prSet presAssocID="{A6913625-15B2-46B1-82B4-E0F152BB51FE}" presName="childText" presStyleLbl="conFgAcc1" presStyleIdx="2" presStyleCnt="5">
        <dgm:presLayoutVars>
          <dgm:bulletEnabled val="1"/>
        </dgm:presLayoutVars>
      </dgm:prSet>
      <dgm:spPr>
        <a:xfrm>
          <a:off x="0" y="1938039"/>
          <a:ext cx="6096000" cy="453600"/>
        </a:xfrm>
        <a:prstGeom prst="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132E6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latinLnBrk="1"/>
          <a:endParaRPr lang="ko-KR" altLang="en-US"/>
        </a:p>
      </dgm:t>
    </dgm:pt>
    <dgm:pt modelId="{055456B1-743B-45A2-A348-83F5D467709C}" type="pres">
      <dgm:prSet presAssocID="{81096C71-D98B-4740-AA30-4B3F23307F6A}" presName="spaceBetweenRectangles" presStyleCnt="0"/>
      <dgm:spPr/>
    </dgm:pt>
    <dgm:pt modelId="{A0089C35-10C1-4E11-AE1B-9785DEE7C0A0}" type="pres">
      <dgm:prSet presAssocID="{D5239EE3-ACB0-4BCA-9FA0-139AD99276A2}" presName="parentLin" presStyleCnt="0"/>
      <dgm:spPr/>
    </dgm:pt>
    <dgm:pt modelId="{6FAF3BCA-D146-4FF4-B0FE-D4F9CB29ADF1}" type="pres">
      <dgm:prSet presAssocID="{D5239EE3-ACB0-4BCA-9FA0-139AD99276A2}" presName="parentLeftMargin" presStyleLbl="node1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A510FCD2-4DC7-4188-ABFE-6A9EF21202BF}" type="pres">
      <dgm:prSet presAssocID="{D5239EE3-ACB0-4BCA-9FA0-139AD99276A2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8370FCF-5B8C-4353-88E4-78074E4E5A81}" type="pres">
      <dgm:prSet presAssocID="{D5239EE3-ACB0-4BCA-9FA0-139AD99276A2}" presName="negativeSpace" presStyleCnt="0"/>
      <dgm:spPr/>
    </dgm:pt>
    <dgm:pt modelId="{82457FD0-DFFC-44C1-A63B-CCB62B8EC82B}" type="pres">
      <dgm:prSet presAssocID="{D5239EE3-ACB0-4BCA-9FA0-139AD99276A2}" presName="childText" presStyleLbl="conFgAcc1" presStyleIdx="3" presStyleCnt="5">
        <dgm:presLayoutVars>
          <dgm:bulletEnabled val="1"/>
        </dgm:presLayoutVars>
      </dgm:prSet>
      <dgm:spPr>
        <a:xfrm>
          <a:off x="0" y="2754520"/>
          <a:ext cx="6096000" cy="453600"/>
        </a:xfrm>
        <a:prstGeom prst="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132E6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latinLnBrk="1"/>
          <a:endParaRPr lang="ko-KR" altLang="en-US"/>
        </a:p>
      </dgm:t>
    </dgm:pt>
    <dgm:pt modelId="{789DE4E4-6D99-4793-9FA3-7D1AE0E0C138}" type="pres">
      <dgm:prSet presAssocID="{625D5818-FFA0-4378-93D4-2F54FC9B9283}" presName="spaceBetweenRectangles" presStyleCnt="0"/>
      <dgm:spPr/>
    </dgm:pt>
    <dgm:pt modelId="{6D808A72-DF06-4DEA-A706-F3C5D6784AEA}" type="pres">
      <dgm:prSet presAssocID="{770BD8D7-D906-4D7A-B720-1726B3BF5BB2}" presName="parentLin" presStyleCnt="0"/>
      <dgm:spPr/>
    </dgm:pt>
    <dgm:pt modelId="{EC1B86FC-E98F-479B-9B62-D6D851015AA0}" type="pres">
      <dgm:prSet presAssocID="{770BD8D7-D906-4D7A-B720-1726B3BF5BB2}" presName="parentLeftMargin" presStyleLbl="node1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0F99CC29-BF01-4661-A250-B17D93030CEC}" type="pres">
      <dgm:prSet presAssocID="{770BD8D7-D906-4D7A-B720-1726B3BF5BB2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31157D8-5ADC-4D22-86C5-0E4598EBAFD8}" type="pres">
      <dgm:prSet presAssocID="{770BD8D7-D906-4D7A-B720-1726B3BF5BB2}" presName="negativeSpace" presStyleCnt="0"/>
      <dgm:spPr/>
    </dgm:pt>
    <dgm:pt modelId="{EB866E94-53E4-4CED-9B15-B88ED747F9E1}" type="pres">
      <dgm:prSet presAssocID="{770BD8D7-D906-4D7A-B720-1726B3BF5BB2}" presName="childText" presStyleLbl="conFgAcc1" presStyleIdx="4" presStyleCnt="5">
        <dgm:presLayoutVars>
          <dgm:bulletEnabled val="1"/>
        </dgm:presLayoutVars>
      </dgm:prSet>
      <dgm:spPr>
        <a:xfrm>
          <a:off x="0" y="3571000"/>
          <a:ext cx="6096000" cy="453600"/>
        </a:xfrm>
        <a:prstGeom prst="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132E6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latinLnBrk="1"/>
          <a:endParaRPr lang="ko-KR" altLang="en-US"/>
        </a:p>
      </dgm:t>
    </dgm:pt>
  </dgm:ptLst>
  <dgm:cxnLst>
    <dgm:cxn modelId="{3773600E-3C34-4138-805B-ECBAF7698EF0}" type="presOf" srcId="{A6D91211-418B-49B1-B12B-2210661C2433}" destId="{79252939-F18B-4CD1-A6E9-636EE413E056}" srcOrd="0" destOrd="0" presId="urn:microsoft.com/office/officeart/2005/8/layout/list1"/>
    <dgm:cxn modelId="{5404345E-D8A9-47E6-9473-FD747B3DDC80}" type="presOf" srcId="{1182D511-DFD0-4CFC-9DAA-81C5DB899458}" destId="{77F93B01-7EDA-4EAD-8262-FFA51C18C286}" srcOrd="0" destOrd="0" presId="urn:microsoft.com/office/officeart/2005/8/layout/list1"/>
    <dgm:cxn modelId="{A133B4B6-2F28-437A-96AD-65F7E9D93923}" srcId="{A6D91211-418B-49B1-B12B-2210661C2433}" destId="{D5239EE3-ACB0-4BCA-9FA0-139AD99276A2}" srcOrd="3" destOrd="0" parTransId="{0CCDD071-9D6D-4924-830F-85F04182DCE3}" sibTransId="{625D5818-FFA0-4378-93D4-2F54FC9B9283}"/>
    <dgm:cxn modelId="{A9E99702-7DE5-44DC-89B3-7C71DEAADABE}" srcId="{A6D91211-418B-49B1-B12B-2210661C2433}" destId="{1182D511-DFD0-4CFC-9DAA-81C5DB899458}" srcOrd="0" destOrd="0" parTransId="{5FC963D7-82AD-4DB6-9CA1-5CF5E1F10BA3}" sibTransId="{962FF35D-DA44-47FA-A282-B0A780A60DE8}"/>
    <dgm:cxn modelId="{9C6E403C-3D0E-4DD1-AD6D-207E010F032A}" srcId="{A6D91211-418B-49B1-B12B-2210661C2433}" destId="{A6913625-15B2-46B1-82B4-E0F152BB51FE}" srcOrd="2" destOrd="0" parTransId="{081E7F25-8D28-4DA2-B7FA-B4BEBCCF48CC}" sibTransId="{81096C71-D98B-4740-AA30-4B3F23307F6A}"/>
    <dgm:cxn modelId="{04DE4458-FE3D-4CCA-98F2-236875F9E125}" type="presOf" srcId="{126E0A88-E086-4FD7-899C-BF6073711D68}" destId="{B61A63D8-C947-4E20-A519-55D1E05AFFC7}" srcOrd="1" destOrd="0" presId="urn:microsoft.com/office/officeart/2005/8/layout/list1"/>
    <dgm:cxn modelId="{0481821A-AD0D-4235-8CF5-DCB927CE0A4D}" type="presOf" srcId="{126E0A88-E086-4FD7-899C-BF6073711D68}" destId="{98122B5D-A558-49CE-A961-350235EE1F6D}" srcOrd="0" destOrd="0" presId="urn:microsoft.com/office/officeart/2005/8/layout/list1"/>
    <dgm:cxn modelId="{6CEB3A38-1D36-477E-A890-BF5375382D9D}" type="presOf" srcId="{770BD8D7-D906-4D7A-B720-1726B3BF5BB2}" destId="{EC1B86FC-E98F-479B-9B62-D6D851015AA0}" srcOrd="0" destOrd="0" presId="urn:microsoft.com/office/officeart/2005/8/layout/list1"/>
    <dgm:cxn modelId="{3DE5B7E1-8B36-4D36-B81E-1D99CA2DB0B8}" type="presOf" srcId="{A6913625-15B2-46B1-82B4-E0F152BB51FE}" destId="{FAD8E6A4-251A-47E7-9811-25ADE7293589}" srcOrd="1" destOrd="0" presId="urn:microsoft.com/office/officeart/2005/8/layout/list1"/>
    <dgm:cxn modelId="{BC798231-A048-4E3C-B860-5659872ABA09}" type="presOf" srcId="{D5239EE3-ACB0-4BCA-9FA0-139AD99276A2}" destId="{6FAF3BCA-D146-4FF4-B0FE-D4F9CB29ADF1}" srcOrd="0" destOrd="0" presId="urn:microsoft.com/office/officeart/2005/8/layout/list1"/>
    <dgm:cxn modelId="{B11CF06A-1451-4EB1-9F21-3E6DE34F74F1}" type="presOf" srcId="{D5239EE3-ACB0-4BCA-9FA0-139AD99276A2}" destId="{A510FCD2-4DC7-4188-ABFE-6A9EF21202BF}" srcOrd="1" destOrd="0" presId="urn:microsoft.com/office/officeart/2005/8/layout/list1"/>
    <dgm:cxn modelId="{90EBA271-5DF7-4902-AAB8-DEB71F3E3CD9}" srcId="{A6D91211-418B-49B1-B12B-2210661C2433}" destId="{770BD8D7-D906-4D7A-B720-1726B3BF5BB2}" srcOrd="4" destOrd="0" parTransId="{9548A39D-052D-4D43-BC7E-F511629369CE}" sibTransId="{249EDB6E-AABE-4443-A6DB-9AD07E54D3A0}"/>
    <dgm:cxn modelId="{4C48F652-E370-4B09-8232-F3ACA03C2207}" type="presOf" srcId="{A6913625-15B2-46B1-82B4-E0F152BB51FE}" destId="{3954F035-31D9-44EA-9F4E-B0506CAF440E}" srcOrd="0" destOrd="0" presId="urn:microsoft.com/office/officeart/2005/8/layout/list1"/>
    <dgm:cxn modelId="{443E2933-9CC3-4F32-B0C3-23DB448C9552}" type="presOf" srcId="{770BD8D7-D906-4D7A-B720-1726B3BF5BB2}" destId="{0F99CC29-BF01-4661-A250-B17D93030CEC}" srcOrd="1" destOrd="0" presId="urn:microsoft.com/office/officeart/2005/8/layout/list1"/>
    <dgm:cxn modelId="{0D2FADD8-6D4D-45E9-92B6-CAF4F7E613BD}" srcId="{A6D91211-418B-49B1-B12B-2210661C2433}" destId="{126E0A88-E086-4FD7-899C-BF6073711D68}" srcOrd="1" destOrd="0" parTransId="{C18E0CCF-C607-4B87-BA08-AE87679E179C}" sibTransId="{56C1F5F0-6DBF-4EF9-A3F3-DDB5A1B2DE5B}"/>
    <dgm:cxn modelId="{57766850-738E-43C9-A68E-B22D74579F6A}" type="presOf" srcId="{1182D511-DFD0-4CFC-9DAA-81C5DB899458}" destId="{AD997F45-09AF-4D2F-9298-6EC47DBE46FB}" srcOrd="1" destOrd="0" presId="urn:microsoft.com/office/officeart/2005/8/layout/list1"/>
    <dgm:cxn modelId="{CE0D4F71-BCA7-4C35-B6FF-CD1EF9544B32}" type="presParOf" srcId="{79252939-F18B-4CD1-A6E9-636EE413E056}" destId="{DA2135F2-75BD-41C7-9D26-7C3F43F57D29}" srcOrd="0" destOrd="0" presId="urn:microsoft.com/office/officeart/2005/8/layout/list1"/>
    <dgm:cxn modelId="{0A934D03-76DE-49CA-8CEE-61D91F7263C3}" type="presParOf" srcId="{DA2135F2-75BD-41C7-9D26-7C3F43F57D29}" destId="{77F93B01-7EDA-4EAD-8262-FFA51C18C286}" srcOrd="0" destOrd="0" presId="urn:microsoft.com/office/officeart/2005/8/layout/list1"/>
    <dgm:cxn modelId="{9295B7B9-8016-4DDE-B57C-5F0393AC5F5F}" type="presParOf" srcId="{DA2135F2-75BD-41C7-9D26-7C3F43F57D29}" destId="{AD997F45-09AF-4D2F-9298-6EC47DBE46FB}" srcOrd="1" destOrd="0" presId="urn:microsoft.com/office/officeart/2005/8/layout/list1"/>
    <dgm:cxn modelId="{5ADDB69F-3C83-4F3C-B2DB-FB793216139C}" type="presParOf" srcId="{79252939-F18B-4CD1-A6E9-636EE413E056}" destId="{2A212774-8697-4B77-8057-0546ECF07421}" srcOrd="1" destOrd="0" presId="urn:microsoft.com/office/officeart/2005/8/layout/list1"/>
    <dgm:cxn modelId="{E7B887BF-AE49-406E-99AA-20E85D16C4B7}" type="presParOf" srcId="{79252939-F18B-4CD1-A6E9-636EE413E056}" destId="{96F2D8CC-29B3-4C25-8B7F-634E342F6E0F}" srcOrd="2" destOrd="0" presId="urn:microsoft.com/office/officeart/2005/8/layout/list1"/>
    <dgm:cxn modelId="{676E7C5B-B4AF-440C-9E1A-6268DBBCD483}" type="presParOf" srcId="{79252939-F18B-4CD1-A6E9-636EE413E056}" destId="{5647DF6F-3385-4A77-88AD-5D671E676598}" srcOrd="3" destOrd="0" presId="urn:microsoft.com/office/officeart/2005/8/layout/list1"/>
    <dgm:cxn modelId="{5FFF653A-5857-41FC-92AB-A0020A8FB077}" type="presParOf" srcId="{79252939-F18B-4CD1-A6E9-636EE413E056}" destId="{1DEB187C-1C18-4FCC-9BA4-FC04F8E272B5}" srcOrd="4" destOrd="0" presId="urn:microsoft.com/office/officeart/2005/8/layout/list1"/>
    <dgm:cxn modelId="{D1787988-3AC3-4C76-AAFD-64C811F35A22}" type="presParOf" srcId="{1DEB187C-1C18-4FCC-9BA4-FC04F8E272B5}" destId="{98122B5D-A558-49CE-A961-350235EE1F6D}" srcOrd="0" destOrd="0" presId="urn:microsoft.com/office/officeart/2005/8/layout/list1"/>
    <dgm:cxn modelId="{51A1BA24-61FB-4E5D-8BE8-52FAA22BCD68}" type="presParOf" srcId="{1DEB187C-1C18-4FCC-9BA4-FC04F8E272B5}" destId="{B61A63D8-C947-4E20-A519-55D1E05AFFC7}" srcOrd="1" destOrd="0" presId="urn:microsoft.com/office/officeart/2005/8/layout/list1"/>
    <dgm:cxn modelId="{6B2AC8C5-3DAC-40EE-BA92-98664051169F}" type="presParOf" srcId="{79252939-F18B-4CD1-A6E9-636EE413E056}" destId="{984660B1-0410-4FF6-9FF1-DFCD2FF2C2E9}" srcOrd="5" destOrd="0" presId="urn:microsoft.com/office/officeart/2005/8/layout/list1"/>
    <dgm:cxn modelId="{73350376-0948-4E9C-8070-52A050BC9286}" type="presParOf" srcId="{79252939-F18B-4CD1-A6E9-636EE413E056}" destId="{6B259B3C-4A71-493D-B9BF-ED59B0146B44}" srcOrd="6" destOrd="0" presId="urn:microsoft.com/office/officeart/2005/8/layout/list1"/>
    <dgm:cxn modelId="{FF3DD860-8FB6-4742-BDAB-4E7A0C034F61}" type="presParOf" srcId="{79252939-F18B-4CD1-A6E9-636EE413E056}" destId="{1AB284D4-8EFD-4AB2-86A0-788B26A53EBF}" srcOrd="7" destOrd="0" presId="urn:microsoft.com/office/officeart/2005/8/layout/list1"/>
    <dgm:cxn modelId="{F8A411F3-5E5E-41AE-AFCE-3BBEC518E677}" type="presParOf" srcId="{79252939-F18B-4CD1-A6E9-636EE413E056}" destId="{2E060C00-E9CB-48CA-86FB-56F0153B5CB6}" srcOrd="8" destOrd="0" presId="urn:microsoft.com/office/officeart/2005/8/layout/list1"/>
    <dgm:cxn modelId="{43F2B718-31AF-4C6F-A582-869098AED2AA}" type="presParOf" srcId="{2E060C00-E9CB-48CA-86FB-56F0153B5CB6}" destId="{3954F035-31D9-44EA-9F4E-B0506CAF440E}" srcOrd="0" destOrd="0" presId="urn:microsoft.com/office/officeart/2005/8/layout/list1"/>
    <dgm:cxn modelId="{F25F5265-8E57-48BF-ACBD-B4053DECA446}" type="presParOf" srcId="{2E060C00-E9CB-48CA-86FB-56F0153B5CB6}" destId="{FAD8E6A4-251A-47E7-9811-25ADE7293589}" srcOrd="1" destOrd="0" presId="urn:microsoft.com/office/officeart/2005/8/layout/list1"/>
    <dgm:cxn modelId="{E3C62705-F800-4AF2-A68E-4E38B85D6387}" type="presParOf" srcId="{79252939-F18B-4CD1-A6E9-636EE413E056}" destId="{00723434-4B9C-4A0B-BC74-C74815B73BAF}" srcOrd="9" destOrd="0" presId="urn:microsoft.com/office/officeart/2005/8/layout/list1"/>
    <dgm:cxn modelId="{65503539-91A2-443A-99AE-FE3C725A5D4C}" type="presParOf" srcId="{79252939-F18B-4CD1-A6E9-636EE413E056}" destId="{567F5E57-196F-441D-B2B5-84FFEB6FE8B9}" srcOrd="10" destOrd="0" presId="urn:microsoft.com/office/officeart/2005/8/layout/list1"/>
    <dgm:cxn modelId="{0C2BB45D-19A0-4630-8F8E-19BBD5B62627}" type="presParOf" srcId="{79252939-F18B-4CD1-A6E9-636EE413E056}" destId="{055456B1-743B-45A2-A348-83F5D467709C}" srcOrd="11" destOrd="0" presId="urn:microsoft.com/office/officeart/2005/8/layout/list1"/>
    <dgm:cxn modelId="{9ACB2F64-462C-4054-8D11-4D3FD3603667}" type="presParOf" srcId="{79252939-F18B-4CD1-A6E9-636EE413E056}" destId="{A0089C35-10C1-4E11-AE1B-9785DEE7C0A0}" srcOrd="12" destOrd="0" presId="urn:microsoft.com/office/officeart/2005/8/layout/list1"/>
    <dgm:cxn modelId="{6C4E84EE-CC3E-41AA-83EF-B2648E815371}" type="presParOf" srcId="{A0089C35-10C1-4E11-AE1B-9785DEE7C0A0}" destId="{6FAF3BCA-D146-4FF4-B0FE-D4F9CB29ADF1}" srcOrd="0" destOrd="0" presId="urn:microsoft.com/office/officeart/2005/8/layout/list1"/>
    <dgm:cxn modelId="{D6F41852-7F1C-4417-949B-82F5F415E1FA}" type="presParOf" srcId="{A0089C35-10C1-4E11-AE1B-9785DEE7C0A0}" destId="{A510FCD2-4DC7-4188-ABFE-6A9EF21202BF}" srcOrd="1" destOrd="0" presId="urn:microsoft.com/office/officeart/2005/8/layout/list1"/>
    <dgm:cxn modelId="{6CD5FDCE-F0C9-417E-A844-5B5C34C9A9C8}" type="presParOf" srcId="{79252939-F18B-4CD1-A6E9-636EE413E056}" destId="{E8370FCF-5B8C-4353-88E4-78074E4E5A81}" srcOrd="13" destOrd="0" presId="urn:microsoft.com/office/officeart/2005/8/layout/list1"/>
    <dgm:cxn modelId="{78ED2B7E-8A61-4E6C-82AD-08BBC6D07C3B}" type="presParOf" srcId="{79252939-F18B-4CD1-A6E9-636EE413E056}" destId="{82457FD0-DFFC-44C1-A63B-CCB62B8EC82B}" srcOrd="14" destOrd="0" presId="urn:microsoft.com/office/officeart/2005/8/layout/list1"/>
    <dgm:cxn modelId="{0EEB4F80-0302-442B-B27E-65FB6C6E8014}" type="presParOf" srcId="{79252939-F18B-4CD1-A6E9-636EE413E056}" destId="{789DE4E4-6D99-4793-9FA3-7D1AE0E0C138}" srcOrd="15" destOrd="0" presId="urn:microsoft.com/office/officeart/2005/8/layout/list1"/>
    <dgm:cxn modelId="{E0CEB00A-5E34-4642-A440-7CD55317D85C}" type="presParOf" srcId="{79252939-F18B-4CD1-A6E9-636EE413E056}" destId="{6D808A72-DF06-4DEA-A706-F3C5D6784AEA}" srcOrd="16" destOrd="0" presId="urn:microsoft.com/office/officeart/2005/8/layout/list1"/>
    <dgm:cxn modelId="{A0716EF0-FFC0-4DAD-9DC1-1D175DE2DAC4}" type="presParOf" srcId="{6D808A72-DF06-4DEA-A706-F3C5D6784AEA}" destId="{EC1B86FC-E98F-479B-9B62-D6D851015AA0}" srcOrd="0" destOrd="0" presId="urn:microsoft.com/office/officeart/2005/8/layout/list1"/>
    <dgm:cxn modelId="{F7B43594-978E-46F6-8D88-957C6FB4BA03}" type="presParOf" srcId="{6D808A72-DF06-4DEA-A706-F3C5D6784AEA}" destId="{0F99CC29-BF01-4661-A250-B17D93030CEC}" srcOrd="1" destOrd="0" presId="urn:microsoft.com/office/officeart/2005/8/layout/list1"/>
    <dgm:cxn modelId="{552CE829-C41E-463B-8827-434E5C85DEBF}" type="presParOf" srcId="{79252939-F18B-4CD1-A6E9-636EE413E056}" destId="{E31157D8-5ADC-4D22-86C5-0E4598EBAFD8}" srcOrd="17" destOrd="0" presId="urn:microsoft.com/office/officeart/2005/8/layout/list1"/>
    <dgm:cxn modelId="{647ED287-CB5B-4B55-A549-4B6F5A09585A}" type="presParOf" srcId="{79252939-F18B-4CD1-A6E9-636EE413E056}" destId="{EB866E94-53E4-4CED-9B15-B88ED747F9E1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8032"/>
            <a:ext cx="2945876" cy="46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85" tIns="0" rIns="19385" bIns="0" numCol="1" anchor="t" anchorCtr="0" compatLnSpc="1">
            <a:prstTxWarp prst="textNoShape">
              <a:avLst/>
            </a:prstTxWarp>
          </a:bodyPr>
          <a:lstStyle>
            <a:lvl1pPr defTabSz="901416" eaLnBrk="0" latinLnBrk="0" hangingPunct="0">
              <a:defRPr sz="1000" i="1">
                <a:latin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799" y="8032"/>
            <a:ext cx="2945876" cy="46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85" tIns="0" rIns="19385" bIns="0" numCol="1" anchor="t" anchorCtr="0" compatLnSpc="1">
            <a:prstTxWarp prst="textNoShape">
              <a:avLst/>
            </a:prstTxWarp>
          </a:bodyPr>
          <a:lstStyle>
            <a:lvl1pPr algn="r" defTabSz="901416" eaLnBrk="0" latinLnBrk="0" hangingPunct="0">
              <a:defRPr sz="1000" i="1">
                <a:latin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5950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8032"/>
            <a:ext cx="2945876" cy="46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85" tIns="0" rIns="19385" bIns="0" numCol="1" anchor="t" anchorCtr="0" compatLnSpc="1">
            <a:prstTxWarp prst="textNoShape">
              <a:avLst/>
            </a:prstTxWarp>
          </a:bodyPr>
          <a:lstStyle>
            <a:lvl1pPr defTabSz="749564" eaLnBrk="1" latinLnBrk="0" hangingPunct="1">
              <a:defRPr sz="1000" i="1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799" y="8032"/>
            <a:ext cx="2945876" cy="46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85" tIns="0" rIns="19385" bIns="0" numCol="1" anchor="t" anchorCtr="0" compatLnSpc="1">
            <a:prstTxWarp prst="textNoShape">
              <a:avLst/>
            </a:prstTxWarp>
          </a:bodyPr>
          <a:lstStyle>
            <a:lvl1pPr algn="r" defTabSz="749564" eaLnBrk="1" latinLnBrk="0" hangingPunct="1">
              <a:defRPr sz="1000" i="1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51188"/>
            <a:ext cx="2945876" cy="46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85" tIns="0" rIns="19385" bIns="0" numCol="1" anchor="b" anchorCtr="0" compatLnSpc="1">
            <a:prstTxWarp prst="textNoShape">
              <a:avLst/>
            </a:prstTxWarp>
          </a:bodyPr>
          <a:lstStyle>
            <a:lvl1pPr defTabSz="749564" eaLnBrk="1" latinLnBrk="0" hangingPunct="1">
              <a:defRPr sz="1000" i="1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799" y="9451188"/>
            <a:ext cx="2945876" cy="46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85" tIns="0" rIns="19385" bIns="0" numCol="1" anchor="b" anchorCtr="0" compatLnSpc="1">
            <a:prstTxWarp prst="textNoShape">
              <a:avLst/>
            </a:prstTxWarp>
          </a:bodyPr>
          <a:lstStyle>
            <a:lvl1pPr algn="r" defTabSz="749564" eaLnBrk="1" latinLnBrk="0" hangingPunct="1">
              <a:defRPr sz="1000" i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52A5210-1BF0-4D99-8E72-82A3D87DBF5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922" y="4720776"/>
            <a:ext cx="4985831" cy="3908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1" tIns="46848" rIns="92081" bIns="4684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Body Text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3017415" y="9454400"/>
            <a:ext cx="764474" cy="257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7234" tIns="45232" rIns="87234" bIns="45232">
            <a:spAutoFit/>
          </a:bodyPr>
          <a:lstStyle>
            <a:lvl1pPr defTabSz="839788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839788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839788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839788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839788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altLang="ko-KR" smtClean="0">
                <a:latin typeface="Arial" panose="020B0604020202020204" pitchFamily="34" charset="0"/>
              </a:rPr>
              <a:t>Page </a:t>
            </a:r>
            <a:fld id="{1CC2A2D0-5AF0-44BC-A1DD-FB9D70A9A76C}" type="slidenum">
              <a:rPr lang="en-US" altLang="ko-KR" smtClean="0">
                <a:latin typeface="Arial" panose="020B0604020202020204" pitchFamily="34" charset="0"/>
              </a:rPr>
              <a:pPr algn="ctr">
                <a:lnSpc>
                  <a:spcPct val="90000"/>
                </a:lnSpc>
                <a:defRPr/>
              </a:pPr>
              <a:t>‹#›</a:t>
            </a:fld>
            <a:endParaRPr lang="en-US" altLang="ko-KR" smtClean="0">
              <a:latin typeface="Arial" panose="020B0604020202020204" pitchFamily="34" charset="0"/>
            </a:endParaRPr>
          </a:p>
        </p:txBody>
      </p:sp>
      <p:sp>
        <p:nvSpPr>
          <p:cNvPr id="3080" name="Rectangle 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5825" y="865188"/>
            <a:ext cx="5024438" cy="34782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694279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885825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449263" algn="l" defTabSz="885825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900113" algn="l" defTabSz="885825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349375" algn="l" defTabSz="885825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798638" algn="l" defTabSz="885825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50DCCE-2BB8-49B9-8C8D-C288DFB9B600}" type="slidenum">
              <a:rPr lang="en-GB" altLang="ko-KR" smtClean="0">
                <a:ea typeface="굴림" charset="-127"/>
              </a:rPr>
              <a:pPr/>
              <a:t>21</a:t>
            </a:fld>
            <a:endParaRPr lang="en-GB" altLang="ko-KR" smtClean="0">
              <a:ea typeface="굴림" charset="-127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altLang="ko-KR" smtClean="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841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704850" y="765175"/>
            <a:ext cx="8389938" cy="2211388"/>
            <a:chOff x="478" y="1056"/>
            <a:chExt cx="5285" cy="1393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ltGray">
            <a:xfrm>
              <a:off x="483" y="1057"/>
              <a:ext cx="5272" cy="1391"/>
            </a:xfrm>
            <a:prstGeom prst="rect">
              <a:avLst/>
            </a:prstGeom>
            <a:solidFill>
              <a:srgbClr val="EAEAEA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1pPr>
              <a:lvl2pPr marL="742950" indent="-28575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2pPr>
              <a:lvl3pPr marL="1143000" indent="-22860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3pPr>
              <a:lvl4pPr marL="1600200" indent="-22860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4pPr>
              <a:lvl5pPr marL="2057400" indent="-22860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1400" smtClean="0">
                <a:latin typeface="돋움" panose="020B0600000101010101" pitchFamily="50" charset="-127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ltGray">
            <a:xfrm>
              <a:off x="478" y="1056"/>
              <a:ext cx="5273" cy="1393"/>
            </a:xfrm>
            <a:custGeom>
              <a:avLst/>
              <a:gdLst>
                <a:gd name="T0" fmla="*/ 5272 w 5273"/>
                <a:gd name="T1" fmla="*/ 0 h 1393"/>
                <a:gd name="T2" fmla="*/ 0 w 5273"/>
                <a:gd name="T3" fmla="*/ 0 h 1393"/>
                <a:gd name="T4" fmla="*/ 0 w 5273"/>
                <a:gd name="T5" fmla="*/ 1392 h 13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73" h="1393">
                  <a:moveTo>
                    <a:pt x="5272" y="0"/>
                  </a:moveTo>
                  <a:lnTo>
                    <a:pt x="0" y="0"/>
                  </a:lnTo>
                  <a:lnTo>
                    <a:pt x="0" y="1392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ltGray">
            <a:xfrm>
              <a:off x="490" y="1056"/>
              <a:ext cx="5273" cy="1393"/>
            </a:xfrm>
            <a:custGeom>
              <a:avLst/>
              <a:gdLst>
                <a:gd name="T0" fmla="*/ 5272 w 5273"/>
                <a:gd name="T1" fmla="*/ 0 h 1393"/>
                <a:gd name="T2" fmla="*/ 5272 w 5273"/>
                <a:gd name="T3" fmla="*/ 1392 h 1393"/>
                <a:gd name="T4" fmla="*/ 0 w 5273"/>
                <a:gd name="T5" fmla="*/ 1392 h 13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73" h="1393">
                  <a:moveTo>
                    <a:pt x="5272" y="0"/>
                  </a:moveTo>
                  <a:lnTo>
                    <a:pt x="5272" y="1392"/>
                  </a:lnTo>
                  <a:lnTo>
                    <a:pt x="0" y="1392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704850" y="6021388"/>
            <a:ext cx="8383588" cy="153987"/>
            <a:chOff x="480" y="3744"/>
            <a:chExt cx="5281" cy="97"/>
          </a:xfrm>
        </p:grpSpPr>
        <p:sp>
          <p:nvSpPr>
            <p:cNvPr id="9" name="Rectangle 7"/>
            <p:cNvSpPr>
              <a:spLocks noChangeArrowheads="1"/>
            </p:cNvSpPr>
            <p:nvPr/>
          </p:nvSpPr>
          <p:spPr bwMode="ltGray">
            <a:xfrm>
              <a:off x="480" y="3744"/>
              <a:ext cx="5280" cy="96"/>
            </a:xfrm>
            <a:prstGeom prst="rect">
              <a:avLst/>
            </a:prstGeom>
            <a:solidFill>
              <a:srgbClr val="EAEAEA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1pPr>
              <a:lvl2pPr marL="742950" indent="-28575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2pPr>
              <a:lvl3pPr marL="1143000" indent="-22860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3pPr>
              <a:lvl4pPr marL="1600200" indent="-22860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4pPr>
              <a:lvl5pPr marL="2057400" indent="-22860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1400" smtClean="0">
                <a:latin typeface="돋움" panose="020B0600000101010101" pitchFamily="50" charset="-127"/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ltGray">
            <a:xfrm>
              <a:off x="480" y="3744"/>
              <a:ext cx="5281" cy="97"/>
            </a:xfrm>
            <a:custGeom>
              <a:avLst/>
              <a:gdLst>
                <a:gd name="T0" fmla="*/ 5280 w 5281"/>
                <a:gd name="T1" fmla="*/ 0 h 97"/>
                <a:gd name="T2" fmla="*/ 0 w 5281"/>
                <a:gd name="T3" fmla="*/ 0 h 97"/>
                <a:gd name="T4" fmla="*/ 0 w 5281"/>
                <a:gd name="T5" fmla="*/ 96 h 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81" h="97">
                  <a:moveTo>
                    <a:pt x="5280" y="0"/>
                  </a:moveTo>
                  <a:lnTo>
                    <a:pt x="0" y="0"/>
                  </a:lnTo>
                  <a:lnTo>
                    <a:pt x="0" y="9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ltGray">
            <a:xfrm>
              <a:off x="480" y="3744"/>
              <a:ext cx="5281" cy="97"/>
            </a:xfrm>
            <a:custGeom>
              <a:avLst/>
              <a:gdLst>
                <a:gd name="T0" fmla="*/ 5280 w 5281"/>
                <a:gd name="T1" fmla="*/ 0 h 97"/>
                <a:gd name="T2" fmla="*/ 5280 w 5281"/>
                <a:gd name="T3" fmla="*/ 96 h 97"/>
                <a:gd name="T4" fmla="*/ 0 w 5281"/>
                <a:gd name="T5" fmla="*/ 96 h 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81" h="97">
                  <a:moveTo>
                    <a:pt x="5280" y="0"/>
                  </a:moveTo>
                  <a:lnTo>
                    <a:pt x="5280" y="96"/>
                  </a:lnTo>
                  <a:lnTo>
                    <a:pt x="0" y="9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14"/>
          <p:cNvGrpSpPr>
            <a:grpSpLocks/>
          </p:cNvGrpSpPr>
          <p:nvPr/>
        </p:nvGrpSpPr>
        <p:grpSpPr bwMode="auto">
          <a:xfrm>
            <a:off x="863600" y="1281113"/>
            <a:ext cx="153988" cy="1752600"/>
            <a:chOff x="578" y="1200"/>
            <a:chExt cx="97" cy="1104"/>
          </a:xfrm>
        </p:grpSpPr>
        <p:sp useBgFill="1">
          <p:nvSpPr>
            <p:cNvPr id="13" name="Rectangle 11"/>
            <p:cNvSpPr>
              <a:spLocks noChangeArrowheads="1"/>
            </p:cNvSpPr>
            <p:nvPr/>
          </p:nvSpPr>
          <p:spPr bwMode="ltGray">
            <a:xfrm>
              <a:off x="578" y="1201"/>
              <a:ext cx="96" cy="1103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1pPr>
              <a:lvl2pPr marL="742950" indent="-28575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2pPr>
              <a:lvl3pPr marL="1143000" indent="-22860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3pPr>
              <a:lvl4pPr marL="1600200" indent="-22860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4pPr>
              <a:lvl5pPr marL="2057400" indent="-22860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1400" smtClean="0">
                <a:latin typeface="돋움" panose="020B0600000101010101" pitchFamily="50" charset="-127"/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ltGray">
            <a:xfrm>
              <a:off x="578" y="1200"/>
              <a:ext cx="97" cy="1104"/>
            </a:xfrm>
            <a:custGeom>
              <a:avLst/>
              <a:gdLst>
                <a:gd name="T0" fmla="*/ 0 w 97"/>
                <a:gd name="T1" fmla="*/ 1103 h 1104"/>
                <a:gd name="T2" fmla="*/ 96 w 97"/>
                <a:gd name="T3" fmla="*/ 1103 h 1104"/>
                <a:gd name="T4" fmla="*/ 96 w 97"/>
                <a:gd name="T5" fmla="*/ 0 h 1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7" h="1104">
                  <a:moveTo>
                    <a:pt x="0" y="1103"/>
                  </a:moveTo>
                  <a:lnTo>
                    <a:pt x="96" y="1103"/>
                  </a:lnTo>
                  <a:lnTo>
                    <a:pt x="96" y="0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ltGray">
            <a:xfrm>
              <a:off x="578" y="1200"/>
              <a:ext cx="97" cy="1104"/>
            </a:xfrm>
            <a:custGeom>
              <a:avLst/>
              <a:gdLst>
                <a:gd name="T0" fmla="*/ 0 w 97"/>
                <a:gd name="T1" fmla="*/ 1103 h 1104"/>
                <a:gd name="T2" fmla="*/ 0 w 97"/>
                <a:gd name="T3" fmla="*/ 0 h 1104"/>
                <a:gd name="T4" fmla="*/ 96 w 97"/>
                <a:gd name="T5" fmla="*/ 0 h 1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7" h="1104">
                  <a:moveTo>
                    <a:pt x="0" y="1103"/>
                  </a:moveTo>
                  <a:lnTo>
                    <a:pt x="0" y="0"/>
                  </a:lnTo>
                  <a:lnTo>
                    <a:pt x="96" y="0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088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1905000"/>
            <a:ext cx="7772400" cy="838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/>
              <a:t>마스터 제목 유형 편집</a:t>
            </a:r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676400" y="3429000"/>
            <a:ext cx="6629400" cy="2743200"/>
          </a:xfrm>
        </p:spPr>
        <p:txBody>
          <a:bodyPr anchor="ctr"/>
          <a:lstStyle>
            <a:lvl1pPr marL="0" indent="0">
              <a:lnSpc>
                <a:spcPct val="80000"/>
              </a:lnSpc>
              <a:buFont typeface="Monotype Sorts" pitchFamily="2" charset="2"/>
              <a:buNone/>
              <a:defRPr b="0"/>
            </a:lvl1pPr>
          </a:lstStyle>
          <a:p>
            <a:endParaRPr lang="ko-KR" altLang="ko-KR"/>
          </a:p>
        </p:txBody>
      </p:sp>
      <p:sp>
        <p:nvSpPr>
          <p:cNvPr id="16" name="Rectangle 18"/>
          <p:cNvSpPr>
            <a:spLocks noGrp="1" noChangeArrowheads="1"/>
          </p:cNvSpPr>
          <p:nvPr>
            <p:ph type="dt" sz="quarter" idx="10"/>
          </p:nvPr>
        </p:nvSpPr>
        <p:spPr>
          <a:xfrm>
            <a:off x="762000" y="6324600"/>
            <a:ext cx="1905000" cy="457200"/>
          </a:xfrm>
        </p:spPr>
        <p:txBody>
          <a:bodyPr/>
          <a:lstStyle>
            <a:lvl1pPr defTabSz="914400" eaLnBrk="0" hangingPunct="0">
              <a:defRPr>
                <a:latin typeface="+mj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" name="Rectangle 19"/>
          <p:cNvSpPr>
            <a:spLocks noGrp="1" noChangeArrowheads="1"/>
          </p:cNvSpPr>
          <p:nvPr>
            <p:ph type="ftr" sz="quarter" idx="11"/>
          </p:nvPr>
        </p:nvSpPr>
        <p:spPr>
          <a:xfrm>
            <a:off x="3505200" y="6324600"/>
            <a:ext cx="2895600" cy="457200"/>
          </a:xfrm>
        </p:spPr>
        <p:txBody>
          <a:bodyPr/>
          <a:lstStyle>
            <a:lvl1pPr defTabSz="914400" eaLnBrk="0" hangingPunct="0">
              <a:defRPr>
                <a:latin typeface="+mj-lt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70036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04850" y="157397"/>
            <a:ext cx="8496300" cy="56962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 </a:t>
            </a:r>
            <a:fld id="{02718BFB-6A62-44F1-B8EC-3BE4E80ED44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76846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1" latinLnBrk="0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400800"/>
            <a:ext cx="3048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latinLnBrk="0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400800"/>
            <a:ext cx="2057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latinLnBrk="0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ko-KR"/>
              <a:t> </a:t>
            </a:r>
            <a:fld id="{0328C5CF-5986-4B52-AC62-458825EDA38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00113"/>
            <a:ext cx="8534400" cy="519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Body Text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 fourth level</a:t>
            </a:r>
          </a:p>
          <a:p>
            <a:pPr lvl="4"/>
            <a:r>
              <a:rPr lang="en-US" altLang="ko-KR" smtClean="0"/>
              <a:t>fifth level</a:t>
            </a: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 flipH="1">
            <a:off x="304800" y="6324600"/>
            <a:ext cx="922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704850" y="768350"/>
            <a:ext cx="7772400" cy="0"/>
          </a:xfrm>
          <a:prstGeom prst="line">
            <a:avLst/>
          </a:prstGeom>
          <a:noFill/>
          <a:ln w="47625" cmpd="thickThin">
            <a:solidFill>
              <a:srgbClr val="114FFB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704850" y="157163"/>
            <a:ext cx="84963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SLIDE TITLE</a:t>
            </a:r>
          </a:p>
        </p:txBody>
      </p:sp>
      <p:grpSp>
        <p:nvGrpSpPr>
          <p:cNvPr id="1033" name="Group 11"/>
          <p:cNvGrpSpPr>
            <a:grpSpLocks/>
          </p:cNvGrpSpPr>
          <p:nvPr/>
        </p:nvGrpSpPr>
        <p:grpSpPr bwMode="auto">
          <a:xfrm>
            <a:off x="669925" y="6376988"/>
            <a:ext cx="946150" cy="366712"/>
            <a:chOff x="422" y="4017"/>
            <a:chExt cx="596" cy="231"/>
          </a:xfrm>
        </p:grpSpPr>
        <p:sp>
          <p:nvSpPr>
            <p:cNvPr id="1034" name="Rectangle 9"/>
            <p:cNvSpPr>
              <a:spLocks noChangeArrowheads="1"/>
            </p:cNvSpPr>
            <p:nvPr/>
          </p:nvSpPr>
          <p:spPr bwMode="auto">
            <a:xfrm>
              <a:off x="422" y="4017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1pPr>
              <a:lvl2pPr marL="742950" indent="-28575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2pPr>
              <a:lvl3pPr marL="1143000" indent="-22860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3pPr>
              <a:lvl4pPr marL="1600200" indent="-22860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4pPr>
              <a:lvl5pPr marL="2057400" indent="-22860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9pPr>
            </a:lstStyle>
            <a:p>
              <a:pPr latinLnBrk="0">
                <a:defRPr/>
              </a:pPr>
              <a:endParaRPr lang="ko-KR" altLang="ko-KR" sz="1800" b="1" smtClean="0">
                <a:latin typeface="Arial" panose="020B0604020202020204" pitchFamily="34" charset="0"/>
              </a:endParaRPr>
            </a:p>
          </p:txBody>
        </p:sp>
        <p:sp>
          <p:nvSpPr>
            <p:cNvPr id="1035" name="Rectangle 10"/>
            <p:cNvSpPr>
              <a:spLocks noChangeArrowheads="1"/>
            </p:cNvSpPr>
            <p:nvPr/>
          </p:nvSpPr>
          <p:spPr bwMode="auto">
            <a:xfrm>
              <a:off x="902" y="4031"/>
              <a:ext cx="1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1pPr>
              <a:lvl2pPr marL="742950" indent="-28575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2pPr>
              <a:lvl3pPr marL="1143000" indent="-22860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3pPr>
              <a:lvl4pPr marL="1600200" indent="-22860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4pPr>
              <a:lvl5pPr marL="2057400" indent="-228600" latinLnBrk="1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돋움" panose="020B0600000101010101" pitchFamily="50" charset="-127"/>
                </a:defRPr>
              </a:lvl9pPr>
            </a:lstStyle>
            <a:p>
              <a:pPr latinLnBrk="0">
                <a:defRPr/>
              </a:pPr>
              <a:endParaRPr lang="ko-KR" altLang="ko-KR" sz="1600" b="1" smtClean="0">
                <a:latin typeface="돋움" panose="020B0600000101010101" pitchFamily="50" charset="-127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3" r:id="rId2"/>
  </p:sldLayoutIdLst>
  <p:hf hdr="0" ftr="0" dt="0"/>
  <p:txStyles>
    <p:titleStyle>
      <a:lvl1pPr algn="just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>
          <a:solidFill>
            <a:srgbClr val="FC0128"/>
          </a:solidFill>
          <a:latin typeface="+mj-lt"/>
          <a:ea typeface="+mj-ea"/>
          <a:cs typeface="+mj-cs"/>
        </a:defRPr>
      </a:lvl1pPr>
      <a:lvl2pPr algn="just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>
          <a:solidFill>
            <a:srgbClr val="FC0128"/>
          </a:solidFill>
          <a:latin typeface="Arial" pitchFamily="34" charset="0"/>
          <a:ea typeface="돋움체" pitchFamily="49" charset="-127"/>
        </a:defRPr>
      </a:lvl2pPr>
      <a:lvl3pPr algn="just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>
          <a:solidFill>
            <a:srgbClr val="FC0128"/>
          </a:solidFill>
          <a:latin typeface="Arial" pitchFamily="34" charset="0"/>
          <a:ea typeface="돋움체" pitchFamily="49" charset="-127"/>
        </a:defRPr>
      </a:lvl3pPr>
      <a:lvl4pPr algn="just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>
          <a:solidFill>
            <a:srgbClr val="FC0128"/>
          </a:solidFill>
          <a:latin typeface="Arial" pitchFamily="34" charset="0"/>
          <a:ea typeface="돋움체" pitchFamily="49" charset="-127"/>
        </a:defRPr>
      </a:lvl4pPr>
      <a:lvl5pPr algn="just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>
          <a:solidFill>
            <a:srgbClr val="FC0128"/>
          </a:solidFill>
          <a:latin typeface="Arial" pitchFamily="34" charset="0"/>
          <a:ea typeface="돋움체" pitchFamily="49" charset="-127"/>
        </a:defRPr>
      </a:lvl5pPr>
      <a:lvl6pPr marL="457200" algn="just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>
          <a:solidFill>
            <a:srgbClr val="FC0128"/>
          </a:solidFill>
          <a:latin typeface="Arial" pitchFamily="34" charset="0"/>
          <a:ea typeface="돋움체" pitchFamily="49" charset="-127"/>
        </a:defRPr>
      </a:lvl6pPr>
      <a:lvl7pPr marL="914400" algn="just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>
          <a:solidFill>
            <a:srgbClr val="FC0128"/>
          </a:solidFill>
          <a:latin typeface="Arial" pitchFamily="34" charset="0"/>
          <a:ea typeface="돋움체" pitchFamily="49" charset="-127"/>
        </a:defRPr>
      </a:lvl7pPr>
      <a:lvl8pPr marL="1371600" algn="just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>
          <a:solidFill>
            <a:srgbClr val="FC0128"/>
          </a:solidFill>
          <a:latin typeface="Arial" pitchFamily="34" charset="0"/>
          <a:ea typeface="돋움체" pitchFamily="49" charset="-127"/>
        </a:defRPr>
      </a:lvl8pPr>
      <a:lvl9pPr marL="1828800" algn="just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800" b="1">
          <a:solidFill>
            <a:srgbClr val="FC0128"/>
          </a:solidFill>
          <a:latin typeface="Arial" pitchFamily="34" charset="0"/>
          <a:ea typeface="돋움체" pitchFamily="49" charset="-127"/>
        </a:defRPr>
      </a:lvl9pPr>
    </p:titleStyle>
    <p:bodyStyle>
      <a:lvl1pPr marL="285750" indent="-285750" algn="l" rtl="0" eaLnBrk="0" fontAlgn="base" hangingPunct="0">
        <a:lnSpc>
          <a:spcPct val="120000"/>
        </a:lnSpc>
        <a:spcBef>
          <a:spcPct val="0"/>
        </a:spcBef>
        <a:spcAft>
          <a:spcPct val="20000"/>
        </a:spcAft>
        <a:buClr>
          <a:schemeClr val="tx2"/>
        </a:buClr>
        <a:buSzPct val="75000"/>
        <a:buFont typeface="Monotype Sorts" pitchFamily="2" charset="2"/>
        <a:buChar char="q"/>
        <a:defRPr kumimoji="1" b="1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0"/>
        </a:spcBef>
        <a:spcAft>
          <a:spcPct val="20000"/>
        </a:spcAft>
        <a:buClr>
          <a:schemeClr val="accent1"/>
        </a:buClr>
        <a:buSzPct val="100000"/>
        <a:buFont typeface="바탕체" pitchFamily="17" charset="-127"/>
        <a:buChar char="-"/>
        <a:defRPr kumimoji="1" sz="1600">
          <a:solidFill>
            <a:schemeClr val="tx1"/>
          </a:solidFill>
          <a:latin typeface="+mn-lt"/>
          <a:ea typeface="바탕체" pitchFamily="17" charset="-127"/>
        </a:defRPr>
      </a:lvl2pPr>
      <a:lvl3pPr marL="1143000" indent="-228600" algn="l" rtl="0" eaLnBrk="0" fontAlgn="base" hangingPunct="0">
        <a:lnSpc>
          <a:spcPct val="90000"/>
        </a:lnSpc>
        <a:spcBef>
          <a:spcPct val="0"/>
        </a:spcBef>
        <a:spcAft>
          <a:spcPct val="20000"/>
        </a:spcAft>
        <a:buClr>
          <a:schemeClr val="tx2"/>
        </a:buClr>
        <a:buSzPct val="60000"/>
        <a:buFont typeface="Monotype Sorts" pitchFamily="2" charset="2"/>
        <a:buChar char="u"/>
        <a:defRPr kumimoji="1" sz="1400">
          <a:solidFill>
            <a:schemeClr val="tx1"/>
          </a:solidFill>
          <a:latin typeface="+mn-lt"/>
          <a:ea typeface="바탕체" pitchFamily="17" charset="-127"/>
        </a:defRPr>
      </a:lvl3pPr>
      <a:lvl4pPr marL="1543050" indent="-171450" algn="l" rtl="0" eaLnBrk="0" fontAlgn="base" hangingPunct="0">
        <a:lnSpc>
          <a:spcPct val="90000"/>
        </a:lnSpc>
        <a:spcBef>
          <a:spcPct val="0"/>
        </a:spcBef>
        <a:spcAft>
          <a:spcPct val="20000"/>
        </a:spcAft>
        <a:buSzPct val="100000"/>
        <a:buFont typeface="바탕체" panose="02030609000101010101" pitchFamily="17" charset="-127"/>
        <a:buChar char=" "/>
        <a:defRPr kumimoji="1" sz="1200">
          <a:solidFill>
            <a:schemeClr val="tx1"/>
          </a:solidFill>
          <a:latin typeface="+mn-lt"/>
          <a:ea typeface="바탕체" pitchFamily="17" charset="-127"/>
        </a:defRPr>
      </a:lvl4pPr>
      <a:lvl5pPr marL="2000250" indent="-171450" algn="l" rtl="0" eaLnBrk="0" fontAlgn="base" hangingPunct="0">
        <a:lnSpc>
          <a:spcPct val="90000"/>
        </a:lnSpc>
        <a:spcBef>
          <a:spcPct val="0"/>
        </a:spcBef>
        <a:spcAft>
          <a:spcPct val="20000"/>
        </a:spcAft>
        <a:buSzPct val="100000"/>
        <a:buFont typeface="바탕체" panose="02030609000101010101" pitchFamily="17" charset="-127"/>
        <a:buChar char=" "/>
        <a:defRPr kumimoji="1" sz="1200">
          <a:solidFill>
            <a:schemeClr val="tx1"/>
          </a:solidFill>
          <a:latin typeface="+mn-lt"/>
          <a:ea typeface="바탕체" pitchFamily="17" charset="-127"/>
        </a:defRPr>
      </a:lvl5pPr>
      <a:lvl6pPr marL="2457450" indent="-171450" algn="l" rtl="0" eaLnBrk="0" fontAlgn="base" hangingPunct="0">
        <a:lnSpc>
          <a:spcPct val="90000"/>
        </a:lnSpc>
        <a:spcBef>
          <a:spcPct val="0"/>
        </a:spcBef>
        <a:spcAft>
          <a:spcPct val="20000"/>
        </a:spcAft>
        <a:buSzPct val="100000"/>
        <a:buFont typeface="바탕체" pitchFamily="17" charset="-127"/>
        <a:buChar char=" "/>
        <a:defRPr kumimoji="1" sz="1200">
          <a:solidFill>
            <a:schemeClr val="tx1"/>
          </a:solidFill>
          <a:latin typeface="+mn-lt"/>
          <a:ea typeface="바탕체" pitchFamily="17" charset="-127"/>
        </a:defRPr>
      </a:lvl6pPr>
      <a:lvl7pPr marL="2914650" indent="-171450" algn="l" rtl="0" eaLnBrk="0" fontAlgn="base" hangingPunct="0">
        <a:lnSpc>
          <a:spcPct val="90000"/>
        </a:lnSpc>
        <a:spcBef>
          <a:spcPct val="0"/>
        </a:spcBef>
        <a:spcAft>
          <a:spcPct val="20000"/>
        </a:spcAft>
        <a:buSzPct val="100000"/>
        <a:buFont typeface="바탕체" pitchFamily="17" charset="-127"/>
        <a:buChar char=" "/>
        <a:defRPr kumimoji="1" sz="1200">
          <a:solidFill>
            <a:schemeClr val="tx1"/>
          </a:solidFill>
          <a:latin typeface="+mn-lt"/>
          <a:ea typeface="바탕체" pitchFamily="17" charset="-127"/>
        </a:defRPr>
      </a:lvl7pPr>
      <a:lvl8pPr marL="3371850" indent="-171450" algn="l" rtl="0" eaLnBrk="0" fontAlgn="base" hangingPunct="0">
        <a:lnSpc>
          <a:spcPct val="90000"/>
        </a:lnSpc>
        <a:spcBef>
          <a:spcPct val="0"/>
        </a:spcBef>
        <a:spcAft>
          <a:spcPct val="20000"/>
        </a:spcAft>
        <a:buSzPct val="100000"/>
        <a:buFont typeface="바탕체" pitchFamily="17" charset="-127"/>
        <a:buChar char=" "/>
        <a:defRPr kumimoji="1" sz="1200">
          <a:solidFill>
            <a:schemeClr val="tx1"/>
          </a:solidFill>
          <a:latin typeface="+mn-lt"/>
          <a:ea typeface="바탕체" pitchFamily="17" charset="-127"/>
        </a:defRPr>
      </a:lvl8pPr>
      <a:lvl9pPr marL="3829050" indent="-171450" algn="l" rtl="0" eaLnBrk="0" fontAlgn="base" hangingPunct="0">
        <a:lnSpc>
          <a:spcPct val="90000"/>
        </a:lnSpc>
        <a:spcBef>
          <a:spcPct val="0"/>
        </a:spcBef>
        <a:spcAft>
          <a:spcPct val="20000"/>
        </a:spcAft>
        <a:buSzPct val="100000"/>
        <a:buFont typeface="바탕체" pitchFamily="17" charset="-127"/>
        <a:buChar char=" "/>
        <a:defRPr kumimoji="1" sz="1200">
          <a:solidFill>
            <a:schemeClr val="tx1"/>
          </a:solidFill>
          <a:latin typeface="+mn-lt"/>
          <a:ea typeface="바탕체" pitchFamily="17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0.png"/><Relationship Id="rId4" Type="http://schemas.openxmlformats.org/officeDocument/2006/relationships/image" Target="../media/image6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0.png"/><Relationship Id="rId7" Type="http://schemas.openxmlformats.org/officeDocument/2006/relationships/image" Target="../media/image42.png"/><Relationship Id="rId12" Type="http://schemas.openxmlformats.org/officeDocument/2006/relationships/image" Target="../media/image35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0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../media/image87.png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image" Target="../media/image99.png"/><Relationship Id="rId16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5" Type="http://schemas.openxmlformats.org/officeDocument/2006/relationships/image" Target="../media/image117.png"/><Relationship Id="rId10" Type="http://schemas.openxmlformats.org/officeDocument/2006/relationships/image" Target="../media/image122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35952" y="1019569"/>
            <a:ext cx="7772400" cy="1818728"/>
          </a:xfrm>
          <a:noFill/>
        </p:spPr>
        <p:txBody>
          <a:bodyPr/>
          <a:lstStyle/>
          <a:p>
            <a:pPr algn="l" eaLnBrk="1" hangingPunct="1">
              <a:lnSpc>
                <a:spcPct val="100000"/>
              </a:lnSpc>
            </a:pPr>
            <a:r>
              <a:rPr lang="ko-KR" altLang="en-US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세부과제</a:t>
            </a:r>
            <a:r>
              <a:rPr lang="en-US" altLang="ko-KR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(</a:t>
            </a:r>
            <a:r>
              <a:rPr lang="ko-KR" altLang="en-US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경성대</a:t>
            </a:r>
            <a:r>
              <a:rPr lang="en-US" altLang="ko-KR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)</a:t>
            </a:r>
            <a:r>
              <a:rPr lang="ko-KR" altLang="en-US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 </a:t>
            </a:r>
            <a:r>
              <a:rPr lang="en-US" altLang="ko-KR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:</a:t>
            </a:r>
            <a:br>
              <a:rPr lang="en-US" altLang="ko-KR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</a:br>
            <a:r>
              <a:rPr lang="en-US" altLang="ko-KR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MESSAGE </a:t>
            </a:r>
            <a:r>
              <a:rPr lang="ko-KR" altLang="en-US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시스템 및</a:t>
            </a:r>
            <a:r>
              <a:rPr lang="en-US" altLang="ko-KR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 </a:t>
            </a:r>
            <a:r>
              <a:rPr lang="ko-KR" altLang="en-US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부문별 특성 분석을 통한 한국형 </a:t>
            </a:r>
            <a:r>
              <a:rPr lang="ko-KR" altLang="en-US" b="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상하향식</a:t>
            </a:r>
            <a:r>
              <a:rPr lang="ko-KR" altLang="en-US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 통합모형 </a:t>
            </a:r>
            <a:r>
              <a:rPr lang="en-US" altLang="ko-KR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SW</a:t>
            </a:r>
            <a:r>
              <a:rPr lang="ko-KR" altLang="en-US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시스템 개발</a:t>
            </a:r>
            <a:r>
              <a:rPr lang="en-US" altLang="ko-KR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/>
            </a:r>
            <a:br>
              <a:rPr lang="en-US" altLang="ko-KR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</a:br>
            <a:r>
              <a:rPr lang="en-US" altLang="ko-KR" sz="2000" dirty="0" smtClean="0">
                <a:solidFill>
                  <a:srgbClr val="0070C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- 1</a:t>
            </a:r>
            <a:r>
              <a:rPr lang="ko-KR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차년도 평가 및 </a:t>
            </a:r>
            <a:r>
              <a:rPr lang="en-US" altLang="ko-KR" sz="2000" dirty="0" smtClean="0">
                <a:solidFill>
                  <a:srgbClr val="0070C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2</a:t>
            </a:r>
            <a:r>
              <a:rPr lang="ko-KR" alt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ea typeface="바탕체" panose="02030609000101010101" pitchFamily="17" charset="-127"/>
              </a:rPr>
              <a:t>차년도 연구계획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14235" y="3752711"/>
            <a:ext cx="7391400" cy="1295400"/>
          </a:xfrm>
          <a:noFill/>
        </p:spPr>
        <p:txBody>
          <a:bodyPr/>
          <a:lstStyle/>
          <a:p>
            <a:pPr algn="ctr" eaLnBrk="1" hangingPunct="1">
              <a:spcBef>
                <a:spcPct val="20000"/>
              </a:spcBef>
              <a:spcAft>
                <a:spcPct val="0"/>
              </a:spcAft>
            </a:pPr>
            <a:r>
              <a:rPr lang="en-US" altLang="ko-KR" dirty="0" smtClean="0">
                <a:latin typeface="Arial" panose="020B0604020202020204" pitchFamily="34" charset="0"/>
                <a:ea typeface="돋움" panose="020B0600000101010101" pitchFamily="50" charset="-127"/>
              </a:rPr>
              <a:t>2015</a:t>
            </a:r>
            <a:r>
              <a:rPr lang="ko-KR" altLang="en-US" dirty="0" smtClean="0">
                <a:latin typeface="Arial" panose="020B0604020202020204" pitchFamily="34" charset="0"/>
                <a:ea typeface="돋움" panose="020B0600000101010101" pitchFamily="50" charset="-127"/>
              </a:rPr>
              <a:t>년 </a:t>
            </a:r>
            <a:r>
              <a:rPr lang="en-US" altLang="ko-KR" dirty="0">
                <a:latin typeface="Arial" panose="020B0604020202020204" pitchFamily="34" charset="0"/>
                <a:ea typeface="돋움" panose="020B0600000101010101" pitchFamily="50" charset="-127"/>
              </a:rPr>
              <a:t>4</a:t>
            </a:r>
            <a:r>
              <a:rPr lang="ko-KR" altLang="en-US" dirty="0" smtClean="0">
                <a:latin typeface="Arial" panose="020B0604020202020204" pitchFamily="34" charset="0"/>
                <a:ea typeface="돋움" panose="020B0600000101010101" pitchFamily="50" charset="-127"/>
              </a:rPr>
              <a:t>월</a:t>
            </a:r>
            <a:r>
              <a:rPr lang="en-US" altLang="ko-KR" dirty="0" smtClean="0">
                <a:latin typeface="Arial" panose="020B0604020202020204" pitchFamily="34" charset="0"/>
                <a:ea typeface="돋움" panose="020B0600000101010101" pitchFamily="50" charset="-127"/>
              </a:rPr>
              <a:t>16</a:t>
            </a:r>
            <a:r>
              <a:rPr lang="ko-KR" altLang="en-US" dirty="0" smtClean="0">
                <a:latin typeface="Arial" panose="020B0604020202020204" pitchFamily="34" charset="0"/>
                <a:ea typeface="돋움" panose="020B0600000101010101" pitchFamily="50" charset="-127"/>
              </a:rPr>
              <a:t>일</a:t>
            </a:r>
            <a:endParaRPr lang="en-US" altLang="ko-KR" dirty="0" smtClean="0">
              <a:latin typeface="Arial" panose="020B0604020202020204" pitchFamily="34" charset="0"/>
              <a:ea typeface="돋움" panose="020B0600000101010101" pitchFamily="50" charset="-127"/>
            </a:endParaRP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</a:pPr>
            <a:endParaRPr lang="en-US" altLang="ko-KR" dirty="0">
              <a:latin typeface="Arial" panose="020B0604020202020204" pitchFamily="34" charset="0"/>
              <a:ea typeface="돋움" panose="020B0600000101010101" pitchFamily="50" charset="-127"/>
            </a:endParaRP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</a:pPr>
            <a:r>
              <a:rPr lang="ko-KR" altLang="en-US" dirty="0" smtClean="0">
                <a:latin typeface="Arial" panose="020B0604020202020204" pitchFamily="34" charset="0"/>
                <a:ea typeface="돋움" panose="020B0600000101010101" pitchFamily="50" charset="-127"/>
              </a:rPr>
              <a:t>한국환경산업기술원</a:t>
            </a:r>
            <a:endParaRPr lang="en-US" altLang="ko-KR" dirty="0" smtClean="0">
              <a:latin typeface="Arial" panose="020B0604020202020204" pitchFamily="34" charset="0"/>
              <a:ea typeface="돋움" panose="020B0600000101010101" pitchFamily="50" charset="-127"/>
            </a:endParaRP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</a:pPr>
            <a:endParaRPr lang="en-US" altLang="ko-KR" dirty="0" smtClean="0">
              <a:latin typeface="Arial" panose="020B0604020202020204" pitchFamily="34" charset="0"/>
              <a:ea typeface="돋움" panose="020B0600000101010101" pitchFamily="50" charset="-127"/>
            </a:endParaRP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</a:pPr>
            <a:r>
              <a:rPr lang="ko-KR" altLang="en-US" dirty="0" smtClean="0">
                <a:latin typeface="Arial" panose="020B0604020202020204" pitchFamily="34" charset="0"/>
                <a:ea typeface="돋움" panose="020B0600000101010101" pitchFamily="50" charset="-127"/>
              </a:rPr>
              <a:t>세부과제 책임자 </a:t>
            </a:r>
            <a:r>
              <a:rPr lang="en-US" altLang="ko-KR" dirty="0" smtClean="0">
                <a:latin typeface="Arial" panose="020B0604020202020204" pitchFamily="34" charset="0"/>
                <a:ea typeface="돋움" panose="020B0600000101010101" pitchFamily="50" charset="-127"/>
              </a:rPr>
              <a:t>: </a:t>
            </a:r>
            <a:r>
              <a:rPr lang="ko-KR" altLang="en-US" dirty="0" smtClean="0">
                <a:latin typeface="Arial" panose="020B0604020202020204" pitchFamily="34" charset="0"/>
                <a:ea typeface="돋움" panose="020B0600000101010101" pitchFamily="50" charset="-127"/>
              </a:rPr>
              <a:t>경성대학교</a:t>
            </a:r>
            <a:r>
              <a:rPr lang="en-US" altLang="ko-KR" dirty="0" smtClean="0">
                <a:latin typeface="Arial" panose="020B0604020202020204" pitchFamily="34" charset="0"/>
                <a:ea typeface="돋움" panose="020B0600000101010101" pitchFamily="50" charset="-127"/>
              </a:rPr>
              <a:t>,</a:t>
            </a:r>
            <a:r>
              <a:rPr lang="ko-KR" altLang="en-US" dirty="0" smtClean="0">
                <a:latin typeface="Arial" panose="020B0604020202020204" pitchFamily="34" charset="0"/>
                <a:ea typeface="돋움" panose="020B0600000101010101" pitchFamily="50" charset="-127"/>
              </a:rPr>
              <a:t> </a:t>
            </a:r>
            <a:r>
              <a:rPr lang="ko-KR" altLang="en-US" dirty="0" err="1" smtClean="0">
                <a:latin typeface="Arial" panose="020B0604020202020204" pitchFamily="34" charset="0"/>
                <a:ea typeface="돋움" panose="020B0600000101010101" pitchFamily="50" charset="-127"/>
              </a:rPr>
              <a:t>김후곤</a:t>
            </a:r>
            <a:r>
              <a:rPr lang="en-US" altLang="ko-KR" dirty="0" smtClean="0">
                <a:latin typeface="Arial" panose="020B0604020202020204" pitchFamily="34" charset="0"/>
                <a:ea typeface="돋움" panose="020B0600000101010101" pitchFamily="50" charset="-127"/>
              </a:rPr>
              <a:t>(hkim@ks.ac.kr)</a:t>
            </a:r>
            <a:endParaRPr lang="ko-KR" altLang="en-US" dirty="0" smtClean="0">
              <a:latin typeface="Arial" panose="020B0604020202020204" pitchFamily="34" charset="0"/>
              <a:ea typeface="돋움" panose="020B0600000101010101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33350" y="111125"/>
            <a:ext cx="4953000" cy="55403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기후변화대응 환경기술개발사업</a:t>
            </a:r>
            <a:endParaRPr lang="en-US" altLang="ko-K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연구단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한국형 상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하향식 온실가스 통합 감축 시스템 개발</a:t>
            </a:r>
            <a:endParaRPr lang="en-US" altLang="ko-K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Picture 140" descr="C:\Users\xp\Documents\2014 R and D 기획\계획서 작성\김용건\경성대학교_로고_KS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66" y="6018992"/>
            <a:ext cx="527714" cy="525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목차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  <p:graphicFrame>
        <p:nvGraphicFramePr>
          <p:cNvPr id="7" name="다이어그램 6"/>
          <p:cNvGraphicFramePr/>
          <p:nvPr>
            <p:extLst>
              <p:ext uri="{D42A27DB-BD31-4B8C-83A1-F6EECF244321}">
                <p14:modId xmlns:p14="http://schemas.microsoft.com/office/powerpoint/2010/main" val="1424175985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1426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6" name="제목 1"/>
          <p:cNvSpPr txBox="1">
            <a:spLocks/>
          </p:cNvSpPr>
          <p:nvPr/>
        </p:nvSpPr>
        <p:spPr bwMode="auto">
          <a:xfrm>
            <a:off x="698974" y="749225"/>
            <a:ext cx="6753225" cy="1143000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</p:spPr>
        <p:txBody>
          <a:bodyPr vert="horz" wrap="square" lIns="19800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kumimoji="0" lang="en-US" altLang="ko-KR" sz="3200" kern="0" dirty="0" smtClean="0">
                <a:latin typeface="나눔고딕 ExtraBold" pitchFamily="50" charset="-127"/>
                <a:ea typeface="나눔고딕 ExtraBold" pitchFamily="50" charset="-127"/>
              </a:rPr>
              <a:t>1. </a:t>
            </a:r>
            <a:r>
              <a:rPr kumimoji="0" lang="ko-KR" altLang="en-US" sz="3200" kern="0" dirty="0" smtClean="0">
                <a:latin typeface="나눔고딕 ExtraBold" pitchFamily="50" charset="-127"/>
                <a:ea typeface="나눔고딕 ExtraBold" pitchFamily="50" charset="-127"/>
              </a:rPr>
              <a:t>연구과제 개요</a:t>
            </a:r>
          </a:p>
        </p:txBody>
      </p:sp>
    </p:spTree>
    <p:extLst>
      <p:ext uri="{BB962C8B-B14F-4D97-AF65-F5344CB8AC3E}">
        <p14:creationId xmlns:p14="http://schemas.microsoft.com/office/powerpoint/2010/main" val="121754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과제 개요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16" name="Rectangle 101"/>
          <p:cNvSpPr>
            <a:spLocks noChangeArrowheads="1"/>
          </p:cNvSpPr>
          <p:nvPr/>
        </p:nvSpPr>
        <p:spPr bwMode="auto">
          <a:xfrm>
            <a:off x="2259013" y="2173135"/>
            <a:ext cx="6381750" cy="554205"/>
          </a:xfrm>
          <a:prstGeom prst="rect">
            <a:avLst/>
          </a:prstGeom>
          <a:solidFill>
            <a:srgbClr val="E5E7FB">
              <a:alpha val="79999"/>
            </a:srgbClr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latinLnBrk="1" hangingPunct="1"/>
            <a:r>
              <a:rPr lang="ko-KR" altLang="en-US" sz="1400" b="1" dirty="0" smtClean="0">
                <a:solidFill>
                  <a:srgbClr val="183883"/>
                </a:solidFill>
                <a:latin typeface="나눔고딕" pitchFamily="50" charset="-127"/>
                <a:ea typeface="나눔고딕" pitchFamily="50" charset="-127"/>
              </a:rPr>
              <a:t>한국형 상∙하향식 온실가스 통합 감축 시스템 개발</a:t>
            </a:r>
            <a:endParaRPr lang="ko-KR" altLang="en-US" sz="1400" b="1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" name="AutoShape 114"/>
          <p:cNvSpPr>
            <a:spLocks noChangeArrowheads="1"/>
          </p:cNvSpPr>
          <p:nvPr/>
        </p:nvSpPr>
        <p:spPr bwMode="gray">
          <a:xfrm>
            <a:off x="544513" y="2143125"/>
            <a:ext cx="1525587" cy="454025"/>
          </a:xfrm>
          <a:prstGeom prst="roundRect">
            <a:avLst>
              <a:gd name="adj" fmla="val 16667"/>
            </a:avLst>
          </a:prstGeom>
          <a:solidFill>
            <a:srgbClr val="788AE2"/>
          </a:solidFill>
          <a:ln w="38100" algn="ctr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고딕 ExtraBold" pitchFamily="50" charset="-127"/>
                <a:ea typeface="나눔고딕 ExtraBold" pitchFamily="50" charset="-127"/>
                <a:cs typeface="+mn-cs"/>
              </a:rPr>
              <a:t>연구단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나눔고딕 ExtraBold" pitchFamily="50" charset="-127"/>
              <a:ea typeface="나눔고딕 ExtraBold" pitchFamily="50" charset="-127"/>
              <a:cs typeface="+mn-cs"/>
            </a:endParaRPr>
          </a:p>
        </p:txBody>
      </p:sp>
      <p:sp>
        <p:nvSpPr>
          <p:cNvPr id="18" name="Rectangle 101"/>
          <p:cNvSpPr>
            <a:spLocks noChangeArrowheads="1"/>
          </p:cNvSpPr>
          <p:nvPr/>
        </p:nvSpPr>
        <p:spPr bwMode="auto">
          <a:xfrm>
            <a:off x="2259013" y="3484867"/>
            <a:ext cx="6381750" cy="513504"/>
          </a:xfrm>
          <a:prstGeom prst="rect">
            <a:avLst/>
          </a:prstGeom>
          <a:solidFill>
            <a:srgbClr val="E5E7FB">
              <a:alpha val="79999"/>
            </a:srgbClr>
          </a:solidFill>
          <a:ln w="127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latinLnBrk="1" hangingPunct="1"/>
            <a:r>
              <a:rPr lang="en-US" altLang="ko-KR" b="1" dirty="0" smtClean="0">
                <a:solidFill>
                  <a:srgbClr val="183883"/>
                </a:solidFill>
                <a:latin typeface="나눔고딕" pitchFamily="50" charset="-127"/>
                <a:ea typeface="나눔고딕" pitchFamily="50" charset="-127"/>
              </a:rPr>
              <a:t>2014.05.01 </a:t>
            </a:r>
            <a:r>
              <a:rPr lang="en-US" altLang="ko-KR" b="1" dirty="0">
                <a:solidFill>
                  <a:srgbClr val="183883"/>
                </a:solidFill>
                <a:latin typeface="나눔고딕" pitchFamily="50" charset="-127"/>
                <a:ea typeface="나눔고딕" pitchFamily="50" charset="-127"/>
              </a:rPr>
              <a:t>~ </a:t>
            </a:r>
            <a:r>
              <a:rPr lang="en-US" altLang="ko-KR" b="1" dirty="0" smtClean="0">
                <a:solidFill>
                  <a:srgbClr val="183883"/>
                </a:solidFill>
                <a:latin typeface="나눔고딕" pitchFamily="50" charset="-127"/>
                <a:ea typeface="나눔고딕" pitchFamily="50" charset="-127"/>
              </a:rPr>
              <a:t>2021.4.30(7</a:t>
            </a:r>
            <a:r>
              <a:rPr lang="ko-KR" altLang="en-US" b="1" dirty="0" smtClean="0">
                <a:solidFill>
                  <a:srgbClr val="183883"/>
                </a:solidFill>
                <a:latin typeface="나눔고딕" pitchFamily="50" charset="-127"/>
                <a:ea typeface="나눔고딕" pitchFamily="50" charset="-127"/>
              </a:rPr>
              <a:t>년</a:t>
            </a:r>
            <a:r>
              <a:rPr lang="en-US" altLang="ko-KR" b="1" dirty="0" smtClean="0">
                <a:solidFill>
                  <a:srgbClr val="183883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endParaRPr lang="ko-KR" altLang="ko-KR" b="1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" name="AutoShape 114"/>
          <p:cNvSpPr>
            <a:spLocks noChangeArrowheads="1"/>
          </p:cNvSpPr>
          <p:nvPr/>
        </p:nvSpPr>
        <p:spPr bwMode="gray">
          <a:xfrm>
            <a:off x="544513" y="3451225"/>
            <a:ext cx="1525587" cy="454025"/>
          </a:xfrm>
          <a:prstGeom prst="roundRect">
            <a:avLst>
              <a:gd name="adj" fmla="val 16667"/>
            </a:avLst>
          </a:prstGeom>
          <a:solidFill>
            <a:srgbClr val="788AE2"/>
          </a:solidFill>
          <a:ln w="38100" algn="ctr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고딕 ExtraBold" pitchFamily="50" charset="-127"/>
                <a:ea typeface="나눔고딕 ExtraBold" pitchFamily="50" charset="-127"/>
                <a:cs typeface="+mn-cs"/>
              </a:rPr>
              <a:t>연구기간</a:t>
            </a:r>
          </a:p>
        </p:txBody>
      </p:sp>
      <p:sp>
        <p:nvSpPr>
          <p:cNvPr id="20" name="AutoShape 114"/>
          <p:cNvSpPr>
            <a:spLocks noChangeArrowheads="1"/>
          </p:cNvSpPr>
          <p:nvPr/>
        </p:nvSpPr>
        <p:spPr bwMode="gray">
          <a:xfrm>
            <a:off x="544513" y="4097339"/>
            <a:ext cx="1525587" cy="452437"/>
          </a:xfrm>
          <a:prstGeom prst="roundRect">
            <a:avLst>
              <a:gd name="adj" fmla="val 16667"/>
            </a:avLst>
          </a:prstGeom>
          <a:solidFill>
            <a:srgbClr val="788AE2"/>
          </a:solidFill>
          <a:ln w="38100" algn="ctr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고딕 ExtraBold" pitchFamily="50" charset="-127"/>
                <a:ea typeface="나눔고딕 ExtraBold" pitchFamily="50" charset="-127"/>
                <a:cs typeface="+mn-cs"/>
              </a:rPr>
              <a:t>세부과제책임자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나눔고딕 ExtraBold" pitchFamily="50" charset="-127"/>
              <a:ea typeface="나눔고딕 ExtraBold" pitchFamily="50" charset="-127"/>
              <a:cs typeface="+mn-cs"/>
            </a:endParaRPr>
          </a:p>
        </p:txBody>
      </p:sp>
      <p:sp>
        <p:nvSpPr>
          <p:cNvPr id="21" name="AutoShape 114"/>
          <p:cNvSpPr>
            <a:spLocks noChangeArrowheads="1"/>
          </p:cNvSpPr>
          <p:nvPr/>
        </p:nvSpPr>
        <p:spPr bwMode="gray">
          <a:xfrm>
            <a:off x="546100" y="4792663"/>
            <a:ext cx="1525588" cy="454025"/>
          </a:xfrm>
          <a:prstGeom prst="roundRect">
            <a:avLst>
              <a:gd name="adj" fmla="val 16667"/>
            </a:avLst>
          </a:prstGeom>
          <a:solidFill>
            <a:srgbClr val="788AE2"/>
          </a:solidFill>
          <a:ln w="38100" algn="ctr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고딕 ExtraBold" pitchFamily="50" charset="-127"/>
                <a:ea typeface="나눔고딕 ExtraBold" pitchFamily="50" charset="-127"/>
                <a:cs typeface="+mn-cs"/>
              </a:rPr>
              <a:t>참여연구원 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나눔고딕 ExtraBold" pitchFamily="50" charset="-127"/>
              <a:ea typeface="나눔고딕 ExtraBold" pitchFamily="50" charset="-127"/>
              <a:cs typeface="+mn-cs"/>
            </a:endParaRPr>
          </a:p>
        </p:txBody>
      </p:sp>
      <p:sp>
        <p:nvSpPr>
          <p:cNvPr id="22" name="Rectangle 101"/>
          <p:cNvSpPr>
            <a:spLocks noChangeArrowheads="1"/>
          </p:cNvSpPr>
          <p:nvPr/>
        </p:nvSpPr>
        <p:spPr bwMode="auto">
          <a:xfrm>
            <a:off x="2259013" y="4099453"/>
            <a:ext cx="6381750" cy="529697"/>
          </a:xfrm>
          <a:prstGeom prst="rect">
            <a:avLst/>
          </a:prstGeom>
          <a:solidFill>
            <a:srgbClr val="E5E7FB">
              <a:alpha val="79999"/>
            </a:srgbClr>
          </a:solidFill>
          <a:ln w="127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latinLnBrk="1" hangingPunct="1"/>
            <a:endParaRPr lang="ko-KR" altLang="ko-KR" sz="1400" b="1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3" name="TextBox 13"/>
          <p:cNvSpPr txBox="1">
            <a:spLocks noChangeArrowheads="1"/>
          </p:cNvSpPr>
          <p:nvPr/>
        </p:nvSpPr>
        <p:spPr bwMode="auto">
          <a:xfrm>
            <a:off x="3008313" y="4175095"/>
            <a:ext cx="4735512" cy="337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kumimoji="0" lang="ko-KR" altLang="en-US" b="1" dirty="0" err="1" smtClean="0">
                <a:solidFill>
                  <a:srgbClr val="183883"/>
                </a:solidFill>
                <a:latin typeface="나눔고딕" pitchFamily="50" charset="-127"/>
                <a:ea typeface="나눔고딕" pitchFamily="50" charset="-127"/>
              </a:rPr>
              <a:t>김후곤</a:t>
            </a:r>
            <a:r>
              <a:rPr kumimoji="0" lang="ko-KR" altLang="en-US" b="1" dirty="0" smtClean="0">
                <a:solidFill>
                  <a:srgbClr val="183883"/>
                </a:solidFill>
                <a:latin typeface="나눔고딕" pitchFamily="50" charset="-127"/>
                <a:ea typeface="나눔고딕" pitchFamily="50" charset="-127"/>
              </a:rPr>
              <a:t>  경성대학교</a:t>
            </a:r>
            <a:endParaRPr kumimoji="0" lang="en-US" altLang="ko-KR" b="1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4" name="Rectangle 101"/>
          <p:cNvSpPr>
            <a:spLocks noChangeArrowheads="1"/>
          </p:cNvSpPr>
          <p:nvPr/>
        </p:nvSpPr>
        <p:spPr bwMode="auto">
          <a:xfrm>
            <a:off x="2268538" y="4756678"/>
            <a:ext cx="6381750" cy="529697"/>
          </a:xfrm>
          <a:prstGeom prst="rect">
            <a:avLst/>
          </a:prstGeom>
          <a:solidFill>
            <a:srgbClr val="E5E7FB">
              <a:alpha val="79999"/>
            </a:srgbClr>
          </a:solidFill>
          <a:ln w="127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latinLnBrk="1" hangingPunct="1"/>
            <a:r>
              <a:rPr lang="ko-KR" altLang="en-US" b="1" dirty="0" err="1" smtClean="0">
                <a:solidFill>
                  <a:srgbClr val="183883"/>
                </a:solidFill>
                <a:latin typeface="맑은 고딕" pitchFamily="50" charset="-127"/>
                <a:ea typeface="맑은 고딕" pitchFamily="50" charset="-127"/>
              </a:rPr>
              <a:t>선임급</a:t>
            </a:r>
            <a:r>
              <a:rPr lang="ko-KR" altLang="en-US" b="1" dirty="0" smtClean="0">
                <a:solidFill>
                  <a:srgbClr val="18388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b="1" dirty="0" smtClean="0">
                <a:solidFill>
                  <a:srgbClr val="183883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lang="ko-KR" altLang="en-US" b="1" dirty="0" smtClean="0">
                <a:solidFill>
                  <a:srgbClr val="183883"/>
                </a:solidFill>
                <a:latin typeface="맑은 고딕" pitchFamily="50" charset="-127"/>
                <a:ea typeface="맑은 고딕" pitchFamily="50" charset="-127"/>
              </a:rPr>
              <a:t>명</a:t>
            </a:r>
            <a:r>
              <a:rPr lang="en-US" altLang="ko-KR" b="1" dirty="0" smtClean="0">
                <a:solidFill>
                  <a:srgbClr val="183883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b="1" dirty="0" err="1" smtClean="0">
                <a:solidFill>
                  <a:srgbClr val="183883"/>
                </a:solidFill>
                <a:latin typeface="맑은 고딕" pitchFamily="50" charset="-127"/>
                <a:ea typeface="맑은 고딕" pitchFamily="50" charset="-127"/>
              </a:rPr>
              <a:t>원급</a:t>
            </a:r>
            <a:r>
              <a:rPr lang="ko-KR" altLang="en-US" b="1" dirty="0" smtClean="0">
                <a:solidFill>
                  <a:srgbClr val="18388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b="1" dirty="0" smtClean="0">
                <a:solidFill>
                  <a:srgbClr val="183883"/>
                </a:solidFill>
                <a:latin typeface="맑은 고딕" pitchFamily="50" charset="-127"/>
                <a:ea typeface="맑은 고딕" pitchFamily="50" charset="-127"/>
              </a:rPr>
              <a:t>7</a:t>
            </a:r>
            <a:r>
              <a:rPr lang="ko-KR" altLang="en-US" b="1" dirty="0" smtClean="0">
                <a:solidFill>
                  <a:srgbClr val="183883"/>
                </a:solidFill>
                <a:latin typeface="맑은 고딕" pitchFamily="50" charset="-127"/>
                <a:ea typeface="맑은 고딕" pitchFamily="50" charset="-127"/>
              </a:rPr>
              <a:t>명 참여 </a:t>
            </a:r>
            <a:endParaRPr lang="ko-KR" altLang="ko-KR" b="1" dirty="0">
              <a:solidFill>
                <a:srgbClr val="18388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Rectangle 101"/>
          <p:cNvSpPr>
            <a:spLocks noChangeArrowheads="1"/>
          </p:cNvSpPr>
          <p:nvPr/>
        </p:nvSpPr>
        <p:spPr bwMode="auto">
          <a:xfrm>
            <a:off x="2249488" y="2839885"/>
            <a:ext cx="6381750" cy="554205"/>
          </a:xfrm>
          <a:prstGeom prst="rect">
            <a:avLst/>
          </a:prstGeom>
          <a:solidFill>
            <a:srgbClr val="E5E7FB">
              <a:alpha val="79999"/>
            </a:srgbClr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latinLnBrk="1" hangingPunct="1"/>
            <a:r>
              <a:rPr kumimoji="0" lang="en-US" altLang="ko-KR" sz="1400" b="1" dirty="0" smtClean="0">
                <a:solidFill>
                  <a:srgbClr val="1838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MESSAGE </a:t>
            </a:r>
            <a:r>
              <a:rPr kumimoji="0" lang="ko-KR" altLang="en-US" sz="1400" b="1" dirty="0">
                <a:solidFill>
                  <a:srgbClr val="1838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모형 고도화</a:t>
            </a:r>
            <a:r>
              <a:rPr kumimoji="0" lang="en-US" altLang="ko-KR" sz="1400" b="1" dirty="0">
                <a:solidFill>
                  <a:srgbClr val="1838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00" b="1" dirty="0">
                <a:solidFill>
                  <a:srgbClr val="1838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부문별 특성 분석 및 </a:t>
            </a:r>
            <a:r>
              <a:rPr kumimoji="0" lang="en-US" altLang="ko-KR" sz="1400" b="1" dirty="0">
                <a:solidFill>
                  <a:srgbClr val="1838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kumimoji="0" lang="en-US" altLang="ko-KR" sz="1400" b="1" dirty="0">
                <a:solidFill>
                  <a:srgbClr val="1838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ko-KR" altLang="en-US" sz="1400" b="1" dirty="0">
                <a:solidFill>
                  <a:srgbClr val="1838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한국형 </a:t>
            </a:r>
            <a:r>
              <a:rPr kumimoji="0" lang="ko-KR" altLang="en-US" sz="1400" b="1" dirty="0" err="1">
                <a:solidFill>
                  <a:srgbClr val="1838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상하향식</a:t>
            </a:r>
            <a:r>
              <a:rPr kumimoji="0" lang="ko-KR" altLang="en-US" sz="1400" b="1" dirty="0">
                <a:solidFill>
                  <a:srgbClr val="1838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통합모형 </a:t>
            </a:r>
            <a:r>
              <a:rPr kumimoji="0" lang="en-US" altLang="ko-KR" sz="1400" b="1" dirty="0">
                <a:solidFill>
                  <a:srgbClr val="1838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</a:t>
            </a:r>
            <a:r>
              <a:rPr kumimoji="0" lang="ko-KR" altLang="en-US" sz="1400" b="1" dirty="0">
                <a:solidFill>
                  <a:srgbClr val="18388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개발</a:t>
            </a:r>
            <a:endParaRPr lang="ko-KR" altLang="en-US" sz="1400" b="1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6" name="AutoShape 114"/>
          <p:cNvSpPr>
            <a:spLocks noChangeArrowheads="1"/>
          </p:cNvSpPr>
          <p:nvPr/>
        </p:nvSpPr>
        <p:spPr bwMode="gray">
          <a:xfrm>
            <a:off x="534988" y="2809875"/>
            <a:ext cx="1525587" cy="454025"/>
          </a:xfrm>
          <a:prstGeom prst="roundRect">
            <a:avLst>
              <a:gd name="adj" fmla="val 16667"/>
            </a:avLst>
          </a:prstGeom>
          <a:solidFill>
            <a:srgbClr val="788AE2"/>
          </a:solidFill>
          <a:ln w="38100" algn="ctr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고딕 ExtraBold" pitchFamily="50" charset="-127"/>
                <a:ea typeface="나눔고딕 ExtraBold" pitchFamily="50" charset="-127"/>
                <a:cs typeface="+mn-cs"/>
              </a:rPr>
              <a:t>세부과제</a:t>
            </a:r>
            <a:r>
              <a:rPr kumimoji="0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고딕 ExtraBold" pitchFamily="50" charset="-127"/>
                <a:ea typeface="나눔고딕 ExtraBold" pitchFamily="50" charset="-127"/>
                <a:cs typeface="+mn-cs"/>
              </a:rPr>
              <a:t>3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나눔고딕 ExtraBold" pitchFamily="50" charset="-127"/>
              <a:ea typeface="나눔고딕 ExtraBold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7834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참여연구원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425466"/>
              </p:ext>
            </p:extLst>
          </p:nvPr>
        </p:nvGraphicFramePr>
        <p:xfrm>
          <a:off x="847726" y="1663700"/>
          <a:ext cx="7867650" cy="2910840"/>
        </p:xfrm>
        <a:graphic>
          <a:graphicData uri="http://schemas.openxmlformats.org/drawingml/2006/table">
            <a:tbl>
              <a:tblPr firstRow="1" bandRow="1"/>
              <a:tblGrid>
                <a:gridCol w="1515912"/>
                <a:gridCol w="862641"/>
                <a:gridCol w="871268"/>
                <a:gridCol w="2501661"/>
                <a:gridCol w="1164566"/>
                <a:gridCol w="951602"/>
              </a:tblGrid>
              <a:tr h="22185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소속기관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직급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성명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최종학위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400" dirty="0" smtClean="0">
                          <a:latin typeface="맑은 고딕" pitchFamily="50" charset="-127"/>
                          <a:ea typeface="맑은 고딕" pitchFamily="50" charset="-127"/>
                        </a:rPr>
                        <a:t>연구분야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참여율</a:t>
                      </a:r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(%)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/>
                    </a:solidFill>
                  </a:tcPr>
                </a:tc>
              </a:tr>
              <a:tr h="22185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경성대학교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교수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김후곤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한국과학기술원 경영과학</a:t>
                      </a:r>
                      <a:r>
                        <a:rPr lang="ko-KR" altLang="en-US" sz="13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박사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총괄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40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</a:tr>
              <a:tr h="22185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경성대학교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교수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홍석희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한국과학기술원 전산학</a:t>
                      </a:r>
                      <a:r>
                        <a:rPr lang="ko-KR" altLang="en-US" sz="13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박사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S/W</a:t>
                      </a:r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개발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</a:tr>
              <a:tr h="22185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경성대학교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교수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김병호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한국과학기술원 전산학</a:t>
                      </a:r>
                      <a:r>
                        <a:rPr lang="ko-KR" altLang="en-US" sz="13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박사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S/W</a:t>
                      </a:r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개발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</a:tr>
              <a:tr h="22185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동의대학교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교수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백천현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한국과학기술원 경영과학</a:t>
                      </a:r>
                      <a:r>
                        <a:rPr lang="ko-KR" altLang="en-US" sz="13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박사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부문분석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</a:tr>
              <a:tr h="22185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동의대학교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smtClean="0">
                          <a:latin typeface="맑은 고딕" pitchFamily="50" charset="-127"/>
                          <a:ea typeface="맑은 고딕" pitchFamily="50" charset="-127"/>
                        </a:rPr>
                        <a:t>산학교수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유종훈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동의대학교 산업공학</a:t>
                      </a:r>
                      <a:r>
                        <a:rPr lang="ko-KR" altLang="en-US" sz="13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박사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부문분석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</a:tr>
              <a:tr h="22185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부산외국어대학교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교수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정용주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한국과학기술원 경영과학</a:t>
                      </a:r>
                      <a:r>
                        <a:rPr lang="ko-KR" altLang="en-US" sz="13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박사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부문분석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</a:tr>
              <a:tr h="22185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부경대학교</a:t>
                      </a:r>
                      <a:endParaRPr lang="ko-KR" altLang="en-US" sz="13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교수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김영진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Clemson</a:t>
                      </a:r>
                      <a:r>
                        <a:rPr lang="en-US" altLang="ko-KR" sz="13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Univ. </a:t>
                      </a:r>
                      <a:r>
                        <a:rPr lang="ko-KR" altLang="en-US" sz="13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산업공</a:t>
                      </a:r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학</a:t>
                      </a:r>
                      <a:r>
                        <a:rPr lang="ko-KR" altLang="en-US" sz="13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박사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부문분석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25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</a:tr>
              <a:tr h="22185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Purdue</a:t>
                      </a:r>
                      <a:r>
                        <a:rPr lang="en-US" altLang="ko-KR" sz="13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Univ.</a:t>
                      </a:r>
                      <a:endParaRPr lang="ko-KR" altLang="en-US" sz="13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부교수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이석천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Penn. State Univ.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고도화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20000"/>
                      </a:srgbClr>
                    </a:solidFill>
                  </a:tcPr>
                </a:tc>
              </a:tr>
              <a:tr h="22185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IIASA</a:t>
                      </a:r>
                      <a:endParaRPr lang="ko-KR" altLang="en-US" sz="130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연구원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latinLnBrk="1"/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안영환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한국과학기술원 경영과학</a:t>
                      </a:r>
                      <a:r>
                        <a:rPr lang="ko-KR" altLang="en-US" sz="130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 박사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고도화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300" dirty="0" smtClean="0"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  <a:endParaRPr lang="ko-KR" altLang="en-US" sz="13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tint val="4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52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과제책임자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947737" y="956630"/>
            <a:ext cx="8010525" cy="4800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20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•"/>
              <a:defRPr sz="120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00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»"/>
              <a:defRPr sz="100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buClr>
                <a:srgbClr val="183883"/>
              </a:buClr>
            </a:pPr>
            <a:r>
              <a:rPr kumimoji="0" lang="ko-KR" altLang="en-US" kern="0" dirty="0" smtClean="0">
                <a:solidFill>
                  <a:srgbClr val="183883"/>
                </a:solidFill>
              </a:rPr>
              <a:t>과제책임자는 최근 온실가스 </a:t>
            </a:r>
            <a:r>
              <a:rPr kumimoji="0" lang="ko-KR" altLang="en-US" kern="0" dirty="0">
                <a:solidFill>
                  <a:srgbClr val="183883"/>
                </a:solidFill>
              </a:rPr>
              <a:t>감축정책 분야 책임자로 상향식 모형을 활용한 온실가스 감축 분야 연구에 축적된 경험과 전문성 보유</a:t>
            </a:r>
            <a:endParaRPr kumimoji="0" lang="en-US" altLang="ko-KR" kern="0" dirty="0">
              <a:solidFill>
                <a:srgbClr val="183883"/>
              </a:solidFill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과거 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7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년간 국가 및 부문에 대한 상향식 모형 구축 경험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국가중기온실가스 감축 목표 설정을 위한 상향식 모형 구축에 대한 실전 경험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산업부문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가정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상업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수송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농축산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폐기물 등의 부문별 특성 분석 및 상향식 모형 구축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경영과학 및 최적화 이론을 바탕으로 상향식 모형의 수리적 기반에 대한 지식 축적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ko-KR" altLang="en-US" kern="0" dirty="0" smtClean="0"/>
              <a:t>다양한 프로젝트를 통한 프로그래밍 개발 경험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8388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183883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동 분야 국내외 학술지 기고 등 학술적 업적을 꾸준히 축적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183883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국외 학술지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Some Mathematical Properties and Constraints Representation for Bottom-Up Approaches to Evaluating GHG Mitigation Policies, 2014, Transportation Science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Investigating the length of data collection period with respect to rate constant in the first order decay model, </a:t>
            </a:r>
            <a:r>
              <a:rPr kumimoji="0" lang="en-US" altLang="ko-KR" sz="12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accepted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Journal of Material Cycles and Waste Management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Comparison of Emission Estimates for Non–CO2 Greenhouse Gases from Livestock and Poultry in Korea from 1990 to 2010, </a:t>
            </a:r>
            <a:r>
              <a:rPr kumimoji="0" lang="en-US" altLang="ko-KR" sz="1200" b="0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accepted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Animal Science Journal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국내 학술지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온실가스감축정책 평가를 위한 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LP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기반 상향식 모형의 수리 구조 및 정식화에 대한 연구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2014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년 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12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월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에너지공학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제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23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권 제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4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호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MESSAGE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모델링을 이용한 승용차 부문의 </a:t>
            </a:r>
            <a:r>
              <a:rPr kumimoji="0" lang="ko-KR" alt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그린카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 도입 전망 분석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에너지공학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2012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년 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3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월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21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권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1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호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상향식 모형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(Bottom-up)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의 유형별 특징 및 접근방법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기후변화와 녹색성장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제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3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권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2012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손익분기점 분석을 이용한 </a:t>
            </a:r>
            <a:r>
              <a:rPr kumimoji="0" lang="ko-KR" altLang="en-US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전기차의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 보조금 정책 연구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2011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년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3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월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20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권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1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호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에너지공학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5158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과제책임자 최근 관련연구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graphicFrame>
        <p:nvGraphicFramePr>
          <p:cNvPr id="6" name="내용 개체 틀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2655685"/>
              </p:ext>
            </p:extLst>
          </p:nvPr>
        </p:nvGraphicFramePr>
        <p:xfrm>
          <a:off x="610351" y="1379890"/>
          <a:ext cx="8590799" cy="4093752"/>
        </p:xfrm>
        <a:graphic>
          <a:graphicData uri="http://schemas.openxmlformats.org/drawingml/2006/table">
            <a:tbl>
              <a:tblPr firstRow="1" bandRow="1"/>
              <a:tblGrid>
                <a:gridCol w="2649326"/>
                <a:gridCol w="3047468"/>
                <a:gridCol w="1399922"/>
                <a:gridCol w="1494083"/>
              </a:tblGrid>
              <a:tr h="56578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HY중고딕"/>
                        </a:rPr>
                        <a:t>연구 제목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한양신명조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HY중고딕"/>
                        </a:rPr>
                        <a:t>연구개발 내용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한양신명조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HY중고딕"/>
                        </a:rPr>
                        <a:t>연구 기간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한양신명조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HY중고딕"/>
                        </a:rPr>
                        <a:t>연구개발비 지급기관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한양신명조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</a:tr>
              <a:tr h="6947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MESSAGE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모형을 이용한 가정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상업 및 수송 부문 온실가스 감축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잠재량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분석</a:t>
                      </a: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MESSAGE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를 이용한 상향식 모형 구축 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2010.11~2011.10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한국온실가스종합정보센터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원자력연구원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40000"/>
                      </a:srgbClr>
                    </a:solidFill>
                  </a:tcPr>
                </a:tc>
              </a:tr>
              <a:tr h="6947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 모형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(MESSAGE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을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이용한 교통부문 온실가스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감축량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산정연구</a:t>
                      </a: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MESSAGE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를 이용한 상향식 모형 구축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2011.08~2012.02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한국교통연구원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</a:tr>
              <a:tr h="6947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온실가스 배출전망 및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감축잠재량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예측 평가기술 개발</a:t>
                      </a: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유리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/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요업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비철금속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자동차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섬유 업종 부문별 특성 분석 및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상향식 모형의 수리적 기반 연구 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2011.05~2012.03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한국환경산업기술원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40000"/>
                      </a:srgbClr>
                    </a:solidFill>
                  </a:tcPr>
                </a:tc>
              </a:tr>
              <a:tr h="6947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기술진보를 반영한 상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하향식 온실가스 감축모형 고도화 기술개발</a:t>
                      </a: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반도체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디스플레이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조선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200" kern="12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음식료품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 부문별 특성 분석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  <a:sym typeface="Wingdings" pitchFamily="2" charset="2"/>
                        </a:rPr>
                        <a:t>및 상향식 감축시스템의 비교연구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2012.07~ 2013.06 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한국환경산업기술원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</a:tr>
              <a:tr h="6947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한국형 상향식 감축모형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농축산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폐기물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구축 및 고도화</a:t>
                      </a: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농축산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 및 폐기물 부문별 특성 분석 및 상향식 모형 구축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2013.04~2015.03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한국환경산업기술원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  <a:cs typeface="+mn-cs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4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0717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6" name="제목 4"/>
          <p:cNvSpPr txBox="1">
            <a:spLocks/>
          </p:cNvSpPr>
          <p:nvPr/>
        </p:nvSpPr>
        <p:spPr bwMode="auto">
          <a:xfrm>
            <a:off x="689610" y="727023"/>
            <a:ext cx="6753225" cy="1143000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</p:spPr>
        <p:txBody>
          <a:bodyPr vert="horz" wrap="square" lIns="19800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2. </a:t>
            </a:r>
            <a:r>
              <a:rPr kumimoji="0" lang="ko-KR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연구개발의 필요성 및 </a:t>
            </a:r>
            <a:r>
              <a:rPr kumimoji="0" lang="ko-KR" altLang="en-US" kern="0" noProof="0" dirty="0" smtClean="0">
                <a:solidFill>
                  <a:srgbClr val="FFFFFF"/>
                </a:solidFill>
              </a:rPr>
              <a:t>목표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9621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고딕 ExtraBold" pitchFamily="50" charset="-127"/>
                <a:ea typeface="나눔고딕 ExtraBold" pitchFamily="50" charset="-127"/>
              </a:rPr>
              <a:t>연구개발의 필요성</a:t>
            </a:r>
            <a:r>
              <a:rPr lang="en-US" altLang="ko-KR" dirty="0">
                <a:latin typeface="나눔고딕 ExtraBold" pitchFamily="50" charset="-127"/>
                <a:ea typeface="나눔고딕 ExtraBold" pitchFamily="50" charset="-127"/>
              </a:rPr>
              <a:t>: </a:t>
            </a:r>
            <a:r>
              <a:rPr lang="ko-KR" altLang="en-US" dirty="0">
                <a:latin typeface="나눔고딕 ExtraBold" pitchFamily="50" charset="-127"/>
                <a:ea typeface="나눔고딕 ExtraBold" pitchFamily="50" charset="-127"/>
              </a:rPr>
              <a:t>세부과제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6" name="내용 개체 틀 18"/>
          <p:cNvSpPr txBox="1">
            <a:spLocks/>
          </p:cNvSpPr>
          <p:nvPr/>
        </p:nvSpPr>
        <p:spPr bwMode="auto">
          <a:xfrm>
            <a:off x="933450" y="994834"/>
            <a:ext cx="8039099" cy="1150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20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•"/>
              <a:defRPr sz="120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00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»"/>
              <a:defRPr sz="1000">
                <a:solidFill>
                  <a:srgbClr val="000000"/>
                </a:solidFill>
                <a:latin typeface="나눔고딕" pitchFamily="50" charset="-127"/>
                <a:ea typeface="나눔고딕" pitchFamily="50" charset="-127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183883"/>
              </a:buClr>
              <a:buSzPct val="120000"/>
              <a:buFont typeface="Wingdings" pitchFamily="2" charset="2"/>
              <a:buChar char="§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183883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국가 중장기 온실가스 감축 정책 설정 및 평가를 위한 상향식 모형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183883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S/W </a:t>
            </a: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183883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시스템의 개발이 필요함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183883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기 구축된 상향식 감축 모형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(MESSAGE)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에 대한 주기적인 업데이트 및 고도화가 필요함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부문별 특성조사 및 분석을 통해 국내 현실을 반영할 수 있는 상향식 모형 개발이 가능함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이러한 노력을 통해 한국형 상향식 모형 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S/W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시스템 기능분석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/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설계</a:t>
            </a: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/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구현이 가능함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</a:rPr>
              <a:t>궁극적으로는 한국형 통합 감축 시스템 개발에 기여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8388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183883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29" name="직사각형 28"/>
          <p:cNvSpPr/>
          <p:nvPr/>
        </p:nvSpPr>
        <p:spPr bwMode="auto">
          <a:xfrm>
            <a:off x="601952" y="2918460"/>
            <a:ext cx="7858180" cy="2020259"/>
          </a:xfrm>
          <a:prstGeom prst="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0" name="AutoShape 4"/>
          <p:cNvSpPr>
            <a:spLocks noChangeArrowheads="1"/>
          </p:cNvSpPr>
          <p:nvPr/>
        </p:nvSpPr>
        <p:spPr bwMode="ltGray">
          <a:xfrm>
            <a:off x="3068082" y="4114800"/>
            <a:ext cx="3143272" cy="542156"/>
          </a:xfrm>
          <a:prstGeom prst="ellipse">
            <a:avLst/>
          </a:prstGeom>
          <a:solidFill>
            <a:srgbClr val="ADCAF0"/>
          </a:solidFill>
          <a:ln w="25400" algn="ctr">
            <a:solidFill>
              <a:srgbClr val="2467A9"/>
            </a:solidFill>
            <a:round/>
            <a:headEnd/>
            <a:tailEnd/>
          </a:ln>
          <a:effectLst>
            <a:outerShdw dist="35921" dir="2700000" algn="ctr" rotWithShape="0">
              <a:srgbClr val="003399">
                <a:alpha val="50000"/>
              </a:srgbClr>
            </a:outerShdw>
          </a:effectLst>
        </p:spPr>
        <p:txBody>
          <a:bodyPr wrap="none" anchor="ctr"/>
          <a:lstStyle/>
          <a:p>
            <a:pPr lvl="0" algn="ctr" latinLnBrk="0">
              <a:defRPr/>
            </a:pP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한국형 상향식 모형 </a:t>
            </a:r>
            <a:endParaRPr lang="en-US" altLang="ko-KR" sz="1200" dirty="0" smtClean="0">
              <a:solidFill>
                <a:prstClr val="black"/>
              </a:solidFill>
              <a:latin typeface="맑은 고딕"/>
              <a:ea typeface="맑은 고딕"/>
            </a:endParaRPr>
          </a:p>
          <a:p>
            <a:pPr lvl="0" algn="ctr" latinLnBrk="0">
              <a:defRPr/>
            </a:pPr>
            <a:r>
              <a:rPr lang="en-US" altLang="ko-KR" sz="1200" dirty="0" smtClean="0">
                <a:solidFill>
                  <a:prstClr val="black"/>
                </a:solidFill>
                <a:latin typeface="맑은 고딕"/>
                <a:ea typeface="맑은 고딕"/>
              </a:rPr>
              <a:t>S/W </a:t>
            </a:r>
            <a:r>
              <a:rPr lang="ko-KR" altLang="en-US" sz="1200" dirty="0">
                <a:solidFill>
                  <a:prstClr val="black"/>
                </a:solidFill>
                <a:latin typeface="맑은 고딕"/>
                <a:ea typeface="맑은 고딕"/>
              </a:rPr>
              <a:t>시스템 개발</a:t>
            </a:r>
            <a:endParaRPr lang="en-US" altLang="ko-KR" sz="1200" kern="0" noProof="0" dirty="0" smtClean="0">
              <a:ln w="10160">
                <a:solidFill>
                  <a:schemeClr val="accent1"/>
                </a:solidFill>
                <a:prstDash val="solid"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중고딕" pitchFamily="18" charset="-127"/>
              <a:ea typeface="HY중고딕" pitchFamily="18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708970" y="3886909"/>
            <a:ext cx="8050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운용 경험</a:t>
            </a:r>
            <a:endParaRPr lang="en-US" altLang="ko-KR" sz="12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특성 분석</a:t>
            </a:r>
            <a:endParaRPr lang="en-US" altLang="ko-KR" sz="12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기능추출</a:t>
            </a:r>
          </a:p>
        </p:txBody>
      </p:sp>
      <p:sp>
        <p:nvSpPr>
          <p:cNvPr id="33" name="AutoShape 10"/>
          <p:cNvSpPr>
            <a:spLocks noChangeArrowheads="1"/>
          </p:cNvSpPr>
          <p:nvPr/>
        </p:nvSpPr>
        <p:spPr bwMode="gray">
          <a:xfrm>
            <a:off x="1380540" y="5528356"/>
            <a:ext cx="6409748" cy="548628"/>
          </a:xfrm>
          <a:prstGeom prst="roundRect">
            <a:avLst>
              <a:gd name="adj" fmla="val 10889"/>
            </a:avLst>
          </a:prstGeom>
          <a:solidFill>
            <a:srgbClr val="CCECFF"/>
          </a:solidFill>
          <a:ln w="3175" algn="ctr">
            <a:solidFill>
              <a:srgbClr val="B6CBEA">
                <a:lumMod val="60000"/>
                <a:lumOff val="40000"/>
              </a:srgbClr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한국형 통합 감축 시스템 개발</a:t>
            </a:r>
            <a:endParaRPr lang="ko-KR" altLang="en-US" sz="14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  <a:sym typeface="Wingdings" pitchFamily="2" charset="2"/>
            </a:endParaRPr>
          </a:p>
        </p:txBody>
      </p:sp>
      <p:sp>
        <p:nvSpPr>
          <p:cNvPr id="34" name="AutoShape 4"/>
          <p:cNvSpPr>
            <a:spLocks noChangeArrowheads="1"/>
          </p:cNvSpPr>
          <p:nvPr/>
        </p:nvSpPr>
        <p:spPr bwMode="ltGray">
          <a:xfrm>
            <a:off x="1272540" y="3101340"/>
            <a:ext cx="2641438" cy="817234"/>
          </a:xfrm>
          <a:prstGeom prst="ellipse">
            <a:avLst/>
          </a:prstGeom>
          <a:solidFill>
            <a:srgbClr val="ADCAF0"/>
          </a:solidFill>
          <a:ln w="25400" algn="ctr">
            <a:solidFill>
              <a:srgbClr val="2467A9"/>
            </a:solidFill>
            <a:round/>
            <a:headEnd/>
            <a:tailEnd/>
          </a:ln>
          <a:effectLst>
            <a:outerShdw dist="35921" dir="2700000" algn="ctr" rotWithShape="0">
              <a:srgbClr val="003399">
                <a:alpha val="50000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ko-KR" altLang="en-US" b="1" kern="0" dirty="0">
                <a:solidFill>
                  <a:prstClr val="black"/>
                </a:solidFill>
                <a:latin typeface="맑은 고딕"/>
                <a:ea typeface="맑은 고딕"/>
              </a:rPr>
              <a:t>한국형 상향식 </a:t>
            </a:r>
            <a:r>
              <a:rPr lang="en-US" altLang="ko-KR" b="1" kern="0" dirty="0">
                <a:solidFill>
                  <a:prstClr val="black"/>
                </a:solidFill>
                <a:latin typeface="맑은 고딕"/>
                <a:ea typeface="맑은 고딕"/>
              </a:rPr>
              <a:t>S/W </a:t>
            </a:r>
            <a:r>
              <a:rPr lang="ko-KR" altLang="en-US" b="1" kern="0" dirty="0">
                <a:solidFill>
                  <a:prstClr val="black"/>
                </a:solidFill>
                <a:latin typeface="맑은 고딕"/>
                <a:ea typeface="맑은 고딕"/>
              </a:rPr>
              <a:t>시스템 </a:t>
            </a:r>
            <a:endParaRPr lang="en-US" altLang="ko-KR" b="1" kern="0" dirty="0">
              <a:solidFill>
                <a:prstClr val="black"/>
              </a:solidFill>
              <a:latin typeface="맑은 고딕"/>
              <a:ea typeface="맑은 고딕"/>
            </a:endParaRPr>
          </a:p>
          <a:p>
            <a:pPr algn="ctr"/>
            <a:r>
              <a:rPr lang="ko-KR" altLang="en-US" b="1" kern="0" dirty="0">
                <a:solidFill>
                  <a:prstClr val="black"/>
                </a:solidFill>
                <a:latin typeface="맑은 고딕"/>
                <a:ea typeface="맑은 고딕"/>
              </a:rPr>
              <a:t>개발을 위한 </a:t>
            </a:r>
            <a:endParaRPr lang="en-US" altLang="ko-KR" b="1" kern="0" dirty="0">
              <a:solidFill>
                <a:prstClr val="black"/>
              </a:solidFill>
              <a:latin typeface="맑은 고딕"/>
              <a:ea typeface="맑은 고딕"/>
            </a:endParaRPr>
          </a:p>
          <a:p>
            <a:pPr algn="ctr"/>
            <a:r>
              <a:rPr lang="en-US" altLang="ko-KR" b="1" kern="0" dirty="0">
                <a:solidFill>
                  <a:prstClr val="black"/>
                </a:solidFill>
                <a:latin typeface="맑은 고딕"/>
                <a:ea typeface="맑은 고딕"/>
              </a:rPr>
              <a:t>MESSAGE </a:t>
            </a:r>
            <a:r>
              <a:rPr lang="ko-KR" altLang="en-US" b="1" kern="0" dirty="0">
                <a:solidFill>
                  <a:prstClr val="black"/>
                </a:solidFill>
                <a:latin typeface="맑은 고딕"/>
                <a:ea typeface="맑은 고딕"/>
              </a:rPr>
              <a:t>모형 고도화</a:t>
            </a:r>
          </a:p>
        </p:txBody>
      </p:sp>
      <p:sp>
        <p:nvSpPr>
          <p:cNvPr id="35" name="AutoShape 4"/>
          <p:cNvSpPr>
            <a:spLocks noChangeArrowheads="1"/>
          </p:cNvSpPr>
          <p:nvPr/>
        </p:nvSpPr>
        <p:spPr bwMode="ltGray">
          <a:xfrm>
            <a:off x="5387340" y="3078479"/>
            <a:ext cx="2895168" cy="748655"/>
          </a:xfrm>
          <a:prstGeom prst="ellipse">
            <a:avLst/>
          </a:prstGeom>
          <a:solidFill>
            <a:srgbClr val="ADCAF0"/>
          </a:solidFill>
          <a:ln w="25400" algn="ctr">
            <a:solidFill>
              <a:srgbClr val="2467A9"/>
            </a:solidFill>
            <a:round/>
            <a:headEnd/>
            <a:tailEnd/>
          </a:ln>
          <a:effectLst>
            <a:outerShdw dist="35921" dir="2700000" algn="ctr" rotWithShape="0">
              <a:srgbClr val="003399">
                <a:alpha val="50000"/>
              </a:srgbClr>
            </a:outerShdw>
          </a:effectLst>
        </p:spPr>
        <p:txBody>
          <a:bodyPr wrap="none" anchor="ctr"/>
          <a:lstStyle/>
          <a:p>
            <a:pPr lvl="0" algn="ctr" latinLnBrk="0"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맑은 고딕"/>
                <a:ea typeface="맑은 고딕"/>
              </a:rPr>
              <a:t>부문별 특성 조사 및 분석</a:t>
            </a:r>
          </a:p>
        </p:txBody>
      </p:sp>
      <p:pic>
        <p:nvPicPr>
          <p:cNvPr id="36" name="Picture 42" descr="화살1111"/>
          <p:cNvPicPr preferRelativeResize="0"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92D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173588" y="4983480"/>
            <a:ext cx="4844328" cy="538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8" name="꺾인 연결선 37"/>
          <p:cNvCxnSpPr>
            <a:stCxn id="35" idx="4"/>
            <a:endCxn id="30" idx="6"/>
          </p:cNvCxnSpPr>
          <p:nvPr/>
        </p:nvCxnSpPr>
        <p:spPr bwMode="auto">
          <a:xfrm rot="5400000">
            <a:off x="6243767" y="3794721"/>
            <a:ext cx="558744" cy="623570"/>
          </a:xfrm>
          <a:prstGeom prst="bentConnector2">
            <a:avLst/>
          </a:prstGeom>
          <a:noFill/>
          <a:ln w="38100" cap="flat" cmpd="sng" algn="ctr">
            <a:solidFill>
              <a:srgbClr val="0067AF"/>
            </a:solidFill>
            <a:prstDash val="solid"/>
            <a:headEnd type="none" w="med" len="med"/>
            <a:tailEnd type="triangle" w="lg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39" name="직사각형 38"/>
          <p:cNvSpPr/>
          <p:nvPr/>
        </p:nvSpPr>
        <p:spPr>
          <a:xfrm>
            <a:off x="6863401" y="3942734"/>
            <a:ext cx="9492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국내 부문별</a:t>
            </a:r>
            <a:endParaRPr lang="en-US" altLang="ko-KR" sz="12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특성반영</a:t>
            </a:r>
          </a:p>
        </p:txBody>
      </p:sp>
      <p:sp>
        <p:nvSpPr>
          <p:cNvPr id="41" name="AutoShape 22"/>
          <p:cNvSpPr>
            <a:spLocks noChangeArrowheads="1"/>
          </p:cNvSpPr>
          <p:nvPr/>
        </p:nvSpPr>
        <p:spPr bwMode="auto">
          <a:xfrm>
            <a:off x="4154871" y="3258497"/>
            <a:ext cx="785818" cy="502920"/>
          </a:xfrm>
          <a:prstGeom prst="roundRect">
            <a:avLst>
              <a:gd name="adj" fmla="val 2806"/>
            </a:avLst>
          </a:prstGeom>
          <a:noFill/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180975" lvl="1" indent="-180975" algn="ctr" latinLnBrk="1">
              <a:spcBef>
                <a:spcPct val="20000"/>
              </a:spcBef>
            </a:pPr>
            <a:r>
              <a:rPr kumimoji="0" lang="en-US" altLang="ko-KR" b="1" kern="0" dirty="0" smtClean="0">
                <a:ln w="12700">
                  <a:solidFill>
                    <a:srgbClr val="0067AF"/>
                  </a:solidFill>
                  <a:prstDash val="solid"/>
                </a:ln>
                <a:solidFill>
                  <a:srgbClr val="0067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중고딕" pitchFamily="18" charset="-127"/>
                <a:ea typeface="HY중고딕" pitchFamily="18" charset="-127"/>
                <a:cs typeface="Arial" pitchFamily="34" charset="0"/>
                <a:sym typeface="Wingdings" pitchFamily="2" charset="2"/>
              </a:rPr>
              <a:t></a:t>
            </a:r>
            <a:endParaRPr kumimoji="0" lang="en-US" altLang="ko-KR" b="1" kern="0" dirty="0" smtClean="0">
              <a:ln w="12700">
                <a:solidFill>
                  <a:srgbClr val="0067AF"/>
                </a:solidFill>
                <a:prstDash val="solid"/>
              </a:ln>
              <a:solidFill>
                <a:srgbClr val="0067A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중고딕" pitchFamily="18" charset="-127"/>
              <a:ea typeface="HY중고딕" pitchFamily="18" charset="-127"/>
              <a:cs typeface="Arial" pitchFamily="34" charset="0"/>
            </a:endParaRPr>
          </a:p>
          <a:p>
            <a:pPr marL="180975" lvl="1" indent="-180975" algn="ctr" latinLnBrk="1">
              <a:spcBef>
                <a:spcPct val="20000"/>
              </a:spcBef>
            </a:pPr>
            <a:r>
              <a:rPr kumimoji="0" lang="en-US" altLang="ko-KR" b="1" kern="0" dirty="0" smtClean="0">
                <a:ln w="12700">
                  <a:solidFill>
                    <a:srgbClr val="0067AF"/>
                  </a:solidFill>
                  <a:prstDash val="solid"/>
                </a:ln>
                <a:solidFill>
                  <a:srgbClr val="0067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중고딕" pitchFamily="18" charset="-127"/>
                <a:ea typeface="HY중고딕" pitchFamily="18" charset="-127"/>
                <a:cs typeface="Arial" pitchFamily="34" charset="0"/>
                <a:sym typeface="Wingdings" pitchFamily="2" charset="2"/>
              </a:rPr>
              <a:t></a:t>
            </a:r>
            <a:endParaRPr kumimoji="0" lang="en-US" altLang="ko-KR" b="1" kern="0" dirty="0" smtClean="0">
              <a:ln w="12700">
                <a:solidFill>
                  <a:srgbClr val="0067AF"/>
                </a:solidFill>
                <a:prstDash val="solid"/>
              </a:ln>
              <a:solidFill>
                <a:srgbClr val="0067A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중고딕" pitchFamily="18" charset="-127"/>
              <a:ea typeface="HY중고딕" pitchFamily="18" charset="-127"/>
              <a:cs typeface="Arial" pitchFamily="34" charset="0"/>
            </a:endParaRPr>
          </a:p>
        </p:txBody>
      </p:sp>
      <p:cxnSp>
        <p:nvCxnSpPr>
          <p:cNvPr id="43" name="꺾인 연결선 42"/>
          <p:cNvCxnSpPr/>
          <p:nvPr/>
        </p:nvCxnSpPr>
        <p:spPr bwMode="auto">
          <a:xfrm rot="16200000" flipH="1">
            <a:off x="2604063" y="3930466"/>
            <a:ext cx="467304" cy="474823"/>
          </a:xfrm>
          <a:prstGeom prst="bentConnector2">
            <a:avLst/>
          </a:prstGeom>
          <a:noFill/>
          <a:ln w="38100" cap="flat" cmpd="sng" algn="ctr">
            <a:solidFill>
              <a:srgbClr val="0067AF"/>
            </a:solidFill>
            <a:prstDash val="solid"/>
            <a:headEnd type="none" w="med" len="med"/>
            <a:tailEnd type="triangle" w="lg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14682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>
                <a:latin typeface="나눔고딕 ExtraBold" pitchFamily="50" charset="-127"/>
                <a:ea typeface="나눔고딕 ExtraBold" pitchFamily="50" charset="-127"/>
              </a:rPr>
              <a:t>연구개발의 </a:t>
            </a:r>
            <a:r>
              <a:rPr lang="ko-KR" altLang="en-US" b="0" dirty="0">
                <a:latin typeface="나눔고딕 ExtraBold" pitchFamily="50" charset="-127"/>
                <a:ea typeface="나눔고딕 ExtraBold" pitchFamily="50" charset="-127"/>
              </a:rPr>
              <a:t>최종목표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28" name="AutoShape 10"/>
          <p:cNvSpPr>
            <a:spLocks noChangeArrowheads="1"/>
          </p:cNvSpPr>
          <p:nvPr/>
        </p:nvSpPr>
        <p:spPr bwMode="gray">
          <a:xfrm>
            <a:off x="2120494" y="5315141"/>
            <a:ext cx="5303520" cy="432048"/>
          </a:xfrm>
          <a:prstGeom prst="roundRect">
            <a:avLst>
              <a:gd name="adj" fmla="val 10889"/>
            </a:avLst>
          </a:prstGeom>
          <a:solidFill>
            <a:srgbClr val="CCECFF"/>
          </a:solidFill>
          <a:ln w="3175" algn="ctr">
            <a:solidFill>
              <a:srgbClr val="B6CBEA">
                <a:lumMod val="60000"/>
                <a:lumOff val="40000"/>
              </a:srgbClr>
            </a:solidFill>
            <a:round/>
            <a:headEnd/>
            <a:tailEnd/>
          </a:ln>
        </p:spPr>
        <p:txBody>
          <a:bodyPr anchor="ctr"/>
          <a:lstStyle/>
          <a:p>
            <a:pPr algn="ctr" eaLnBrk="1" latinLnBrk="1" hangingPunct="1"/>
            <a:r>
              <a:rPr kumimoji="0" lang="ko-KR" altLang="en-US" sz="1400" b="1" dirty="0">
                <a:solidFill>
                  <a:srgbClr val="183883"/>
                </a:solidFill>
                <a:latin typeface="나눔고딕" pitchFamily="50" charset="-127"/>
                <a:ea typeface="나눔고딕" pitchFamily="50" charset="-127"/>
              </a:rPr>
              <a:t>한국형 통합 감축 시스템 개발</a:t>
            </a:r>
            <a:endParaRPr kumimoji="0" lang="ko-KR" altLang="en-US" sz="1400" b="1" dirty="0">
              <a:solidFill>
                <a:srgbClr val="183883"/>
              </a:solidFill>
              <a:latin typeface="나눔고딕" pitchFamily="50" charset="-127"/>
              <a:ea typeface="나눔고딕" pitchFamily="50" charset="-127"/>
              <a:sym typeface="Wingdings" pitchFamily="2" charset="2"/>
            </a:endParaRPr>
          </a:p>
        </p:txBody>
      </p:sp>
      <p:pic>
        <p:nvPicPr>
          <p:cNvPr id="29" name="Picture 42" descr="화살1111"/>
          <p:cNvPicPr preferRelativeResize="0"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92D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2404322" y="4947481"/>
            <a:ext cx="4844328" cy="36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모서리가 둥근 직사각형 29"/>
          <p:cNvSpPr/>
          <p:nvPr/>
        </p:nvSpPr>
        <p:spPr>
          <a:xfrm>
            <a:off x="2035188" y="1450215"/>
            <a:ext cx="2221962" cy="585636"/>
          </a:xfrm>
          <a:prstGeom prst="roundRect">
            <a:avLst/>
          </a:prstGeom>
          <a:solidFill>
            <a:srgbClr val="0067AF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한국형 상향식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S/W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시스템 개발을 위한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MESSAGE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시스템 분석</a:t>
            </a: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270914" y="2258507"/>
            <a:ext cx="1468002" cy="432048"/>
          </a:xfrm>
          <a:prstGeom prst="roundRect">
            <a:avLst/>
          </a:prstGeom>
          <a:solidFill>
            <a:srgbClr val="0067AF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시스템입출력 자료 및 </a:t>
            </a: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인벤토리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4689198" y="1450215"/>
            <a:ext cx="1728192" cy="585636"/>
          </a:xfrm>
          <a:prstGeom prst="roundRect">
            <a:avLst>
              <a:gd name="adj" fmla="val 18293"/>
            </a:avLst>
          </a:prstGeom>
          <a:solidFill>
            <a:srgbClr val="0067AF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부문별 특성 조사 및 분석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4877380" y="3137748"/>
            <a:ext cx="1008112" cy="504056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 err="1" smtClean="0">
                <a:solidFill>
                  <a:prstClr val="white"/>
                </a:solidFill>
                <a:latin typeface="맑은 고딕"/>
                <a:ea typeface="맑은 고딕"/>
              </a:rPr>
              <a:t>상하향</a:t>
            </a:r>
            <a:r>
              <a:rPr kumimoji="0" lang="ko-KR" altLang="en-US" sz="1000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 통합시스템 연동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1885185" y="3137748"/>
            <a:ext cx="936104" cy="504056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UI  </a:t>
            </a:r>
            <a:r>
              <a:rPr kumimoji="0" lang="ko-KR" altLang="en-US" sz="1000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설계 및 개발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283761" y="3137748"/>
            <a:ext cx="1121704" cy="504056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상향식 최적화엔진</a:t>
            </a:r>
            <a:endParaRPr kumimoji="0" lang="en-US" altLang="ko-KR" sz="1000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(LP/IP Solver)</a:t>
            </a:r>
            <a:endParaRPr kumimoji="0" lang="ko-KR" altLang="en-US" sz="1000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1232814" y="1346767"/>
            <a:ext cx="5760640" cy="765666"/>
          </a:xfrm>
          <a:prstGeom prst="round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65773" y="1312900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latinLnBrk="1" hangingPunct="1"/>
            <a:r>
              <a:rPr kumimoji="0" lang="ko-KR" altLang="en-US" b="1" dirty="0" smtClean="0">
                <a:solidFill>
                  <a:prstClr val="black"/>
                </a:solidFill>
                <a:latin typeface="맑은 고딕"/>
                <a:ea typeface="맑은 고딕"/>
              </a:rPr>
              <a:t>기반 연구</a:t>
            </a:r>
            <a:endParaRPr kumimoji="0" lang="ko-KR" altLang="en-US" b="1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1304822" y="2831187"/>
            <a:ext cx="5181221" cy="890518"/>
          </a:xfrm>
          <a:prstGeom prst="round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304822" y="2831187"/>
            <a:ext cx="27671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latinLnBrk="1" hangingPunct="1"/>
            <a:r>
              <a:rPr kumimoji="0" lang="ko-KR" altLang="en-US" b="1" dirty="0" smtClean="0">
                <a:solidFill>
                  <a:prstClr val="black"/>
                </a:solidFill>
                <a:latin typeface="맑은 고딕"/>
                <a:ea typeface="맑은 고딕"/>
              </a:rPr>
              <a:t>한국형 상향식 모형 </a:t>
            </a:r>
            <a:r>
              <a:rPr kumimoji="0" lang="en-US" altLang="ko-KR" b="1" dirty="0" smtClean="0">
                <a:solidFill>
                  <a:prstClr val="black"/>
                </a:solidFill>
                <a:latin typeface="맑은 고딕"/>
                <a:ea typeface="맑은 고딕"/>
              </a:rPr>
              <a:t>S/W </a:t>
            </a:r>
            <a:r>
              <a:rPr kumimoji="0" lang="ko-KR" altLang="en-US" b="1" dirty="0" smtClean="0">
                <a:solidFill>
                  <a:prstClr val="black"/>
                </a:solidFill>
                <a:latin typeface="맑은 고딕"/>
                <a:ea typeface="맑은 고딕"/>
              </a:rPr>
              <a:t>시스템 개발</a:t>
            </a:r>
            <a:endParaRPr kumimoji="0" lang="ko-KR" altLang="en-US" b="1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40" name="원통 39"/>
          <p:cNvSpPr/>
          <p:nvPr/>
        </p:nvSpPr>
        <p:spPr>
          <a:xfrm>
            <a:off x="6849438" y="2933770"/>
            <a:ext cx="1412318" cy="690413"/>
          </a:xfrm>
          <a:prstGeom prst="can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기술 </a:t>
            </a:r>
            <a:r>
              <a:rPr kumimoji="0" lang="en-US" altLang="ko-KR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DB master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inventory </a:t>
            </a:r>
            <a:r>
              <a:rPr kumimoji="0" lang="ko-KR" altLang="en-US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저장소</a:t>
            </a:r>
          </a:p>
        </p:txBody>
      </p:sp>
      <p:sp>
        <p:nvSpPr>
          <p:cNvPr id="41" name="모서리가 둥근 직사각형 40"/>
          <p:cNvSpPr/>
          <p:nvPr/>
        </p:nvSpPr>
        <p:spPr>
          <a:xfrm>
            <a:off x="1493004" y="4299409"/>
            <a:ext cx="1584176" cy="585636"/>
          </a:xfrm>
          <a:prstGeom prst="roundRect">
            <a:avLst/>
          </a:prstGeom>
          <a:solidFill>
            <a:srgbClr val="0067AF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기존감축 모형과의 비교 평가를 통한 신뢰성 검증</a:t>
            </a:r>
          </a:p>
        </p:txBody>
      </p:sp>
      <p:sp>
        <p:nvSpPr>
          <p:cNvPr id="42" name="모서리가 둥근 직사각형 41"/>
          <p:cNvSpPr/>
          <p:nvPr/>
        </p:nvSpPr>
        <p:spPr>
          <a:xfrm>
            <a:off x="6489398" y="4315320"/>
            <a:ext cx="1546963" cy="585636"/>
          </a:xfrm>
          <a:prstGeom prst="roundRect">
            <a:avLst>
              <a:gd name="adj" fmla="val 18293"/>
            </a:avLst>
          </a:prstGeom>
          <a:solidFill>
            <a:srgbClr val="0067AF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전문가포럼에 의한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3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자 검증 및 연구성과 확산</a:t>
            </a:r>
          </a:p>
        </p:txBody>
      </p:sp>
      <p:sp>
        <p:nvSpPr>
          <p:cNvPr id="43" name="모서리가 둥근 직사각형 42"/>
          <p:cNvSpPr/>
          <p:nvPr/>
        </p:nvSpPr>
        <p:spPr>
          <a:xfrm>
            <a:off x="4833214" y="4315320"/>
            <a:ext cx="1440160" cy="585636"/>
          </a:xfrm>
          <a:prstGeom prst="roundRect">
            <a:avLst/>
          </a:prstGeom>
          <a:solidFill>
            <a:srgbClr val="0067AF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환경부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sym typeface="Symbol"/>
              </a:rPr>
              <a:t>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온실가스종합정보센터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sym typeface="Symbol"/>
              </a:rPr>
              <a:t>  </a:t>
            </a: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지자체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 보급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활용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교육</a:t>
            </a:r>
          </a:p>
        </p:txBody>
      </p:sp>
      <p:sp>
        <p:nvSpPr>
          <p:cNvPr id="44" name="모서리가 둥근 직사각형 43"/>
          <p:cNvSpPr/>
          <p:nvPr/>
        </p:nvSpPr>
        <p:spPr>
          <a:xfrm>
            <a:off x="1304822" y="4083385"/>
            <a:ext cx="6912768" cy="936104"/>
          </a:xfrm>
          <a:prstGeom prst="round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330855" y="4061046"/>
            <a:ext cx="157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latinLnBrk="1" hangingPunct="1"/>
            <a:r>
              <a:rPr kumimoji="0" lang="ko-KR" altLang="en-US" b="1" dirty="0" smtClean="0">
                <a:solidFill>
                  <a:prstClr val="black"/>
                </a:solidFill>
                <a:latin typeface="맑은 고딕"/>
                <a:ea typeface="맑은 고딕"/>
              </a:rPr>
              <a:t>신뢰성 검증 및 활용</a:t>
            </a:r>
            <a:endParaRPr kumimoji="0" lang="ko-KR" altLang="en-US" b="1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cxnSp>
        <p:nvCxnSpPr>
          <p:cNvPr id="46" name="직선 화살표 연결선 45"/>
          <p:cNvCxnSpPr>
            <a:stCxn id="40" idx="2"/>
            <a:endCxn id="38" idx="3"/>
          </p:cNvCxnSpPr>
          <p:nvPr/>
        </p:nvCxnSpPr>
        <p:spPr>
          <a:xfrm flipH="1" flipV="1">
            <a:off x="6486043" y="3276446"/>
            <a:ext cx="363395" cy="2531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ysDash"/>
            <a:headEnd type="none" w="med" len="med"/>
            <a:tailEnd type="triangle" w="med" len="med"/>
          </a:ln>
          <a:effectLst/>
        </p:spPr>
      </p:cxnSp>
      <p:cxnSp>
        <p:nvCxnSpPr>
          <p:cNvPr id="47" name="직선 화살표 연결선 46"/>
          <p:cNvCxnSpPr/>
          <p:nvPr/>
        </p:nvCxnSpPr>
        <p:spPr>
          <a:xfrm>
            <a:off x="4249058" y="2112433"/>
            <a:ext cx="0" cy="718754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48" name="직선 화살표 연결선 47"/>
          <p:cNvCxnSpPr/>
          <p:nvPr/>
        </p:nvCxnSpPr>
        <p:spPr>
          <a:xfrm>
            <a:off x="4311381" y="3737062"/>
            <a:ext cx="0" cy="346323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49" name="모서리가 둥근 직사각형 48"/>
          <p:cNvSpPr/>
          <p:nvPr/>
        </p:nvSpPr>
        <p:spPr>
          <a:xfrm>
            <a:off x="3249038" y="4315320"/>
            <a:ext cx="1440160" cy="585636"/>
          </a:xfrm>
          <a:prstGeom prst="roundRect">
            <a:avLst/>
          </a:prstGeom>
          <a:solidFill>
            <a:srgbClr val="0067AF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실증적 </a:t>
            </a: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인벤토리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 및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BAU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산정을 통한 </a:t>
            </a: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활용성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 검증</a:t>
            </a:r>
          </a:p>
        </p:txBody>
      </p:sp>
      <p:cxnSp>
        <p:nvCxnSpPr>
          <p:cNvPr id="50" name="직선 화살표 연결선 49"/>
          <p:cNvCxnSpPr>
            <a:stCxn id="31" idx="3"/>
          </p:cNvCxnSpPr>
          <p:nvPr/>
        </p:nvCxnSpPr>
        <p:spPr>
          <a:xfrm>
            <a:off x="2738916" y="2474531"/>
            <a:ext cx="1518234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6764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단계별</a:t>
            </a:r>
            <a:r>
              <a:rPr lang="en-US" altLang="ko-KR" dirty="0"/>
              <a:t>/</a:t>
            </a:r>
            <a:r>
              <a:rPr lang="ko-KR" altLang="en-US" dirty="0"/>
              <a:t>연도별 연구목표 및 내용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57" name="직사각형 56"/>
          <p:cNvSpPr/>
          <p:nvPr/>
        </p:nvSpPr>
        <p:spPr>
          <a:xfrm>
            <a:off x="6569432" y="1691919"/>
            <a:ext cx="2160240" cy="3919316"/>
          </a:xfrm>
          <a:prstGeom prst="rect">
            <a:avLst/>
          </a:prstGeom>
          <a:solidFill>
            <a:srgbClr val="CCECFF"/>
          </a:solidFill>
          <a:ln w="3175" algn="ctr">
            <a:solidFill>
              <a:srgbClr val="B6CBEA">
                <a:lumMod val="60000"/>
                <a:lumOff val="40000"/>
              </a:srgbClr>
            </a:solidFill>
            <a:round/>
            <a:headEnd/>
            <a:tailEnd/>
          </a:ln>
        </p:spPr>
        <p:txBody>
          <a:bodyPr anchor="ctr"/>
          <a:lstStyle/>
          <a:p>
            <a:pPr algn="ctr" eaLnBrk="1" latinLnBrk="1" hangingPunct="1"/>
            <a:endParaRPr kumimoji="0" lang="ko-KR" altLang="en-US" sz="1400" b="1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2627012" y="1635324"/>
            <a:ext cx="1656184" cy="2014184"/>
          </a:xfrm>
          <a:prstGeom prst="rect">
            <a:avLst/>
          </a:prstGeom>
          <a:solidFill>
            <a:srgbClr val="CCECFF"/>
          </a:solidFill>
          <a:ln w="3175" algn="ctr">
            <a:solidFill>
              <a:srgbClr val="B6CBEA">
                <a:lumMod val="60000"/>
                <a:lumOff val="40000"/>
              </a:srgbClr>
            </a:solidFill>
            <a:round/>
            <a:headEnd/>
            <a:tailEnd/>
          </a:ln>
        </p:spPr>
        <p:txBody>
          <a:bodyPr anchor="ctr"/>
          <a:lstStyle/>
          <a:p>
            <a:pPr algn="ctr" eaLnBrk="1" latinLnBrk="1" hangingPunct="1"/>
            <a:endParaRPr kumimoji="0" lang="ko-KR" altLang="en-US" sz="1400" b="1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690820" y="2296087"/>
            <a:ext cx="1553960" cy="3894320"/>
          </a:xfrm>
          <a:prstGeom prst="rect">
            <a:avLst/>
          </a:prstGeom>
          <a:solidFill>
            <a:srgbClr val="CCECFF"/>
          </a:solidFill>
          <a:ln w="3175" algn="ctr">
            <a:solidFill>
              <a:srgbClr val="B6CBEA">
                <a:lumMod val="60000"/>
                <a:lumOff val="40000"/>
              </a:srgbClr>
            </a:solidFill>
            <a:round/>
            <a:headEnd/>
            <a:tailEnd/>
          </a:ln>
        </p:spPr>
        <p:txBody>
          <a:bodyPr anchor="ctr"/>
          <a:lstStyle/>
          <a:p>
            <a:pPr algn="ctr" eaLnBrk="1" latinLnBrk="1" hangingPunct="1"/>
            <a:endParaRPr kumimoji="0" lang="ko-KR" altLang="en-US" sz="1400" b="1">
              <a:solidFill>
                <a:srgbClr val="183883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1566852" y="1938720"/>
            <a:ext cx="576064" cy="360039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smtClean="0">
                <a:solidFill>
                  <a:prstClr val="white"/>
                </a:solidFill>
                <a:latin typeface="맑은 고딕"/>
                <a:ea typeface="맑은 고딕"/>
              </a:rPr>
              <a:t>1</a:t>
            </a:r>
            <a:r>
              <a:rPr kumimoji="0" lang="ko-KR" altLang="en-US" sz="1000" b="1" kern="0" dirty="0" err="1" smtClean="0">
                <a:solidFill>
                  <a:prstClr val="white"/>
                </a:solidFill>
                <a:latin typeface="맑은 고딕"/>
                <a:ea typeface="맑은 고딕"/>
              </a:rPr>
              <a:t>년차</a:t>
            </a:r>
            <a:endParaRPr kumimoji="0" lang="ko-KR" altLang="en-US" sz="1000" b="1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566852" y="2559652"/>
            <a:ext cx="576064" cy="360039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2</a:t>
            </a:r>
            <a:r>
              <a:rPr kumimoji="0" lang="ko-KR" altLang="en-US" sz="1000" b="1" kern="0" dirty="0" err="1" smtClean="0">
                <a:solidFill>
                  <a:prstClr val="white"/>
                </a:solidFill>
                <a:latin typeface="맑은 고딕"/>
                <a:ea typeface="맑은 고딕"/>
              </a:rPr>
              <a:t>년차</a:t>
            </a:r>
            <a:endParaRPr kumimoji="0" lang="ko-KR" altLang="en-US" sz="1000" b="1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1566852" y="3180584"/>
            <a:ext cx="576064" cy="360039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3</a:t>
            </a:r>
            <a:r>
              <a:rPr kumimoji="0" lang="ko-KR" altLang="en-US" sz="1000" b="1" kern="0" dirty="0" err="1" smtClean="0">
                <a:solidFill>
                  <a:prstClr val="white"/>
                </a:solidFill>
                <a:latin typeface="맑은 고딕"/>
                <a:ea typeface="맑은 고딕"/>
              </a:rPr>
              <a:t>년차</a:t>
            </a:r>
            <a:endParaRPr kumimoji="0" lang="ko-KR" altLang="en-US" sz="1000" b="1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1574944" y="3801516"/>
            <a:ext cx="576064" cy="360039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4</a:t>
            </a:r>
            <a:r>
              <a:rPr kumimoji="0" lang="ko-KR" altLang="en-US" sz="1000" b="1" kern="0" dirty="0" err="1" smtClean="0">
                <a:solidFill>
                  <a:prstClr val="white"/>
                </a:solidFill>
                <a:latin typeface="맑은 고딕"/>
                <a:ea typeface="맑은 고딕"/>
              </a:rPr>
              <a:t>년차</a:t>
            </a:r>
            <a:endParaRPr kumimoji="0" lang="ko-KR" altLang="en-US" sz="1000" b="1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1574944" y="4422448"/>
            <a:ext cx="576064" cy="360039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5</a:t>
            </a:r>
            <a:r>
              <a:rPr kumimoji="0" lang="ko-KR" altLang="en-US" sz="1000" b="1" kern="0" dirty="0" err="1" smtClean="0">
                <a:solidFill>
                  <a:prstClr val="white"/>
                </a:solidFill>
                <a:latin typeface="맑은 고딕"/>
                <a:ea typeface="맑은 고딕"/>
              </a:rPr>
              <a:t>년차</a:t>
            </a:r>
            <a:endParaRPr kumimoji="0" lang="ko-KR" altLang="en-US" sz="1000" b="1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1574944" y="5043380"/>
            <a:ext cx="576064" cy="360039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6</a:t>
            </a:r>
            <a:r>
              <a:rPr kumimoji="0" lang="ko-KR" altLang="en-US" sz="1000" b="1" kern="0" dirty="0" err="1" smtClean="0">
                <a:solidFill>
                  <a:prstClr val="white"/>
                </a:solidFill>
                <a:latin typeface="맑은 고딕"/>
                <a:ea typeface="맑은 고딕"/>
              </a:rPr>
              <a:t>년차</a:t>
            </a:r>
            <a:endParaRPr kumimoji="0" lang="ko-KR" altLang="en-US" sz="1000" b="1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1574944" y="5664313"/>
            <a:ext cx="576064" cy="360039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7</a:t>
            </a:r>
            <a:r>
              <a:rPr kumimoji="0" lang="ko-KR" altLang="en-US" sz="1000" b="1" kern="0" dirty="0" err="1" smtClean="0">
                <a:solidFill>
                  <a:prstClr val="white"/>
                </a:solidFill>
                <a:latin typeface="맑은 고딕"/>
                <a:ea typeface="맑은 고딕"/>
              </a:rPr>
              <a:t>년차</a:t>
            </a:r>
            <a:endParaRPr kumimoji="0" lang="ko-KR" altLang="en-US" sz="1000" b="1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2627012" y="1474339"/>
            <a:ext cx="1656184" cy="270641"/>
          </a:xfrm>
          <a:prstGeom prst="roundRect">
            <a:avLst/>
          </a:prstGeom>
          <a:solidFill>
            <a:srgbClr val="D4E3F7">
              <a:lumMod val="75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수리적 기반</a:t>
            </a:r>
            <a:endParaRPr kumimoji="0" lang="ko-KR" altLang="en-US" sz="1000" kern="0" dirty="0" smtClean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6821460" y="1474339"/>
            <a:ext cx="1656184" cy="263021"/>
          </a:xfrm>
          <a:prstGeom prst="roundRect">
            <a:avLst/>
          </a:prstGeom>
          <a:solidFill>
            <a:srgbClr val="D4E3F7">
              <a:lumMod val="75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smtClean="0">
                <a:solidFill>
                  <a:prstClr val="black"/>
                </a:solidFill>
                <a:latin typeface="맑은 고딕"/>
                <a:ea typeface="맑은 고딕"/>
              </a:rPr>
              <a:t>부문별 특성 분석</a:t>
            </a:r>
            <a:endParaRPr kumimoji="0" lang="ko-KR" altLang="en-US" sz="1000" kern="0" dirty="0" smtClean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4639708" y="2012938"/>
            <a:ext cx="1656184" cy="307424"/>
          </a:xfrm>
          <a:prstGeom prst="roundRect">
            <a:avLst/>
          </a:prstGeom>
          <a:solidFill>
            <a:srgbClr val="D4E3F7">
              <a:lumMod val="75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상향식 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S/W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91488" y="1904396"/>
            <a:ext cx="1127232" cy="400110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>
                <a:lumMod val="60000"/>
                <a:lumOff val="4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>
            <a:defPPr>
              <a:defRPr lang="fr-FR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현황분석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수리적 특성분석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646714" y="1881064"/>
            <a:ext cx="2005677" cy="400110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>
                <a:lumMod val="60000"/>
                <a:lumOff val="4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>
            <a:defPPr>
              <a:defRPr lang="fr-FR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부문별 특성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분석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(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가정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상업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수송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농축산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폐기물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)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042174" y="2521193"/>
            <a:ext cx="825867" cy="400110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>
                <a:lumMod val="60000"/>
                <a:lumOff val="4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>
            <a:defPPr>
              <a:defRPr lang="fr-FR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전력부문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수리적기반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999374" y="2557715"/>
            <a:ext cx="1300356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>
                <a:lumMod val="60000"/>
                <a:lumOff val="4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>
            <a:defPPr>
              <a:defRPr lang="fr-FR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전력부문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특성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분석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999374" y="2991096"/>
            <a:ext cx="1300356" cy="553998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>
                <a:lumMod val="60000"/>
                <a:lumOff val="4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>
            <a:defPPr>
              <a:defRPr lang="fr-FR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전력부문 모형완성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수송부문 추가 통합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정유부문 분석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804930" y="3154174"/>
            <a:ext cx="1300356" cy="400110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>
                <a:lumMod val="60000"/>
                <a:lumOff val="4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>
            <a:defPPr>
              <a:defRPr lang="fr-FR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전력부문 수리 완성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수리모형 고도화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711824" y="3767331"/>
            <a:ext cx="1511952" cy="400110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>
                <a:lumMod val="60000"/>
                <a:lumOff val="4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>
            <a:defPPr>
              <a:defRPr lang="fr-FR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상향식상용시스템 개발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통합모형 </a:t>
            </a: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프로토타입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711825" y="4391206"/>
            <a:ext cx="1511952" cy="400110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>
                <a:lumMod val="60000"/>
                <a:lumOff val="4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>
            <a:defPPr>
              <a:defRPr lang="fr-FR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상향식상용시스템 배포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통합시스템개발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859300" y="5015081"/>
            <a:ext cx="1217001" cy="400110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>
                <a:lumMod val="60000"/>
                <a:lumOff val="4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>
            <a:defPPr>
              <a:defRPr lang="fr-FR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배포 및 현장 활용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통합시스템배포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968305" y="5638957"/>
            <a:ext cx="998991" cy="400110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>
                <a:lumMod val="60000"/>
                <a:lumOff val="4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>
            <a:defPPr>
              <a:defRPr lang="fr-FR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통합모형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시험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신뢰성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검증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80" name="직선 화살표 연결선 79"/>
          <p:cNvCxnSpPr/>
          <p:nvPr/>
        </p:nvCxnSpPr>
        <p:spPr>
          <a:xfrm>
            <a:off x="3455104" y="1744980"/>
            <a:ext cx="0" cy="151324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81" name="직선 화살표 연결선 80"/>
          <p:cNvCxnSpPr/>
          <p:nvPr/>
        </p:nvCxnSpPr>
        <p:spPr>
          <a:xfrm>
            <a:off x="3455104" y="2296414"/>
            <a:ext cx="0" cy="224779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82" name="직선 화살표 연결선 81"/>
          <p:cNvCxnSpPr/>
          <p:nvPr/>
        </p:nvCxnSpPr>
        <p:spPr>
          <a:xfrm>
            <a:off x="3455104" y="2921303"/>
            <a:ext cx="0" cy="232871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83" name="직선 화살표 연결선 82"/>
          <p:cNvCxnSpPr/>
          <p:nvPr/>
        </p:nvCxnSpPr>
        <p:spPr>
          <a:xfrm>
            <a:off x="7649552" y="1737360"/>
            <a:ext cx="1" cy="143704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84" name="직선 화살표 연결선 83"/>
          <p:cNvCxnSpPr/>
          <p:nvPr/>
        </p:nvCxnSpPr>
        <p:spPr>
          <a:xfrm flipH="1">
            <a:off x="7649552" y="2281174"/>
            <a:ext cx="1" cy="276541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85" name="직선 화살표 연결선 84"/>
          <p:cNvCxnSpPr/>
          <p:nvPr/>
        </p:nvCxnSpPr>
        <p:spPr>
          <a:xfrm>
            <a:off x="7649552" y="2803936"/>
            <a:ext cx="0" cy="18716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86" name="직선 화살표 연결선 85"/>
          <p:cNvCxnSpPr>
            <a:endCxn id="95" idx="0"/>
          </p:cNvCxnSpPr>
          <p:nvPr/>
        </p:nvCxnSpPr>
        <p:spPr>
          <a:xfrm>
            <a:off x="5467800" y="2320362"/>
            <a:ext cx="0" cy="199219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87" name="꺾인 연결선 86"/>
          <p:cNvCxnSpPr>
            <a:stCxn id="58" idx="1"/>
          </p:cNvCxnSpPr>
          <p:nvPr/>
        </p:nvCxnSpPr>
        <p:spPr>
          <a:xfrm rot="10800000" flipH="1" flipV="1">
            <a:off x="2627012" y="2642416"/>
            <a:ext cx="2063808" cy="1985016"/>
          </a:xfrm>
          <a:prstGeom prst="bentConnector3">
            <a:avLst>
              <a:gd name="adj1" fmla="val -11077"/>
            </a:avLst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88" name="왼쪽 중괄호 87"/>
          <p:cNvSpPr/>
          <p:nvPr/>
        </p:nvSpPr>
        <p:spPr bwMode="auto">
          <a:xfrm>
            <a:off x="1106116" y="2026920"/>
            <a:ext cx="334267" cy="1350756"/>
          </a:xfrm>
          <a:prstGeom prst="leftBrace">
            <a:avLst/>
          </a:prstGeom>
          <a:noFill/>
          <a:ln w="25400" cap="flat" cmpd="sng" algn="ctr">
            <a:solidFill>
              <a:srgbClr val="183883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b="1" kern="0" smtClean="0">
              <a:solidFill>
                <a:srgbClr val="183883"/>
              </a:solidFill>
              <a:latin typeface="Arial" charset="0"/>
              <a:ea typeface="굴림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429380" y="2490664"/>
            <a:ext cx="576064" cy="360039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smtClean="0">
                <a:solidFill>
                  <a:prstClr val="white"/>
                </a:solidFill>
                <a:latin typeface="맑은 고딕"/>
                <a:ea typeface="맑은 고딕"/>
              </a:rPr>
              <a:t>1</a:t>
            </a:r>
            <a:r>
              <a:rPr kumimoji="0" lang="ko-KR" altLang="en-US" sz="1000" b="1" kern="0" smtClean="0">
                <a:solidFill>
                  <a:prstClr val="white"/>
                </a:solidFill>
                <a:latin typeface="맑은 고딕"/>
                <a:ea typeface="맑은 고딕"/>
              </a:rPr>
              <a:t>단계</a:t>
            </a:r>
            <a:endParaRPr kumimoji="0" lang="ko-KR" altLang="en-US" sz="1000" b="1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90" name="왼쪽 중괄호 89"/>
          <p:cNvSpPr/>
          <p:nvPr/>
        </p:nvSpPr>
        <p:spPr bwMode="auto">
          <a:xfrm>
            <a:off x="1098024" y="3819712"/>
            <a:ext cx="334267" cy="807720"/>
          </a:xfrm>
          <a:prstGeom prst="leftBrace">
            <a:avLst/>
          </a:prstGeom>
          <a:noFill/>
          <a:ln w="25400" cap="flat" cmpd="sng" algn="ctr">
            <a:solidFill>
              <a:srgbClr val="183883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b="1" kern="0" smtClean="0">
              <a:solidFill>
                <a:srgbClr val="183883"/>
              </a:solidFill>
              <a:latin typeface="Arial" charset="0"/>
              <a:ea typeface="굴림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29380" y="4039616"/>
            <a:ext cx="576064" cy="360039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smtClean="0">
                <a:solidFill>
                  <a:prstClr val="white"/>
                </a:solidFill>
                <a:latin typeface="맑은 고딕"/>
                <a:ea typeface="맑은 고딕"/>
              </a:rPr>
              <a:t>2</a:t>
            </a:r>
            <a:r>
              <a:rPr kumimoji="0" lang="ko-KR" altLang="en-US" sz="1000" b="1" kern="0" smtClean="0">
                <a:solidFill>
                  <a:prstClr val="white"/>
                </a:solidFill>
                <a:latin typeface="맑은 고딕"/>
                <a:ea typeface="맑은 고딕"/>
              </a:rPr>
              <a:t>단계</a:t>
            </a:r>
            <a:endParaRPr kumimoji="0" lang="ko-KR" altLang="en-US" sz="1000" b="1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92" name="왼쪽 중괄호 91"/>
          <p:cNvSpPr/>
          <p:nvPr/>
        </p:nvSpPr>
        <p:spPr bwMode="auto">
          <a:xfrm>
            <a:off x="1073748" y="5031292"/>
            <a:ext cx="334267" cy="807720"/>
          </a:xfrm>
          <a:prstGeom prst="leftBrace">
            <a:avLst/>
          </a:prstGeom>
          <a:noFill/>
          <a:ln w="25400" cap="flat" cmpd="sng" algn="ctr">
            <a:solidFill>
              <a:srgbClr val="183883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b="1" kern="0" smtClean="0">
              <a:solidFill>
                <a:srgbClr val="183883"/>
              </a:solidFill>
              <a:latin typeface="Arial" charset="0"/>
              <a:ea typeface="굴림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429380" y="5251196"/>
            <a:ext cx="576064" cy="360039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smtClean="0">
                <a:solidFill>
                  <a:prstClr val="white"/>
                </a:solidFill>
                <a:latin typeface="맑은 고딕"/>
                <a:ea typeface="맑은 고딕"/>
              </a:rPr>
              <a:t>3</a:t>
            </a:r>
            <a:r>
              <a:rPr kumimoji="0" lang="ko-KR" altLang="en-US" sz="1000" b="1" kern="0" smtClean="0">
                <a:solidFill>
                  <a:prstClr val="white"/>
                </a:solidFill>
                <a:latin typeface="맑은 고딕"/>
                <a:ea typeface="맑은 고딕"/>
              </a:rPr>
              <a:t>단계</a:t>
            </a:r>
            <a:endParaRPr kumimoji="0" lang="ko-KR" altLang="en-US" sz="1000" b="1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711825" y="3143456"/>
            <a:ext cx="1511952" cy="400110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>
                <a:lumMod val="60000"/>
                <a:lumOff val="4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>
            <a:defPPr>
              <a:defRPr lang="fr-FR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GAMS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모형 완성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상향식베타시스템개발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689382" y="2519581"/>
            <a:ext cx="1556836" cy="400110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>
                <a:lumMod val="60000"/>
                <a:lumOff val="4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>
            <a:defPPr>
              <a:defRPr lang="fr-FR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GAMS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모형 개발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프로토타입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 기능 테스트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96" name="직선 화살표 연결선 95"/>
          <p:cNvCxnSpPr/>
          <p:nvPr/>
        </p:nvCxnSpPr>
        <p:spPr>
          <a:xfrm>
            <a:off x="5472127" y="2919691"/>
            <a:ext cx="0" cy="199219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97" name="직선 화살표 연결선 96"/>
          <p:cNvCxnSpPr/>
          <p:nvPr/>
        </p:nvCxnSpPr>
        <p:spPr>
          <a:xfrm>
            <a:off x="5467800" y="3554284"/>
            <a:ext cx="0" cy="199219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98" name="직선 화살표 연결선 97"/>
          <p:cNvCxnSpPr/>
          <p:nvPr/>
        </p:nvCxnSpPr>
        <p:spPr>
          <a:xfrm>
            <a:off x="5467800" y="4167441"/>
            <a:ext cx="0" cy="199219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99" name="직선 화살표 연결선 98"/>
          <p:cNvCxnSpPr/>
          <p:nvPr/>
        </p:nvCxnSpPr>
        <p:spPr>
          <a:xfrm>
            <a:off x="5472127" y="4791316"/>
            <a:ext cx="0" cy="199219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00" name="직선 화살표 연결선 99"/>
          <p:cNvCxnSpPr/>
          <p:nvPr/>
        </p:nvCxnSpPr>
        <p:spPr>
          <a:xfrm>
            <a:off x="5467800" y="5415191"/>
            <a:ext cx="0" cy="199219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101" name="TextBox 100"/>
          <p:cNvSpPr txBox="1"/>
          <p:nvPr/>
        </p:nvSpPr>
        <p:spPr>
          <a:xfrm>
            <a:off x="6855104" y="3781480"/>
            <a:ext cx="1588897" cy="400110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>
                <a:lumMod val="60000"/>
                <a:lumOff val="4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>
            <a:defPPr>
              <a:defRPr lang="fr-FR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정유부문 모형완성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가정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sym typeface="Symbol" panose="05050102010706020507" pitchFamily="18" charset="2"/>
              </a:rPr>
              <a:t>사업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부문 추가 통합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102" name="직선 화살표 연결선 101"/>
          <p:cNvCxnSpPr/>
          <p:nvPr/>
        </p:nvCxnSpPr>
        <p:spPr>
          <a:xfrm>
            <a:off x="7649552" y="3545094"/>
            <a:ext cx="1" cy="236386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103" name="TextBox 102"/>
          <p:cNvSpPr txBox="1"/>
          <p:nvPr/>
        </p:nvSpPr>
        <p:spPr>
          <a:xfrm>
            <a:off x="6855104" y="4434860"/>
            <a:ext cx="1588897" cy="400110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>
                <a:lumMod val="60000"/>
                <a:lumOff val="4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>
            <a:spAutoFit/>
          </a:bodyPr>
          <a:lstStyle>
            <a:defPPr>
              <a:defRPr lang="fr-FR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정유부문 추가 </a:t>
            </a:r>
            <a:r>
              <a:rPr kumimoji="0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통합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폐기물 부문 분석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104" name="직선 화살표 연결선 103"/>
          <p:cNvCxnSpPr/>
          <p:nvPr/>
        </p:nvCxnSpPr>
        <p:spPr>
          <a:xfrm>
            <a:off x="7649552" y="4181590"/>
            <a:ext cx="0" cy="25327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105" name="TextBox 104"/>
          <p:cNvSpPr txBox="1"/>
          <p:nvPr/>
        </p:nvSpPr>
        <p:spPr>
          <a:xfrm>
            <a:off x="6855104" y="5011070"/>
            <a:ext cx="1588897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>
                <a:lumMod val="60000"/>
                <a:lumOff val="4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>
            <a:spAutoFit/>
          </a:bodyPr>
          <a:lstStyle>
            <a:defPPr>
              <a:defRPr lang="fr-FR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폐기물 부문 완성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106" name="직선 화살표 연결선 105"/>
          <p:cNvCxnSpPr/>
          <p:nvPr/>
        </p:nvCxnSpPr>
        <p:spPr>
          <a:xfrm>
            <a:off x="7649552" y="4834970"/>
            <a:ext cx="0" cy="17610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07" name="직선 화살표 연결선 106"/>
          <p:cNvCxnSpPr/>
          <p:nvPr/>
        </p:nvCxnSpPr>
        <p:spPr bwMode="auto">
          <a:xfrm flipH="1">
            <a:off x="6244780" y="4627432"/>
            <a:ext cx="324652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0980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6" name="제목 4"/>
          <p:cNvSpPr txBox="1">
            <a:spLocks/>
          </p:cNvSpPr>
          <p:nvPr/>
        </p:nvSpPr>
        <p:spPr bwMode="auto">
          <a:xfrm>
            <a:off x="689610" y="727023"/>
            <a:ext cx="6753225" cy="1143000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</p:spPr>
        <p:txBody>
          <a:bodyPr vert="horz" wrap="square" lIns="19800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kumimoji="0" lang="en-US" altLang="ko-KR" kern="0" dirty="0" smtClean="0">
                <a:solidFill>
                  <a:srgbClr val="FFFFFF"/>
                </a:solidFill>
              </a:rPr>
              <a:t>3</a:t>
            </a:r>
            <a:r>
              <a:rPr kumimoji="0" lang="en-US" altLang="ko-KR" kern="0" dirty="0">
                <a:solidFill>
                  <a:srgbClr val="FFFFFF"/>
                </a:solidFill>
              </a:rPr>
              <a:t>. 1</a:t>
            </a:r>
            <a:r>
              <a:rPr kumimoji="0" lang="ko-KR" altLang="en-US" kern="0" dirty="0">
                <a:solidFill>
                  <a:srgbClr val="FFFFFF"/>
                </a:solidFill>
              </a:rPr>
              <a:t>차년도 연구 내용 및 </a:t>
            </a:r>
            <a:r>
              <a:rPr kumimoji="0" lang="ko-KR" altLang="en-US" kern="0" dirty="0" smtClean="0">
                <a:solidFill>
                  <a:srgbClr val="FFFFFF"/>
                </a:solidFill>
              </a:rPr>
              <a:t>결과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2926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lnSpc>
                <a:spcPct val="120000"/>
              </a:lnSpc>
              <a:spcAft>
                <a:spcPct val="20000"/>
              </a:spcAft>
              <a:buClr>
                <a:schemeClr val="tx2"/>
              </a:buClr>
              <a:buSzPct val="75000"/>
              <a:buFont typeface="Monotype Sorts" pitchFamily="2" charset="2"/>
              <a:buChar char="q"/>
              <a:defRPr kumimoji="1" b="1">
                <a:solidFill>
                  <a:schemeClr val="tx1"/>
                </a:solidFill>
                <a:latin typeface="Trebuchet MS" panose="020B0603020202020204" pitchFamily="34" charset="0"/>
                <a:ea typeface="돋움체" panose="020B0609000101010101" pitchFamily="49" charset="-127"/>
              </a:defRPr>
            </a:lvl1pPr>
            <a:lvl2pPr marL="742950" indent="-285750" defTabSz="762000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anose="02030609000101010101" pitchFamily="17" charset="-127"/>
              <a:buChar char="-"/>
              <a:defRPr kumimoji="1" sz="1600">
                <a:solidFill>
                  <a:schemeClr val="tx1"/>
                </a:solidFill>
                <a:latin typeface="Trebuchet MS" panose="020B0603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lnSpc>
                <a:spcPct val="90000"/>
              </a:lnSpc>
              <a:spcAft>
                <a:spcPct val="20000"/>
              </a:spcAft>
              <a:buClr>
                <a:schemeClr val="tx2"/>
              </a:buClr>
              <a:buSzPct val="60000"/>
              <a:buFont typeface="Monotype Sorts" pitchFamily="2" charset="2"/>
              <a:buChar char="u"/>
              <a:defRPr kumimoji="1" sz="1400">
                <a:solidFill>
                  <a:schemeClr val="tx1"/>
                </a:solidFill>
                <a:latin typeface="Trebuchet MS" panose="020B0603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lnSpc>
                <a:spcPct val="90000"/>
              </a:lnSpc>
              <a:spcAft>
                <a:spcPct val="20000"/>
              </a:spcAft>
              <a:buSzPct val="100000"/>
              <a:buFont typeface="바탕체" panose="02030609000101010101" pitchFamily="17" charset="-127"/>
              <a:buChar char=" "/>
              <a:defRPr kumimoji="1" sz="1200">
                <a:solidFill>
                  <a:schemeClr val="tx1"/>
                </a:solidFill>
                <a:latin typeface="Trebuchet MS" panose="020B0603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lnSpc>
                <a:spcPct val="90000"/>
              </a:lnSpc>
              <a:spcAft>
                <a:spcPct val="20000"/>
              </a:spcAft>
              <a:buSzPct val="100000"/>
              <a:buFont typeface="바탕체" panose="02030609000101010101" pitchFamily="17" charset="-127"/>
              <a:buChar char=" "/>
              <a:defRPr kumimoji="1" sz="1200">
                <a:solidFill>
                  <a:schemeClr val="tx1"/>
                </a:solidFill>
                <a:latin typeface="Trebuchet MS" panose="020B0603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 typeface="바탕체" panose="02030609000101010101" pitchFamily="17" charset="-127"/>
              <a:buChar char=" "/>
              <a:defRPr kumimoji="1" sz="1200">
                <a:solidFill>
                  <a:schemeClr val="tx1"/>
                </a:solidFill>
                <a:latin typeface="Trebuchet MS" panose="020B0603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 typeface="바탕체" panose="02030609000101010101" pitchFamily="17" charset="-127"/>
              <a:buChar char=" "/>
              <a:defRPr kumimoji="1" sz="1200">
                <a:solidFill>
                  <a:schemeClr val="tx1"/>
                </a:solidFill>
                <a:latin typeface="Trebuchet MS" panose="020B0603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 typeface="바탕체" panose="02030609000101010101" pitchFamily="17" charset="-127"/>
              <a:buChar char=" "/>
              <a:defRPr kumimoji="1" sz="1200">
                <a:solidFill>
                  <a:schemeClr val="tx1"/>
                </a:solidFill>
                <a:latin typeface="Trebuchet MS" panose="020B0603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 typeface="바탕체" panose="02030609000101010101" pitchFamily="17" charset="-127"/>
              <a:buChar char=" "/>
              <a:defRPr kumimoji="1" sz="1200">
                <a:solidFill>
                  <a:schemeClr val="tx1"/>
                </a:solidFill>
                <a:latin typeface="Trebuchet MS" panose="020B0603020202020204" pitchFamily="34" charset="0"/>
                <a:ea typeface="바탕체" panose="02030609000101010101" pitchFamily="17" charset="-127"/>
              </a:defRPr>
            </a:lvl9pPr>
          </a:lstStyle>
          <a:p>
            <a:pPr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ko-KR" b="0" smtClean="0">
                <a:latin typeface="Arial" panose="020B0604020202020204" pitchFamily="34" charset="0"/>
                <a:ea typeface="돋움" panose="020B0600000101010101" pitchFamily="50" charset="-127"/>
              </a:rPr>
              <a:t> </a:t>
            </a:r>
            <a:fld id="{088AE24D-52FD-4BA0-B696-9AD58D03AABC}" type="slidenum">
              <a:rPr lang="en-US" altLang="ko-KR" b="0" smtClean="0">
                <a:latin typeface="Arial" panose="020B0604020202020204" pitchFamily="34" charset="0"/>
                <a:ea typeface="돋움" panose="020B0600000101010101" pitchFamily="50" charset="-127"/>
              </a:rPr>
              <a:pPr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t>13</a:t>
            </a:fld>
            <a:endParaRPr lang="en-US" altLang="ko-KR" b="0" smtClean="0">
              <a:latin typeface="Arial" panose="020B0604020202020204" pitchFamily="34" charset="0"/>
              <a:ea typeface="돋움" panose="020B0600000101010101" pitchFamily="50" charset="-127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704850" y="157163"/>
            <a:ext cx="8496300" cy="569912"/>
          </a:xfrm>
        </p:spPr>
        <p:txBody>
          <a:bodyPr/>
          <a:lstStyle/>
          <a:p>
            <a:pPr algn="l"/>
            <a:r>
              <a:rPr lang="en-US" altLang="ko-KR" b="0" dirty="0" smtClean="0"/>
              <a:t>1</a:t>
            </a:r>
            <a:r>
              <a:rPr lang="ko-KR" altLang="en-US" b="0" dirty="0" smtClean="0"/>
              <a:t>차년도 연구개발의 목표 및 내용</a:t>
            </a:r>
            <a:endParaRPr lang="en-US" altLang="ko-KR" b="0" dirty="0" smtClean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86578"/>
              </p:ext>
            </p:extLst>
          </p:nvPr>
        </p:nvGraphicFramePr>
        <p:xfrm>
          <a:off x="884238" y="900113"/>
          <a:ext cx="7164387" cy="5201490"/>
        </p:xfrm>
        <a:graphic>
          <a:graphicData uri="http://schemas.openxmlformats.org/drawingml/2006/table">
            <a:tbl>
              <a:tblPr/>
              <a:tblGrid>
                <a:gridCol w="1860794"/>
                <a:gridCol w="5303593"/>
              </a:tblGrid>
              <a:tr h="29255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연구개발의 목표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0619" marR="60619" marT="16757" marB="1675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연구개발의 내용 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0619" marR="60619" marT="16757" marB="167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</a:tr>
              <a:tr h="205775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ko-KR" altLang="en-US" sz="1200" kern="0" spc="-150" dirty="0" smtClean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한국형 </a:t>
                      </a:r>
                      <a:r>
                        <a:rPr lang="ko-KR" altLang="en-US" sz="12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상향식 </a:t>
                      </a:r>
                      <a:r>
                        <a:rPr lang="en-US" altLang="ko-KR" sz="12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S/W </a:t>
                      </a:r>
                      <a:r>
                        <a:rPr lang="ko-KR" altLang="en-US" sz="12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시스템 개발을 위한 </a:t>
                      </a:r>
                      <a:r>
                        <a:rPr lang="en-US" altLang="ko-KR" sz="12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MESSAGE </a:t>
                      </a:r>
                      <a:r>
                        <a:rPr lang="ko-KR" altLang="en-US" sz="12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시스템 </a:t>
                      </a:r>
                      <a:r>
                        <a:rPr lang="ko-KR" altLang="en-US" sz="1200" kern="0" spc="-150" dirty="0" smtClean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분석</a:t>
                      </a:r>
                      <a:endParaRPr lang="ko-KR" altLang="en-US" sz="1200" kern="0" spc="-15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  <a:cs typeface="+mn-cs"/>
                      </a:endParaRPr>
                    </a:p>
                  </a:txBody>
                  <a:tcPr marL="60619" marR="60619" marT="16757" marB="1675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1.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상향식 모형의 특징과 국가모형 구축 현황</a:t>
                      </a:r>
                      <a:endParaRPr lang="ko-KR" altLang="en-US" sz="1100" kern="0" spc="-150" dirty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  <a:p>
                      <a:pPr marL="180975" marR="0" lvl="0" indent="-9048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  <a:tabLst>
                          <a:tab pos="16256000" algn="l"/>
                        </a:tabLst>
                      </a:pPr>
                      <a:r>
                        <a:rPr lang="ko-KR" altLang="en-US" sz="10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상향식 모형의 국내외 </a:t>
                      </a:r>
                      <a:r>
                        <a:rPr lang="ko-KR" altLang="en-US" sz="10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현황분석</a:t>
                      </a:r>
                      <a:r>
                        <a:rPr lang="en-US" altLang="ko-KR" sz="10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(MESSAGE, MARKAL,</a:t>
                      </a:r>
                      <a:r>
                        <a:rPr lang="en-US" altLang="ko-KR" sz="1000" kern="0" spc="-150" baseline="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 LEAP, AIM </a:t>
                      </a:r>
                      <a:r>
                        <a:rPr lang="ko-KR" altLang="en-US" sz="1000" kern="0" spc="-150" baseline="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등</a:t>
                      </a:r>
                      <a:r>
                        <a:rPr lang="en-US" altLang="ko-KR" sz="1000" kern="0" spc="-150" baseline="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)</a:t>
                      </a:r>
                      <a:endParaRPr lang="ko-KR" altLang="en-US" sz="1000" kern="0" spc="-150" dirty="0" smtClean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  <a:p>
                      <a:pPr marL="180975" marR="0" lvl="0" indent="-9048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  <a:tabLst>
                          <a:tab pos="16256000" algn="l"/>
                        </a:tabLst>
                      </a:pPr>
                      <a:r>
                        <a:rPr lang="ko-KR" altLang="en-US" sz="10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국내 상향식 모형의 활용 동향 분석</a:t>
                      </a:r>
                    </a:p>
                    <a:p>
                      <a:pPr marL="180975" marR="0" lvl="0" indent="-9048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  <a:tabLst>
                          <a:tab pos="16256000" algn="l"/>
                        </a:tabLst>
                      </a:pPr>
                      <a:r>
                        <a:rPr lang="ko-KR" altLang="en-US" sz="10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국내 </a:t>
                      </a:r>
                      <a:r>
                        <a:rPr lang="ko-KR" altLang="en-US" sz="10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중장기 온실가스 감축을 위한 상향식 모형에 대한 현황 분석</a:t>
                      </a:r>
                    </a:p>
                    <a:p>
                      <a:pPr marL="180975" marR="0" lvl="0" indent="-9048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  <a:tabLst>
                          <a:tab pos="16256000" algn="l"/>
                        </a:tabLst>
                      </a:pPr>
                      <a:r>
                        <a:rPr lang="en-US" altLang="ko-KR" sz="10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MESSAGE </a:t>
                      </a:r>
                      <a:r>
                        <a:rPr lang="ko-KR" altLang="en-US" sz="10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모형의 국내 구축 현황 분석 </a:t>
                      </a: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2. MESSAGE </a:t>
                      </a:r>
                      <a:r>
                        <a:rPr lang="ko-KR" altLang="en-US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시스템 및 수리적 특성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분석</a:t>
                      </a:r>
                      <a:endParaRPr lang="ko-KR" altLang="en-US" sz="1100" kern="0" spc="-150" dirty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  <a:p>
                      <a:pPr marL="180975" marR="0" lvl="0" indent="-9048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  <a:tabLst>
                          <a:tab pos="16256000" algn="l"/>
                        </a:tabLst>
                      </a:pPr>
                      <a:r>
                        <a:rPr lang="ko-KR" altLang="en-US" sz="10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한국형 상향식 </a:t>
                      </a:r>
                      <a:r>
                        <a:rPr lang="en-US" altLang="ko-KR" sz="10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S/W </a:t>
                      </a:r>
                      <a:r>
                        <a:rPr lang="ko-KR" altLang="en-US" sz="10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시스템 구축을 위한 </a:t>
                      </a:r>
                      <a:r>
                        <a:rPr lang="en-US" altLang="ko-KR" sz="10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MESSAGE </a:t>
                      </a:r>
                      <a:r>
                        <a:rPr lang="ko-KR" altLang="en-US" sz="10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시스템의 특성 분석 </a:t>
                      </a:r>
                      <a:endParaRPr lang="en-US" altLang="ko-KR" sz="1000" kern="0" spc="-150" dirty="0" smtClean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  <a:p>
                      <a:pPr marL="180975" marR="0" lvl="0" indent="-9048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  <a:tabLst>
                          <a:tab pos="16256000" algn="l"/>
                        </a:tabLst>
                      </a:pPr>
                      <a:r>
                        <a:rPr lang="en-US" altLang="ko-KR" sz="10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MESSAGE </a:t>
                      </a:r>
                      <a:r>
                        <a:rPr lang="ko-KR" altLang="en-US" sz="10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모형의 수리적 특성 </a:t>
                      </a:r>
                      <a:r>
                        <a:rPr lang="ko-KR" altLang="en-US" sz="10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분석</a:t>
                      </a:r>
                      <a:endParaRPr lang="en-US" altLang="ko-KR" sz="1000" kern="0" spc="-150" dirty="0" smtClean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  <a:p>
                      <a:pPr marL="180975" marR="0" lvl="0" indent="-9048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  <a:tabLst>
                          <a:tab pos="16256000" algn="l"/>
                        </a:tabLst>
                      </a:pPr>
                      <a:r>
                        <a:rPr lang="ko-KR" altLang="en-US" sz="10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효율개선</a:t>
                      </a:r>
                      <a:r>
                        <a:rPr lang="en-US" altLang="ko-KR" sz="10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(AEEI) </a:t>
                      </a:r>
                      <a:r>
                        <a:rPr lang="ko-KR" altLang="en-US" sz="10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및 기술간의 대체 및 경쟁 관계 등에 대한 수리적 분석</a:t>
                      </a: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3. </a:t>
                      </a:r>
                      <a:r>
                        <a:rPr lang="ko-KR" altLang="en-US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한국형 상</a:t>
                      </a:r>
                      <a:r>
                        <a:rPr lang="en-US" altLang="ko-KR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·</a:t>
                      </a:r>
                      <a:r>
                        <a:rPr lang="ko-KR" altLang="en-US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하향식 통합 모형 구축을 위한 </a:t>
                      </a:r>
                      <a:r>
                        <a:rPr lang="en-US" altLang="ko-KR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MARKAL-MACRO</a:t>
                      </a:r>
                      <a:r>
                        <a:rPr lang="ko-KR" altLang="en-US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에 대한 이론적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연구</a:t>
                      </a:r>
                      <a:endParaRPr lang="ko-KR" altLang="en-US" sz="1100" kern="0" spc="-150" dirty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</a:txBody>
                  <a:tcPr marL="60619" marR="60619" marT="16757" marB="1675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4850"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ko-KR" altLang="en-US" sz="1200" kern="0" spc="-150" dirty="0" smtClean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부문별 </a:t>
                      </a:r>
                      <a:r>
                        <a:rPr lang="ko-KR" altLang="en-US" sz="12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특성 조사 및 분석</a:t>
                      </a:r>
                      <a:r>
                        <a:rPr lang="en-US" altLang="ko-KR" sz="12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(</a:t>
                      </a:r>
                      <a:r>
                        <a:rPr lang="ko-KR" altLang="en-US" sz="12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가정</a:t>
                      </a:r>
                      <a:r>
                        <a:rPr lang="en-US" altLang="ko-KR" sz="12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/</a:t>
                      </a:r>
                      <a:r>
                        <a:rPr lang="ko-KR" altLang="en-US" sz="12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상업</a:t>
                      </a:r>
                      <a:r>
                        <a:rPr lang="en-US" altLang="ko-KR" sz="12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/</a:t>
                      </a:r>
                      <a:r>
                        <a:rPr lang="ko-KR" altLang="en-US" sz="12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수송</a:t>
                      </a:r>
                      <a:r>
                        <a:rPr lang="en-US" altLang="ko-KR" sz="12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/</a:t>
                      </a:r>
                      <a:r>
                        <a:rPr lang="ko-KR" altLang="en-US" sz="1200" kern="0" spc="-150" dirty="0" err="1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농축산</a:t>
                      </a:r>
                      <a:r>
                        <a:rPr lang="en-US" altLang="ko-KR" sz="12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/</a:t>
                      </a:r>
                      <a:r>
                        <a:rPr lang="ko-KR" altLang="en-US" sz="12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폐기물 부문 특성조사 및 분석</a:t>
                      </a:r>
                      <a:r>
                        <a:rPr lang="en-US" altLang="ko-KR" sz="1200" kern="0" spc="-150" dirty="0" smtClean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)</a:t>
                      </a:r>
                      <a:endParaRPr lang="ko-KR" altLang="en-US" sz="1200" kern="0" spc="-15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  <a:cs typeface="+mn-cs"/>
                      </a:endParaRPr>
                    </a:p>
                  </a:txBody>
                  <a:tcPr marL="60619" marR="60619" marT="16757" marB="1675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indent="-2286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  <a:tabLst>
                          <a:tab pos="16256000" algn="l"/>
                        </a:tabLst>
                      </a:pP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수송 </a:t>
                      </a:r>
                      <a:r>
                        <a:rPr lang="ko-KR" altLang="en-US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부문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분석</a:t>
                      </a:r>
                      <a:endParaRPr lang="en-US" altLang="ko-KR" sz="1100" kern="0" spc="-150" dirty="0" smtClean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  <a:p>
                      <a:pPr marL="180975" marR="0" lvl="0" indent="-90488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  <a:tabLst>
                          <a:tab pos="16256000" algn="l"/>
                        </a:tabLst>
                      </a:pP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수송부문의 기존 상향식 모형 분석</a:t>
                      </a: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(RES,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기술특성</a:t>
                      </a: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,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수요</a:t>
                      </a: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,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기술 </a:t>
                      </a: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DB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등</a:t>
                      </a: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) </a:t>
                      </a:r>
                    </a:p>
                    <a:p>
                      <a:pPr marL="180975" marR="0" lvl="0" indent="-90488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  <a:tabLst>
                          <a:tab pos="16256000" algn="l"/>
                        </a:tabLst>
                      </a:pP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수송부문 상향식 모형화 관련 국내외 기존 연구 분석</a:t>
                      </a:r>
                      <a:endParaRPr lang="en-US" altLang="ko-KR" sz="1100" kern="0" spc="-150" dirty="0" smtClean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  <a:p>
                      <a:pPr marL="180975" marR="0" lvl="0" indent="-90488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  <a:tabLst>
                          <a:tab pos="16256000" algn="l"/>
                        </a:tabLst>
                      </a:pP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상향식 모형의 기능 관점에서 수송부문 특성 도출</a:t>
                      </a:r>
                      <a:endParaRPr lang="en-US" altLang="ko-KR" sz="1100" kern="0" spc="-150" dirty="0" smtClean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  <a:p>
                      <a:pPr marL="180975" marR="0" lvl="0" indent="-90488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  <a:tabLst>
                          <a:tab pos="16256000" algn="l"/>
                        </a:tabLst>
                      </a:pP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수송부문 특성 요소 기능의 수리적 전개</a:t>
                      </a:r>
                      <a:endParaRPr lang="en-US" altLang="ko-KR" sz="1100" kern="0" spc="-150" dirty="0" smtClean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  <a:p>
                      <a:pPr marL="180975" marR="0" lvl="0" indent="-90488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  <a:tabLst>
                          <a:tab pos="16256000" algn="l"/>
                        </a:tabLst>
                      </a:pP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특성요소의 모형 </a:t>
                      </a: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component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정의</a:t>
                      </a:r>
                      <a:endParaRPr lang="en-US" altLang="ko-KR" sz="1100" kern="0" spc="-150" dirty="0" smtClean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  <a:p>
                      <a:pPr marL="180975" marR="0" lvl="0" indent="-90488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  <a:tabLst>
                          <a:tab pos="16256000" algn="l"/>
                        </a:tabLst>
                      </a:pP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특성요소의 </a:t>
                      </a: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system representation </a:t>
                      </a:r>
                      <a:endParaRPr lang="ko-KR" altLang="en-US" sz="1100" kern="0" spc="-150" dirty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2. </a:t>
                      </a:r>
                      <a:r>
                        <a:rPr lang="ko-KR" altLang="en-US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가정</a:t>
                      </a:r>
                      <a:r>
                        <a:rPr lang="en-US" altLang="ko-KR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/</a:t>
                      </a:r>
                      <a:r>
                        <a:rPr lang="ko-KR" altLang="en-US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상업 부문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분석</a:t>
                      </a:r>
                      <a:endParaRPr lang="ko-KR" altLang="en-US" sz="1100" kern="0" spc="-150" dirty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3. </a:t>
                      </a:r>
                      <a:r>
                        <a:rPr lang="ko-KR" altLang="en-US" sz="1100" kern="0" spc="-150" dirty="0" err="1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농축산</a:t>
                      </a:r>
                      <a:r>
                        <a:rPr lang="ko-KR" altLang="en-US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 부문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분석</a:t>
                      </a:r>
                      <a:endParaRPr lang="ko-KR" altLang="en-US" sz="1100" kern="0" spc="-150" dirty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4. </a:t>
                      </a:r>
                      <a:r>
                        <a:rPr lang="ko-KR" altLang="en-US" sz="1100" kern="0" spc="-1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폐기물 부문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분석</a:t>
                      </a:r>
                      <a:endParaRPr lang="ko-KR" altLang="en-US" sz="1100" kern="0" spc="-150" dirty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</a:txBody>
                  <a:tcPr marL="60619" marR="60619" marT="16757" marB="1675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939"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ko-KR" altLang="en-US" sz="1200" kern="0" spc="-150" dirty="0" smtClean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상향식 </a:t>
                      </a:r>
                      <a:r>
                        <a:rPr lang="en-US" altLang="ko-KR" sz="1200" kern="0" spc="-150" dirty="0" smtClean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S/W </a:t>
                      </a:r>
                      <a:r>
                        <a:rPr lang="ko-KR" altLang="en-US" sz="1200" kern="0" spc="-150" dirty="0" smtClean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시스템개발</a:t>
                      </a:r>
                      <a:endParaRPr lang="ko-KR" altLang="en-US" sz="1200" kern="0" spc="-15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  <a:cs typeface="+mn-cs"/>
                      </a:endParaRPr>
                    </a:p>
                  </a:txBody>
                  <a:tcPr marL="60619" marR="60619" marT="16757" marB="1675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endParaRPr lang="ko-KR" altLang="en-US" sz="900" kern="0" spc="-15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  <a:ea typeface="휴먼명조"/>
                      </a:endParaRPr>
                    </a:p>
                  </a:txBody>
                  <a:tcPr marL="60619" marR="60619" marT="16757" marB="1675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2092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현황분석 </a:t>
            </a:r>
            <a:r>
              <a:rPr lang="en-US" altLang="ko-KR" b="0" dirty="0"/>
              <a:t>: </a:t>
            </a:r>
            <a:r>
              <a:rPr lang="ko-KR" altLang="en-US" b="0" dirty="0"/>
              <a:t>대표적</a:t>
            </a:r>
            <a:r>
              <a:rPr lang="en-US" altLang="ko-KR" b="0" dirty="0"/>
              <a:t> </a:t>
            </a:r>
            <a:r>
              <a:rPr lang="ko-KR" altLang="en-US" b="0" dirty="0"/>
              <a:t>상향식 모형</a:t>
            </a:r>
            <a:r>
              <a:rPr lang="en-US" altLang="ko-KR" b="0" dirty="0"/>
              <a:t>(1) LEAP</a:t>
            </a:r>
            <a:r>
              <a:rPr lang="ko-KR" altLang="en-US" b="0" dirty="0"/>
              <a:t>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913176"/>
            <a:ext cx="8534400" cy="51958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b="0" dirty="0" smtClean="0">
                <a:latin typeface="+mn-lt"/>
                <a:ea typeface="+mn-ea"/>
                <a:cs typeface="Arial" panose="020B0604020202020204" pitchFamily="34" charset="0"/>
              </a:rPr>
              <a:t>Accounting </a:t>
            </a:r>
            <a:r>
              <a:rPr lang="ko-KR" altLang="en-US" b="0" dirty="0" smtClean="0">
                <a:latin typeface="+mn-lt"/>
                <a:ea typeface="+mn-ea"/>
                <a:cs typeface="Arial" panose="020B0604020202020204" pitchFamily="34" charset="0"/>
              </a:rPr>
              <a:t>기반의</a:t>
            </a:r>
            <a:r>
              <a:rPr lang="en-US" altLang="ko-KR" b="0" dirty="0" smtClean="0"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b="0" dirty="0" smtClean="0">
                <a:latin typeface="+mn-lt"/>
                <a:ea typeface="+mn-ea"/>
                <a:cs typeface="Arial" panose="020B0604020202020204" pitchFamily="34" charset="0"/>
              </a:rPr>
              <a:t>상향식 모형</a:t>
            </a:r>
            <a:endParaRPr lang="en-US" altLang="ko-KR" b="0" dirty="0" smtClean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/>
              <a:t>스웨덴</a:t>
            </a:r>
            <a:r>
              <a:rPr lang="en-US" altLang="ko-KR" dirty="0"/>
              <a:t> Stockholm Environment Institute </a:t>
            </a:r>
            <a:r>
              <a:rPr lang="ko-KR" altLang="en-US" dirty="0"/>
              <a:t>주도로</a:t>
            </a:r>
            <a:r>
              <a:rPr lang="en-US" altLang="ko-KR" dirty="0"/>
              <a:t> </a:t>
            </a:r>
            <a:r>
              <a:rPr lang="ko-KR" altLang="en-US" dirty="0" smtClean="0"/>
              <a:t>개발</a:t>
            </a:r>
            <a:endParaRPr lang="en-US" altLang="ko-KR" dirty="0" smtClean="0"/>
          </a:p>
          <a:p>
            <a:pPr lvl="1">
              <a:lnSpc>
                <a:spcPct val="150000"/>
              </a:lnSpc>
            </a:pPr>
            <a:r>
              <a:rPr lang="ko-KR" altLang="en-US" dirty="0" smtClean="0"/>
              <a:t>에너지서비스 </a:t>
            </a:r>
            <a:r>
              <a:rPr lang="ko-KR" altLang="en-US" dirty="0"/>
              <a:t>수요를 소위 </a:t>
            </a:r>
            <a:r>
              <a:rPr lang="en-US" altLang="ko-KR" dirty="0"/>
              <a:t>‘</a:t>
            </a:r>
            <a:r>
              <a:rPr lang="ko-KR" altLang="en-US" dirty="0"/>
              <a:t>트리 또는 </a:t>
            </a:r>
            <a:r>
              <a:rPr lang="ko-KR" altLang="en-US" dirty="0" err="1"/>
              <a:t>브랜치</a:t>
            </a:r>
            <a:r>
              <a:rPr lang="en-US" altLang="ko-KR" dirty="0"/>
              <a:t>’</a:t>
            </a:r>
            <a:r>
              <a:rPr lang="ko-KR" altLang="en-US" dirty="0"/>
              <a:t>계층</a:t>
            </a:r>
            <a:r>
              <a:rPr lang="en-US" altLang="ko-KR" dirty="0"/>
              <a:t> </a:t>
            </a:r>
            <a:r>
              <a:rPr lang="ko-KR" altLang="en-US" dirty="0"/>
              <a:t>구조로 표현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최근 발전설비 증설 관련 의사결정 최적화 기능 추가 </a:t>
            </a:r>
            <a:r>
              <a:rPr lang="en-US" altLang="ko-KR" dirty="0"/>
              <a:t>(</a:t>
            </a:r>
            <a:r>
              <a:rPr lang="en-US" altLang="ko-KR" dirty="0" err="1"/>
              <a:t>OSeMOSYS</a:t>
            </a:r>
            <a:r>
              <a:rPr lang="en-US" altLang="ko-KR" dirty="0"/>
              <a:t> </a:t>
            </a:r>
            <a:r>
              <a:rPr lang="ko-KR" altLang="en-US" dirty="0"/>
              <a:t>연계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endParaRPr lang="ko-KR" altLang="en-US" dirty="0">
              <a:latin typeface="+mn-lt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latin typeface="+mn-lt"/>
                <a:ea typeface="+mj-ea"/>
              </a:rPr>
              <a:t> </a:t>
            </a:r>
            <a:fld id="{10BC9EA9-20E1-4F6E-B7F3-56489D00F9DC}" type="slidenum">
              <a:rPr lang="en-US" altLang="ko-KR" smtClean="0">
                <a:latin typeface="+mn-lt"/>
                <a:ea typeface="+mj-ea"/>
              </a:rPr>
              <a:pPr>
                <a:defRPr/>
              </a:pPr>
              <a:t>14</a:t>
            </a:fld>
            <a:endParaRPr lang="en-US" altLang="ko-KR">
              <a:latin typeface="+mn-lt"/>
              <a:ea typeface="+mj-ea"/>
            </a:endParaRPr>
          </a:p>
        </p:txBody>
      </p:sp>
      <p:pic>
        <p:nvPicPr>
          <p:cNvPr id="5" name="_x21143312" descr="DRW00000af886f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800" y="2636913"/>
            <a:ext cx="4371639" cy="3604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9505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>
                <a:latin typeface="+mn-lt"/>
              </a:rPr>
              <a:t>현황분석 </a:t>
            </a:r>
            <a:r>
              <a:rPr lang="en-US" altLang="ko-KR" b="0" dirty="0" smtClean="0">
                <a:latin typeface="+mn-lt"/>
              </a:rPr>
              <a:t>: </a:t>
            </a:r>
            <a:r>
              <a:rPr lang="ko-KR" altLang="en-US" b="0" dirty="0" smtClean="0">
                <a:latin typeface="+mn-lt"/>
              </a:rPr>
              <a:t>대표적 상향식 모형</a:t>
            </a:r>
            <a:r>
              <a:rPr lang="en-US" altLang="ko-KR" b="0" dirty="0" smtClean="0">
                <a:latin typeface="+mn-lt"/>
              </a:rPr>
              <a:t>(2) AIM</a:t>
            </a:r>
            <a:endParaRPr lang="ko-KR" altLang="en-US" b="0" dirty="0">
              <a:latin typeface="+mn-lt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j-ea"/>
              </a:rPr>
              <a:t>최적화 기반의 상향식 모형</a:t>
            </a:r>
            <a:endParaRPr lang="en-US" altLang="ko-KR" dirty="0" smtClean="0">
              <a:latin typeface="+mn-lt"/>
              <a:ea typeface="+mj-ea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/>
              <a:t>IAM(Integrated Assessment Model) </a:t>
            </a:r>
            <a:r>
              <a:rPr lang="ko-KR" altLang="en-US" dirty="0"/>
              <a:t>개발을</a:t>
            </a:r>
            <a:r>
              <a:rPr lang="en-US" altLang="ko-KR" dirty="0"/>
              <a:t> </a:t>
            </a:r>
            <a:r>
              <a:rPr lang="ko-KR" altLang="en-US" dirty="0"/>
              <a:t>위한 국제적 노력의 일환으로 일본 </a:t>
            </a:r>
            <a:r>
              <a:rPr lang="en-US" altLang="ko-KR" dirty="0"/>
              <a:t>NIES (National Institute for Environmental Studies) </a:t>
            </a:r>
            <a:r>
              <a:rPr lang="ko-KR" altLang="en-US" dirty="0"/>
              <a:t>주도로 </a:t>
            </a:r>
            <a:r>
              <a:rPr lang="en-US" altLang="ko-KR" dirty="0"/>
              <a:t>1990</a:t>
            </a:r>
            <a:r>
              <a:rPr lang="ko-KR" altLang="en-US" dirty="0"/>
              <a:t>년대 개발됨 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MARKAL </a:t>
            </a:r>
            <a:r>
              <a:rPr lang="ko-KR" altLang="en-US" dirty="0"/>
              <a:t>모형을 </a:t>
            </a:r>
            <a:r>
              <a:rPr lang="ko-KR" altLang="en-US" dirty="0" err="1"/>
              <a:t>벤치마킹하여</a:t>
            </a:r>
            <a:r>
              <a:rPr lang="ko-KR" altLang="en-US" dirty="0"/>
              <a:t> 아시아태평양 지역의 특성을 반영한 모형을 지향함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 smtClean="0">
              <a:latin typeface="+mn-lt"/>
              <a:ea typeface="+mj-ea"/>
            </a:endParaRPr>
          </a:p>
          <a:p>
            <a:pPr lvl="1">
              <a:lnSpc>
                <a:spcPct val="150000"/>
              </a:lnSpc>
            </a:pPr>
            <a:endParaRPr lang="ko-KR" altLang="en-US" dirty="0">
              <a:latin typeface="+mn-lt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latin typeface="+mn-lt"/>
                <a:ea typeface="+mj-ea"/>
              </a:rPr>
              <a:t> </a:t>
            </a:r>
            <a:fld id="{10BC9EA9-20E1-4F6E-B7F3-56489D00F9DC}" type="slidenum">
              <a:rPr lang="en-US" altLang="ko-KR" smtClean="0">
                <a:latin typeface="+mn-lt"/>
                <a:ea typeface="+mj-ea"/>
              </a:rPr>
              <a:pPr>
                <a:defRPr/>
              </a:pPr>
              <a:t>15</a:t>
            </a:fld>
            <a:endParaRPr lang="en-US" altLang="ko-KR">
              <a:latin typeface="+mn-lt"/>
              <a:ea typeface="+mj-ea"/>
            </a:endParaRPr>
          </a:p>
        </p:txBody>
      </p:sp>
      <p:pic>
        <p:nvPicPr>
          <p:cNvPr id="5" name="_x122252736" descr="EMB00000a647a3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3636" y="2766270"/>
            <a:ext cx="6840284" cy="33763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3914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>
                <a:latin typeface="+mn-lt"/>
                <a:ea typeface="+mj-ea"/>
              </a:rPr>
              <a:t>현황분석 </a:t>
            </a:r>
            <a:r>
              <a:rPr lang="en-US" altLang="ko-KR" b="0" dirty="0" smtClean="0">
                <a:latin typeface="+mn-lt"/>
                <a:ea typeface="+mj-ea"/>
              </a:rPr>
              <a:t>: </a:t>
            </a:r>
            <a:r>
              <a:rPr lang="ko-KR" altLang="en-US" b="0" dirty="0" smtClean="0">
                <a:latin typeface="+mn-lt"/>
                <a:ea typeface="+mj-ea"/>
              </a:rPr>
              <a:t>대표적</a:t>
            </a:r>
            <a:r>
              <a:rPr lang="en-US" altLang="ko-KR" b="0" dirty="0" smtClean="0">
                <a:latin typeface="+mn-lt"/>
                <a:ea typeface="+mj-ea"/>
              </a:rPr>
              <a:t> </a:t>
            </a:r>
            <a:r>
              <a:rPr lang="ko-KR" altLang="en-US" b="0" dirty="0" smtClean="0">
                <a:latin typeface="+mn-lt"/>
                <a:ea typeface="+mj-ea"/>
              </a:rPr>
              <a:t>상향식 모형</a:t>
            </a:r>
            <a:r>
              <a:rPr lang="en-US" altLang="ko-KR" b="0" dirty="0" smtClean="0">
                <a:latin typeface="+mn-lt"/>
                <a:ea typeface="+mj-ea"/>
              </a:rPr>
              <a:t>(3) MESSAGE</a:t>
            </a:r>
            <a:r>
              <a:rPr lang="ko-KR" altLang="en-US" b="0" dirty="0" smtClean="0">
                <a:latin typeface="+mn-lt"/>
                <a:ea typeface="+mj-ea"/>
              </a:rPr>
              <a:t> </a:t>
            </a:r>
            <a:endParaRPr lang="ko-KR" altLang="en-US" b="0" dirty="0">
              <a:latin typeface="+mn-lt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latin typeface="+mn-lt"/>
                <a:ea typeface="+mj-ea"/>
              </a:rPr>
              <a:t> </a:t>
            </a:r>
            <a:fld id="{10BC9EA9-20E1-4F6E-B7F3-56489D00F9DC}" type="slidenum">
              <a:rPr lang="en-US" altLang="ko-KR" smtClean="0">
                <a:latin typeface="+mn-lt"/>
                <a:ea typeface="+mj-ea"/>
              </a:rPr>
              <a:pPr>
                <a:defRPr/>
              </a:pPr>
              <a:t>16</a:t>
            </a:fld>
            <a:endParaRPr lang="en-US" altLang="ko-KR">
              <a:latin typeface="+mn-lt"/>
              <a:ea typeface="+mj-ea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>
                <a:latin typeface="+mn-lt"/>
                <a:ea typeface="+mj-ea"/>
              </a:rPr>
              <a:t>최적화</a:t>
            </a:r>
            <a:r>
              <a:rPr lang="en-US" altLang="ko-KR" dirty="0" smtClean="0">
                <a:latin typeface="+mn-lt"/>
                <a:ea typeface="+mj-ea"/>
              </a:rPr>
              <a:t> </a:t>
            </a:r>
            <a:r>
              <a:rPr lang="ko-KR" altLang="en-US" dirty="0" smtClean="0">
                <a:latin typeface="+mn-lt"/>
                <a:ea typeface="+mj-ea"/>
              </a:rPr>
              <a:t>기반의 상향식 모형 </a:t>
            </a:r>
            <a:r>
              <a:rPr lang="en-US" altLang="ko-KR" dirty="0" smtClean="0">
                <a:latin typeface="+mn-lt"/>
                <a:ea typeface="+mj-ea"/>
              </a:rPr>
              <a:t>: Systems</a:t>
            </a:r>
            <a:r>
              <a:rPr lang="ko-KR" altLang="en-US" dirty="0" smtClean="0">
                <a:latin typeface="+mn-lt"/>
                <a:ea typeface="+mj-ea"/>
              </a:rPr>
              <a:t> </a:t>
            </a:r>
            <a:r>
              <a:rPr lang="en-US" altLang="ko-KR" dirty="0" smtClean="0">
                <a:latin typeface="+mn-lt"/>
                <a:ea typeface="+mj-ea"/>
              </a:rPr>
              <a:t>Engineering Optimization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IIASA(International Institute for Applied Systems Analysis) </a:t>
            </a:r>
            <a:r>
              <a:rPr lang="ko-KR" altLang="en-US" dirty="0"/>
              <a:t>주도로 </a:t>
            </a:r>
            <a:r>
              <a:rPr lang="en-US" altLang="ko-KR" dirty="0"/>
              <a:t>1970</a:t>
            </a:r>
            <a:r>
              <a:rPr lang="ko-KR" altLang="en-US" dirty="0"/>
              <a:t>년대 중반 개발되었으며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2000</a:t>
            </a:r>
            <a:r>
              <a:rPr lang="ko-KR" altLang="en-US" dirty="0"/>
              <a:t>년대 국제원자력기구</a:t>
            </a:r>
            <a:r>
              <a:rPr lang="en-US" altLang="ko-KR" dirty="0"/>
              <a:t>(IAEA) </a:t>
            </a:r>
            <a:r>
              <a:rPr lang="ko-KR" altLang="en-US" dirty="0"/>
              <a:t>주도로</a:t>
            </a:r>
            <a:r>
              <a:rPr lang="en-US" altLang="ko-KR" dirty="0"/>
              <a:t> </a:t>
            </a:r>
            <a:r>
              <a:rPr lang="ko-KR" altLang="en-US" dirty="0"/>
              <a:t>새로운 기능이 추가되고 인터페이스가 강화되는 등 연구개발활동이 진행 중임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윈도우 환경 하에서 실행되며 자체 </a:t>
            </a:r>
            <a:r>
              <a:rPr lang="en-US" altLang="ko-KR" dirty="0"/>
              <a:t>Built-In </a:t>
            </a:r>
            <a:r>
              <a:rPr lang="ko-KR" altLang="en-US" dirty="0"/>
              <a:t>인터페이스를 제공함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기본적인 입력 </a:t>
            </a:r>
            <a:r>
              <a:rPr lang="ko-KR" altLang="en-US" dirty="0" err="1"/>
              <a:t>파라미터나</a:t>
            </a:r>
            <a:r>
              <a:rPr lang="ko-KR" altLang="en-US" dirty="0"/>
              <a:t> 데이터의 유형은 타 최적화 기반 모형과 유사함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지속적인 연구개발 활동을 통해 </a:t>
            </a:r>
            <a:r>
              <a:rPr lang="en-US" altLang="ko-KR" dirty="0"/>
              <a:t>MESSAGE-MACRO, MESSAGE-Access, MESSAGE-MAGICC, Stochastic MESSAGE </a:t>
            </a:r>
            <a:r>
              <a:rPr lang="ko-KR" altLang="en-US" dirty="0"/>
              <a:t>등의 파생모델이 개발됨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MARKAL</a:t>
            </a:r>
            <a:r>
              <a:rPr lang="ko-KR" altLang="en-US" dirty="0"/>
              <a:t>모형과 더불어 한국형 상향식 국가모형의 구축에 </a:t>
            </a:r>
            <a:r>
              <a:rPr lang="en-US" altLang="ko-KR" dirty="0"/>
              <a:t>Reference</a:t>
            </a:r>
            <a:r>
              <a:rPr lang="ko-KR" altLang="en-US" dirty="0"/>
              <a:t> 모델로 고려할 수 있음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국내에서는 </a:t>
            </a:r>
            <a:r>
              <a:rPr lang="en-US" altLang="ko-KR" dirty="0"/>
              <a:t>MESSAGE</a:t>
            </a:r>
            <a:r>
              <a:rPr lang="ko-KR" altLang="en-US" dirty="0"/>
              <a:t> 모형을</a:t>
            </a:r>
            <a:r>
              <a:rPr lang="en-US" altLang="ko-KR" dirty="0"/>
              <a:t> </a:t>
            </a:r>
            <a:r>
              <a:rPr lang="ko-KR" altLang="en-US" dirty="0"/>
              <a:t>이용한 부문별 상향식 모형의 구축이 폭넓게 진행됨 </a:t>
            </a:r>
            <a:r>
              <a:rPr lang="en-US" altLang="ko-KR" dirty="0"/>
              <a:t>(2011</a:t>
            </a:r>
            <a:r>
              <a:rPr lang="ko-KR" altLang="en-US" dirty="0"/>
              <a:t>년 </a:t>
            </a:r>
            <a:r>
              <a:rPr lang="ko-KR" altLang="en-US" dirty="0" err="1"/>
              <a:t>환경정책기반공공기술개발사업의</a:t>
            </a:r>
            <a:r>
              <a:rPr lang="ko-KR" altLang="en-US" dirty="0"/>
              <a:t> 세부과제로 </a:t>
            </a:r>
            <a:r>
              <a:rPr lang="en-US" altLang="ko-KR" dirty="0"/>
              <a:t>‘MESSAGE </a:t>
            </a:r>
            <a:r>
              <a:rPr lang="ko-KR" altLang="en-US" dirty="0"/>
              <a:t>모형을</a:t>
            </a:r>
            <a:r>
              <a:rPr lang="en-US" altLang="ko-KR" dirty="0"/>
              <a:t> </a:t>
            </a:r>
            <a:r>
              <a:rPr lang="ko-KR" altLang="en-US" dirty="0"/>
              <a:t>이용한 부문별 온실가스 </a:t>
            </a:r>
            <a:r>
              <a:rPr lang="ko-KR" altLang="en-US" dirty="0" err="1"/>
              <a:t>감축잠재량</a:t>
            </a:r>
            <a:r>
              <a:rPr lang="ko-KR" altLang="en-US" dirty="0"/>
              <a:t> 분석모형 구축</a:t>
            </a:r>
            <a:r>
              <a:rPr lang="en-US" altLang="ko-KR" dirty="0"/>
              <a:t>’)</a:t>
            </a:r>
          </a:p>
        </p:txBody>
      </p:sp>
    </p:spTree>
    <p:extLst>
      <p:ext uri="{BB962C8B-B14F-4D97-AF65-F5344CB8AC3E}">
        <p14:creationId xmlns:p14="http://schemas.microsoft.com/office/powerpoint/2010/main" val="426680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>
                <a:latin typeface="+mn-lt"/>
                <a:ea typeface="+mj-ea"/>
              </a:rPr>
              <a:t>현황분석 </a:t>
            </a:r>
            <a:r>
              <a:rPr lang="en-US" altLang="ko-KR" b="0" dirty="0" smtClean="0">
                <a:latin typeface="+mn-lt"/>
                <a:ea typeface="+mj-ea"/>
              </a:rPr>
              <a:t>: </a:t>
            </a:r>
            <a:r>
              <a:rPr lang="ko-KR" altLang="en-US" b="0" dirty="0" smtClean="0">
                <a:latin typeface="+mn-lt"/>
                <a:ea typeface="+mj-ea"/>
              </a:rPr>
              <a:t>대표적</a:t>
            </a:r>
            <a:r>
              <a:rPr lang="en-US" altLang="ko-KR" b="0" dirty="0" smtClean="0">
                <a:latin typeface="+mn-lt"/>
                <a:ea typeface="+mj-ea"/>
              </a:rPr>
              <a:t> </a:t>
            </a:r>
            <a:r>
              <a:rPr lang="ko-KR" altLang="en-US" b="0" dirty="0" smtClean="0">
                <a:latin typeface="+mn-lt"/>
                <a:ea typeface="+mj-ea"/>
              </a:rPr>
              <a:t>상향식 모형</a:t>
            </a:r>
            <a:r>
              <a:rPr lang="en-US" altLang="ko-KR" b="0" dirty="0" smtClean="0">
                <a:latin typeface="+mn-lt"/>
                <a:ea typeface="+mj-ea"/>
              </a:rPr>
              <a:t>(4) MARKAL/TIMES</a:t>
            </a:r>
            <a:endParaRPr lang="ko-KR" altLang="en-US" b="0" dirty="0">
              <a:latin typeface="+mn-lt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latin typeface="+mn-lt"/>
                <a:ea typeface="+mj-ea"/>
              </a:rPr>
              <a:t> </a:t>
            </a:r>
            <a:fld id="{10BC9EA9-20E1-4F6E-B7F3-56489D00F9DC}" type="slidenum">
              <a:rPr lang="en-US" altLang="ko-KR" smtClean="0">
                <a:latin typeface="+mn-lt"/>
                <a:ea typeface="+mj-ea"/>
              </a:rPr>
              <a:pPr>
                <a:defRPr/>
              </a:pPr>
              <a:t>17</a:t>
            </a:fld>
            <a:endParaRPr lang="en-US" altLang="ko-KR">
              <a:latin typeface="+mn-lt"/>
              <a:ea typeface="+mj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+mn-lt"/>
                <a:ea typeface="+mj-ea"/>
              </a:rPr>
              <a:t>최적화</a:t>
            </a:r>
            <a:r>
              <a:rPr lang="en-US" altLang="ko-KR" dirty="0">
                <a:latin typeface="+mn-lt"/>
                <a:ea typeface="+mj-ea"/>
              </a:rPr>
              <a:t> </a:t>
            </a:r>
            <a:r>
              <a:rPr lang="ko-KR" altLang="en-US" dirty="0">
                <a:latin typeface="+mn-lt"/>
                <a:ea typeface="+mj-ea"/>
              </a:rPr>
              <a:t>기반의 상향식 모형 </a:t>
            </a:r>
            <a:r>
              <a:rPr lang="en-US" altLang="ko-KR" dirty="0" smtClean="0">
                <a:latin typeface="+mn-lt"/>
                <a:ea typeface="+mj-ea"/>
              </a:rPr>
              <a:t>: Partial Equilibrium Model</a:t>
            </a:r>
            <a:endParaRPr lang="en-US" altLang="ko-KR" dirty="0">
              <a:latin typeface="+mn-lt"/>
              <a:ea typeface="+mj-ea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/>
              <a:t>MARKAL</a:t>
            </a:r>
            <a:r>
              <a:rPr lang="ko-KR" altLang="en-US" dirty="0"/>
              <a:t> 모형은</a:t>
            </a:r>
            <a:r>
              <a:rPr lang="en-US" altLang="ko-KR" dirty="0"/>
              <a:t> </a:t>
            </a:r>
            <a:r>
              <a:rPr lang="ko-KR" altLang="en-US" dirty="0"/>
              <a:t>미국</a:t>
            </a:r>
            <a:r>
              <a:rPr lang="en-US" altLang="ko-KR" dirty="0"/>
              <a:t> Brookhaven National Lab </a:t>
            </a:r>
            <a:r>
              <a:rPr lang="ko-KR" altLang="en-US" dirty="0"/>
              <a:t>주도로</a:t>
            </a:r>
            <a:r>
              <a:rPr lang="en-US" altLang="ko-KR" dirty="0"/>
              <a:t> 1970</a:t>
            </a:r>
            <a:r>
              <a:rPr lang="ko-KR" altLang="en-US" dirty="0"/>
              <a:t>년대 개발된 이래 </a:t>
            </a:r>
            <a:r>
              <a:rPr lang="en-US" altLang="ko-KR" dirty="0"/>
              <a:t>1978</a:t>
            </a:r>
            <a:r>
              <a:rPr lang="ko-KR" altLang="en-US" dirty="0"/>
              <a:t>년 </a:t>
            </a:r>
            <a:r>
              <a:rPr lang="en-US" altLang="ko-KR" dirty="0"/>
              <a:t>IEA</a:t>
            </a:r>
            <a:r>
              <a:rPr lang="ko-KR" altLang="en-US" dirty="0"/>
              <a:t> 채택하여 </a:t>
            </a:r>
            <a:r>
              <a:rPr lang="en-US" altLang="ko-KR" dirty="0"/>
              <a:t>ETSAP </a:t>
            </a:r>
            <a:r>
              <a:rPr lang="ko-KR" altLang="en-US" dirty="0"/>
              <a:t>운영을 통해 보급 확산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MARKAL</a:t>
            </a:r>
            <a:r>
              <a:rPr lang="ko-KR" altLang="en-US" dirty="0"/>
              <a:t> 모형과</a:t>
            </a:r>
            <a:r>
              <a:rPr lang="en-US" altLang="ko-KR" dirty="0"/>
              <a:t> EFOM</a:t>
            </a:r>
            <a:r>
              <a:rPr lang="ko-KR" altLang="en-US" dirty="0"/>
              <a:t> 모형이 통합된 </a:t>
            </a:r>
            <a:r>
              <a:rPr lang="en-US" altLang="ko-KR" dirty="0"/>
              <a:t>TIMES</a:t>
            </a:r>
            <a:r>
              <a:rPr lang="ko-KR" altLang="en-US" dirty="0"/>
              <a:t> 모형은</a:t>
            </a:r>
            <a:r>
              <a:rPr lang="en-US" altLang="ko-KR" dirty="0"/>
              <a:t> </a:t>
            </a:r>
            <a:r>
              <a:rPr lang="ko-KR" altLang="en-US" dirty="0"/>
              <a:t>에너지시스템의 상향식 모델링을 위한 가장 체계적인 방법론으로 </a:t>
            </a:r>
            <a:r>
              <a:rPr lang="ko-KR" altLang="en-US" dirty="0" smtClean="0"/>
              <a:t>평가됨</a:t>
            </a:r>
            <a:endParaRPr lang="en-US" altLang="ko-KR" dirty="0" smtClean="0">
              <a:ln w="17780" cmpd="sng">
                <a:solidFill>
                  <a:srgbClr val="006600"/>
                </a:solidFill>
                <a:prstDash val="solid"/>
                <a:miter lim="800000"/>
              </a:ln>
              <a:solidFill>
                <a:srgbClr val="006600"/>
              </a:solidFill>
              <a:effectLst/>
              <a:latin typeface="+mn-lt"/>
              <a:ea typeface="+mj-ea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/>
              <a:t>MARKAL</a:t>
            </a:r>
            <a:r>
              <a:rPr lang="ko-KR" altLang="en-US" dirty="0"/>
              <a:t> </a:t>
            </a:r>
            <a:r>
              <a:rPr lang="en-US" altLang="ko-KR" dirty="0"/>
              <a:t>vs. TIMES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Commodity Flow </a:t>
            </a:r>
            <a:r>
              <a:rPr lang="ko-KR" altLang="en-US" dirty="0"/>
              <a:t>개념 도입</a:t>
            </a:r>
            <a:r>
              <a:rPr lang="en-US" altLang="ko-KR" dirty="0"/>
              <a:t>: MARKAL</a:t>
            </a:r>
            <a:r>
              <a:rPr lang="ko-KR" altLang="en-US" dirty="0"/>
              <a:t>에서는</a:t>
            </a:r>
            <a:r>
              <a:rPr lang="en-US" altLang="ko-KR" dirty="0"/>
              <a:t> </a:t>
            </a:r>
            <a:r>
              <a:rPr lang="ko-KR" altLang="en-US" dirty="0"/>
              <a:t>기술</a:t>
            </a:r>
            <a:r>
              <a:rPr lang="en-US" altLang="ko-KR" dirty="0"/>
              <a:t>, Commodity, </a:t>
            </a:r>
            <a:r>
              <a:rPr lang="ko-KR" altLang="en-US" dirty="0"/>
              <a:t>수요</a:t>
            </a:r>
            <a:r>
              <a:rPr lang="en-US" altLang="ko-KR" dirty="0"/>
              <a:t>, Source, Sink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개 </a:t>
            </a:r>
            <a:r>
              <a:rPr lang="en-US" altLang="ko-KR" dirty="0">
                <a:sym typeface="Wingdings" panose="05000000000000000000" pitchFamily="2" charset="2"/>
              </a:rPr>
              <a:t> TIMES</a:t>
            </a:r>
            <a:r>
              <a:rPr lang="ko-KR" altLang="en-US" dirty="0">
                <a:sym typeface="Wingdings" panose="05000000000000000000" pitchFamily="2" charset="2"/>
              </a:rPr>
              <a:t>에서는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기술</a:t>
            </a:r>
            <a:r>
              <a:rPr lang="en-US" altLang="ko-KR" dirty="0">
                <a:sym typeface="Wingdings" panose="05000000000000000000" pitchFamily="2" charset="2"/>
              </a:rPr>
              <a:t>, Commodity, Commodity Flow 3</a:t>
            </a:r>
            <a:r>
              <a:rPr lang="ko-KR" altLang="en-US" dirty="0">
                <a:sym typeface="Wingdings" panose="05000000000000000000" pitchFamily="2" charset="2"/>
              </a:rPr>
              <a:t>개로 단순화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>
                <a:sym typeface="Wingdings" panose="05000000000000000000" pitchFamily="2" charset="2"/>
              </a:rPr>
              <a:t>Vintage (Time-Dependent Characteristics) of Technologies  </a:t>
            </a:r>
            <a:r>
              <a:rPr lang="ko-KR" altLang="en-US" dirty="0">
                <a:sym typeface="Wingdings" panose="05000000000000000000" pitchFamily="2" charset="2"/>
              </a:rPr>
              <a:t>기술</a:t>
            </a:r>
            <a:r>
              <a:rPr lang="en-US" altLang="ko-KR" dirty="0">
                <a:sym typeface="Wingdings" panose="05000000000000000000" pitchFamily="2" charset="2"/>
              </a:rPr>
              <a:t> DB </a:t>
            </a:r>
            <a:r>
              <a:rPr lang="ko-KR" altLang="en-US" dirty="0">
                <a:sym typeface="Wingdings" panose="05000000000000000000" pitchFamily="2" charset="2"/>
              </a:rPr>
              <a:t>복잡성을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줄일 수 있음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>
                <a:sym typeface="Wingdings" panose="05000000000000000000" pitchFamily="2" charset="2"/>
              </a:rPr>
              <a:t>Flexible Time Slicing  </a:t>
            </a:r>
            <a:r>
              <a:rPr lang="ko-KR" altLang="en-US" dirty="0">
                <a:sym typeface="Wingdings" panose="05000000000000000000" pitchFamily="2" charset="2"/>
              </a:rPr>
              <a:t>전력부하곡선에 대한 정확한 묘사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>
                <a:sym typeface="Wingdings" panose="05000000000000000000" pitchFamily="2" charset="2"/>
              </a:rPr>
              <a:t>Multi-Regional Model: TIMES </a:t>
            </a:r>
            <a:r>
              <a:rPr lang="ko-KR" altLang="en-US" dirty="0">
                <a:sym typeface="Wingdings" panose="05000000000000000000" pitchFamily="2" charset="2"/>
              </a:rPr>
              <a:t>모형은 지역 인덱스를 허용하여 지역 특성 반영 용이</a:t>
            </a:r>
          </a:p>
          <a:p>
            <a:pPr lvl="2">
              <a:lnSpc>
                <a:spcPct val="150000"/>
              </a:lnSpc>
            </a:pPr>
            <a:r>
              <a:rPr lang="en-US" altLang="ko-KR" dirty="0">
                <a:sym typeface="Wingdings" panose="05000000000000000000" pitchFamily="2" charset="2"/>
              </a:rPr>
              <a:t>Variable Length of Time Periods: TIMES </a:t>
            </a:r>
            <a:r>
              <a:rPr lang="ko-KR" altLang="en-US" dirty="0">
                <a:sym typeface="Wingdings" panose="05000000000000000000" pitchFamily="2" charset="2"/>
              </a:rPr>
              <a:t>모형에서는 시간분할이 보다 자유로움</a:t>
            </a: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8220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>
                <a:latin typeface="+mj-ea"/>
                <a:ea typeface="+mj-ea"/>
              </a:rPr>
              <a:t>현황분석</a:t>
            </a:r>
            <a:r>
              <a:rPr lang="en-US" altLang="ko-KR" b="0" dirty="0" smtClean="0">
                <a:latin typeface="+mj-ea"/>
                <a:ea typeface="+mj-ea"/>
              </a:rPr>
              <a:t>:</a:t>
            </a:r>
            <a:r>
              <a:rPr lang="ko-KR" altLang="en-US" b="0" dirty="0" smtClean="0">
                <a:latin typeface="+mj-ea"/>
                <a:ea typeface="+mj-ea"/>
              </a:rPr>
              <a:t>대표적</a:t>
            </a:r>
            <a:r>
              <a:rPr lang="en-US" altLang="ko-KR" b="0" dirty="0" smtClean="0">
                <a:latin typeface="+mj-ea"/>
                <a:ea typeface="+mj-ea"/>
              </a:rPr>
              <a:t> </a:t>
            </a:r>
            <a:r>
              <a:rPr lang="ko-KR" altLang="en-US" b="0" dirty="0" smtClean="0">
                <a:latin typeface="+mj-ea"/>
                <a:ea typeface="+mj-ea"/>
              </a:rPr>
              <a:t>상향식 모형의 특성 비교</a:t>
            </a:r>
            <a:endParaRPr lang="ko-KR" altLang="en-US" b="0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latin typeface="+mj-ea"/>
                <a:ea typeface="+mj-ea"/>
              </a:rPr>
              <a:t> </a:t>
            </a:r>
            <a:fld id="{10BC9EA9-20E1-4F6E-B7F3-56489D00F9DC}" type="slidenum">
              <a:rPr lang="en-US" altLang="ko-KR" smtClean="0">
                <a:latin typeface="+mj-ea"/>
                <a:ea typeface="+mj-ea"/>
              </a:rPr>
              <a:pPr>
                <a:defRPr/>
              </a:pPr>
              <a:t>18</a:t>
            </a:fld>
            <a:endParaRPr lang="en-US" altLang="ko-KR">
              <a:latin typeface="+mj-ea"/>
              <a:ea typeface="+mj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679270" y="836023"/>
          <a:ext cx="8608420" cy="5463359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721684"/>
                <a:gridCol w="1721684"/>
                <a:gridCol w="1721684"/>
                <a:gridCol w="1721684"/>
                <a:gridCol w="1721684"/>
              </a:tblGrid>
              <a:tr h="26173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Criteria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Energy System Model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462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LEAP 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AIM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MARKAL/TIMES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MESSAGE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</a:tr>
              <a:tr h="3262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Licenser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SEI (Sweden)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NIES (Japan)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IEA ETSAP (US)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IIASA (Austria)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62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Approach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Accounting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Optimization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Optimization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Optimization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62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Regional Coverage 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Regional to Global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Regional to Global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Regional to Global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Regional to Global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06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Activity Coverage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Energy System, Environment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Energy System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Energy System, Energy Trading 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Energy Systems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06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Disaggregation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Sector Structure Predefined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User-Defined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User-Defined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User-Defined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62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Data Requirement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Extensive/Limited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Extensive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Extensive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Extensive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62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Skill Requirement 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Limited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High to Very High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High to Very High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06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Portability to Another Country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Difficult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Difficult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Difficult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Difficult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62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Documentation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Extensive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Limited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Extensive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Good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62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Price Elasticity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No 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No 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06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New Technology Addition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Yes 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Yes 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Yes 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Yes 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06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User Interface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Built-in / Excellent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Built-in / Good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External / Excellent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(VEDA, ANSWER) 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Built-in / Good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621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Maintenance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Excellent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Good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Excellent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Good</a:t>
                      </a:r>
                    </a:p>
                  </a:txBody>
                  <a:tcPr marL="58659" marR="58659" marT="16218" marB="16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9096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>
                <a:latin typeface="+mn-lt"/>
              </a:rPr>
              <a:t>현황분석 </a:t>
            </a:r>
            <a:r>
              <a:rPr lang="en-US" altLang="ko-KR" b="0" dirty="0" smtClean="0">
                <a:latin typeface="+mn-lt"/>
              </a:rPr>
              <a:t>: UK MARKAL vs. EPANMD/EPAUS9r(1)</a:t>
            </a:r>
            <a:endParaRPr lang="ko-KR" altLang="en-US" b="0" dirty="0">
              <a:latin typeface="+mn-lt"/>
            </a:endParaRPr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/>
          </p:nvPr>
        </p:nvGraphicFramePr>
        <p:xfrm>
          <a:off x="666206" y="875211"/>
          <a:ext cx="8582297" cy="5368835"/>
        </p:xfrm>
        <a:graphic>
          <a:graphicData uri="http://schemas.openxmlformats.org/drawingml/2006/table">
            <a:tbl>
              <a:tblPr/>
              <a:tblGrid>
                <a:gridCol w="1277623"/>
                <a:gridCol w="3652337"/>
                <a:gridCol w="3652337"/>
              </a:tblGrid>
              <a:tr h="38022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모형</a:t>
                      </a:r>
                      <a:r>
                        <a:rPr lang="en-US" altLang="ko-KR" sz="1400" b="1" kern="0" spc="0" baseline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 </a:t>
                      </a:r>
                      <a:endParaRPr lang="ko-KR" altLang="en-US" sz="1400" b="1" kern="0" spc="0" dirty="0">
                        <a:solidFill>
                          <a:schemeClr val="bg1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Supply Side Classification</a:t>
                      </a:r>
                      <a:endParaRPr lang="ko-KR" altLang="en-US" sz="1400" b="1" kern="0" spc="0" dirty="0">
                        <a:solidFill>
                          <a:schemeClr val="bg1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Demand</a:t>
                      </a:r>
                      <a:r>
                        <a:rPr lang="en-US" altLang="ko-KR" sz="1400" b="1" kern="0" spc="0" baseline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 Side</a:t>
                      </a:r>
                      <a:r>
                        <a:rPr lang="ko-KR" altLang="en-US" sz="1400" b="1" kern="0" spc="0" baseline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 </a:t>
                      </a:r>
                      <a:r>
                        <a:rPr lang="en-US" altLang="ko-KR" sz="1400" b="1" kern="0" spc="0" baseline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Classification</a:t>
                      </a:r>
                      <a:r>
                        <a:rPr lang="ko-KR" altLang="en-US" sz="1400" b="1" kern="0" spc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 </a:t>
                      </a:r>
                      <a:endParaRPr lang="ko-KR" altLang="en-US" sz="1400" b="1" kern="0" spc="0" dirty="0">
                        <a:solidFill>
                          <a:schemeClr val="bg1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00"/>
                    </a:solidFill>
                  </a:tcPr>
                </a:tc>
              </a:tr>
              <a:tr h="16727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UK MARKAL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(2007)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Energy </a:t>
                      </a:r>
                      <a:r>
                        <a:rPr lang="en-US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Resource (ER)</a:t>
                      </a:r>
                    </a:p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Energy Process and Infra</a:t>
                      </a:r>
                      <a:r>
                        <a:rPr lang="en-US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. (EI)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endParaRPr lang="en-US" sz="1400" kern="0" spc="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en-US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Electricity 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and Heat </a:t>
                      </a:r>
                      <a:r>
                        <a:rPr lang="en-US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Generation (EH)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Residential</a:t>
                      </a:r>
                    </a:p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Service</a:t>
                      </a:r>
                    </a:p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Transport</a:t>
                      </a:r>
                    </a:p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Agriculture </a:t>
                      </a:r>
                    </a:p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Industry -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철강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비철금속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화학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제지 </a:t>
                      </a:r>
                      <a:r>
                        <a:rPr lang="en-US" altLang="ko-KR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/ </a:t>
                      </a:r>
                      <a:r>
                        <a:rPr lang="ko-KR" altLang="en-US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펄프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기타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(5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개 업종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)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727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EPANMD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(2006)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fr-F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Resource Supply</a:t>
                      </a:r>
                    </a:p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endParaRPr lang="fr-FR" sz="1400" kern="0" spc="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fr-FR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Process </a:t>
                      </a:r>
                      <a:r>
                        <a:rPr lang="fr-F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Technologies</a:t>
                      </a:r>
                    </a:p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endParaRPr lang="fr-FR" sz="1400" kern="0" spc="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fr-FR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Conversion </a:t>
                      </a:r>
                      <a:r>
                        <a:rPr lang="fr-F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Technologies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Residential</a:t>
                      </a:r>
                    </a:p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Commercial</a:t>
                      </a:r>
                    </a:p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Transportation</a:t>
                      </a:r>
                    </a:p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Industry -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철강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비철금속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화학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제지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/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펄프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비금속광물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기타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비에너지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(7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개 업종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)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6430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EPAUS9r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(2013)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Resource Supply (inclusive of process technologies)</a:t>
                      </a:r>
                    </a:p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endParaRPr lang="en-US" sz="1400" kern="0" spc="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  <a:p>
                      <a:pPr marL="182563" marR="0" lvl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</a:pPr>
                      <a:r>
                        <a:rPr lang="en-US" sz="1400" kern="0" spc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Electric 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Sector (equivalent to conversion technologies)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marR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Residential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  <a:p>
                      <a:pPr marL="182563" marR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Commercial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  <a:p>
                      <a:pPr marL="182563" marR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Transportation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  <a:p>
                      <a:pPr marL="182563" marR="0" indent="-182563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Industry -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금속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비금속광물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화학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제지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음식료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운송장비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기타 제조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비제조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(8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개 업종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j-ea"/>
                        </a:rPr>
                        <a:t>)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latin typeface="+mn-lt"/>
                <a:ea typeface="+mj-ea"/>
              </a:rPr>
              <a:t> </a:t>
            </a:r>
            <a:fld id="{10BC9EA9-20E1-4F6E-B7F3-56489D00F9DC}" type="slidenum">
              <a:rPr lang="en-US" altLang="ko-KR" smtClean="0">
                <a:latin typeface="+mn-lt"/>
                <a:ea typeface="+mj-ea"/>
              </a:rPr>
              <a:pPr>
                <a:defRPr/>
              </a:pPr>
              <a:t>19</a:t>
            </a:fld>
            <a:endParaRPr lang="en-US" altLang="ko-KR">
              <a:latin typeface="+mn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1260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현황분석 </a:t>
            </a:r>
            <a:r>
              <a:rPr lang="en-US" altLang="ko-KR" b="0" dirty="0"/>
              <a:t>: UK MARKAL vs. </a:t>
            </a:r>
            <a:r>
              <a:rPr lang="en-US" altLang="ko-KR" b="0" dirty="0" smtClean="0"/>
              <a:t>EPANMD/EPAUS9r(2)</a:t>
            </a:r>
            <a:endParaRPr lang="ko-KR" altLang="en-US" dirty="0">
              <a:latin typeface="+mj-ea"/>
              <a:ea typeface="+mj-ea"/>
            </a:endParaRPr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/>
          </p:nvPr>
        </p:nvGraphicFramePr>
        <p:xfrm>
          <a:off x="685800" y="900113"/>
          <a:ext cx="8534400" cy="5318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4758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chemeClr val="bg1"/>
                          </a:solidFill>
                          <a:latin typeface="+mn-lt"/>
                          <a:ea typeface="+mj-ea"/>
                        </a:rPr>
                        <a:t>구분 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+mn-lt"/>
                        <a:ea typeface="+mj-ea"/>
                      </a:endParaRPr>
                    </a:p>
                  </a:txBody>
                  <a:tcPr anchor="ctr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UK MARKAL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(2007)</a:t>
                      </a:r>
                    </a:p>
                  </a:txBody>
                  <a:tcPr anchor="ctr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EPANMD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(2006)</a:t>
                      </a:r>
                    </a:p>
                  </a:txBody>
                  <a:tcPr anchor="ctr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EPAUS9r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j-ea"/>
                        </a:rPr>
                        <a:t>(2013)</a:t>
                      </a:r>
                    </a:p>
                  </a:txBody>
                  <a:tcPr anchor="ctr">
                    <a:solidFill>
                      <a:srgbClr val="006600"/>
                    </a:solidFill>
                  </a:tcPr>
                </a:tc>
              </a:tr>
              <a:tr h="4758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Modeling Horizon</a:t>
                      </a:r>
                    </a:p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(Calibration)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2000~2070 (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  <a:sym typeface="Wingdings" pitchFamily="2" charset="2"/>
                        </a:rPr>
                        <a:t> 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2050)</a:t>
                      </a:r>
                    </a:p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(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  <a:sym typeface="Wingdings" pitchFamily="2" charset="2"/>
                        </a:rPr>
                        <a:t>DUKES 2006)</a:t>
                      </a:r>
                      <a:endParaRPr lang="en-US" altLang="ko-KR" sz="1400" dirty="0" smtClean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2000~2050</a:t>
                      </a:r>
                    </a:p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(AEO</a:t>
                      </a:r>
                      <a:r>
                        <a:rPr lang="en-US" altLang="ko-KR" sz="1400" baseline="0" dirty="0" smtClean="0">
                          <a:latin typeface="+mn-lt"/>
                          <a:ea typeface="+mj-ea"/>
                        </a:rPr>
                        <a:t> 2002)</a:t>
                      </a:r>
                      <a:endParaRPr lang="en-US" altLang="ko-KR" sz="1400" dirty="0" smtClean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2005~2055</a:t>
                      </a:r>
                    </a:p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(AEO 2010)</a:t>
                      </a:r>
                    </a:p>
                  </a:txBody>
                  <a:tcPr anchor="ctr"/>
                </a:tc>
              </a:tr>
              <a:tr h="4418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할인율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 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10%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5%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5%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</a:tr>
              <a:tr h="4758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시간분할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(Time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 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Slice)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6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</a:t>
                      </a:r>
                      <a:endParaRPr lang="en-US" altLang="ko-KR" sz="1400" dirty="0" smtClean="0">
                        <a:latin typeface="+mn-lt"/>
                        <a:ea typeface="+mj-ea"/>
                      </a:endParaRPr>
                    </a:p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(3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계절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, 2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시간대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)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6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</a:t>
                      </a:r>
                      <a:endParaRPr lang="en-US" altLang="ko-KR" sz="1400" dirty="0" smtClean="0">
                        <a:latin typeface="+mn-lt"/>
                        <a:ea typeface="+mj-ea"/>
                      </a:endParaRPr>
                    </a:p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(3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계절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, 2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시간대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)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12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</a:t>
                      </a:r>
                      <a:endParaRPr lang="en-US" altLang="ko-KR" sz="1400" dirty="0" smtClean="0">
                        <a:latin typeface="+mn-lt"/>
                        <a:ea typeface="+mj-ea"/>
                      </a:endParaRPr>
                    </a:p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(3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계절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, 4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시간대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)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</a:tr>
              <a:tr h="4758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자원기술의</a:t>
                      </a:r>
                      <a:r>
                        <a:rPr lang="en-US" altLang="ko-KR" sz="1400" baseline="0" dirty="0" smtClean="0">
                          <a:latin typeface="+mn-lt"/>
                          <a:ea typeface="+mj-ea"/>
                        </a:rPr>
                        <a:t> </a:t>
                      </a:r>
                      <a:r>
                        <a:rPr lang="ko-KR" altLang="en-US" sz="1400" baseline="0" dirty="0" smtClean="0">
                          <a:latin typeface="+mn-lt"/>
                          <a:ea typeface="+mj-ea"/>
                        </a:rPr>
                        <a:t>구분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에너지원 확보방법</a:t>
                      </a:r>
                      <a:endParaRPr lang="en-US" altLang="ko-KR" sz="1400" dirty="0" smtClean="0">
                        <a:latin typeface="+mn-lt"/>
                        <a:ea typeface="+mj-ea"/>
                      </a:endParaRPr>
                    </a:p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(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예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: Mining,</a:t>
                      </a:r>
                      <a:r>
                        <a:rPr lang="en-US" altLang="ko-KR" sz="1400" baseline="0" dirty="0" smtClean="0">
                          <a:latin typeface="+mn-lt"/>
                          <a:ea typeface="+mj-ea"/>
                        </a:rPr>
                        <a:t> Import </a:t>
                      </a:r>
                      <a:r>
                        <a:rPr lang="ko-KR" altLang="en-US" sz="1400" baseline="0" dirty="0" smtClean="0">
                          <a:latin typeface="+mn-lt"/>
                          <a:ea typeface="+mj-ea"/>
                        </a:rPr>
                        <a:t>등</a:t>
                      </a:r>
                      <a:r>
                        <a:rPr lang="en-US" altLang="ko-KR" sz="1400" baseline="0" dirty="0" smtClean="0">
                          <a:latin typeface="+mn-lt"/>
                          <a:ea typeface="+mj-ea"/>
                        </a:rPr>
                        <a:t>)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에너지원 유형</a:t>
                      </a:r>
                      <a:endParaRPr lang="en-US" altLang="ko-KR" sz="1400" dirty="0" smtClean="0">
                        <a:latin typeface="+mn-lt"/>
                        <a:ea typeface="+mj-ea"/>
                      </a:endParaRPr>
                    </a:p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(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예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: 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원유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, LNG 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등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)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에너지원 유형</a:t>
                      </a:r>
                      <a:endParaRPr lang="en-US" altLang="ko-KR" sz="1400" dirty="0" smtClean="0">
                        <a:latin typeface="+mn-lt"/>
                        <a:ea typeface="+mj-ea"/>
                      </a:endParaRPr>
                    </a:p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(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예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: 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원유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, LNG 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등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)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</a:tr>
              <a:tr h="4418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Reserve</a:t>
                      </a:r>
                      <a:r>
                        <a:rPr lang="en-US" altLang="ko-KR" sz="1400" baseline="0" dirty="0" smtClean="0">
                          <a:latin typeface="+mn-lt"/>
                          <a:ea typeface="+mj-ea"/>
                        </a:rPr>
                        <a:t> Capacity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30%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15%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15%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</a:tr>
              <a:tr h="4758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송배전 손실</a:t>
                      </a:r>
                      <a:endParaRPr lang="en-US" altLang="ko-KR" sz="1400" dirty="0" smtClean="0">
                        <a:latin typeface="+mn-lt"/>
                        <a:ea typeface="+mj-ea"/>
                      </a:endParaRPr>
                    </a:p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(Elec. T&amp;D</a:t>
                      </a:r>
                      <a:r>
                        <a:rPr lang="en-US" altLang="ko-KR" sz="1400" baseline="0" dirty="0" smtClean="0">
                          <a:latin typeface="+mn-lt"/>
                          <a:ea typeface="+mj-ea"/>
                        </a:rPr>
                        <a:t> Loss)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7.5%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6.5%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6.5%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</a:tr>
              <a:tr h="4418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주거부문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 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최종수요 수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7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</a:t>
                      </a:r>
                      <a:endParaRPr lang="en-US" altLang="ko-KR" sz="1400" dirty="0" smtClean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8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9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</a:tr>
              <a:tr h="4418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상업부문 최종수요 수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7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 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13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13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</a:tr>
              <a:tr h="4418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교통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/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수송 하위부문 수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7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8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3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</a:tr>
              <a:tr h="4418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산업</a:t>
                      </a:r>
                      <a:r>
                        <a:rPr lang="ko-KR" altLang="en-US" sz="1400" baseline="0" dirty="0" smtClean="0">
                          <a:latin typeface="+mn-lt"/>
                          <a:ea typeface="+mj-ea"/>
                        </a:rPr>
                        <a:t>부문 업종 수</a:t>
                      </a:r>
                      <a:endParaRPr lang="en-US" altLang="ko-KR" sz="1400" baseline="0" dirty="0" smtClean="0">
                        <a:latin typeface="+mn-lt"/>
                        <a:ea typeface="+mj-ea"/>
                      </a:endParaRPr>
                    </a:p>
                    <a:p>
                      <a:pPr algn="ctr" latinLnBrk="1"/>
                      <a:r>
                        <a:rPr lang="en-US" altLang="ko-KR" sz="1400" baseline="0" dirty="0" smtClean="0">
                          <a:latin typeface="+mn-lt"/>
                          <a:ea typeface="+mj-ea"/>
                        </a:rPr>
                        <a:t>(</a:t>
                      </a:r>
                      <a:r>
                        <a:rPr lang="ko-KR" altLang="en-US" sz="1400" baseline="0" dirty="0" smtClean="0">
                          <a:latin typeface="+mn-lt"/>
                          <a:ea typeface="+mj-ea"/>
                        </a:rPr>
                        <a:t>프로세스</a:t>
                      </a:r>
                      <a:r>
                        <a:rPr lang="en-US" altLang="ko-KR" sz="1400" baseline="0" dirty="0" smtClean="0">
                          <a:latin typeface="+mn-lt"/>
                          <a:ea typeface="+mj-ea"/>
                        </a:rPr>
                        <a:t> </a:t>
                      </a:r>
                      <a:r>
                        <a:rPr lang="ko-KR" altLang="en-US" sz="1400" baseline="0" dirty="0" smtClean="0">
                          <a:latin typeface="+mn-lt"/>
                          <a:ea typeface="+mj-ea"/>
                        </a:rPr>
                        <a:t>수</a:t>
                      </a:r>
                      <a:r>
                        <a:rPr lang="en-US" altLang="ko-KR" sz="1400" baseline="0" dirty="0" smtClean="0">
                          <a:latin typeface="+mn-lt"/>
                          <a:ea typeface="+mj-ea"/>
                        </a:rPr>
                        <a:t>)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5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</a:t>
                      </a:r>
                      <a:endParaRPr lang="en-US" altLang="ko-KR" sz="1400" dirty="0" smtClean="0">
                        <a:latin typeface="+mn-lt"/>
                        <a:ea typeface="+mj-ea"/>
                      </a:endParaRPr>
                    </a:p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(5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: 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고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/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저온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건조 등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)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7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</a:t>
                      </a:r>
                      <a:endParaRPr lang="en-US" altLang="ko-KR" sz="1400" dirty="0" smtClean="0">
                        <a:latin typeface="+mn-lt"/>
                        <a:ea typeface="+mj-ea"/>
                      </a:endParaRPr>
                    </a:p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(6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: 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열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, 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스팀 등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)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8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</a:t>
                      </a:r>
                      <a:endParaRPr lang="en-US" altLang="ko-KR" sz="1400" dirty="0" smtClean="0">
                        <a:latin typeface="+mn-lt"/>
                        <a:ea typeface="+mj-ea"/>
                      </a:endParaRPr>
                    </a:p>
                    <a:p>
                      <a:pPr algn="ctr" latinLnBrk="1"/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(6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개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: </a:t>
                      </a:r>
                      <a:r>
                        <a:rPr lang="ko-KR" altLang="en-US" sz="1400" dirty="0" smtClean="0">
                          <a:latin typeface="+mn-lt"/>
                          <a:ea typeface="+mj-ea"/>
                        </a:rPr>
                        <a:t>열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,</a:t>
                      </a:r>
                      <a:r>
                        <a:rPr lang="en-US" altLang="ko-KR" sz="1400" baseline="0" dirty="0" smtClean="0">
                          <a:latin typeface="+mn-lt"/>
                          <a:ea typeface="+mj-ea"/>
                        </a:rPr>
                        <a:t> </a:t>
                      </a:r>
                      <a:r>
                        <a:rPr lang="ko-KR" altLang="en-US" sz="1400" baseline="0" dirty="0" smtClean="0">
                          <a:latin typeface="+mn-lt"/>
                          <a:ea typeface="+mj-ea"/>
                        </a:rPr>
                        <a:t>스팀 등</a:t>
                      </a:r>
                      <a:r>
                        <a:rPr lang="en-US" altLang="ko-KR" sz="1400" dirty="0" smtClean="0">
                          <a:latin typeface="+mn-lt"/>
                          <a:ea typeface="+mj-ea"/>
                        </a:rPr>
                        <a:t>)</a:t>
                      </a:r>
                      <a:endParaRPr lang="ko-KR" altLang="en-US" sz="1400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>
                <a:latin typeface="+mj-ea"/>
                <a:ea typeface="+mj-ea"/>
              </a:rPr>
              <a:t> </a:t>
            </a:r>
            <a:fld id="{10BC9EA9-20E1-4F6E-B7F3-56489D00F9DC}" type="slidenum">
              <a:rPr lang="en-US" altLang="ko-KR" smtClean="0">
                <a:latin typeface="+mj-ea"/>
                <a:ea typeface="+mj-ea"/>
              </a:rPr>
              <a:pPr>
                <a:defRPr/>
              </a:pPr>
              <a:t>20</a:t>
            </a:fld>
            <a:endParaRPr lang="en-US" altLang="ko-KR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8580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1022298" y="940383"/>
            <a:ext cx="8029575" cy="563880"/>
          </a:xfrm>
        </p:spPr>
        <p:txBody>
          <a:bodyPr/>
          <a:lstStyle/>
          <a:p>
            <a:r>
              <a:rPr lang="ko-KR" altLang="en-US" dirty="0" smtClean="0"/>
              <a:t>한국형 </a:t>
            </a:r>
            <a:r>
              <a:rPr lang="ko-KR" altLang="en-US" dirty="0"/>
              <a:t>상향식 모형 </a:t>
            </a:r>
            <a:r>
              <a:rPr lang="en-US" altLang="ko-KR" dirty="0"/>
              <a:t>S/W </a:t>
            </a:r>
            <a:r>
              <a:rPr lang="ko-KR" altLang="en-US" dirty="0"/>
              <a:t>시스템 개발</a:t>
            </a:r>
            <a:endParaRPr lang="ko-KR" altLang="en-US" dirty="0" smtClean="0"/>
          </a:p>
          <a:p>
            <a:pPr lvl="1"/>
            <a:r>
              <a:rPr lang="en-US" altLang="ko-KR" dirty="0" smtClean="0"/>
              <a:t>LP </a:t>
            </a:r>
            <a:r>
              <a:rPr lang="ko-KR" altLang="en-US" dirty="0" smtClean="0"/>
              <a:t>기반 상향식 </a:t>
            </a:r>
            <a:r>
              <a:rPr lang="en-US" altLang="ko-KR" dirty="0" smtClean="0"/>
              <a:t>S/W </a:t>
            </a:r>
            <a:r>
              <a:rPr lang="ko-KR" altLang="en-US" dirty="0" smtClean="0"/>
              <a:t>시스템의 구현방식에 대한 비교</a:t>
            </a:r>
            <a:endParaRPr lang="en-US" altLang="ko-KR" dirty="0" smtClean="0"/>
          </a:p>
          <a:p>
            <a:pPr lvl="3"/>
            <a:endParaRPr lang="en-US" altLang="ko-KR" dirty="0" smtClean="0"/>
          </a:p>
          <a:p>
            <a:endParaRPr lang="ko-KR" altLang="en-US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1EA23F-C6D7-4A4E-AE5F-1288F948BC2C}" type="slidenum">
              <a:rPr lang="ko-KR" altLang="en-US"/>
              <a:pPr>
                <a:defRPr/>
              </a:pPr>
              <a:t>21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819817" y="1903120"/>
            <a:ext cx="963637" cy="3429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919191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hangingPunct="1">
              <a:defRPr/>
            </a:pPr>
            <a:r>
              <a:rPr lang="en-US" altLang="ko-KR" kern="0">
                <a:solidFill>
                  <a:srgbClr val="000000"/>
                </a:solidFill>
                <a:latin typeface="Trebuchet MS"/>
                <a:ea typeface="돋움체"/>
              </a:rPr>
              <a:t>MESSAGE</a:t>
            </a:r>
            <a:endParaRPr lang="ko-KR" altLang="en-US" kern="0">
              <a:solidFill>
                <a:srgbClr val="000000"/>
              </a:solidFill>
              <a:latin typeface="Trebuchet MS"/>
              <a:ea typeface="돋움체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089363" y="1903120"/>
            <a:ext cx="963637" cy="3429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919191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hangingPunct="1">
              <a:defRPr/>
            </a:pPr>
            <a:r>
              <a:rPr lang="en-US" altLang="ko-KR" kern="0">
                <a:solidFill>
                  <a:srgbClr val="000000"/>
                </a:solidFill>
                <a:latin typeface="Trebuchet MS"/>
                <a:ea typeface="돋움체"/>
              </a:rPr>
              <a:t>LEAP</a:t>
            </a:r>
            <a:endParaRPr lang="ko-KR" altLang="en-US" kern="0">
              <a:solidFill>
                <a:srgbClr val="000000"/>
              </a:solidFill>
              <a:latin typeface="Trebuchet MS"/>
              <a:ea typeface="돋움체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243000" y="1903120"/>
            <a:ext cx="963637" cy="3429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919191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hangingPunct="1">
              <a:defRPr/>
            </a:pPr>
            <a:r>
              <a:rPr lang="en-US" altLang="ko-KR" kern="0">
                <a:solidFill>
                  <a:srgbClr val="000000"/>
                </a:solidFill>
                <a:latin typeface="Trebuchet MS"/>
                <a:ea typeface="돋움체"/>
              </a:rPr>
              <a:t>AIM</a:t>
            </a:r>
            <a:endParaRPr lang="ko-KR" altLang="en-US" kern="0">
              <a:solidFill>
                <a:srgbClr val="000000"/>
              </a:solidFill>
              <a:latin typeface="Trebuchet MS"/>
              <a:ea typeface="돋움체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471576" y="1903120"/>
            <a:ext cx="1237958" cy="3429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919191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hangingPunct="1">
              <a:defRPr/>
            </a:pPr>
            <a:r>
              <a:rPr lang="en-US" altLang="ko-KR" kern="0" dirty="0">
                <a:solidFill>
                  <a:srgbClr val="000000"/>
                </a:solidFill>
                <a:latin typeface="Trebuchet MS"/>
                <a:ea typeface="돋움체"/>
              </a:rPr>
              <a:t>MARKAL/TIMES</a:t>
            </a:r>
            <a:endParaRPr lang="ko-KR" altLang="en-US" kern="0" dirty="0">
              <a:solidFill>
                <a:srgbClr val="000000"/>
              </a:solidFill>
              <a:latin typeface="Trebuchet MS"/>
              <a:ea typeface="돋움체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819817" y="2459380"/>
            <a:ext cx="3861582" cy="3429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919191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hangingPunct="1">
              <a:defRPr/>
            </a:pPr>
            <a:r>
              <a:rPr lang="en-US" altLang="ko-KR" kern="0">
                <a:solidFill>
                  <a:srgbClr val="000000"/>
                </a:solidFill>
                <a:latin typeface="Trebuchet MS"/>
                <a:ea typeface="돋움체"/>
              </a:rPr>
              <a:t>multi-period LP optimization model</a:t>
            </a:r>
            <a:endParaRPr lang="ko-KR" altLang="en-US" kern="0">
              <a:solidFill>
                <a:srgbClr val="000000"/>
              </a:solidFill>
              <a:latin typeface="Trebuchet MS"/>
              <a:ea typeface="돋움체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089363" y="2459380"/>
            <a:ext cx="963637" cy="3429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919191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hangingPunct="1">
              <a:defRPr/>
            </a:pPr>
            <a:r>
              <a:rPr lang="en-US" altLang="ko-KR" kern="0">
                <a:solidFill>
                  <a:srgbClr val="000000"/>
                </a:solidFill>
                <a:latin typeface="Trebuchet MS"/>
                <a:ea typeface="돋움체"/>
              </a:rPr>
              <a:t>accounting</a:t>
            </a:r>
          </a:p>
          <a:p>
            <a:pPr algn="ctr" eaLnBrk="1" hangingPunct="1">
              <a:defRPr/>
            </a:pPr>
            <a:r>
              <a:rPr lang="en-US" altLang="ko-KR" kern="0">
                <a:solidFill>
                  <a:srgbClr val="000000"/>
                </a:solidFill>
                <a:latin typeface="Trebuchet MS"/>
                <a:ea typeface="돋움체"/>
              </a:rPr>
              <a:t>model</a:t>
            </a:r>
            <a:endParaRPr lang="ko-KR" altLang="en-US" kern="0">
              <a:solidFill>
                <a:srgbClr val="000000"/>
              </a:solidFill>
              <a:latin typeface="Trebuchet MS"/>
              <a:ea typeface="돋움체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7552403" y="3023260"/>
            <a:ext cx="963637" cy="3429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919191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hangingPunct="1">
              <a:defRPr/>
            </a:pPr>
            <a:r>
              <a:rPr lang="en-US" altLang="ko-KR" kern="0">
                <a:solidFill>
                  <a:srgbClr val="000000"/>
                </a:solidFill>
                <a:latin typeface="Trebuchet MS"/>
                <a:ea typeface="돋움체"/>
              </a:rPr>
              <a:t>OSeMoSYS</a:t>
            </a:r>
            <a:endParaRPr lang="ko-KR" altLang="en-US" kern="0">
              <a:solidFill>
                <a:srgbClr val="000000"/>
              </a:solidFill>
              <a:latin typeface="Trebuchet MS"/>
              <a:ea typeface="돋움체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784649" y="3610000"/>
            <a:ext cx="963637" cy="3429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919191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hangingPunct="1">
              <a:defRPr/>
            </a:pPr>
            <a:r>
              <a:rPr lang="en-US" altLang="ko-KR" kern="0">
                <a:solidFill>
                  <a:srgbClr val="000000"/>
                </a:solidFill>
                <a:latin typeface="Trebuchet MS"/>
                <a:ea typeface="돋움체"/>
              </a:rPr>
              <a:t>GNU UI</a:t>
            </a:r>
            <a:endParaRPr lang="ko-KR" altLang="en-US" kern="0">
              <a:solidFill>
                <a:srgbClr val="000000"/>
              </a:solidFill>
              <a:latin typeface="Trebuchet MS"/>
              <a:ea typeface="돋움체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243000" y="3023260"/>
            <a:ext cx="2466535" cy="3429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919191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hangingPunct="1">
              <a:defRPr/>
            </a:pPr>
            <a:r>
              <a:rPr lang="en-US" altLang="ko-KR" kern="0">
                <a:solidFill>
                  <a:srgbClr val="000000"/>
                </a:solidFill>
                <a:latin typeface="Trebuchet MS"/>
                <a:ea typeface="돋움체"/>
              </a:rPr>
              <a:t>GAMS code/any solvers</a:t>
            </a:r>
            <a:endParaRPr lang="ko-KR" altLang="en-US" kern="0">
              <a:solidFill>
                <a:srgbClr val="000000"/>
              </a:solidFill>
              <a:latin typeface="Trebuchet MS"/>
              <a:ea typeface="돋움체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830304" y="3587140"/>
            <a:ext cx="2229729" cy="3429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919191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hangingPunct="1">
              <a:defRPr/>
            </a:pPr>
            <a:r>
              <a:rPr lang="en-US" altLang="ko-KR" kern="0">
                <a:solidFill>
                  <a:srgbClr val="000000"/>
                </a:solidFill>
                <a:latin typeface="Trebuchet MS"/>
                <a:ea typeface="돋움체"/>
              </a:rPr>
              <a:t>Windows</a:t>
            </a:r>
            <a:endParaRPr lang="ko-KR" altLang="en-US" kern="0">
              <a:solidFill>
                <a:srgbClr val="000000"/>
              </a:solidFill>
              <a:latin typeface="Trebuchet MS"/>
              <a:ea typeface="돋움체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243000" y="3587140"/>
            <a:ext cx="963637" cy="3429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919191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hangingPunct="1">
              <a:defRPr/>
            </a:pPr>
            <a:r>
              <a:rPr lang="en-US" altLang="ko-KR" kern="0">
                <a:solidFill>
                  <a:srgbClr val="000000"/>
                </a:solidFill>
                <a:latin typeface="Trebuchet MS"/>
                <a:ea typeface="돋움체"/>
              </a:rPr>
              <a:t>Excel</a:t>
            </a:r>
            <a:endParaRPr lang="ko-KR" altLang="en-US" kern="0">
              <a:solidFill>
                <a:srgbClr val="000000"/>
              </a:solidFill>
              <a:latin typeface="Trebuchet MS"/>
              <a:ea typeface="돋움체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6110463" y="3023260"/>
            <a:ext cx="963637" cy="3429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919191">
                <a:shade val="50000"/>
              </a:srgbClr>
            </a:solidFill>
            <a:prstDash val="dash"/>
          </a:ln>
          <a:effectLst/>
        </p:spPr>
        <p:txBody>
          <a:bodyPr rtlCol="0" anchor="ctr"/>
          <a:lstStyle/>
          <a:p>
            <a:pPr algn="ctr" eaLnBrk="1" hangingPunct="1">
              <a:defRPr/>
            </a:pPr>
            <a:r>
              <a:rPr lang="en-US" altLang="ko-KR" kern="0" dirty="0" err="1">
                <a:solidFill>
                  <a:srgbClr val="000000"/>
                </a:solidFill>
                <a:latin typeface="Trebuchet MS"/>
                <a:ea typeface="돋움체"/>
              </a:rPr>
              <a:t>glpk</a:t>
            </a:r>
            <a:r>
              <a:rPr lang="en-US" altLang="ko-KR" kern="0" dirty="0">
                <a:solidFill>
                  <a:srgbClr val="000000"/>
                </a:solidFill>
                <a:latin typeface="Trebuchet MS"/>
                <a:ea typeface="돋움체"/>
              </a:rPr>
              <a:t>/CPLEX</a:t>
            </a:r>
            <a:endParaRPr lang="ko-KR" altLang="en-US" kern="0" dirty="0">
              <a:solidFill>
                <a:srgbClr val="000000"/>
              </a:solidFill>
              <a:latin typeface="Trebuchet MS"/>
              <a:ea typeface="돋움체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805750" y="3046120"/>
            <a:ext cx="963637" cy="3429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919191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hangingPunct="1">
              <a:defRPr/>
            </a:pPr>
            <a:r>
              <a:rPr lang="en-US" altLang="ko-KR" kern="0">
                <a:solidFill>
                  <a:srgbClr val="000000"/>
                </a:solidFill>
                <a:latin typeface="Trebuchet MS"/>
                <a:ea typeface="돋움체"/>
              </a:rPr>
              <a:t>glpk/CPLEX</a:t>
            </a:r>
            <a:endParaRPr lang="ko-KR" altLang="en-US" kern="0">
              <a:solidFill>
                <a:srgbClr val="000000"/>
              </a:solidFill>
              <a:latin typeface="Trebuchet MS"/>
              <a:ea typeface="돋움체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7552403" y="2459380"/>
            <a:ext cx="963637" cy="3429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919191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hangingPunct="1">
              <a:defRPr/>
            </a:pPr>
            <a:r>
              <a:rPr lang="en-US" altLang="ko-KR" kern="0">
                <a:solidFill>
                  <a:srgbClr val="000000"/>
                </a:solidFill>
                <a:latin typeface="Trebuchet MS"/>
                <a:ea typeface="돋움체"/>
              </a:rPr>
              <a:t>MathProg</a:t>
            </a:r>
            <a:endParaRPr lang="ko-KR" altLang="en-US" kern="0">
              <a:solidFill>
                <a:srgbClr val="000000"/>
              </a:solidFill>
              <a:latin typeface="Trebuchet MS"/>
              <a:ea typeface="돋움체"/>
            </a:endParaRPr>
          </a:p>
        </p:txBody>
      </p:sp>
      <p:cxnSp>
        <p:nvCxnSpPr>
          <p:cNvPr id="33" name="직선 화살표 연결선 32"/>
          <p:cNvCxnSpPr>
            <a:stCxn id="12" idx="1"/>
            <a:endCxn id="25" idx="3"/>
          </p:cNvCxnSpPr>
          <p:nvPr/>
        </p:nvCxnSpPr>
        <p:spPr>
          <a:xfrm flipH="1">
            <a:off x="7074099" y="3194710"/>
            <a:ext cx="478302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Box 33"/>
          <p:cNvSpPr txBox="1"/>
          <p:nvPr/>
        </p:nvSpPr>
        <p:spPr>
          <a:xfrm>
            <a:off x="1907869" y="4173143"/>
            <a:ext cx="58448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solidFill>
                  <a:srgbClr val="000000"/>
                </a:solidFill>
              </a:rPr>
              <a:t>GAMS, </a:t>
            </a:r>
            <a:r>
              <a:rPr lang="en-US" altLang="ko-KR" dirty="0" err="1">
                <a:solidFill>
                  <a:srgbClr val="000000"/>
                </a:solidFill>
              </a:rPr>
              <a:t>MathProg</a:t>
            </a:r>
            <a:r>
              <a:rPr lang="en-US" altLang="ko-KR" dirty="0">
                <a:solidFill>
                  <a:srgbClr val="000000"/>
                </a:solidFill>
              </a:rPr>
              <a:t> : a high-level modeling system for mathematical programming problems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solidFill>
                  <a:srgbClr val="000000"/>
                </a:solidFill>
              </a:rPr>
              <a:t>CPLEX : IBM LP solver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dirty="0" err="1">
                <a:solidFill>
                  <a:srgbClr val="000000"/>
                </a:solidFill>
              </a:rPr>
              <a:t>glpk</a:t>
            </a:r>
            <a:r>
              <a:rPr lang="en-US" altLang="ko-KR" dirty="0">
                <a:solidFill>
                  <a:srgbClr val="000000"/>
                </a:solidFill>
              </a:rPr>
              <a:t> : GNU LP Kit</a:t>
            </a:r>
          </a:p>
          <a:p>
            <a:r>
              <a:rPr lang="en-US" altLang="ko-KR" dirty="0" err="1" smtClean="0">
                <a:solidFill>
                  <a:srgbClr val="000000"/>
                </a:solidFill>
              </a:rPr>
              <a:t>OSeMOSYS</a:t>
            </a:r>
            <a:r>
              <a:rPr lang="en-US" altLang="ko-KR" dirty="0" smtClean="0">
                <a:solidFill>
                  <a:srgbClr val="000000"/>
                </a:solidFill>
              </a:rPr>
              <a:t> : </a:t>
            </a:r>
            <a:r>
              <a:rPr lang="en-US" altLang="ko-KR" dirty="0"/>
              <a:t>the Open Source Energy Modelling System</a:t>
            </a:r>
            <a:endParaRPr lang="en-US" altLang="ko-KR" dirty="0" smtClean="0">
              <a:solidFill>
                <a:srgbClr val="000000"/>
              </a:solidFill>
            </a:endParaRPr>
          </a:p>
          <a:p>
            <a:r>
              <a:rPr lang="en-US" altLang="ko-KR" dirty="0" err="1" smtClean="0">
                <a:solidFill>
                  <a:srgbClr val="000000"/>
                </a:solidFill>
              </a:rPr>
              <a:t>OSeMOSYS</a:t>
            </a:r>
            <a:r>
              <a:rPr lang="en-US" altLang="ko-KR" dirty="0" smtClean="0">
                <a:solidFill>
                  <a:srgbClr val="000000"/>
                </a:solidFill>
              </a:rPr>
              <a:t>, </a:t>
            </a:r>
            <a:r>
              <a:rPr lang="en-US" altLang="ko-KR" dirty="0" err="1">
                <a:solidFill>
                  <a:srgbClr val="000000"/>
                </a:solidFill>
              </a:rPr>
              <a:t>glpk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en-US" altLang="ko-KR" dirty="0" err="1">
                <a:solidFill>
                  <a:srgbClr val="000000"/>
                </a:solidFill>
              </a:rPr>
              <a:t>MathProg</a:t>
            </a:r>
            <a:r>
              <a:rPr lang="en-US" altLang="ko-KR" dirty="0">
                <a:solidFill>
                  <a:srgbClr val="000000"/>
                </a:solidFill>
              </a:rPr>
              <a:t> : open source project</a:t>
            </a:r>
            <a:endParaRPr lang="ko-KR" altLang="en-US" dirty="0">
              <a:solidFill>
                <a:srgbClr val="000000"/>
              </a:solidFill>
            </a:endParaRPr>
          </a:p>
        </p:txBody>
      </p:sp>
      <p:cxnSp>
        <p:nvCxnSpPr>
          <p:cNvPr id="23568" name="직선 화살표 연결선 23567"/>
          <p:cNvCxnSpPr>
            <a:stCxn id="5" idx="2"/>
          </p:cNvCxnSpPr>
          <p:nvPr/>
        </p:nvCxnSpPr>
        <p:spPr bwMode="auto">
          <a:xfrm flipH="1">
            <a:off x="2301241" y="2246020"/>
            <a:ext cx="395" cy="200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" name="직선 화살표 연결선 53"/>
          <p:cNvCxnSpPr/>
          <p:nvPr/>
        </p:nvCxnSpPr>
        <p:spPr bwMode="auto">
          <a:xfrm flipH="1">
            <a:off x="3718561" y="2238400"/>
            <a:ext cx="395" cy="200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직선 화살표 연결선 54"/>
          <p:cNvCxnSpPr/>
          <p:nvPr/>
        </p:nvCxnSpPr>
        <p:spPr bwMode="auto">
          <a:xfrm flipH="1">
            <a:off x="5082541" y="2246020"/>
            <a:ext cx="395" cy="200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직선 화살표 연결선 55"/>
          <p:cNvCxnSpPr/>
          <p:nvPr/>
        </p:nvCxnSpPr>
        <p:spPr bwMode="auto">
          <a:xfrm flipH="1">
            <a:off x="2293621" y="2817520"/>
            <a:ext cx="395" cy="200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직선 화살표 연결선 56"/>
          <p:cNvCxnSpPr/>
          <p:nvPr/>
        </p:nvCxnSpPr>
        <p:spPr bwMode="auto">
          <a:xfrm flipH="1">
            <a:off x="3710941" y="2809900"/>
            <a:ext cx="395" cy="200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직선 화살표 연결선 57"/>
          <p:cNvCxnSpPr/>
          <p:nvPr/>
        </p:nvCxnSpPr>
        <p:spPr bwMode="auto">
          <a:xfrm flipH="1">
            <a:off x="5074921" y="2817520"/>
            <a:ext cx="395" cy="200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" name="직선 화살표 연결선 58"/>
          <p:cNvCxnSpPr/>
          <p:nvPr/>
        </p:nvCxnSpPr>
        <p:spPr bwMode="auto">
          <a:xfrm flipH="1">
            <a:off x="6591301" y="2253640"/>
            <a:ext cx="395" cy="200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" name="직선 화살표 연결선 59"/>
          <p:cNvCxnSpPr/>
          <p:nvPr/>
        </p:nvCxnSpPr>
        <p:spPr bwMode="auto">
          <a:xfrm flipH="1">
            <a:off x="6606541" y="2817520"/>
            <a:ext cx="395" cy="200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" name="직선 화살표 연결선 60"/>
          <p:cNvCxnSpPr/>
          <p:nvPr/>
        </p:nvCxnSpPr>
        <p:spPr bwMode="auto">
          <a:xfrm flipH="1">
            <a:off x="2293621" y="3389020"/>
            <a:ext cx="395" cy="200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" name="직선 화살표 연결선 61"/>
          <p:cNvCxnSpPr/>
          <p:nvPr/>
        </p:nvCxnSpPr>
        <p:spPr bwMode="auto">
          <a:xfrm flipH="1">
            <a:off x="3710941" y="3381400"/>
            <a:ext cx="395" cy="200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" name="직선 화살표 연결선 62"/>
          <p:cNvCxnSpPr/>
          <p:nvPr/>
        </p:nvCxnSpPr>
        <p:spPr bwMode="auto">
          <a:xfrm flipH="1">
            <a:off x="5074921" y="3389020"/>
            <a:ext cx="395" cy="200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직선 화살표 연결선 63"/>
          <p:cNvCxnSpPr/>
          <p:nvPr/>
        </p:nvCxnSpPr>
        <p:spPr bwMode="auto">
          <a:xfrm flipH="1">
            <a:off x="6606541" y="3389020"/>
            <a:ext cx="395" cy="200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직선 화살표 연결선 64"/>
          <p:cNvCxnSpPr/>
          <p:nvPr/>
        </p:nvCxnSpPr>
        <p:spPr bwMode="auto">
          <a:xfrm flipH="1">
            <a:off x="8092441" y="2817520"/>
            <a:ext cx="395" cy="200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현황분석 </a:t>
            </a:r>
            <a:r>
              <a:rPr lang="en-US" altLang="ko-KR" b="0" dirty="0"/>
              <a:t>: </a:t>
            </a:r>
            <a:r>
              <a:rPr lang="ko-KR" altLang="en-US" b="0" dirty="0"/>
              <a:t>시스템 개발 현황</a:t>
            </a:r>
          </a:p>
        </p:txBody>
      </p:sp>
    </p:spTree>
    <p:extLst>
      <p:ext uri="{BB962C8B-B14F-4D97-AF65-F5344CB8AC3E}">
        <p14:creationId xmlns:p14="http://schemas.microsoft.com/office/powerpoint/2010/main" val="70236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en-US" altLang="ko-KR" sz="1800" b="0" dirty="0"/>
              <a:t>base year, model year, historic </a:t>
            </a:r>
            <a:r>
              <a:rPr lang="en-US" altLang="ko-KR" sz="1800" b="0" dirty="0" smtClean="0"/>
              <a:t>capacity, decision variable </a:t>
            </a:r>
            <a:endParaRPr lang="ko-KR" altLang="en-US" sz="1800" b="0" dirty="0"/>
          </a:p>
        </p:txBody>
      </p:sp>
      <p:sp>
        <p:nvSpPr>
          <p:cNvPr id="6147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hangingPunct="1"/>
            <a:r>
              <a:rPr lang="en-US" altLang="ko-KR" sz="1400" smtClean="0">
                <a:latin typeface="Arial" charset="0"/>
              </a:rPr>
              <a:t> </a:t>
            </a:r>
            <a:fld id="{A3780B6F-7F7D-44BD-93E1-F33BD5DC7252}" type="slidenum">
              <a:rPr lang="en-US" altLang="ko-KR" sz="1400" smtClean="0">
                <a:latin typeface="Arial" charset="0"/>
              </a:rPr>
              <a:pPr eaLnBrk="1" hangingPunct="1"/>
              <a:t>22</a:t>
            </a:fld>
            <a:endParaRPr lang="en-US" altLang="ko-KR" sz="1400" smtClean="0">
              <a:latin typeface="Arial" charset="0"/>
            </a:endParaRPr>
          </a:p>
        </p:txBody>
      </p:sp>
      <p:grpSp>
        <p:nvGrpSpPr>
          <p:cNvPr id="54" name="그룹 53"/>
          <p:cNvGrpSpPr/>
          <p:nvPr/>
        </p:nvGrpSpPr>
        <p:grpSpPr>
          <a:xfrm>
            <a:off x="752286" y="1215840"/>
            <a:ext cx="7957859" cy="4203661"/>
            <a:chOff x="274638" y="1568450"/>
            <a:chExt cx="7957859" cy="4203661"/>
          </a:xfrm>
        </p:grpSpPr>
        <p:cxnSp>
          <p:nvCxnSpPr>
            <p:cNvPr id="6" name="직선 화살표 연결선 5"/>
            <p:cNvCxnSpPr/>
            <p:nvPr/>
          </p:nvCxnSpPr>
          <p:spPr>
            <a:xfrm>
              <a:off x="520859" y="2352675"/>
              <a:ext cx="20955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직선 연결선 8"/>
            <p:cNvCxnSpPr/>
            <p:nvPr/>
          </p:nvCxnSpPr>
          <p:spPr>
            <a:xfrm>
              <a:off x="2382838" y="2000250"/>
              <a:ext cx="0" cy="33654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50" name="TextBox 9"/>
            <p:cNvSpPr txBox="1">
              <a:spLocks noChangeArrowheads="1"/>
            </p:cNvSpPr>
            <p:nvPr/>
          </p:nvSpPr>
          <p:spPr bwMode="auto">
            <a:xfrm>
              <a:off x="2163008" y="1723251"/>
              <a:ext cx="117371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 smtClean="0"/>
                <a:t>2010(base </a:t>
              </a:r>
              <a:r>
                <a:rPr lang="en-US" altLang="ko-KR" dirty="0"/>
                <a:t>year)</a:t>
              </a:r>
              <a:endParaRPr lang="ko-KR" altLang="en-US" dirty="0"/>
            </a:p>
          </p:txBody>
        </p:sp>
        <p:cxnSp>
          <p:nvCxnSpPr>
            <p:cNvPr id="11" name="직선 연결선 10"/>
            <p:cNvCxnSpPr/>
            <p:nvPr/>
          </p:nvCxnSpPr>
          <p:spPr>
            <a:xfrm>
              <a:off x="2616200" y="2221299"/>
              <a:ext cx="159" cy="31444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52" name="TextBox 11"/>
            <p:cNvSpPr txBox="1">
              <a:spLocks noChangeArrowheads="1"/>
            </p:cNvSpPr>
            <p:nvPr/>
          </p:nvSpPr>
          <p:spPr bwMode="auto">
            <a:xfrm>
              <a:off x="2382838" y="1944300"/>
              <a:ext cx="156716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 smtClean="0"/>
                <a:t>2011(first </a:t>
              </a:r>
              <a:r>
                <a:rPr lang="en-US" altLang="ko-KR" dirty="0"/>
                <a:t>model year)</a:t>
              </a:r>
              <a:endParaRPr lang="ko-KR" altLang="en-US" dirty="0"/>
            </a:p>
          </p:txBody>
        </p:sp>
        <p:cxnSp>
          <p:nvCxnSpPr>
            <p:cNvPr id="14" name="직선 연결선 13"/>
            <p:cNvCxnSpPr/>
            <p:nvPr/>
          </p:nvCxnSpPr>
          <p:spPr>
            <a:xfrm>
              <a:off x="6816725" y="2033625"/>
              <a:ext cx="4763" cy="32829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54" name="TextBox 14"/>
            <p:cNvSpPr txBox="1">
              <a:spLocks noChangeArrowheads="1"/>
            </p:cNvSpPr>
            <p:nvPr/>
          </p:nvSpPr>
          <p:spPr bwMode="auto">
            <a:xfrm>
              <a:off x="6551613" y="1757400"/>
              <a:ext cx="1538287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/>
                <a:t>2050(last model year)</a:t>
              </a:r>
              <a:endParaRPr lang="ko-KR" altLang="en-US" dirty="0"/>
            </a:p>
          </p:txBody>
        </p:sp>
        <p:cxnSp>
          <p:nvCxnSpPr>
            <p:cNvPr id="23" name="직선 연결선 22"/>
            <p:cNvCxnSpPr/>
            <p:nvPr/>
          </p:nvCxnSpPr>
          <p:spPr>
            <a:xfrm>
              <a:off x="2162176" y="1861324"/>
              <a:ext cx="832" cy="35043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>
            <a:xfrm>
              <a:off x="520700" y="1825625"/>
              <a:ext cx="159" cy="35400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57" name="TextBox 24"/>
            <p:cNvSpPr txBox="1">
              <a:spLocks noChangeArrowheads="1"/>
            </p:cNvSpPr>
            <p:nvPr/>
          </p:nvSpPr>
          <p:spPr bwMode="auto">
            <a:xfrm>
              <a:off x="1895475" y="1568450"/>
              <a:ext cx="4924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 smtClean="0"/>
                <a:t>2009</a:t>
              </a:r>
              <a:endParaRPr lang="ko-KR" altLang="en-US" dirty="0"/>
            </a:p>
          </p:txBody>
        </p:sp>
        <p:sp>
          <p:nvSpPr>
            <p:cNvPr id="6158" name="TextBox 25"/>
            <p:cNvSpPr txBox="1">
              <a:spLocks noChangeArrowheads="1"/>
            </p:cNvSpPr>
            <p:nvPr/>
          </p:nvSpPr>
          <p:spPr bwMode="auto">
            <a:xfrm>
              <a:off x="274638" y="1568450"/>
              <a:ext cx="4924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 smtClean="0"/>
                <a:t>2002</a:t>
              </a:r>
              <a:endParaRPr lang="ko-KR" altLang="en-US" dirty="0"/>
            </a:p>
          </p:txBody>
        </p:sp>
        <p:sp>
          <p:nvSpPr>
            <p:cNvPr id="6160" name="TextBox 30"/>
            <p:cNvSpPr txBox="1">
              <a:spLocks noChangeArrowheads="1"/>
            </p:cNvSpPr>
            <p:nvPr/>
          </p:nvSpPr>
          <p:spPr bwMode="auto">
            <a:xfrm>
              <a:off x="2327434" y="5495886"/>
              <a:ext cx="12033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/>
                <a:t>historic capacity</a:t>
              </a:r>
              <a:endParaRPr lang="ko-KR" altLang="en-US" dirty="0"/>
            </a:p>
          </p:txBody>
        </p:sp>
        <p:sp>
          <p:nvSpPr>
            <p:cNvPr id="6166" name="TextBox 41"/>
            <p:cNvSpPr txBox="1">
              <a:spLocks noChangeArrowheads="1"/>
            </p:cNvSpPr>
            <p:nvPr/>
          </p:nvSpPr>
          <p:spPr bwMode="auto">
            <a:xfrm>
              <a:off x="3280410" y="3664859"/>
              <a:ext cx="4924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 smtClean="0"/>
                <a:t>2020</a:t>
              </a:r>
              <a:endParaRPr lang="ko-KR" altLang="en-US" dirty="0"/>
            </a:p>
          </p:txBody>
        </p:sp>
        <p:sp>
          <p:nvSpPr>
            <p:cNvPr id="6167" name="TextBox 42"/>
            <p:cNvSpPr txBox="1">
              <a:spLocks noChangeArrowheads="1"/>
            </p:cNvSpPr>
            <p:nvPr/>
          </p:nvSpPr>
          <p:spPr bwMode="auto">
            <a:xfrm>
              <a:off x="5424488" y="3643447"/>
              <a:ext cx="4924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 smtClean="0"/>
                <a:t>2029</a:t>
              </a:r>
              <a:endParaRPr lang="ko-KR" altLang="en-US" dirty="0"/>
            </a:p>
          </p:txBody>
        </p:sp>
        <p:cxnSp>
          <p:nvCxnSpPr>
            <p:cNvPr id="33" name="직선 화살표 연결선 32"/>
            <p:cNvCxnSpPr/>
            <p:nvPr/>
          </p:nvCxnSpPr>
          <p:spPr>
            <a:xfrm>
              <a:off x="2384227" y="2876550"/>
              <a:ext cx="20955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24"/>
            <p:cNvSpPr txBox="1">
              <a:spLocks noChangeArrowheads="1"/>
            </p:cNvSpPr>
            <p:nvPr/>
          </p:nvSpPr>
          <p:spPr bwMode="auto">
            <a:xfrm>
              <a:off x="4413052" y="2738050"/>
              <a:ext cx="4924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 smtClean="0"/>
                <a:t>2019</a:t>
              </a:r>
              <a:endParaRPr lang="ko-KR" altLang="en-US" dirty="0"/>
            </a:p>
          </p:txBody>
        </p:sp>
        <p:cxnSp>
          <p:nvCxnSpPr>
            <p:cNvPr id="35" name="직선 화살표 연결선 34"/>
            <p:cNvCxnSpPr/>
            <p:nvPr/>
          </p:nvCxnSpPr>
          <p:spPr>
            <a:xfrm>
              <a:off x="2616359" y="3099574"/>
              <a:ext cx="20955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24"/>
            <p:cNvSpPr txBox="1">
              <a:spLocks noChangeArrowheads="1"/>
            </p:cNvSpPr>
            <p:nvPr/>
          </p:nvSpPr>
          <p:spPr bwMode="auto">
            <a:xfrm>
              <a:off x="4718684" y="2957938"/>
              <a:ext cx="4924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 smtClean="0"/>
                <a:t>2020</a:t>
              </a:r>
              <a:endParaRPr lang="ko-KR" altLang="en-US" dirty="0"/>
            </a:p>
          </p:txBody>
        </p:sp>
        <p:cxnSp>
          <p:nvCxnSpPr>
            <p:cNvPr id="38" name="직선 화살표 연결선 37"/>
            <p:cNvCxnSpPr/>
            <p:nvPr/>
          </p:nvCxnSpPr>
          <p:spPr>
            <a:xfrm>
              <a:off x="3436779" y="3697422"/>
              <a:ext cx="20955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/>
            <p:cNvCxnSpPr/>
            <p:nvPr/>
          </p:nvCxnSpPr>
          <p:spPr>
            <a:xfrm>
              <a:off x="758984" y="2505075"/>
              <a:ext cx="20955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41"/>
            <p:cNvSpPr txBox="1">
              <a:spLocks noChangeArrowheads="1"/>
            </p:cNvSpPr>
            <p:nvPr/>
          </p:nvSpPr>
          <p:spPr bwMode="auto">
            <a:xfrm>
              <a:off x="520700" y="2532023"/>
              <a:ext cx="4924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 smtClean="0"/>
                <a:t>2003</a:t>
              </a:r>
              <a:endParaRPr lang="ko-KR" altLang="en-US" dirty="0"/>
            </a:p>
          </p:txBody>
        </p:sp>
        <p:sp>
          <p:nvSpPr>
            <p:cNvPr id="41" name="TextBox 24"/>
            <p:cNvSpPr txBox="1">
              <a:spLocks noChangeArrowheads="1"/>
            </p:cNvSpPr>
            <p:nvPr/>
          </p:nvSpPr>
          <p:spPr bwMode="auto">
            <a:xfrm>
              <a:off x="2834879" y="2393523"/>
              <a:ext cx="4924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 smtClean="0"/>
                <a:t>2012</a:t>
              </a:r>
              <a:endParaRPr lang="ko-KR" altLang="en-US" dirty="0"/>
            </a:p>
          </p:txBody>
        </p:sp>
        <p:sp>
          <p:nvSpPr>
            <p:cNvPr id="42" name="TextBox 41"/>
            <p:cNvSpPr txBox="1">
              <a:spLocks noChangeArrowheads="1"/>
            </p:cNvSpPr>
            <p:nvPr/>
          </p:nvSpPr>
          <p:spPr bwMode="auto">
            <a:xfrm>
              <a:off x="2684911" y="3358550"/>
              <a:ext cx="4924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 smtClean="0"/>
                <a:t>2012</a:t>
              </a:r>
              <a:endParaRPr lang="ko-KR" altLang="en-US" dirty="0"/>
            </a:p>
          </p:txBody>
        </p:sp>
        <p:sp>
          <p:nvSpPr>
            <p:cNvPr id="43" name="TextBox 42"/>
            <p:cNvSpPr txBox="1">
              <a:spLocks noChangeArrowheads="1"/>
            </p:cNvSpPr>
            <p:nvPr/>
          </p:nvSpPr>
          <p:spPr bwMode="auto">
            <a:xfrm>
              <a:off x="4838513" y="3310111"/>
              <a:ext cx="4924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 smtClean="0"/>
                <a:t>2019</a:t>
              </a:r>
              <a:endParaRPr lang="ko-KR" altLang="en-US" dirty="0"/>
            </a:p>
          </p:txBody>
        </p:sp>
        <p:cxnSp>
          <p:nvCxnSpPr>
            <p:cNvPr id="44" name="직선 화살표 연결선 43"/>
            <p:cNvCxnSpPr/>
            <p:nvPr/>
          </p:nvCxnSpPr>
          <p:spPr>
            <a:xfrm>
              <a:off x="2879379" y="3335511"/>
              <a:ext cx="20955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1"/>
            <p:cNvSpPr txBox="1">
              <a:spLocks noChangeArrowheads="1"/>
            </p:cNvSpPr>
            <p:nvPr/>
          </p:nvSpPr>
          <p:spPr bwMode="auto">
            <a:xfrm>
              <a:off x="4571495" y="4070737"/>
              <a:ext cx="4924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 smtClean="0"/>
                <a:t>2041</a:t>
              </a:r>
              <a:endParaRPr lang="ko-KR" altLang="en-US" dirty="0"/>
            </a:p>
          </p:txBody>
        </p:sp>
        <p:cxnSp>
          <p:nvCxnSpPr>
            <p:cNvPr id="48" name="직선 화살표 연결선 47"/>
            <p:cNvCxnSpPr/>
            <p:nvPr/>
          </p:nvCxnSpPr>
          <p:spPr>
            <a:xfrm>
              <a:off x="4727864" y="4103300"/>
              <a:ext cx="20955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/>
            <p:cNvCxnSpPr/>
            <p:nvPr/>
          </p:nvCxnSpPr>
          <p:spPr>
            <a:xfrm>
              <a:off x="1340168" y="5629275"/>
              <a:ext cx="89978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TextBox 30"/>
            <p:cNvSpPr txBox="1">
              <a:spLocks noChangeArrowheads="1"/>
            </p:cNvSpPr>
            <p:nvPr/>
          </p:nvSpPr>
          <p:spPr bwMode="auto">
            <a:xfrm>
              <a:off x="4935220" y="5486322"/>
              <a:ext cx="137569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 smtClean="0"/>
                <a:t>new car production</a:t>
              </a:r>
              <a:endParaRPr lang="ko-KR" altLang="en-US" dirty="0"/>
            </a:p>
          </p:txBody>
        </p:sp>
        <p:cxnSp>
          <p:nvCxnSpPr>
            <p:cNvPr id="52" name="직선 화살표 연결선 51"/>
            <p:cNvCxnSpPr/>
            <p:nvPr/>
          </p:nvCxnSpPr>
          <p:spPr>
            <a:xfrm>
              <a:off x="3947954" y="5619711"/>
              <a:ext cx="89978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/>
            <p:cNvCxnSpPr/>
            <p:nvPr/>
          </p:nvCxnSpPr>
          <p:spPr>
            <a:xfrm>
              <a:off x="7038181" y="2303500"/>
              <a:ext cx="2382" cy="29989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14"/>
            <p:cNvSpPr txBox="1">
              <a:spLocks noChangeArrowheads="1"/>
            </p:cNvSpPr>
            <p:nvPr/>
          </p:nvSpPr>
          <p:spPr bwMode="auto">
            <a:xfrm>
              <a:off x="6816725" y="2073275"/>
              <a:ext cx="141577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 smtClean="0"/>
                <a:t>2051(terminal year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1755525" y="2470557"/>
                  <a:ext cx="40748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2000" i="1" smtClean="0">
                            <a:latin typeface="Cambria Math"/>
                          </a:rPr>
                          <m:t>⋱</m:t>
                        </m:r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5525" y="2470557"/>
                  <a:ext cx="407483" cy="400110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/>
                <p:cNvSpPr txBox="1"/>
                <p:nvPr/>
              </p:nvSpPr>
              <p:spPr>
                <a:xfrm>
                  <a:off x="3492567" y="3295977"/>
                  <a:ext cx="40748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2000" i="1" smtClean="0">
                            <a:latin typeface="Cambria Math"/>
                          </a:rPr>
                          <m:t>⋱</m:t>
                        </m:r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2567" y="3295977"/>
                  <a:ext cx="407483" cy="40011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TextBox 41"/>
            <p:cNvSpPr txBox="1">
              <a:spLocks noChangeArrowheads="1"/>
            </p:cNvSpPr>
            <p:nvPr/>
          </p:nvSpPr>
          <p:spPr bwMode="auto">
            <a:xfrm>
              <a:off x="6185219" y="4631937"/>
              <a:ext cx="4924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 smtClean="0"/>
                <a:t>2049</a:t>
              </a:r>
              <a:endParaRPr lang="ko-KR" altLang="en-US" dirty="0"/>
            </a:p>
          </p:txBody>
        </p:sp>
        <p:cxnSp>
          <p:nvCxnSpPr>
            <p:cNvPr id="100" name="직선 화살표 연결선 99"/>
            <p:cNvCxnSpPr/>
            <p:nvPr/>
          </p:nvCxnSpPr>
          <p:spPr>
            <a:xfrm>
              <a:off x="6800056" y="5015725"/>
              <a:ext cx="252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/>
                <p:cNvSpPr txBox="1"/>
                <p:nvPr/>
              </p:nvSpPr>
              <p:spPr>
                <a:xfrm>
                  <a:off x="4367753" y="3696087"/>
                  <a:ext cx="40748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2000" i="1" smtClean="0">
                            <a:latin typeface="Cambria Math"/>
                          </a:rPr>
                          <m:t>⋱</m:t>
                        </m:r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 xmlns="">
            <p:sp>
              <p:nvSpPr>
                <p:cNvPr id="102" name="TextBox 1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7753" y="3696087"/>
                  <a:ext cx="407483" cy="40011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/>
                <p:cNvSpPr txBox="1"/>
                <p:nvPr/>
              </p:nvSpPr>
              <p:spPr>
                <a:xfrm>
                  <a:off x="5412934" y="4147681"/>
                  <a:ext cx="40748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2000" i="1" smtClean="0">
                            <a:latin typeface="Cambria Math"/>
                          </a:rPr>
                          <m:t>⋱</m:t>
                        </m:r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 xmlns="">
            <p:sp>
              <p:nvSpPr>
                <p:cNvPr id="103" name="TextBox 1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2934" y="4147681"/>
                  <a:ext cx="407483" cy="40011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4" name="직선 화살표 연결선 103"/>
            <p:cNvCxnSpPr/>
            <p:nvPr/>
          </p:nvCxnSpPr>
          <p:spPr>
            <a:xfrm>
              <a:off x="6599526" y="4751387"/>
              <a:ext cx="22383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41"/>
            <p:cNvSpPr txBox="1">
              <a:spLocks noChangeArrowheads="1"/>
            </p:cNvSpPr>
            <p:nvPr/>
          </p:nvSpPr>
          <p:spPr bwMode="auto">
            <a:xfrm>
              <a:off x="6299519" y="4889112"/>
              <a:ext cx="4924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itchFamily="18" charset="0"/>
                  <a:ea typeface="돋움" pitchFamily="50" charset="-127"/>
                </a:defRPr>
              </a:lvl9pPr>
            </a:lstStyle>
            <a:p>
              <a:pPr eaLnBrk="1" hangingPunct="1"/>
              <a:r>
                <a:rPr lang="en-US" altLang="ko-KR" dirty="0" smtClean="0"/>
                <a:t>2050</a:t>
              </a:r>
              <a:endParaRPr lang="ko-KR" altLang="en-U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752286" y="5419501"/>
            <a:ext cx="7368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Inv. Switch Options (treatment of investment time) : half-half, </a:t>
            </a:r>
            <a:r>
              <a:rPr lang="en-US" altLang="ko-KR" b="1" u="sng" dirty="0" smtClean="0"/>
              <a:t>shifted(2010</a:t>
            </a:r>
            <a:r>
              <a:rPr lang="ko-KR" altLang="en-US" b="1" u="sng" dirty="0" smtClean="0"/>
              <a:t>년에 생산된 차량은</a:t>
            </a:r>
            <a:r>
              <a:rPr lang="en-US" altLang="ko-KR" b="1" u="sng" dirty="0" smtClean="0"/>
              <a:t>, 2011</a:t>
            </a:r>
            <a:r>
              <a:rPr lang="ko-KR" altLang="en-US" b="1" u="sng" dirty="0" smtClean="0"/>
              <a:t>년에 운행됨</a:t>
            </a:r>
            <a:r>
              <a:rPr lang="en-US" altLang="ko-KR" b="1" u="sng" dirty="0" smtClean="0"/>
              <a:t>)</a:t>
            </a:r>
            <a:endParaRPr lang="ko-KR" altLang="en-US" b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752286" y="5657398"/>
            <a:ext cx="5295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dirty="0" smtClean="0"/>
              <a:t>2011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first model year</a:t>
            </a:r>
            <a:r>
              <a:rPr lang="ko-KR" altLang="en-US" dirty="0" smtClean="0"/>
              <a:t>이고</a:t>
            </a:r>
            <a:r>
              <a:rPr lang="en-US" altLang="ko-KR" dirty="0" smtClean="0"/>
              <a:t>, shifted</a:t>
            </a:r>
            <a:r>
              <a:rPr lang="ko-KR" altLang="en-US" dirty="0" smtClean="0"/>
              <a:t>이므로 </a:t>
            </a:r>
            <a:r>
              <a:rPr lang="en-US" altLang="ko-KR" dirty="0" smtClean="0"/>
              <a:t>2012</a:t>
            </a:r>
            <a:r>
              <a:rPr lang="ko-KR" altLang="en-US" dirty="0" smtClean="0"/>
              <a:t>년 부터 의사결정 변수가 됨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en-US" altLang="ko-KR" dirty="0" smtClean="0"/>
              <a:t>2011</a:t>
            </a:r>
            <a:r>
              <a:rPr lang="ko-KR" altLang="en-US" dirty="0" smtClean="0"/>
              <a:t>년에 대한 수요는 기존 </a:t>
            </a:r>
            <a:r>
              <a:rPr lang="en-US" altLang="ko-KR" dirty="0" smtClean="0"/>
              <a:t>historic capacity</a:t>
            </a:r>
            <a:r>
              <a:rPr lang="ko-KR" altLang="en-US" dirty="0" smtClean="0"/>
              <a:t>로만 충족시켜야 됨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 smtClean="0">
                <a:sym typeface="Wingdings" panose="05000000000000000000" pitchFamily="2" charset="2"/>
              </a:rPr>
              <a:t> 2011</a:t>
            </a:r>
            <a:r>
              <a:rPr lang="ko-KR" altLang="en-US" dirty="0" smtClean="0">
                <a:sym typeface="Wingdings" panose="05000000000000000000" pitchFamily="2" charset="2"/>
              </a:rPr>
              <a:t>년의</a:t>
            </a:r>
            <a:r>
              <a:rPr lang="en-US" altLang="ko-KR" dirty="0" smtClean="0">
                <a:sym typeface="Wingdings" panose="05000000000000000000" pitchFamily="2" charset="2"/>
              </a:rPr>
              <a:t> new capacity =0 </a:t>
            </a:r>
            <a:r>
              <a:rPr lang="ko-KR" altLang="en-US" dirty="0" smtClean="0">
                <a:sym typeface="Wingdings" panose="05000000000000000000" pitchFamily="2" charset="2"/>
              </a:rPr>
              <a:t>가 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16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Box 8"/>
          <p:cNvSpPr txBox="1">
            <a:spLocks noChangeArrowheads="1"/>
          </p:cNvSpPr>
          <p:nvPr/>
        </p:nvSpPr>
        <p:spPr bwMode="auto">
          <a:xfrm>
            <a:off x="1968500" y="1602229"/>
            <a:ext cx="863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>
                <a:solidFill>
                  <a:srgbClr val="000000"/>
                </a:solidFill>
                <a:ea typeface="굴림" charset="-127"/>
              </a:rPr>
              <a:t>car energy </a:t>
            </a:r>
          </a:p>
        </p:txBody>
      </p:sp>
      <p:sp>
        <p:nvSpPr>
          <p:cNvPr id="57" name="Text Box 136"/>
          <p:cNvSpPr txBox="1">
            <a:spLocks noChangeArrowheads="1"/>
          </p:cNvSpPr>
          <p:nvPr/>
        </p:nvSpPr>
        <p:spPr bwMode="auto">
          <a:xfrm>
            <a:off x="2039938" y="1805429"/>
            <a:ext cx="3460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>
                <a:solidFill>
                  <a:srgbClr val="000000"/>
                </a:solidFill>
                <a:ea typeface="굴림" charset="-127"/>
              </a:rPr>
              <a:t>oil</a:t>
            </a:r>
          </a:p>
        </p:txBody>
      </p:sp>
      <p:sp>
        <p:nvSpPr>
          <p:cNvPr id="59" name="Text Box 136"/>
          <p:cNvSpPr txBox="1">
            <a:spLocks noChangeArrowheads="1"/>
          </p:cNvSpPr>
          <p:nvPr/>
        </p:nvSpPr>
        <p:spPr bwMode="auto">
          <a:xfrm>
            <a:off x="2471738" y="2126848"/>
            <a:ext cx="7985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electricity</a:t>
            </a:r>
          </a:p>
        </p:txBody>
      </p:sp>
      <p:sp>
        <p:nvSpPr>
          <p:cNvPr id="63" name="Text Box 136"/>
          <p:cNvSpPr txBox="1">
            <a:spLocks noChangeArrowheads="1"/>
          </p:cNvSpPr>
          <p:nvPr/>
        </p:nvSpPr>
        <p:spPr bwMode="auto">
          <a:xfrm>
            <a:off x="2255838" y="1940409"/>
            <a:ext cx="8683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bio ethanol</a:t>
            </a:r>
          </a:p>
        </p:txBody>
      </p:sp>
      <p:sp>
        <p:nvSpPr>
          <p:cNvPr id="66" name="Line 223"/>
          <p:cNvSpPr>
            <a:spLocks noChangeShapeType="1"/>
          </p:cNvSpPr>
          <p:nvPr/>
        </p:nvSpPr>
        <p:spPr bwMode="auto">
          <a:xfrm>
            <a:off x="1785938" y="2977003"/>
            <a:ext cx="466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67" name="Line 224"/>
          <p:cNvSpPr>
            <a:spLocks noChangeShapeType="1"/>
          </p:cNvSpPr>
          <p:nvPr/>
        </p:nvSpPr>
        <p:spPr bwMode="auto">
          <a:xfrm flipV="1">
            <a:off x="1781176" y="4457128"/>
            <a:ext cx="9096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68" name="Line 226"/>
          <p:cNvSpPr>
            <a:spLocks noChangeShapeType="1"/>
          </p:cNvSpPr>
          <p:nvPr/>
        </p:nvSpPr>
        <p:spPr bwMode="auto">
          <a:xfrm>
            <a:off x="2476500" y="4305478"/>
            <a:ext cx="7858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69" name="Text Box 8"/>
          <p:cNvSpPr txBox="1">
            <a:spLocks noChangeArrowheads="1"/>
          </p:cNvSpPr>
          <p:nvPr/>
        </p:nvSpPr>
        <p:spPr bwMode="auto">
          <a:xfrm>
            <a:off x="1968500" y="1602229"/>
            <a:ext cx="863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>
                <a:solidFill>
                  <a:srgbClr val="000000"/>
                </a:solidFill>
                <a:ea typeface="굴림" charset="-127"/>
              </a:rPr>
              <a:t>car energy </a:t>
            </a:r>
          </a:p>
        </p:txBody>
      </p:sp>
      <p:sp>
        <p:nvSpPr>
          <p:cNvPr id="72" name="Text Box 8"/>
          <p:cNvSpPr txBox="1">
            <a:spLocks noChangeArrowheads="1"/>
          </p:cNvSpPr>
          <p:nvPr/>
        </p:nvSpPr>
        <p:spPr bwMode="auto">
          <a:xfrm>
            <a:off x="4222750" y="1599054"/>
            <a:ext cx="11604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>
                <a:solidFill>
                  <a:srgbClr val="000000"/>
                </a:solidFill>
                <a:ea typeface="굴림" charset="-127"/>
              </a:rPr>
              <a:t>blended energy </a:t>
            </a:r>
          </a:p>
        </p:txBody>
      </p:sp>
      <p:sp>
        <p:nvSpPr>
          <p:cNvPr id="73" name="Text Box 136"/>
          <p:cNvSpPr txBox="1">
            <a:spLocks noChangeArrowheads="1"/>
          </p:cNvSpPr>
          <p:nvPr/>
        </p:nvSpPr>
        <p:spPr bwMode="auto">
          <a:xfrm>
            <a:off x="4179888" y="1792729"/>
            <a:ext cx="14636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>
                <a:solidFill>
                  <a:srgbClr val="000000"/>
                </a:solidFill>
                <a:ea typeface="굴림" charset="-127"/>
              </a:rPr>
              <a:t>gasoline+bio ethanol</a:t>
            </a:r>
          </a:p>
        </p:txBody>
      </p:sp>
      <p:sp>
        <p:nvSpPr>
          <p:cNvPr id="74" name="Line 233"/>
          <p:cNvSpPr>
            <a:spLocks noChangeShapeType="1"/>
          </p:cNvSpPr>
          <p:nvPr/>
        </p:nvSpPr>
        <p:spPr bwMode="auto">
          <a:xfrm>
            <a:off x="4090987" y="4157840"/>
            <a:ext cx="5905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75" name="Line 236"/>
          <p:cNvSpPr>
            <a:spLocks noChangeShapeType="1"/>
          </p:cNvSpPr>
          <p:nvPr/>
        </p:nvSpPr>
        <p:spPr bwMode="auto">
          <a:xfrm>
            <a:off x="4681537" y="2462865"/>
            <a:ext cx="8572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78" name="Line 237"/>
          <p:cNvSpPr>
            <a:spLocks noChangeShapeType="1"/>
          </p:cNvSpPr>
          <p:nvPr/>
        </p:nvSpPr>
        <p:spPr bwMode="auto">
          <a:xfrm>
            <a:off x="4700588" y="3214573"/>
            <a:ext cx="847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79" name="Line 238"/>
          <p:cNvSpPr>
            <a:spLocks noChangeShapeType="1"/>
          </p:cNvSpPr>
          <p:nvPr/>
        </p:nvSpPr>
        <p:spPr bwMode="auto">
          <a:xfrm>
            <a:off x="2695576" y="3432236"/>
            <a:ext cx="28527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80" name="Text Box 8"/>
          <p:cNvSpPr txBox="1">
            <a:spLocks noChangeArrowheads="1"/>
          </p:cNvSpPr>
          <p:nvPr/>
        </p:nvSpPr>
        <p:spPr bwMode="auto">
          <a:xfrm>
            <a:off x="4222750" y="1599054"/>
            <a:ext cx="11604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>
                <a:solidFill>
                  <a:srgbClr val="000000"/>
                </a:solidFill>
                <a:ea typeface="굴림" charset="-127"/>
              </a:rPr>
              <a:t>blended energy </a:t>
            </a:r>
          </a:p>
        </p:txBody>
      </p:sp>
      <p:sp>
        <p:nvSpPr>
          <p:cNvPr id="82" name="Text Box 8"/>
          <p:cNvSpPr txBox="1">
            <a:spLocks noChangeArrowheads="1"/>
          </p:cNvSpPr>
          <p:nvPr/>
        </p:nvSpPr>
        <p:spPr bwMode="auto">
          <a:xfrm>
            <a:off x="6972300" y="1586354"/>
            <a:ext cx="9318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>
                <a:solidFill>
                  <a:srgbClr val="000000"/>
                </a:solidFill>
                <a:ea typeface="굴림" charset="-127"/>
              </a:rPr>
              <a:t>car demand </a:t>
            </a:r>
          </a:p>
        </p:txBody>
      </p:sp>
      <p:sp>
        <p:nvSpPr>
          <p:cNvPr id="83" name="Text Box 136"/>
          <p:cNvSpPr txBox="1">
            <a:spLocks noChangeArrowheads="1"/>
          </p:cNvSpPr>
          <p:nvPr/>
        </p:nvSpPr>
        <p:spPr bwMode="auto">
          <a:xfrm>
            <a:off x="6662738" y="1789554"/>
            <a:ext cx="12303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>
                <a:solidFill>
                  <a:srgbClr val="000000"/>
                </a:solidFill>
                <a:ea typeface="굴림" charset="-127"/>
              </a:rPr>
              <a:t>2,000</a:t>
            </a:r>
            <a:r>
              <a:rPr lang="ko-KR" altLang="en-US">
                <a:solidFill>
                  <a:srgbClr val="000000"/>
                </a:solidFill>
                <a:ea typeface="굴림" charset="-127"/>
              </a:rPr>
              <a:t>억 </a:t>
            </a:r>
            <a:r>
              <a:rPr lang="en-US" altLang="ko-KR">
                <a:solidFill>
                  <a:srgbClr val="000000"/>
                </a:solidFill>
                <a:ea typeface="굴림" charset="-127"/>
              </a:rPr>
              <a:t>km/year</a:t>
            </a:r>
          </a:p>
        </p:txBody>
      </p:sp>
      <p:sp>
        <p:nvSpPr>
          <p:cNvPr id="84" name="Line 243"/>
          <p:cNvSpPr>
            <a:spLocks noChangeShapeType="1"/>
          </p:cNvSpPr>
          <p:nvPr/>
        </p:nvSpPr>
        <p:spPr bwMode="auto">
          <a:xfrm>
            <a:off x="7135813" y="2143566"/>
            <a:ext cx="0" cy="287216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85" name="Line 246"/>
          <p:cNvSpPr>
            <a:spLocks noChangeShapeType="1"/>
          </p:cNvSpPr>
          <p:nvPr/>
        </p:nvSpPr>
        <p:spPr bwMode="auto">
          <a:xfrm>
            <a:off x="6367463" y="4572239"/>
            <a:ext cx="7715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86" name="Text Box 247"/>
          <p:cNvSpPr txBox="1">
            <a:spLocks noChangeArrowheads="1"/>
          </p:cNvSpPr>
          <p:nvPr/>
        </p:nvSpPr>
        <p:spPr bwMode="auto">
          <a:xfrm>
            <a:off x="1855787" y="2761104"/>
            <a:ext cx="260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87" name="Text Box 248"/>
          <p:cNvSpPr txBox="1">
            <a:spLocks noChangeArrowheads="1"/>
          </p:cNvSpPr>
          <p:nvPr/>
        </p:nvSpPr>
        <p:spPr bwMode="auto">
          <a:xfrm>
            <a:off x="1881187" y="3443729"/>
            <a:ext cx="260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88" name="Text Box 249"/>
          <p:cNvSpPr txBox="1">
            <a:spLocks noChangeArrowheads="1"/>
          </p:cNvSpPr>
          <p:nvPr/>
        </p:nvSpPr>
        <p:spPr bwMode="auto">
          <a:xfrm>
            <a:off x="1887537" y="4220592"/>
            <a:ext cx="260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89" name="Text Box 252"/>
          <p:cNvSpPr txBox="1">
            <a:spLocks noChangeArrowheads="1"/>
          </p:cNvSpPr>
          <p:nvPr/>
        </p:nvSpPr>
        <p:spPr bwMode="auto">
          <a:xfrm>
            <a:off x="4217988" y="3946704"/>
            <a:ext cx="4413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0" name="Text Box 253"/>
          <p:cNvSpPr txBox="1">
            <a:spLocks noChangeArrowheads="1"/>
          </p:cNvSpPr>
          <p:nvPr/>
        </p:nvSpPr>
        <p:spPr bwMode="auto">
          <a:xfrm>
            <a:off x="6316663" y="2181879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>
                <a:solidFill>
                  <a:srgbClr val="000000"/>
                </a:solidFill>
              </a:rPr>
              <a:t>15km</a:t>
            </a:r>
          </a:p>
        </p:txBody>
      </p:sp>
      <p:sp>
        <p:nvSpPr>
          <p:cNvPr id="91" name="Line 257"/>
          <p:cNvSpPr>
            <a:spLocks noChangeShapeType="1"/>
          </p:cNvSpPr>
          <p:nvPr/>
        </p:nvSpPr>
        <p:spPr bwMode="auto">
          <a:xfrm>
            <a:off x="2263776" y="4102278"/>
            <a:ext cx="1000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92" name="Text Box 259"/>
          <p:cNvSpPr txBox="1">
            <a:spLocks noChangeArrowheads="1"/>
          </p:cNvSpPr>
          <p:nvPr/>
        </p:nvSpPr>
        <p:spPr bwMode="auto">
          <a:xfrm>
            <a:off x="4789488" y="2958987"/>
            <a:ext cx="5508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>
                <a:solidFill>
                  <a:srgbClr val="000000"/>
                </a:solidFill>
              </a:rPr>
              <a:t>1 liter</a:t>
            </a:r>
          </a:p>
        </p:txBody>
      </p:sp>
      <p:sp>
        <p:nvSpPr>
          <p:cNvPr id="93" name="Text Box 260"/>
          <p:cNvSpPr txBox="1">
            <a:spLocks noChangeArrowheads="1"/>
          </p:cNvSpPr>
          <p:nvPr/>
        </p:nvSpPr>
        <p:spPr bwMode="auto">
          <a:xfrm>
            <a:off x="4757858" y="3215214"/>
            <a:ext cx="5953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3KWh</a:t>
            </a:r>
          </a:p>
        </p:txBody>
      </p:sp>
      <p:sp>
        <p:nvSpPr>
          <p:cNvPr id="94" name="Text Box 261"/>
          <p:cNvSpPr txBox="1">
            <a:spLocks noChangeArrowheads="1"/>
          </p:cNvSpPr>
          <p:nvPr/>
        </p:nvSpPr>
        <p:spPr bwMode="auto">
          <a:xfrm>
            <a:off x="4787914" y="4356256"/>
            <a:ext cx="6715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>
                <a:solidFill>
                  <a:srgbClr val="000000"/>
                </a:solidFill>
              </a:rPr>
              <a:t>12KWh</a:t>
            </a:r>
          </a:p>
        </p:txBody>
      </p:sp>
      <p:sp>
        <p:nvSpPr>
          <p:cNvPr id="95" name="Text Box 262"/>
          <p:cNvSpPr txBox="1">
            <a:spLocks noChangeArrowheads="1"/>
          </p:cNvSpPr>
          <p:nvPr/>
        </p:nvSpPr>
        <p:spPr bwMode="auto">
          <a:xfrm>
            <a:off x="4875213" y="2213629"/>
            <a:ext cx="5508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>
                <a:solidFill>
                  <a:srgbClr val="000000"/>
                </a:solidFill>
              </a:rPr>
              <a:t>1 liter</a:t>
            </a:r>
          </a:p>
        </p:txBody>
      </p:sp>
      <p:sp>
        <p:nvSpPr>
          <p:cNvPr id="96" name="Line 271"/>
          <p:cNvSpPr>
            <a:spLocks noChangeShapeType="1"/>
          </p:cNvSpPr>
          <p:nvPr/>
        </p:nvSpPr>
        <p:spPr bwMode="auto">
          <a:xfrm>
            <a:off x="1785937" y="3658040"/>
            <a:ext cx="685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97" name="Line 272"/>
          <p:cNvSpPr>
            <a:spLocks noChangeShapeType="1"/>
          </p:cNvSpPr>
          <p:nvPr/>
        </p:nvSpPr>
        <p:spPr bwMode="auto">
          <a:xfrm>
            <a:off x="2690812" y="4600814"/>
            <a:ext cx="2857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98" name="Text Box 273"/>
          <p:cNvSpPr txBox="1">
            <a:spLocks noChangeArrowheads="1"/>
          </p:cNvSpPr>
          <p:nvPr/>
        </p:nvSpPr>
        <p:spPr bwMode="auto">
          <a:xfrm>
            <a:off x="2697163" y="4102279"/>
            <a:ext cx="5365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>
                <a:solidFill>
                  <a:srgbClr val="000000"/>
                </a:solidFill>
              </a:rPr>
              <a:t>1/10</a:t>
            </a:r>
          </a:p>
        </p:txBody>
      </p:sp>
      <p:sp>
        <p:nvSpPr>
          <p:cNvPr id="99" name="Text Box 274"/>
          <p:cNvSpPr txBox="1">
            <a:spLocks noChangeArrowheads="1"/>
          </p:cNvSpPr>
          <p:nvPr/>
        </p:nvSpPr>
        <p:spPr bwMode="auto">
          <a:xfrm>
            <a:off x="2698751" y="3891128"/>
            <a:ext cx="479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9/10</a:t>
            </a:r>
          </a:p>
        </p:txBody>
      </p:sp>
      <p:sp>
        <p:nvSpPr>
          <p:cNvPr id="101" name="Line 237"/>
          <p:cNvSpPr>
            <a:spLocks noChangeShapeType="1"/>
          </p:cNvSpPr>
          <p:nvPr/>
        </p:nvSpPr>
        <p:spPr bwMode="auto">
          <a:xfrm>
            <a:off x="6367463" y="3297231"/>
            <a:ext cx="7715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02" name="Text Box 253"/>
          <p:cNvSpPr txBox="1">
            <a:spLocks noChangeArrowheads="1"/>
          </p:cNvSpPr>
          <p:nvPr/>
        </p:nvSpPr>
        <p:spPr bwMode="auto">
          <a:xfrm>
            <a:off x="6330152" y="4300347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100km</a:t>
            </a:r>
          </a:p>
        </p:txBody>
      </p:sp>
      <p:sp>
        <p:nvSpPr>
          <p:cNvPr id="103" name="Line 271"/>
          <p:cNvSpPr>
            <a:spLocks noChangeShapeType="1"/>
          </p:cNvSpPr>
          <p:nvPr/>
        </p:nvSpPr>
        <p:spPr bwMode="auto">
          <a:xfrm>
            <a:off x="6379974" y="2453340"/>
            <a:ext cx="76044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04" name="Text Box 253"/>
          <p:cNvSpPr txBox="1">
            <a:spLocks noChangeArrowheads="1"/>
          </p:cNvSpPr>
          <p:nvPr/>
        </p:nvSpPr>
        <p:spPr bwMode="auto">
          <a:xfrm>
            <a:off x="6396158" y="3082976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30km</a:t>
            </a:r>
          </a:p>
        </p:txBody>
      </p:sp>
      <p:sp>
        <p:nvSpPr>
          <p:cNvPr id="110" name="Line 272"/>
          <p:cNvSpPr>
            <a:spLocks noChangeShapeType="1"/>
          </p:cNvSpPr>
          <p:nvPr/>
        </p:nvSpPr>
        <p:spPr bwMode="auto">
          <a:xfrm>
            <a:off x="2698750" y="3858504"/>
            <a:ext cx="283498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11" name="Text Box 260"/>
          <p:cNvSpPr txBox="1">
            <a:spLocks noChangeArrowheads="1"/>
          </p:cNvSpPr>
          <p:nvPr/>
        </p:nvSpPr>
        <p:spPr bwMode="auto">
          <a:xfrm>
            <a:off x="4680233" y="3622055"/>
            <a:ext cx="5953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3KWh</a:t>
            </a:r>
          </a:p>
        </p:txBody>
      </p:sp>
      <p:sp>
        <p:nvSpPr>
          <p:cNvPr id="112" name="Line 237"/>
          <p:cNvSpPr>
            <a:spLocks noChangeShapeType="1"/>
          </p:cNvSpPr>
          <p:nvPr/>
        </p:nvSpPr>
        <p:spPr bwMode="auto">
          <a:xfrm>
            <a:off x="6368790" y="3831296"/>
            <a:ext cx="7715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13" name="Text Box 253"/>
          <p:cNvSpPr txBox="1">
            <a:spLocks noChangeArrowheads="1"/>
          </p:cNvSpPr>
          <p:nvPr/>
        </p:nvSpPr>
        <p:spPr bwMode="auto">
          <a:xfrm>
            <a:off x="6412243" y="3618404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50km</a:t>
            </a:r>
          </a:p>
        </p:txBody>
      </p:sp>
      <p:sp>
        <p:nvSpPr>
          <p:cNvPr id="100" name="Rectangle 7"/>
          <p:cNvSpPr>
            <a:spLocks noChangeArrowheads="1"/>
          </p:cNvSpPr>
          <p:nvPr/>
        </p:nvSpPr>
        <p:spPr bwMode="auto">
          <a:xfrm>
            <a:off x="5551299" y="3157810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    </a:t>
            </a:r>
            <a:r>
              <a:rPr lang="en-US" altLang="ko-KR" sz="1000" kern="0" dirty="0" smtClean="0">
                <a:solidFill>
                  <a:srgbClr val="000000"/>
                </a:solidFill>
                <a:ea typeface="굴림" charset="-127"/>
              </a:rPr>
              <a:t>plug-in </a:t>
            </a: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mode</a:t>
            </a:r>
          </a:p>
        </p:txBody>
      </p:sp>
      <p:sp>
        <p:nvSpPr>
          <p:cNvPr id="105" name="직사각형 104"/>
          <p:cNvSpPr/>
          <p:nvPr/>
        </p:nvSpPr>
        <p:spPr bwMode="auto">
          <a:xfrm>
            <a:off x="5371610" y="2811755"/>
            <a:ext cx="1178088" cy="1359673"/>
          </a:xfrm>
          <a:prstGeom prst="rect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06" name="Rectangle 7"/>
          <p:cNvSpPr>
            <a:spLocks noChangeArrowheads="1"/>
          </p:cNvSpPr>
          <p:nvPr/>
        </p:nvSpPr>
        <p:spPr bwMode="auto">
          <a:xfrm>
            <a:off x="5544673" y="3668022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  </a:t>
            </a:r>
            <a:r>
              <a:rPr lang="en-US" altLang="ko-KR" sz="1000" kern="0" dirty="0" err="1">
                <a:solidFill>
                  <a:srgbClr val="000000"/>
                </a:solidFill>
                <a:ea typeface="굴림" charset="-127"/>
              </a:rPr>
              <a:t>elec</a:t>
            </a: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 mode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5456606" y="2773004"/>
            <a:ext cx="115691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>
                <a:solidFill>
                  <a:srgbClr val="000000"/>
                </a:solidFill>
                <a:ea typeface="굴림" charset="-127"/>
              </a:rPr>
              <a:t>plug-in hybrid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378619" y="2828440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>
                <a:solidFill>
                  <a:srgbClr val="FF0000"/>
                </a:solidFill>
              </a:rPr>
              <a:t>6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545633" y="3152030"/>
            <a:ext cx="147256" cy="150312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8A2BE2"/>
                </a:solidFill>
              </a:rPr>
              <a:t>1</a:t>
            </a:r>
            <a:endParaRPr lang="ko-KR" altLang="en-US" sz="800" dirty="0">
              <a:solidFill>
                <a:srgbClr val="8A2BE2"/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5541458" y="3667685"/>
            <a:ext cx="147256" cy="150312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8A2BE2"/>
                </a:solidFill>
              </a:rPr>
              <a:t>2</a:t>
            </a:r>
            <a:endParaRPr lang="ko-KR" altLang="en-US" sz="800" dirty="0">
              <a:solidFill>
                <a:srgbClr val="8A2BE2"/>
              </a:solidFill>
            </a:endParaRPr>
          </a:p>
        </p:txBody>
      </p:sp>
      <p:sp>
        <p:nvSpPr>
          <p:cNvPr id="121" name="Rectangle 7"/>
          <p:cNvSpPr>
            <a:spLocks noChangeArrowheads="1"/>
          </p:cNvSpPr>
          <p:nvPr/>
        </p:nvSpPr>
        <p:spPr bwMode="auto">
          <a:xfrm>
            <a:off x="5541576" y="2264795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    </a:t>
            </a:r>
            <a:r>
              <a:rPr lang="en-US" altLang="ko-KR" kern="0" dirty="0">
                <a:solidFill>
                  <a:srgbClr val="000000"/>
                </a:solidFill>
              </a:rPr>
              <a:t>middle car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542173" y="2264779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>
                <a:solidFill>
                  <a:srgbClr val="FF0000"/>
                </a:solidFill>
              </a:rPr>
              <a:t>5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123" name="Rectangle 7"/>
          <p:cNvSpPr>
            <a:spLocks noChangeArrowheads="1"/>
          </p:cNvSpPr>
          <p:nvPr/>
        </p:nvSpPr>
        <p:spPr bwMode="auto">
          <a:xfrm>
            <a:off x="5537190" y="4392322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    electric car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537133" y="4389306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>
                <a:solidFill>
                  <a:srgbClr val="FF0000"/>
                </a:solidFill>
              </a:rPr>
              <a:t>7</a:t>
            </a:r>
            <a:endParaRPr lang="ko-KR" altLang="en-US" sz="800">
              <a:solidFill>
                <a:srgbClr val="FF0000"/>
              </a:solidFill>
            </a:endParaRPr>
          </a:p>
        </p:txBody>
      </p:sp>
      <p:sp>
        <p:nvSpPr>
          <p:cNvPr id="125" name="Rectangle 7"/>
          <p:cNvSpPr>
            <a:spLocks noChangeArrowheads="1"/>
          </p:cNvSpPr>
          <p:nvPr/>
        </p:nvSpPr>
        <p:spPr bwMode="auto">
          <a:xfrm>
            <a:off x="3262313" y="4022099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    BE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262256" y="4017833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FF0000"/>
                </a:solidFill>
              </a:rPr>
              <a:t>4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27" name="Rectangle 7"/>
          <p:cNvSpPr>
            <a:spLocks noChangeArrowheads="1"/>
          </p:cNvSpPr>
          <p:nvPr/>
        </p:nvSpPr>
        <p:spPr bwMode="auto">
          <a:xfrm>
            <a:off x="947128" y="4308883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electricity</a:t>
            </a:r>
          </a:p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carrier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47071" y="4305492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FF0000"/>
                </a:solidFill>
              </a:rPr>
              <a:t>3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29" name="Rectangle 7"/>
          <p:cNvSpPr>
            <a:spLocks noChangeArrowheads="1"/>
          </p:cNvSpPr>
          <p:nvPr/>
        </p:nvSpPr>
        <p:spPr bwMode="auto">
          <a:xfrm>
            <a:off x="958907" y="3491702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indent="85725"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bio ethanol</a:t>
            </a:r>
          </a:p>
          <a:p>
            <a:pPr indent="85725"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carrier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58850" y="3487534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FF0000"/>
                </a:solidFill>
              </a:rPr>
              <a:t>2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31" name="Rectangle 7"/>
          <p:cNvSpPr>
            <a:spLocks noChangeArrowheads="1"/>
          </p:cNvSpPr>
          <p:nvPr/>
        </p:nvSpPr>
        <p:spPr bwMode="auto">
          <a:xfrm>
            <a:off x="958907" y="2803281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indent="88900"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oil carrier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8906" y="2799025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FF0000"/>
                </a:solidFill>
              </a:rPr>
              <a:t>1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7" name="Line 243"/>
          <p:cNvSpPr>
            <a:spLocks noChangeShapeType="1"/>
          </p:cNvSpPr>
          <p:nvPr/>
        </p:nvSpPr>
        <p:spPr bwMode="auto">
          <a:xfrm>
            <a:off x="4681537" y="2088714"/>
            <a:ext cx="0" cy="287216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08" name="Line 243"/>
          <p:cNvSpPr>
            <a:spLocks noChangeShapeType="1"/>
          </p:cNvSpPr>
          <p:nvPr/>
        </p:nvSpPr>
        <p:spPr bwMode="auto">
          <a:xfrm flipH="1">
            <a:off x="2690018" y="2417026"/>
            <a:ext cx="1364" cy="254385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09" name="Line 243"/>
          <p:cNvSpPr>
            <a:spLocks noChangeShapeType="1"/>
          </p:cNvSpPr>
          <p:nvPr/>
        </p:nvSpPr>
        <p:spPr bwMode="auto">
          <a:xfrm flipH="1">
            <a:off x="2476500" y="2181879"/>
            <a:ext cx="1364" cy="254385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14" name="Line 243"/>
          <p:cNvSpPr>
            <a:spLocks noChangeShapeType="1"/>
          </p:cNvSpPr>
          <p:nvPr/>
        </p:nvSpPr>
        <p:spPr bwMode="auto">
          <a:xfrm flipH="1">
            <a:off x="2263775" y="2036222"/>
            <a:ext cx="1364" cy="254385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70" name="Text Box 8"/>
          <p:cNvSpPr txBox="1">
            <a:spLocks noChangeArrowheads="1"/>
          </p:cNvSpPr>
          <p:nvPr/>
        </p:nvSpPr>
        <p:spPr bwMode="auto">
          <a:xfrm>
            <a:off x="944651" y="4891133"/>
            <a:ext cx="8984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>
                <a:solidFill>
                  <a:srgbClr val="000000"/>
                </a:solidFill>
                <a:ea typeface="굴림" charset="-127"/>
              </a:rPr>
              <a:t>energy tech</a:t>
            </a:r>
          </a:p>
        </p:txBody>
      </p:sp>
      <p:sp>
        <p:nvSpPr>
          <p:cNvPr id="71" name="Text Box 8"/>
          <p:cNvSpPr txBox="1">
            <a:spLocks noChangeArrowheads="1"/>
          </p:cNvSpPr>
          <p:nvPr/>
        </p:nvSpPr>
        <p:spPr bwMode="auto">
          <a:xfrm>
            <a:off x="3310323" y="4891133"/>
            <a:ext cx="9428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>
                <a:solidFill>
                  <a:srgbClr val="000000"/>
                </a:solidFill>
                <a:ea typeface="굴림" charset="-127"/>
              </a:rPr>
              <a:t>process tech</a:t>
            </a:r>
          </a:p>
        </p:txBody>
      </p:sp>
      <p:sp>
        <p:nvSpPr>
          <p:cNvPr id="81" name="Text Box 8"/>
          <p:cNvSpPr txBox="1">
            <a:spLocks noChangeArrowheads="1"/>
          </p:cNvSpPr>
          <p:nvPr/>
        </p:nvSpPr>
        <p:spPr bwMode="auto">
          <a:xfrm>
            <a:off x="5474732" y="4891133"/>
            <a:ext cx="970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>
                <a:solidFill>
                  <a:srgbClr val="000000"/>
                </a:solidFill>
                <a:ea typeface="굴림" charset="-127"/>
              </a:rPr>
              <a:t>demand tech</a:t>
            </a: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 smtClean="0"/>
              <a:t>: A </a:t>
            </a:r>
            <a:r>
              <a:rPr lang="en-US" altLang="ko-KR" b="0" dirty="0"/>
              <a:t>small RES </a:t>
            </a:r>
            <a:r>
              <a:rPr lang="en-US" altLang="ko-KR" b="0" dirty="0" smtClean="0"/>
              <a:t>example</a:t>
            </a:r>
            <a:endParaRPr lang="ko-KR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/>
              <p:cNvSpPr/>
              <p:nvPr/>
            </p:nvSpPr>
            <p:spPr>
              <a:xfrm>
                <a:off x="2326481" y="5518789"/>
                <a:ext cx="4845046" cy="4792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de-DE" altLang="ko-KR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de-DE" altLang="ko-KR" i="1">
                            <a:latin typeface="Cambria Math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dirty="0"/>
                  <a:t>  : the capacity variable of technology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/>
                      </a:rPr>
                      <m:t>𝑖</m:t>
                    </m:r>
                    <m:r>
                      <a:rPr lang="en-US" altLang="ko-KR" i="1">
                        <a:latin typeface="Cambria Math"/>
                      </a:rPr>
                      <m:t>∈</m:t>
                    </m:r>
                    <m:r>
                      <a:rPr lang="en-US" altLang="ko-KR" i="1">
                        <a:latin typeface="Cambria Math"/>
                      </a:rPr>
                      <m:t>𝐼</m:t>
                    </m:r>
                  </m:oMath>
                </a14:m>
                <a:r>
                  <a:rPr lang="de-DE" altLang="ko-KR" dirty="0"/>
                  <a:t> at time </a:t>
                </a:r>
                <a14:m>
                  <m:oMath xmlns:m="http://schemas.openxmlformats.org/officeDocument/2006/math">
                    <m:r>
                      <a:rPr lang="de-DE" altLang="ko-KR" i="1">
                        <a:latin typeface="Cambria Math"/>
                      </a:rPr>
                      <m:t>𝑡</m:t>
                    </m:r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de-DE" altLang="ko-KR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de-DE" altLang="ko-KR" i="1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de-DE" altLang="ko-KR" i="1">
                        <a:latin typeface="Cambria Math"/>
                      </a:rPr>
                      <m:t> </m:t>
                    </m:r>
                  </m:oMath>
                </a14:m>
                <a:r>
                  <a:rPr lang="de-DE" altLang="ko-KR" dirty="0"/>
                  <a:t> : the activity variable of technology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/>
                      </a:rPr>
                      <m:t>𝑖</m:t>
                    </m:r>
                    <m:r>
                      <a:rPr lang="en-US" altLang="ko-KR" i="1">
                        <a:latin typeface="Cambria Math"/>
                      </a:rPr>
                      <m:t>∈</m:t>
                    </m:r>
                    <m:r>
                      <a:rPr lang="en-US" altLang="ko-KR" i="1">
                        <a:latin typeface="Cambria Math"/>
                      </a:rPr>
                      <m:t>𝐼</m:t>
                    </m:r>
                  </m:oMath>
                </a14:m>
                <a:r>
                  <a:rPr lang="de-DE" altLang="ko-KR" dirty="0"/>
                  <a:t> at time </a:t>
                </a:r>
                <a14:m>
                  <m:oMath xmlns:m="http://schemas.openxmlformats.org/officeDocument/2006/math">
                    <m:r>
                      <a:rPr lang="de-DE" altLang="ko-KR" i="1">
                        <a:latin typeface="Cambria Math"/>
                      </a:rPr>
                      <m:t>𝑡</m:t>
                    </m:r>
                  </m:oMath>
                </a14:m>
                <a:endParaRPr lang="en-US" altLang="ko-KR" dirty="0">
                  <a:solidFill>
                    <a:srgbClr val="FF0000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481" y="5518789"/>
                <a:ext cx="4845046" cy="479234"/>
              </a:xfrm>
              <a:prstGeom prst="rect">
                <a:avLst/>
              </a:prstGeom>
              <a:blipFill rotWithShape="0">
                <a:blip r:embed="rId2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60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en-US" altLang="ko-KR" b="0" dirty="0" smtClean="0"/>
              <a:t>Decision Variables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내용 개체 틀 14"/>
              <p:cNvSpPr>
                <a:spLocks noGrp="1"/>
              </p:cNvSpPr>
              <p:nvPr>
                <p:ph idx="1"/>
              </p:nvPr>
            </p:nvSpPr>
            <p:spPr>
              <a:xfrm>
                <a:off x="1190625" y="884766"/>
                <a:ext cx="8010525" cy="3093341"/>
              </a:xfrm>
            </p:spPr>
            <p:txBody>
              <a:bodyPr/>
              <a:lstStyle/>
              <a:p>
                <a:r>
                  <a:rPr lang="en-US" altLang="ko-KR" sz="1200" dirty="0" smtClean="0"/>
                  <a:t>Notations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latin typeface="Cambria Math"/>
                          </a:rPr>
                          <m:t>1,2,⋯,</m:t>
                        </m:r>
                        <m:r>
                          <a:rPr lang="en-US" altLang="ko-KR" sz="1200" i="1">
                            <a:latin typeface="Cambria Math"/>
                          </a:rPr>
                          <m:t>𝑇</m:t>
                        </m:r>
                      </m:e>
                    </m:d>
                    <m:r>
                      <a:rPr lang="en-US" altLang="ko-KR" sz="1200" i="1">
                        <a:latin typeface="Cambria Math"/>
                      </a:rPr>
                      <m:t> </m:t>
                    </m:r>
                  </m:oMath>
                </a14:m>
                <a:r>
                  <a:rPr lang="en-US" altLang="ko-KR" sz="1200" dirty="0" smtClean="0"/>
                  <a:t> : model years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/>
                      </a:rPr>
                      <m:t>𝐼</m:t>
                    </m:r>
                  </m:oMath>
                </a14:m>
                <a:r>
                  <a:rPr lang="en-US" altLang="ko-KR" sz="1200" dirty="0" smtClean="0"/>
                  <a:t> :  technology set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/>
                      </a:rPr>
                      <m:t>𝐽</m:t>
                    </m:r>
                  </m:oMath>
                </a14:m>
                <a:r>
                  <a:rPr lang="en-US" altLang="ko-KR" sz="1200" dirty="0"/>
                  <a:t> :  </a:t>
                </a:r>
                <a:r>
                  <a:rPr lang="en-US" altLang="ko-KR" sz="1200" dirty="0" smtClean="0"/>
                  <a:t>energy form set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de-DE" altLang="ko-KR" sz="12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de-DE" altLang="ko-KR" sz="1200" i="1">
                            <a:latin typeface="Cambria Math"/>
                          </a:rPr>
                          <m:t>𝑠</m:t>
                        </m:r>
                      </m:sup>
                    </m:sSubSup>
                    <m:r>
                      <a:rPr lang="en-US" altLang="ko-KR" sz="1200" b="0" i="1" smtClean="0">
                        <a:latin typeface="Cambria Math"/>
                      </a:rPr>
                      <m:t>,  </m:t>
                    </m:r>
                    <m:r>
                      <a:rPr lang="en-US" altLang="ko-KR" sz="1200" b="0" i="1" smtClean="0">
                        <a:latin typeface="Cambria Math"/>
                      </a:rPr>
                      <m:t>𝑠</m:t>
                    </m:r>
                    <m:r>
                      <a:rPr lang="en-US" altLang="ko-KR" sz="1200" b="0" i="1" smtClean="0">
                        <a:latin typeface="Cambria Math"/>
                      </a:rPr>
                      <m:t>=0,−1,−2,⋯</m:t>
                    </m:r>
                  </m:oMath>
                </a14:m>
                <a:r>
                  <a:rPr lang="en-US" altLang="ko-KR" sz="1200" b="0" i="1" dirty="0" smtClean="0">
                    <a:latin typeface="Cambria Math"/>
                  </a:rPr>
                  <a:t>  </a:t>
                </a:r>
                <a:r>
                  <a:rPr lang="en-US" altLang="ko-KR" sz="1200" b="0" dirty="0" smtClean="0">
                    <a:latin typeface="Cambria Math"/>
                  </a:rPr>
                  <a:t> : historic capacity</a:t>
                </a:r>
                <a:r>
                  <a:rPr lang="en-US" altLang="ko-KR" sz="1200" b="0" i="1" dirty="0" smtClean="0">
                    <a:latin typeface="Cambria Math"/>
                  </a:rPr>
                  <a:t>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ko-KR" sz="1200" i="1"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de-DE" altLang="ko-KR" sz="12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de-DE" altLang="ko-KR" sz="1200" i="1">
                        <a:latin typeface="Cambria Math"/>
                      </a:rPr>
                      <m:t> </m:t>
                    </m:r>
                  </m:oMath>
                </a14:m>
                <a:r>
                  <a:rPr lang="de-DE" altLang="ko-KR" sz="1200" dirty="0" smtClean="0"/>
                  <a:t> : the </a:t>
                </a:r>
                <a:r>
                  <a:rPr lang="de-DE" altLang="ko-KR" sz="1200" dirty="0"/>
                  <a:t>lifetime </a:t>
                </a:r>
                <a:r>
                  <a:rPr lang="de-DE" altLang="ko-KR" sz="1200" dirty="0" smtClean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de-DE" altLang="ko-KR" sz="12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de-DE" altLang="ko-KR" sz="1200" i="1">
                        <a:latin typeface="Cambria Math"/>
                      </a:rPr>
                      <m:t> </m:t>
                    </m:r>
                  </m:oMath>
                </a14:m>
                <a:r>
                  <a:rPr lang="de-DE" altLang="ko-KR" sz="1200" dirty="0" smtClean="0"/>
                  <a:t>: efficiency </a:t>
                </a:r>
                <a:r>
                  <a:rPr lang="de-DE" altLang="ko-KR" sz="1200" dirty="0"/>
                  <a:t>of technology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/>
                      </a:rPr>
                      <m:t>𝑖</m:t>
                    </m:r>
                    <m:r>
                      <a:rPr lang="en-US" altLang="ko-KR" sz="1200" b="0" i="1" smtClean="0">
                        <a:latin typeface="Cambria Math"/>
                      </a:rPr>
                      <m:t>∈</m:t>
                    </m:r>
                    <m:r>
                      <a:rPr lang="en-US" altLang="ko-KR" sz="1200" b="0" i="1" smtClean="0">
                        <a:latin typeface="Cambria Math"/>
                      </a:rPr>
                      <m:t>𝐼</m:t>
                    </m:r>
                  </m:oMath>
                </a14:m>
                <a:r>
                  <a:rPr lang="de-DE" altLang="ko-KR" sz="1200" dirty="0" smtClean="0"/>
                  <a:t> at time t </a:t>
                </a:r>
                <a:r>
                  <a:rPr lang="en-US" altLang="ko-KR" sz="1200" dirty="0">
                    <a:solidFill>
                      <a:srgbClr val="FF0000"/>
                    </a:solidFill>
                    <a:latin typeface="Cambria Math"/>
                    <a:sym typeface="Wingdings" pitchFamily="2" charset="2"/>
                  </a:rPr>
                  <a:t> main </a:t>
                </a:r>
                <a:r>
                  <a:rPr lang="en-US" altLang="ko-KR" sz="1200" dirty="0" smtClean="0">
                    <a:solidFill>
                      <a:srgbClr val="FF0000"/>
                    </a:solidFill>
                    <a:latin typeface="Cambria Math"/>
                    <a:sym typeface="Wingdings" pitchFamily="2" charset="2"/>
                  </a:rPr>
                  <a:t>output</a:t>
                </a:r>
                <a:r>
                  <a:rPr lang="ko-KR" altLang="en-US" sz="1200" dirty="0" smtClean="0">
                    <a:solidFill>
                      <a:srgbClr val="FF0000"/>
                    </a:solidFill>
                    <a:latin typeface="Cambria Math"/>
                    <a:sym typeface="Wingdings" pitchFamily="2" charset="2"/>
                  </a:rPr>
                  <a:t> </a:t>
                </a:r>
                <a:r>
                  <a:rPr lang="en-US" altLang="ko-KR" sz="1200" dirty="0" smtClean="0">
                    <a:solidFill>
                      <a:srgbClr val="FF0000"/>
                    </a:solidFill>
                    <a:latin typeface="Cambria Math"/>
                    <a:sym typeface="Wingdings" pitchFamily="2" charset="2"/>
                  </a:rPr>
                  <a:t>efficiency</a:t>
                </a:r>
                <a:endParaRPr lang="en-US" altLang="ko-KR" sz="1200" dirty="0" smtClean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i="1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de-DE" altLang="ko-KR" sz="12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de-DE" altLang="ko-KR" sz="1200" i="1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de-DE" altLang="ko-KR" sz="12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ko-KR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ko-KR" altLang="ko-KR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ko-KR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altLang="ko-KR" sz="1200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de-DE" altLang="ko-KR" sz="12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de-DE" altLang="ko-KR" sz="1200" i="1">
                                      <a:latin typeface="Cambria Math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de-DE" altLang="ko-KR" sz="1200" i="1">
                                  <a:latin typeface="Cambria Math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ko-KR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altLang="ko-KR" sz="1200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de-DE" altLang="ko-KR" sz="12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de-DE" altLang="ko-KR" sz="1200" i="1">
                                      <a:latin typeface="Cambria Math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de-DE" altLang="ko-KR" sz="1200" i="1">
                                  <a:latin typeface="Cambria Math"/>
                                </a:rPr>
                                <m:t>+⋯,</m:t>
                              </m:r>
                              <m:sSubSup>
                                <m:sSubSupPr>
                                  <m:ctrlPr>
                                    <a:rPr lang="ko-KR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altLang="ko-KR" sz="1200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de-DE" altLang="ko-KR" sz="12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de-DE" altLang="ko-KR" sz="1200" i="1">
                                      <a:latin typeface="Cambria Math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ko-KR" altLang="ko-K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ko-KR" altLang="ko-KR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altLang="ko-KR" sz="1200" i="1">
                                              <a:latin typeface="Cambria Math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de-DE" altLang="ko-KR" sz="1200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sz="1200" b="0" i="1" smtClean="0">
                                          <a:latin typeface="Cambria Math"/>
                                        </a:rPr>
                                        <m:t>−1</m:t>
                                      </m:r>
                                      <m:r>
                                        <a:rPr lang="de-DE" altLang="ko-KR" sz="1200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de-DE" altLang="ko-KR" sz="1200" i="1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de-DE" altLang="ko-KR" sz="1200" i="1">
                                  <a:latin typeface="Cambria Math"/>
                                </a:rPr>
                                <m:t>,</m:t>
                              </m:r>
                            </m:e>
                            <m:e>
                              <m:r>
                                <a:rPr lang="de-DE" altLang="ko-KR" sz="12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de-DE" altLang="ko-KR" sz="1200" i="1">
                                  <a:latin typeface="Cambria Math"/>
                                </a:rPr>
                                <m:t>=1, 2,…,</m:t>
                              </m:r>
                              <m:sSub>
                                <m:sSubPr>
                                  <m:ctrlPr>
                                    <a:rPr lang="ko-KR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altLang="ko-KR" sz="1200" i="1"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de-DE" altLang="ko-KR" sz="12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200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de-DE" altLang="ko-KR" sz="1200" i="1">
                                  <a:latin typeface="Cambria Math"/>
                                </a:rPr>
                                <m:t>0,</m:t>
                              </m:r>
                            </m:e>
                            <m:e>
                              <m:r>
                                <a:rPr lang="de-DE" altLang="ko-KR" sz="12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de-DE" altLang="ko-KR" sz="1200" i="1">
                                  <a:latin typeface="Cambria Math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ko-KR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altLang="ko-KR" sz="1200" i="1"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de-DE" altLang="ko-KR" sz="12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ko-KR" sz="1200" i="1">
                        <a:latin typeface="Cambria Math"/>
                      </a:rPr>
                      <m:t> </m:t>
                    </m:r>
                  </m:oMath>
                </a14:m>
                <a:endParaRPr lang="en-US" altLang="ko-KR" sz="12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de-DE" altLang="ko-KR" sz="12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de-DE" altLang="ko-KR" sz="1200" i="1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de-DE" altLang="ko-KR" sz="1200" i="1">
                        <a:latin typeface="Cambria Math"/>
                      </a:rPr>
                      <m:t> </m:t>
                    </m:r>
                  </m:oMath>
                </a14:m>
                <a:r>
                  <a:rPr lang="de-DE" altLang="ko-KR" sz="1200" dirty="0"/>
                  <a:t> : the activity variable of technology </a:t>
                </a: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/>
                      </a:rPr>
                      <m:t>𝑖</m:t>
                    </m:r>
                    <m:r>
                      <a:rPr lang="en-US" altLang="ko-KR" sz="1200" i="1">
                        <a:latin typeface="Cambria Math"/>
                      </a:rPr>
                      <m:t>∈</m:t>
                    </m:r>
                    <m:r>
                      <a:rPr lang="en-US" altLang="ko-KR" sz="1200" i="1">
                        <a:latin typeface="Cambria Math"/>
                      </a:rPr>
                      <m:t>𝐼</m:t>
                    </m:r>
                  </m:oMath>
                </a14:m>
                <a:r>
                  <a:rPr lang="de-DE" altLang="ko-KR" sz="1200" dirty="0"/>
                  <a:t> at time </a:t>
                </a:r>
                <a14:m>
                  <m:oMath xmlns:m="http://schemas.openxmlformats.org/officeDocument/2006/math">
                    <m:r>
                      <a:rPr lang="de-DE" altLang="ko-KR" sz="1200" i="1">
                        <a:latin typeface="Cambria Math"/>
                      </a:rPr>
                      <m:t>𝑡</m:t>
                    </m:r>
                  </m:oMath>
                </a14:m>
                <a:r>
                  <a:rPr lang="en-US" altLang="ko-KR" sz="1200" i="1" dirty="0" smtClean="0">
                    <a:latin typeface="Cambria Math"/>
                  </a:rPr>
                  <a:t> </a:t>
                </a:r>
                <a:r>
                  <a:rPr lang="en-US" altLang="ko-KR" sz="1200" i="1" dirty="0" smtClean="0">
                    <a:solidFill>
                      <a:srgbClr val="FF0000"/>
                    </a:solidFill>
                    <a:latin typeface="Cambria Math"/>
                  </a:rPr>
                  <a:t> </a:t>
                </a:r>
                <a:r>
                  <a:rPr lang="en-US" altLang="ko-KR" sz="1200" dirty="0" smtClean="0">
                    <a:solidFill>
                      <a:srgbClr val="FF0000"/>
                    </a:solidFill>
                    <a:latin typeface="Cambria Math"/>
                    <a:sym typeface="Wingdings" pitchFamily="2" charset="2"/>
                  </a:rPr>
                  <a:t> main input</a:t>
                </a:r>
                <a:r>
                  <a:rPr lang="ko-KR" altLang="en-US" sz="1200" dirty="0" smtClean="0">
                    <a:solidFill>
                      <a:srgbClr val="FF0000"/>
                    </a:solidFill>
                    <a:latin typeface="Cambria Math"/>
                    <a:sym typeface="Wingdings" pitchFamily="2" charset="2"/>
                  </a:rPr>
                  <a:t>에 대한</a:t>
                </a:r>
                <a:r>
                  <a:rPr lang="en-US" altLang="ko-KR" sz="1200" dirty="0" smtClean="0">
                    <a:solidFill>
                      <a:srgbClr val="FF0000"/>
                    </a:solidFill>
                    <a:latin typeface="Cambria Math"/>
                    <a:sym typeface="Wingdings" pitchFamily="2" charset="2"/>
                  </a:rPr>
                  <a:t> </a:t>
                </a:r>
                <a:r>
                  <a:rPr lang="ko-KR" altLang="en-US" sz="1200" dirty="0" smtClean="0">
                    <a:solidFill>
                      <a:srgbClr val="FF0000"/>
                    </a:solidFill>
                    <a:latin typeface="Cambria Math"/>
                    <a:sym typeface="Wingdings" pitchFamily="2" charset="2"/>
                  </a:rPr>
                  <a:t>단위가 됨</a:t>
                </a:r>
                <a:r>
                  <a:rPr lang="en-US" altLang="ko-KR" sz="1200" dirty="0" smtClean="0">
                    <a:solidFill>
                      <a:srgbClr val="FF0000"/>
                    </a:solidFill>
                    <a:latin typeface="Cambria Math"/>
                    <a:sym typeface="Wingdings" pitchFamily="2" charset="2"/>
                  </a:rPr>
                  <a:t>(TOE)</a:t>
                </a:r>
                <a:endParaRPr lang="en-US" altLang="ko-KR" sz="1200" dirty="0">
                  <a:solidFill>
                    <a:srgbClr val="FF0000"/>
                  </a:solidFill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de-DE" altLang="ko-KR" sz="12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de-DE" altLang="ko-KR" sz="1200" i="1">
                            <a:latin typeface="Cambria Math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sz="1200" dirty="0"/>
                  <a:t>  : the capacity variable of technology </a:t>
                </a: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/>
                      </a:rPr>
                      <m:t>𝑖</m:t>
                    </m:r>
                    <m:r>
                      <a:rPr lang="en-US" altLang="ko-KR" sz="1200" i="1">
                        <a:latin typeface="Cambria Math"/>
                      </a:rPr>
                      <m:t>∈</m:t>
                    </m:r>
                    <m:r>
                      <a:rPr lang="en-US" altLang="ko-KR" sz="1200" i="1">
                        <a:latin typeface="Cambria Math"/>
                      </a:rPr>
                      <m:t>𝐼</m:t>
                    </m:r>
                  </m:oMath>
                </a14:m>
                <a:r>
                  <a:rPr lang="de-DE" altLang="ko-KR" sz="1200" dirty="0"/>
                  <a:t> at time </a:t>
                </a:r>
                <a14:m>
                  <m:oMath xmlns:m="http://schemas.openxmlformats.org/officeDocument/2006/math">
                    <m:r>
                      <a:rPr lang="de-DE" altLang="ko-KR" sz="1200" i="1">
                        <a:latin typeface="Cambria Math"/>
                      </a:rPr>
                      <m:t>𝑡</m:t>
                    </m:r>
                  </m:oMath>
                </a14:m>
                <a:r>
                  <a:rPr lang="en-US" altLang="ko-KR" sz="1200" dirty="0" smtClean="0"/>
                  <a:t> </a:t>
                </a:r>
                <a:r>
                  <a:rPr lang="en-US" altLang="ko-KR" sz="1200" i="1" dirty="0">
                    <a:solidFill>
                      <a:srgbClr val="FF0000"/>
                    </a:solidFill>
                    <a:latin typeface="Cambria Math"/>
                  </a:rPr>
                  <a:t> </a:t>
                </a:r>
                <a:r>
                  <a:rPr lang="en-US" altLang="ko-KR" sz="1200" dirty="0">
                    <a:solidFill>
                      <a:srgbClr val="FF0000"/>
                    </a:solidFill>
                    <a:latin typeface="Cambria Math"/>
                    <a:sym typeface="Wingdings" pitchFamily="2" charset="2"/>
                  </a:rPr>
                  <a:t> main </a:t>
                </a:r>
                <a:r>
                  <a:rPr lang="en-US" altLang="ko-KR" sz="1200" dirty="0" smtClean="0">
                    <a:solidFill>
                      <a:srgbClr val="FF0000"/>
                    </a:solidFill>
                    <a:latin typeface="Cambria Math"/>
                    <a:sym typeface="Wingdings" pitchFamily="2" charset="2"/>
                  </a:rPr>
                  <a:t>output</a:t>
                </a:r>
                <a:r>
                  <a:rPr lang="ko-KR" altLang="en-US" sz="1200" dirty="0">
                    <a:solidFill>
                      <a:srgbClr val="FF0000"/>
                    </a:solidFill>
                    <a:latin typeface="Cambria Math"/>
                    <a:sym typeface="Wingdings" pitchFamily="2" charset="2"/>
                  </a:rPr>
                  <a:t>에 대한</a:t>
                </a:r>
                <a:r>
                  <a:rPr lang="en-US" altLang="ko-KR" sz="1200" dirty="0">
                    <a:solidFill>
                      <a:srgbClr val="FF0000"/>
                    </a:solidFill>
                    <a:latin typeface="Cambria Math"/>
                    <a:sym typeface="Wingdings" pitchFamily="2" charset="2"/>
                  </a:rPr>
                  <a:t> </a:t>
                </a:r>
                <a:r>
                  <a:rPr lang="ko-KR" altLang="en-US" sz="1200" dirty="0">
                    <a:solidFill>
                      <a:srgbClr val="FF0000"/>
                    </a:solidFill>
                    <a:latin typeface="Cambria Math"/>
                    <a:sym typeface="Wingdings" pitchFamily="2" charset="2"/>
                  </a:rPr>
                  <a:t>단위가 됨</a:t>
                </a:r>
                <a:r>
                  <a:rPr lang="en-US" altLang="ko-KR" sz="1200" dirty="0" smtClean="0">
                    <a:solidFill>
                      <a:srgbClr val="FF0000"/>
                    </a:solidFill>
                    <a:latin typeface="Cambria Math"/>
                    <a:sym typeface="Wingdings" pitchFamily="2" charset="2"/>
                  </a:rPr>
                  <a:t>(TOE or km)</a:t>
                </a:r>
                <a:endParaRPr lang="en-US" altLang="ko-KR" sz="12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altLang="ko-KR" sz="1200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de-DE" altLang="ko-KR" sz="120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altLang="ko-KR" sz="1200" b="0" i="1" smtClean="0">
                              <a:latin typeface="Cambria Math"/>
                            </a:rPr>
                            <m:t>𝑡</m:t>
                          </m:r>
                        </m:sup>
                      </m:sSubSup>
                      <m:sSubSup>
                        <m:sSubSupPr>
                          <m:ctrlPr>
                            <a:rPr lang="ko-KR" altLang="ko-KR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altLang="ko-KR" sz="12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de-DE" altLang="ko-KR" sz="120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de-DE" altLang="ko-KR" sz="1200" i="1"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de-DE" altLang="ko-KR" sz="1200" i="1">
                          <a:latin typeface="Cambria Math"/>
                        </a:rPr>
                        <m:t>≤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ko-KR" altLang="ko-K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altLang="ko-KR" sz="1200" i="1">
                              <a:latin typeface="Cambria Math"/>
                            </a:rPr>
                            <m:t>𝑠</m:t>
                          </m:r>
                          <m:r>
                            <a:rPr lang="de-DE" altLang="ko-KR" sz="1200" i="1">
                              <a:latin typeface="Cambria Math"/>
                            </a:rPr>
                            <m:t>=</m:t>
                          </m:r>
                          <m:r>
                            <a:rPr lang="en-US" altLang="ko-KR" sz="1200" i="1">
                              <a:latin typeface="Cambria Math"/>
                            </a:rPr>
                            <m:t>𝑚𝑎𝑥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b="0" i="1" smtClean="0">
                                  <a:latin typeface="Cambria Math"/>
                                </a:rPr>
                                <m:t>1,</m:t>
                              </m:r>
                              <m:r>
                                <a:rPr lang="en-US" altLang="ko-KR" sz="12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ko-KR" sz="12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200" i="1"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sub>
                        <m:sup>
                          <m:r>
                            <a:rPr lang="de-DE" altLang="ko-KR" sz="1200" i="1">
                              <a:latin typeface="Cambria Math"/>
                            </a:rPr>
                            <m:t>𝑡</m:t>
                          </m:r>
                        </m:sup>
                        <m:e>
                          <m:sSubSup>
                            <m:sSubSupPr>
                              <m:ctrlPr>
                                <a:rPr lang="ko-KR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altLang="ko-KR" sz="12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DE" altLang="ko-KR" sz="1200" i="1">
                                  <a:latin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de-DE" altLang="ko-KR" sz="1200" i="1">
                                  <a:latin typeface="Cambria Math"/>
                                </a:rPr>
                                <m:t>𝑠</m:t>
                              </m:r>
                            </m:sup>
                          </m:sSubSup>
                        </m:e>
                      </m:nary>
                      <m:r>
                        <a:rPr lang="de-DE" altLang="ko-KR" sz="1200"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ko-KR" altLang="ko-KR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altLang="ko-KR" sz="12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de-DE" altLang="ko-KR" sz="120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de-DE" altLang="ko-KR" sz="1200" i="1"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de-DE" altLang="ko-KR" sz="1200" i="1">
                          <a:latin typeface="Cambria Math"/>
                        </a:rPr>
                        <m:t>,          </m:t>
                      </m:r>
                      <m:r>
                        <a:rPr lang="de-DE" altLang="ko-KR" sz="1200" i="1">
                          <a:latin typeface="Cambria Math"/>
                        </a:rPr>
                        <m:t>𝑖</m:t>
                      </m:r>
                      <m:r>
                        <a:rPr lang="de-DE" altLang="ko-KR" sz="1200" i="1">
                          <a:latin typeface="Cambria Math"/>
                        </a:rPr>
                        <m:t>∈</m:t>
                      </m:r>
                      <m:r>
                        <a:rPr lang="de-DE" altLang="ko-KR" sz="1200" i="1">
                          <a:latin typeface="Cambria Math"/>
                        </a:rPr>
                        <m:t>𝐼</m:t>
                      </m:r>
                      <m:r>
                        <a:rPr lang="de-DE" altLang="ko-KR" sz="1200" i="1">
                          <a:latin typeface="Cambria Math"/>
                        </a:rPr>
                        <m:t>,  </m:t>
                      </m:r>
                      <m:r>
                        <a:rPr lang="de-DE" altLang="ko-KR" sz="1200" i="1">
                          <a:latin typeface="Cambria Math"/>
                        </a:rPr>
                        <m:t>𝑡</m:t>
                      </m:r>
                      <m:r>
                        <a:rPr lang="de-DE" altLang="ko-KR" sz="1200" i="1">
                          <a:latin typeface="Cambria Math"/>
                        </a:rPr>
                        <m:t>=1,2,⋯,</m:t>
                      </m:r>
                      <m:r>
                        <a:rPr lang="de-DE" altLang="ko-KR" sz="1200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5" name="내용 개체 틀 1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0625" y="884766"/>
                <a:ext cx="8010525" cy="3093341"/>
              </a:xfrm>
              <a:blipFill rotWithShape="0">
                <a:blip r:embed="rId2"/>
                <a:stretch>
                  <a:fillRect b="-78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3968598" y="5261641"/>
            <a:ext cx="934967" cy="5066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dirty="0"/>
              <a:t>tech(i)</a:t>
            </a:r>
          </a:p>
        </p:txBody>
      </p:sp>
      <p:sp>
        <p:nvSpPr>
          <p:cNvPr id="6" name="Line 18"/>
          <p:cNvSpPr>
            <a:spLocks noChangeShapeType="1"/>
          </p:cNvSpPr>
          <p:nvPr/>
        </p:nvSpPr>
        <p:spPr bwMode="auto">
          <a:xfrm>
            <a:off x="3241767" y="5634043"/>
            <a:ext cx="72536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" name="Line 25"/>
          <p:cNvSpPr>
            <a:spLocks noChangeShapeType="1"/>
          </p:cNvSpPr>
          <p:nvPr/>
        </p:nvSpPr>
        <p:spPr bwMode="auto">
          <a:xfrm>
            <a:off x="4903565" y="5406833"/>
            <a:ext cx="545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Box 43"/>
          <p:cNvSpPr txBox="1">
            <a:spLocks noChangeArrowheads="1"/>
          </p:cNvSpPr>
          <p:nvPr/>
        </p:nvSpPr>
        <p:spPr bwMode="auto">
          <a:xfrm>
            <a:off x="3445454" y="5430844"/>
            <a:ext cx="4953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hangingPunct="1"/>
            <a:r>
              <a:rPr lang="en-US" altLang="ko-KR"/>
              <a:t>1/9</a:t>
            </a:r>
          </a:p>
        </p:txBody>
      </p:sp>
      <p:sp>
        <p:nvSpPr>
          <p:cNvPr id="9" name="Text Box 44"/>
          <p:cNvSpPr txBox="1">
            <a:spLocks noChangeArrowheads="1"/>
          </p:cNvSpPr>
          <p:nvPr/>
        </p:nvSpPr>
        <p:spPr bwMode="auto">
          <a:xfrm>
            <a:off x="4943519" y="5162909"/>
            <a:ext cx="52167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hangingPunct="1"/>
            <a:r>
              <a:rPr lang="en-US" altLang="ko-KR" dirty="0"/>
              <a:t>30</a:t>
            </a:r>
          </a:p>
        </p:txBody>
      </p:sp>
      <p:sp>
        <p:nvSpPr>
          <p:cNvPr id="10" name="Line 49"/>
          <p:cNvSpPr>
            <a:spLocks noChangeShapeType="1"/>
          </p:cNvSpPr>
          <p:nvPr/>
        </p:nvSpPr>
        <p:spPr bwMode="auto">
          <a:xfrm>
            <a:off x="3045405" y="5382291"/>
            <a:ext cx="92319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Box 50"/>
          <p:cNvSpPr txBox="1">
            <a:spLocks noChangeArrowheads="1"/>
          </p:cNvSpPr>
          <p:nvPr/>
        </p:nvSpPr>
        <p:spPr bwMode="auto">
          <a:xfrm>
            <a:off x="3446920" y="5179093"/>
            <a:ext cx="442546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hangingPunct="1"/>
            <a:r>
              <a:rPr lang="en-US" altLang="ko-KR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3722" y="5259767"/>
            <a:ext cx="849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</a:rPr>
              <a:t>main input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4" name="Line 25"/>
          <p:cNvSpPr>
            <a:spLocks noChangeShapeType="1"/>
          </p:cNvSpPr>
          <p:nvPr/>
        </p:nvSpPr>
        <p:spPr bwMode="auto">
          <a:xfrm>
            <a:off x="4911694" y="5697654"/>
            <a:ext cx="8172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Box 44"/>
          <p:cNvSpPr txBox="1">
            <a:spLocks noChangeArrowheads="1"/>
          </p:cNvSpPr>
          <p:nvPr/>
        </p:nvSpPr>
        <p:spPr bwMode="auto">
          <a:xfrm>
            <a:off x="4943519" y="5477457"/>
            <a:ext cx="52167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hangingPunct="1"/>
            <a:r>
              <a:rPr lang="en-US" altLang="ko-KR" dirty="0"/>
              <a:t>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/>
              <p:cNvSpPr/>
              <p:nvPr/>
            </p:nvSpPr>
            <p:spPr>
              <a:xfrm>
                <a:off x="4173034" y="4974162"/>
                <a:ext cx="412805" cy="3179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ko-KR" altLang="ko-KR" sz="1400" i="1" kern="0">
                              <a:solidFill>
                                <a:srgbClr val="1838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altLang="ko-KR" sz="1400" i="1" kern="0">
                              <a:solidFill>
                                <a:srgbClr val="183883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de-DE" altLang="ko-KR" sz="1400" i="1" kern="0">
                              <a:solidFill>
                                <a:srgbClr val="183883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de-DE" altLang="ko-KR" sz="1400" i="1" kern="0">
                              <a:solidFill>
                                <a:srgbClr val="183883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직사각형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3034" y="4974162"/>
                <a:ext cx="412805" cy="317972"/>
              </a:xfrm>
              <a:prstGeom prst="rect">
                <a:avLst/>
              </a:prstGeom>
              <a:blipFill rotWithShape="0">
                <a:blip r:embed="rId3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직사각형 17"/>
              <p:cNvSpPr/>
              <p:nvPr/>
            </p:nvSpPr>
            <p:spPr>
              <a:xfrm>
                <a:off x="2575076" y="5204996"/>
                <a:ext cx="556498" cy="3179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ko-KR" altLang="ko-KR" sz="1400" i="1" kern="0">
                              <a:solidFill>
                                <a:srgbClr val="18388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 kern="0">
                              <a:solidFill>
                                <a:srgbClr val="183883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ko-KR" sz="1400" i="1" kern="0">
                              <a:solidFill>
                                <a:srgbClr val="183883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de-DE" altLang="ko-KR" sz="1400" i="1" kern="0">
                              <a:solidFill>
                                <a:srgbClr val="183883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de-DE" altLang="ko-KR" sz="1400" i="1" kern="0">
                              <a:solidFill>
                                <a:srgbClr val="183883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en-US" altLang="ko-KR" sz="1400" i="1" kern="0">
                          <a:solidFill>
                            <a:srgbClr val="18388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직사각형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76" y="5204996"/>
                <a:ext cx="556498" cy="317972"/>
              </a:xfrm>
              <a:prstGeom prst="rect">
                <a:avLst/>
              </a:prstGeom>
              <a:blipFill rotWithShape="0"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5448688" y="5259181"/>
            <a:ext cx="926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</a:rPr>
              <a:t>main output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870296" y="5969224"/>
            <a:ext cx="5931432" cy="276999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</a:rPr>
              <a:t>LP</a:t>
            </a:r>
            <a:r>
              <a:rPr lang="ko-KR" altLang="en-US" dirty="0">
                <a:solidFill>
                  <a:srgbClr val="000000"/>
                </a:solidFill>
              </a:rPr>
              <a:t>이므로 당연히 </a:t>
            </a:r>
            <a:r>
              <a:rPr lang="en-US" altLang="ko-KR" dirty="0">
                <a:solidFill>
                  <a:srgbClr val="000000"/>
                </a:solidFill>
              </a:rPr>
              <a:t>I/O </a:t>
            </a:r>
            <a:r>
              <a:rPr lang="ko-KR" altLang="en-US" dirty="0">
                <a:solidFill>
                  <a:srgbClr val="000000"/>
                </a:solidFill>
              </a:rPr>
              <a:t>간에 </a:t>
            </a:r>
            <a:r>
              <a:rPr lang="en-US" altLang="ko-KR" dirty="0">
                <a:solidFill>
                  <a:srgbClr val="000000"/>
                </a:solidFill>
              </a:rPr>
              <a:t>proportionality</a:t>
            </a:r>
            <a:r>
              <a:rPr lang="ko-KR" altLang="en-US" dirty="0">
                <a:solidFill>
                  <a:srgbClr val="000000"/>
                </a:solidFill>
              </a:rPr>
              <a:t>가 성립함</a:t>
            </a:r>
            <a:r>
              <a:rPr lang="en-US" altLang="ko-KR" dirty="0">
                <a:solidFill>
                  <a:srgbClr val="000000"/>
                </a:solidFill>
              </a:rPr>
              <a:t>. </a:t>
            </a:r>
            <a:r>
              <a:rPr lang="ko-KR" altLang="en-US" dirty="0">
                <a:solidFill>
                  <a:srgbClr val="000000"/>
                </a:solidFill>
              </a:rPr>
              <a:t>따라서 </a:t>
            </a:r>
            <a:r>
              <a:rPr lang="en-US" altLang="ko-KR" dirty="0">
                <a:solidFill>
                  <a:srgbClr val="000000"/>
                </a:solidFill>
              </a:rPr>
              <a:t>main input </a:t>
            </a:r>
            <a:r>
              <a:rPr lang="ko-KR" altLang="en-US" dirty="0">
                <a:solidFill>
                  <a:srgbClr val="000000"/>
                </a:solidFill>
              </a:rPr>
              <a:t>은 </a:t>
            </a:r>
            <a:r>
              <a:rPr lang="en-US" altLang="ko-KR" dirty="0">
                <a:solidFill>
                  <a:srgbClr val="000000"/>
                </a:solidFill>
              </a:rPr>
              <a:t>1</a:t>
            </a:r>
            <a:r>
              <a:rPr lang="ko-KR" altLang="en-US" dirty="0">
                <a:solidFill>
                  <a:srgbClr val="000000"/>
                </a:solidFill>
              </a:rPr>
              <a:t>로 고정시킴</a:t>
            </a:r>
            <a:r>
              <a:rPr lang="en-US" altLang="ko-KR" dirty="0">
                <a:solidFill>
                  <a:srgbClr val="000000"/>
                </a:solidFill>
              </a:rPr>
              <a:t>.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982020" y="3872911"/>
            <a:ext cx="4459875" cy="276999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</a:rPr>
              <a:t>t</a:t>
            </a:r>
            <a:r>
              <a:rPr lang="ko-KR" altLang="en-US" dirty="0">
                <a:solidFill>
                  <a:srgbClr val="000000"/>
                </a:solidFill>
              </a:rPr>
              <a:t>년도의 활동량은 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그 해까지 누적된 생산량의 합에 의해 제약됨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직사각형 23"/>
              <p:cNvSpPr/>
              <p:nvPr/>
            </p:nvSpPr>
            <p:spPr>
              <a:xfrm>
                <a:off x="2406136" y="4242526"/>
                <a:ext cx="4946932" cy="6345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eaLnBrk="0" latinLnBrk="0" hangingPunct="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kern="0">
                          <a:solidFill>
                            <a:srgbClr val="000000"/>
                          </a:solidFill>
                          <a:latin typeface="Cambria Math"/>
                        </a:rPr>
                        <m:t>30</m:t>
                      </m:r>
                      <m:sSubSup>
                        <m:sSubSupPr>
                          <m:ctrlPr>
                            <a:rPr lang="ko-KR" altLang="ko-K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altLang="ko-KR" i="1" ker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de-DE" altLang="ko-KR" i="1" ker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de-DE" altLang="ko-KR" i="1" ker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de-DE" altLang="ko-KR" i="1" kern="0">
                          <a:solidFill>
                            <a:srgbClr val="000000"/>
                          </a:solidFill>
                          <a:latin typeface="Cambria Math"/>
                        </a:rPr>
                        <m:t>≤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ko-KR" altLang="ko-K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altLang="ko-KR" i="1" ker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de-DE" altLang="ko-KR" i="1" ker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altLang="ko-KR" i="1" ker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𝑚𝑎𝑥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ko-K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 ker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1,</m:t>
                              </m:r>
                              <m:r>
                                <a:rPr lang="en-US" altLang="ko-KR" i="1" ker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ko-KR" i="1" ker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−10+1</m:t>
                              </m:r>
                            </m:e>
                          </m:d>
                        </m:sub>
                        <m:sup>
                          <m:r>
                            <a:rPr lang="de-DE" altLang="ko-KR" i="1" ker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  <m:e>
                          <m:sSubSup>
                            <m:sSubSupPr>
                              <m:ctrlPr>
                                <a:rPr lang="ko-KR" altLang="ko-KR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altLang="ko-KR" i="1" ker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DE" altLang="ko-KR" i="1" ker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de-DE" altLang="ko-KR" i="1" ker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sup>
                          </m:sSubSup>
                        </m:e>
                      </m:nary>
                      <m:r>
                        <a:rPr lang="de-DE" altLang="ko-KR" ker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ko-KR" altLang="ko-KR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altLang="ko-KR" i="1" ker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de-DE" altLang="ko-KR" i="1" ker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de-DE" altLang="ko-KR" i="1" ker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de-DE" altLang="ko-KR" i="1" kern="0">
                          <a:solidFill>
                            <a:srgbClr val="000000"/>
                          </a:solidFill>
                          <a:latin typeface="Cambria Math"/>
                        </a:rPr>
                        <m:t>,          </m:t>
                      </m:r>
                      <m:r>
                        <a:rPr lang="de-DE" altLang="ko-KR" i="1" kern="0">
                          <a:solidFill>
                            <a:srgbClr val="000000"/>
                          </a:solidFill>
                          <a:latin typeface="Cambria Math"/>
                        </a:rPr>
                        <m:t>𝑖</m:t>
                      </m:r>
                      <m:r>
                        <a:rPr lang="de-DE" altLang="ko-KR" i="1" kern="0">
                          <a:solidFill>
                            <a:srgbClr val="000000"/>
                          </a:solidFill>
                          <a:latin typeface="Cambria Math"/>
                        </a:rPr>
                        <m:t>∈</m:t>
                      </m:r>
                      <m:r>
                        <a:rPr lang="de-DE" altLang="ko-KR" i="1" kern="0">
                          <a:solidFill>
                            <a:srgbClr val="000000"/>
                          </a:solidFill>
                          <a:latin typeface="Cambria Math"/>
                        </a:rPr>
                        <m:t>𝐼</m:t>
                      </m:r>
                      <m:r>
                        <a:rPr lang="de-DE" altLang="ko-KR" i="1" kern="0">
                          <a:solidFill>
                            <a:srgbClr val="000000"/>
                          </a:solidFill>
                          <a:latin typeface="Cambria Math"/>
                        </a:rPr>
                        <m:t>,  </m:t>
                      </m:r>
                      <m:r>
                        <a:rPr lang="de-DE" altLang="ko-KR" i="1" kern="0">
                          <a:solidFill>
                            <a:srgbClr val="000000"/>
                          </a:solidFill>
                          <a:latin typeface="Cambria Math"/>
                        </a:rPr>
                        <m:t>𝑡</m:t>
                      </m:r>
                      <m:r>
                        <a:rPr lang="de-DE" altLang="ko-KR" i="1" kern="0">
                          <a:solidFill>
                            <a:srgbClr val="000000"/>
                          </a:solidFill>
                          <a:latin typeface="Cambria Math"/>
                        </a:rPr>
                        <m:t>=1,2,⋯,</m:t>
                      </m:r>
                      <m:r>
                        <a:rPr lang="de-DE" altLang="ko-KR" i="1" kern="0">
                          <a:solidFill>
                            <a:srgbClr val="000000"/>
                          </a:solidFill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ko-KR" altLang="en-US" kern="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24" name="직사각형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136" y="4242526"/>
                <a:ext cx="4946932" cy="63453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직선 연결선 22"/>
          <p:cNvCxnSpPr/>
          <p:nvPr/>
        </p:nvCxnSpPr>
        <p:spPr bwMode="auto">
          <a:xfrm>
            <a:off x="2957743" y="3519046"/>
            <a:ext cx="332552" cy="0"/>
          </a:xfrm>
          <a:prstGeom prst="line">
            <a:avLst/>
          </a:prstGeom>
          <a:solidFill>
            <a:schemeClr val="bg2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1823534" y="3518370"/>
            <a:ext cx="16193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main output </a:t>
            </a:r>
            <a:r>
              <a:rPr lang="ko-KR" altLang="en-US" dirty="0">
                <a:solidFill>
                  <a:srgbClr val="FF0000"/>
                </a:solidFill>
              </a:rPr>
              <a:t>단위가 됨</a:t>
            </a:r>
          </a:p>
        </p:txBody>
      </p:sp>
    </p:spTree>
    <p:extLst>
      <p:ext uri="{BB962C8B-B14F-4D97-AF65-F5344CB8AC3E}">
        <p14:creationId xmlns:p14="http://schemas.microsoft.com/office/powerpoint/2010/main" val="3901701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en-US" altLang="ko-KR" b="0" dirty="0" smtClean="0"/>
              <a:t>Flow </a:t>
            </a:r>
            <a:r>
              <a:rPr lang="en-US" altLang="ko-KR" b="0" dirty="0"/>
              <a:t>Conservation Constraint</a:t>
            </a:r>
            <a:endParaRPr lang="ko-KR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1158216" y="992267"/>
                <a:ext cx="8010525" cy="3662658"/>
              </a:xfrm>
            </p:spPr>
            <p:txBody>
              <a:bodyPr/>
              <a:lstStyle/>
              <a:p>
                <a:r>
                  <a:rPr lang="de-DE" altLang="ko-KR" sz="12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𝐸</m:t>
                    </m:r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set of all energy forms. For an energy form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𝑗</m:t>
                    </m:r>
                    <m:r>
                      <a:rPr lang="de-DE" altLang="ko-KR" sz="1200" b="0" i="1">
                        <a:latin typeface="Cambria Math"/>
                      </a:rPr>
                      <m:t>∈</m:t>
                    </m:r>
                    <m:r>
                      <a:rPr lang="en-US" altLang="ko-KR" sz="1200" b="0" i="1" smtClean="0">
                        <a:latin typeface="Cambria Math"/>
                      </a:rPr>
                      <m:t>𝐽</m:t>
                    </m:r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𝑃</m:t>
                    </m:r>
                    <m:r>
                      <a:rPr lang="de-DE" altLang="ko-KR" sz="1200" b="0" i="1">
                        <a:latin typeface="Cambria Math"/>
                      </a:rPr>
                      <m:t>(</m:t>
                    </m:r>
                    <m:r>
                      <a:rPr lang="de-DE" altLang="ko-KR" sz="1200" b="0" i="1">
                        <a:latin typeface="Cambria Math"/>
                      </a:rPr>
                      <m:t>𝑗</m:t>
                    </m:r>
                    <m:r>
                      <a:rPr lang="de-DE" altLang="ko-KR" sz="1200" b="0" i="1">
                        <a:latin typeface="Cambria Math"/>
                      </a:rPr>
                      <m:t>)</m:t>
                    </m:r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denotes the set of input technologies generating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𝑗</m:t>
                    </m:r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𝐶</m:t>
                    </m:r>
                    <m:r>
                      <a:rPr lang="de-DE" altLang="ko-KR" sz="1200" b="0" i="1">
                        <a:latin typeface="Cambria Math"/>
                      </a:rPr>
                      <m:t>(</m:t>
                    </m:r>
                    <m:r>
                      <a:rPr lang="de-DE" altLang="ko-KR" sz="1200" b="0" i="1">
                        <a:latin typeface="Cambria Math"/>
                      </a:rPr>
                      <m:t>𝑗</m:t>
                    </m:r>
                    <m:r>
                      <a:rPr lang="de-DE" altLang="ko-KR" sz="1200" b="0" i="1">
                        <a:latin typeface="Cambria Math"/>
                      </a:rPr>
                      <m:t>)</m:t>
                    </m:r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denotes the set of technologies consuming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𝑗</m:t>
                    </m:r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energy flow balance constraint for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𝑗</m:t>
                    </m:r>
                    <m:r>
                      <a:rPr lang="de-DE" altLang="ko-KR" sz="1200" b="0" i="1">
                        <a:latin typeface="Cambria Math"/>
                      </a:rPr>
                      <m:t>∈</m:t>
                    </m:r>
                    <m:r>
                      <a:rPr lang="de-DE" altLang="ko-KR" sz="1200" b="0" i="1">
                        <a:latin typeface="Cambria Math"/>
                      </a:rPr>
                      <m:t>𝐸</m:t>
                    </m:r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written </a:t>
                </a:r>
                <a:r>
                  <a:rPr lang="de-DE" altLang="ko-KR" sz="12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altLang="ko-KR" sz="1200" b="0" i="1">
                              <a:latin typeface="Cambria Math"/>
                            </a:rPr>
                            <m:t>𝑖</m:t>
                          </m:r>
                          <m:r>
                            <a:rPr lang="de-DE" altLang="ko-KR" sz="1200" b="0" i="1">
                              <a:latin typeface="Cambria Math"/>
                            </a:rPr>
                            <m:t>∈</m:t>
                          </m:r>
                          <m:r>
                            <a:rPr lang="en-US" altLang="ko-KR" sz="1200" b="0" i="1" smtClean="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altLang="ko-KR" sz="1200" b="0" i="1"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sSubSup>
                            <m:sSubSup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200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DE" altLang="ko-KR" sz="1200" b="0" i="1">
                                  <a:latin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de-DE" altLang="ko-KR" sz="1200" b="0" i="1">
                                  <a:latin typeface="Cambria Math"/>
                                </a:rPr>
                                <m:t>𝑡</m:t>
                              </m:r>
                            </m:sup>
                          </m:sSubSup>
                        </m:e>
                      </m:nary>
                      <m:d>
                        <m:d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altLang="ko-KR" sz="1200" b="0" i="1">
                              <a:latin typeface="Cambria Math"/>
                            </a:rPr>
                            <m:t>𝑗</m:t>
                          </m:r>
                        </m:e>
                      </m:d>
                      <m:sSubSup>
                        <m:sSubSup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altLang="ko-KR" sz="1200" b="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de-DE" altLang="ko-KR" sz="1200" b="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de-DE" altLang="ko-KR" sz="1200" b="0" i="1"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en-US" altLang="ko-KR" sz="1200" b="0" i="1" smtClean="0">
                          <a:latin typeface="Cambria Math"/>
                        </a:rPr>
                        <m:t>≥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altLang="ko-KR" sz="1200" b="0" i="1">
                              <a:latin typeface="Cambria Math"/>
                            </a:rPr>
                            <m:t>𝑖</m:t>
                          </m:r>
                          <m:r>
                            <a:rPr lang="de-DE" altLang="ko-KR" sz="1200" b="0" i="1">
                              <a:latin typeface="Cambria Math"/>
                            </a:rPr>
                            <m:t>∈</m:t>
                          </m:r>
                          <m:r>
                            <a:rPr lang="en-US" altLang="ko-KR" sz="1200" b="0" i="1" smtClean="0">
                              <a:latin typeface="Cambria Math"/>
                            </a:rPr>
                            <m:t>𝐶</m:t>
                          </m:r>
                          <m:d>
                            <m:d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altLang="ko-KR" sz="1200" b="0" i="1"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sSubSup>
                            <m:sSubSup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200" b="0" i="1" smtClean="0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altLang="ko-KR" sz="1200" b="0" i="1">
                                  <a:latin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de-DE" altLang="ko-KR" sz="1200" b="0" i="1">
                                  <a:latin typeface="Cambria Math"/>
                                </a:rPr>
                                <m:t>𝑡</m:t>
                              </m:r>
                            </m:sup>
                          </m:sSubSup>
                          <m:d>
                            <m:d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altLang="ko-KR" sz="1200" b="0" i="1"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</m:e>
                      </m:nary>
                      <m:sSubSup>
                        <m:sSubSup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altLang="ko-KR" sz="1200" b="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de-DE" altLang="ko-KR" sz="1200" b="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de-DE" altLang="ko-KR" sz="1200" b="0" i="1"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de-DE" altLang="ko-KR" sz="1200" b="0">
                          <a:latin typeface="Cambria Math"/>
                        </a:rPr>
                        <m:t>,     </m:t>
                      </m:r>
                      <m:r>
                        <a:rPr lang="de-DE" altLang="ko-KR" sz="1200" b="0" i="1">
                          <a:latin typeface="Cambria Math"/>
                        </a:rPr>
                        <m:t>𝑗</m:t>
                      </m:r>
                      <m:r>
                        <a:rPr lang="de-DE" altLang="ko-KR" sz="1200" b="0" i="1">
                          <a:latin typeface="Cambria Math"/>
                        </a:rPr>
                        <m:t>∈</m:t>
                      </m:r>
                      <m:r>
                        <a:rPr lang="en-US" altLang="ko-KR" sz="1200" b="0" i="1" smtClean="0">
                          <a:latin typeface="Cambria Math"/>
                        </a:rPr>
                        <m:t>𝐽</m:t>
                      </m:r>
                      <m:r>
                        <a:rPr lang="de-DE" altLang="ko-KR" sz="1200" b="0" i="1">
                          <a:latin typeface="Cambria Math"/>
                        </a:rPr>
                        <m:t>,  </m:t>
                      </m:r>
                      <m:r>
                        <a:rPr lang="de-DE" altLang="ko-KR" sz="1200" b="0" i="1">
                          <a:latin typeface="Cambria Math"/>
                        </a:rPr>
                        <m:t>𝑡</m:t>
                      </m:r>
                      <m:r>
                        <a:rPr lang="de-DE" altLang="ko-KR" sz="1200" b="0" i="1">
                          <a:latin typeface="Cambria Math"/>
                        </a:rPr>
                        <m:t>=1,2,⋯,</m:t>
                      </m:r>
                      <m:r>
                        <a:rPr lang="de-DE" altLang="ko-KR" sz="1200" b="0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altLang="ko-KR" sz="12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55600" indent="0">
                  <a:buNone/>
                </a:pPr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de-DE" altLang="ko-KR" sz="1200" b="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de-DE" altLang="ko-KR" sz="1200" b="0" i="1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de-DE" altLang="ko-KR" sz="1200" b="0" i="1">
                        <a:latin typeface="Cambria Math"/>
                      </a:rPr>
                      <m:t>(</m:t>
                    </m:r>
                    <m:r>
                      <a:rPr lang="de-DE" altLang="ko-KR" sz="1200" b="0" i="1">
                        <a:latin typeface="Cambria Math"/>
                      </a:rPr>
                      <m:t>𝑗</m:t>
                    </m:r>
                    <m:r>
                      <a:rPr lang="de-DE" altLang="ko-KR" sz="1200" b="0" i="1">
                        <a:latin typeface="Cambria Math"/>
                      </a:rPr>
                      <m:t>)</m:t>
                    </m:r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energy flow of technology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𝑖</m:t>
                    </m:r>
                    <m:r>
                      <a:rPr lang="de-DE" altLang="ko-KR" sz="1200" b="0" i="1">
                        <a:latin typeface="Cambria Math"/>
                      </a:rPr>
                      <m:t>∈</m:t>
                    </m:r>
                    <m:r>
                      <a:rPr lang="de-DE" altLang="ko-KR" sz="1200" b="0" i="1">
                        <a:latin typeface="Cambria Math"/>
                      </a:rPr>
                      <m:t>𝑃</m:t>
                    </m:r>
                    <m:r>
                      <a:rPr lang="de-DE" altLang="ko-KR" sz="1200" b="0" i="1">
                        <a:latin typeface="Cambria Math"/>
                      </a:rPr>
                      <m:t>(</m:t>
                    </m:r>
                    <m:r>
                      <a:rPr lang="de-DE" altLang="ko-KR" sz="1200" b="0" i="1">
                        <a:latin typeface="Cambria Math"/>
                      </a:rPr>
                      <m:t>𝑗</m:t>
                    </m:r>
                    <m:r>
                      <a:rPr lang="de-DE" altLang="ko-KR" sz="1200" b="0" i="1">
                        <a:latin typeface="Cambria Math"/>
                      </a:rPr>
                      <m:t>)</m:t>
                    </m:r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generating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𝑗</m:t>
                    </m:r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de-DE" altLang="ko-KR" sz="1200" b="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de-DE" altLang="ko-KR" sz="1200" b="0" i="1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de-DE" altLang="ko-KR" sz="1200" b="0" i="1">
                        <a:latin typeface="Cambria Math"/>
                      </a:rPr>
                      <m:t>(</m:t>
                    </m:r>
                    <m:r>
                      <a:rPr lang="de-DE" altLang="ko-KR" sz="1200" b="0" i="1">
                        <a:latin typeface="Cambria Math"/>
                      </a:rPr>
                      <m:t>𝑗</m:t>
                    </m:r>
                    <m:r>
                      <a:rPr lang="de-DE" altLang="ko-KR" sz="1200" b="0" i="1">
                        <a:latin typeface="Cambria Math"/>
                      </a:rPr>
                      <m:t>)</m:t>
                    </m:r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energy flow of technology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𝑖</m:t>
                    </m:r>
                    <m:r>
                      <a:rPr lang="de-DE" altLang="ko-KR" sz="1200" b="0" i="1">
                        <a:latin typeface="Cambria Math"/>
                      </a:rPr>
                      <m:t>∈</m:t>
                    </m:r>
                    <m:r>
                      <a:rPr lang="de-DE" altLang="ko-KR" sz="1200" b="0" i="1">
                        <a:latin typeface="Cambria Math"/>
                      </a:rPr>
                      <m:t>𝐶</m:t>
                    </m:r>
                    <m:r>
                      <a:rPr lang="de-DE" altLang="ko-KR" sz="1200" b="0" i="1">
                        <a:latin typeface="Cambria Math"/>
                      </a:rPr>
                      <m:t>(</m:t>
                    </m:r>
                    <m:r>
                      <a:rPr lang="de-DE" altLang="ko-KR" sz="1200" b="0" i="1">
                        <a:latin typeface="Cambria Math"/>
                      </a:rPr>
                      <m:t>𝑗</m:t>
                    </m:r>
                    <m:r>
                      <a:rPr lang="de-DE" altLang="ko-KR" sz="1200" b="0" i="1">
                        <a:latin typeface="Cambria Math"/>
                      </a:rPr>
                      <m:t>)</m:t>
                    </m:r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consuming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𝑗</m:t>
                    </m:r>
                  </m:oMath>
                </a14:m>
                <a:r>
                  <a:rPr lang="en-US" altLang="ko-KR" sz="12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𝐾</m:t>
                    </m:r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set of all service demands,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de-DE" altLang="ko-KR" sz="1200" b="0">
                        <a:latin typeface="Cambria Math"/>
                      </a:rPr>
                      <m:t>⊆</m:t>
                    </m:r>
                    <m:r>
                      <a:rPr lang="en-US" altLang="ko-KR" sz="1200" b="0" i="1" smtClean="0">
                        <a:latin typeface="Cambria Math"/>
                      </a:rPr>
                      <m:t>𝐼</m:t>
                    </m:r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denotes the set of demand technologies for service demand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𝑘</m:t>
                    </m:r>
                    <m:r>
                      <a:rPr lang="de-DE" altLang="ko-KR" sz="1200" b="0" i="1">
                        <a:latin typeface="Cambria Math"/>
                      </a:rPr>
                      <m:t>∈</m:t>
                    </m:r>
                    <m:r>
                      <a:rPr lang="de-DE" altLang="ko-KR" sz="1200" b="0" i="1">
                        <a:latin typeface="Cambria Math"/>
                      </a:rPr>
                      <m:t>𝐾</m:t>
                    </m:r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Then, the demand constraint for the service demand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𝑘</m:t>
                    </m:r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expressed </a:t>
                </a:r>
                <a:r>
                  <a:rPr lang="de-DE" altLang="ko-KR" sz="12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e-DE" altLang="ko-KR" sz="1200" b="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de-DE" altLang="ko-KR" sz="1200" b="0" i="1">
                                  <a:latin typeface="Cambria Math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ko-KR" sz="1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altLang="ko-KR" sz="1200" b="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de-DE" altLang="ko-KR" sz="1200" b="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  <m:d>
                                    <m:dPr>
                                      <m:ctrlPr>
                                        <a:rPr lang="en-US" altLang="ko-KR" sz="1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2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𝑘</m:t>
                                      </m:r>
                                    </m:e>
                                  </m:d>
                                </m:sub>
                                <m:sup>
                                  <m:r>
                                    <a:rPr lang="en-US" altLang="ko-KR" sz="1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</m:nary>
                          <m:r>
                            <a:rPr lang="de-DE" altLang="ko-KR" sz="1200" b="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de-DE" altLang="ko-KR" sz="1200" b="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de-DE" altLang="ko-KR" sz="1200" b="0" i="1"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de-DE" altLang="ko-KR" sz="1200" b="0" i="1">
                          <a:latin typeface="Cambria Math"/>
                        </a:rPr>
                        <m:t>≥</m:t>
                      </m:r>
                      <m:sSubSup>
                        <m:sSubSup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altLang="ko-KR" sz="1200" b="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de-DE" altLang="ko-KR" sz="1200" b="0" i="1"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lang="de-DE" altLang="ko-KR" sz="1200" b="0" i="1"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de-DE" altLang="ko-KR" sz="1200" b="0" i="1">
                          <a:latin typeface="Cambria Math"/>
                        </a:rPr>
                        <m:t>,        </m:t>
                      </m:r>
                      <m:r>
                        <a:rPr lang="de-DE" altLang="ko-KR" sz="1200" b="0" i="1">
                          <a:latin typeface="Cambria Math"/>
                        </a:rPr>
                        <m:t>𝑘</m:t>
                      </m:r>
                      <m:r>
                        <a:rPr lang="de-DE" altLang="ko-KR" sz="1200" b="0" i="1">
                          <a:latin typeface="Cambria Math"/>
                        </a:rPr>
                        <m:t>∈</m:t>
                      </m:r>
                      <m:r>
                        <a:rPr lang="de-DE" altLang="ko-KR" sz="1200" b="0" i="1">
                          <a:latin typeface="Cambria Math"/>
                        </a:rPr>
                        <m:t>𝐾</m:t>
                      </m:r>
                      <m:r>
                        <a:rPr lang="de-DE" altLang="ko-KR" sz="1200" b="0" i="1">
                          <a:latin typeface="Cambria Math"/>
                        </a:rPr>
                        <m:t>,  </m:t>
                      </m:r>
                      <m:r>
                        <a:rPr lang="de-DE" altLang="ko-KR" sz="1200" b="0" i="1">
                          <a:latin typeface="Cambria Math"/>
                        </a:rPr>
                        <m:t>𝑡</m:t>
                      </m:r>
                      <m:r>
                        <a:rPr lang="de-DE" altLang="ko-KR" sz="1200" b="0" i="1">
                          <a:latin typeface="Cambria Math"/>
                        </a:rPr>
                        <m:t>=1,2,⋯,</m:t>
                      </m:r>
                      <m:r>
                        <a:rPr lang="de-DE" altLang="ko-KR" sz="1200" b="0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en-US" altLang="ko-KR" sz="12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355600">
                  <a:buNone/>
                </a:pPr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de-DE" altLang="ko-KR" sz="1200" b="0" i="1">
                            <a:latin typeface="Cambria Math"/>
                          </a:rPr>
                          <m:t>𝑘</m:t>
                        </m:r>
                      </m:sub>
                      <m:sup>
                        <m:r>
                          <a:rPr lang="de-DE" altLang="ko-KR" sz="1200" b="0" i="1">
                            <a:latin typeface="Cambria Math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required amount of service demand 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𝑘</m:t>
                    </m:r>
                  </m:oMath>
                </a14:m>
                <a:r>
                  <a:rPr lang="de-DE" altLang="ko-KR" sz="1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time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𝑡</m:t>
                    </m:r>
                  </m:oMath>
                </a14:m>
                <a:r>
                  <a:rPr lang="en-US" altLang="ko-KR" sz="12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de-DE" altLang="ko-KR" sz="1200" b="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  <m:d>
                          <m:dPr>
                            <m:ctrlPr>
                              <a:rPr lang="en-US" altLang="ko-KR" sz="1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𝑘</m:t>
                            </m:r>
                          </m:e>
                        </m:d>
                      </m:sub>
                      <m:sup>
                        <m:r>
                          <a:rPr lang="en-US" altLang="ko-KR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ko-KR" altLang="en-US" sz="1200" b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는 </a:t>
                </a:r>
                <a:r>
                  <a:rPr lang="en-US" altLang="ko-KR" sz="1200" b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technology </a:t>
                </a:r>
                <a:r>
                  <a:rPr lang="en-US" altLang="ko-KR" sz="1200" b="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ko-KR" altLang="en-US" sz="1200" b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의 </a:t>
                </a:r>
                <a:r>
                  <a:rPr lang="en-US" altLang="ko-KR" sz="1200" b="0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ko-KR" sz="1200" b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output</a:t>
                </a:r>
                <a:r>
                  <a:rPr lang="ko-KR" altLang="en-US" sz="1200" b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b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efficiency</a:t>
                </a:r>
                <a:endParaRPr lang="ko-KR" altLang="en-US" sz="1200" b="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8216" y="992267"/>
                <a:ext cx="8010525" cy="3662658"/>
              </a:xfrm>
              <a:blipFill rotWithShape="0">
                <a:blip r:embed="rId2"/>
                <a:stretch>
                  <a:fillRect r="-1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762000" y="6248400"/>
            <a:ext cx="440267" cy="457200"/>
          </a:xfrm>
        </p:spPr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25</a:t>
            </a:fld>
            <a:endParaRPr lang="ko-KR" altLang="en-US" dirty="0"/>
          </a:p>
        </p:txBody>
      </p:sp>
      <p:sp>
        <p:nvSpPr>
          <p:cNvPr id="7" name="Line 21"/>
          <p:cNvSpPr>
            <a:spLocks noChangeShapeType="1"/>
          </p:cNvSpPr>
          <p:nvPr/>
        </p:nvSpPr>
        <p:spPr bwMode="auto">
          <a:xfrm flipH="1">
            <a:off x="4890917" y="4855324"/>
            <a:ext cx="1" cy="10917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4165553" y="5534951"/>
            <a:ext cx="72536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" name="Line 25"/>
          <p:cNvSpPr>
            <a:spLocks noChangeShapeType="1"/>
          </p:cNvSpPr>
          <p:nvPr/>
        </p:nvSpPr>
        <p:spPr bwMode="auto">
          <a:xfrm>
            <a:off x="4890918" y="5334551"/>
            <a:ext cx="54512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" name="Line 49"/>
          <p:cNvSpPr>
            <a:spLocks noChangeShapeType="1"/>
          </p:cNvSpPr>
          <p:nvPr/>
        </p:nvSpPr>
        <p:spPr bwMode="auto">
          <a:xfrm>
            <a:off x="3961778" y="5245519"/>
            <a:ext cx="92319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5" name="Line 25"/>
          <p:cNvSpPr>
            <a:spLocks noChangeShapeType="1"/>
          </p:cNvSpPr>
          <p:nvPr/>
        </p:nvSpPr>
        <p:spPr bwMode="auto">
          <a:xfrm>
            <a:off x="4884971" y="5660273"/>
            <a:ext cx="81725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/>
              <p:cNvSpPr/>
              <p:nvPr/>
            </p:nvSpPr>
            <p:spPr>
              <a:xfrm>
                <a:off x="4588035" y="5913116"/>
                <a:ext cx="58599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altLang="ko-KR" sz="1400" i="1" kern="0">
                          <a:solidFill>
                            <a:srgbClr val="183883"/>
                          </a:solidFill>
                          <a:latin typeface="Cambria Math"/>
                        </a:rPr>
                        <m:t>𝑗</m:t>
                      </m:r>
                      <m:r>
                        <a:rPr lang="de-DE" altLang="ko-KR" sz="1400" i="1" kern="0">
                          <a:solidFill>
                            <a:srgbClr val="183883"/>
                          </a:solidFill>
                          <a:latin typeface="Cambria Math"/>
                        </a:rPr>
                        <m:t>∈</m:t>
                      </m:r>
                      <m:r>
                        <a:rPr lang="en-US" altLang="ko-KR" sz="1400" i="1" kern="0">
                          <a:solidFill>
                            <a:srgbClr val="183883"/>
                          </a:solidFill>
                          <a:latin typeface="Cambria Math"/>
                        </a:rPr>
                        <m:t>𝐽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직사각형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035" y="5913116"/>
                <a:ext cx="585993" cy="307777"/>
              </a:xfrm>
              <a:prstGeom prst="rect">
                <a:avLst/>
              </a:prstGeom>
              <a:blipFill rotWithShape="0"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/>
              <p:cNvSpPr/>
              <p:nvPr/>
            </p:nvSpPr>
            <p:spPr>
              <a:xfrm>
                <a:off x="3463171" y="4855324"/>
                <a:ext cx="57682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400" i="1" kern="0">
                        <a:solidFill>
                          <a:srgbClr val="183883"/>
                        </a:solidFill>
                        <a:latin typeface="Cambria Math"/>
                      </a:rPr>
                      <m:t>𝑃</m:t>
                    </m:r>
                    <m:r>
                      <a:rPr lang="de-DE" altLang="ko-KR" sz="1400" i="1" kern="0">
                        <a:solidFill>
                          <a:srgbClr val="183883"/>
                        </a:solidFill>
                        <a:latin typeface="Cambria Math"/>
                      </a:rPr>
                      <m:t>(</m:t>
                    </m:r>
                    <m:r>
                      <a:rPr lang="de-DE" altLang="ko-KR" sz="1400" i="1" kern="0">
                        <a:solidFill>
                          <a:srgbClr val="183883"/>
                        </a:solidFill>
                        <a:latin typeface="Cambria Math"/>
                      </a:rPr>
                      <m:t>𝑗</m:t>
                    </m:r>
                    <m:r>
                      <a:rPr lang="de-DE" altLang="ko-KR" sz="1400" i="1" kern="0">
                        <a:solidFill>
                          <a:srgbClr val="183883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de-DE" altLang="ko-KR" sz="1400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2" name="직사각형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171" y="4855324"/>
                <a:ext cx="576825" cy="307777"/>
              </a:xfrm>
              <a:prstGeom prst="rect">
                <a:avLst/>
              </a:prstGeom>
              <a:blipFill rotWithShape="0"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/>
              <p:cNvSpPr/>
              <p:nvPr/>
            </p:nvSpPr>
            <p:spPr>
              <a:xfrm>
                <a:off x="5293599" y="4881481"/>
                <a:ext cx="57714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altLang="ko-KR" sz="1400" i="1" kern="0">
                        <a:solidFill>
                          <a:srgbClr val="183883"/>
                        </a:solidFill>
                        <a:latin typeface="Cambria Math"/>
                      </a:rPr>
                      <m:t>𝐶</m:t>
                    </m:r>
                    <m:r>
                      <a:rPr lang="de-DE" altLang="ko-KR" sz="1400" i="1" kern="0">
                        <a:solidFill>
                          <a:srgbClr val="183883"/>
                        </a:solidFill>
                        <a:latin typeface="Cambria Math"/>
                      </a:rPr>
                      <m:t>(</m:t>
                    </m:r>
                    <m:r>
                      <a:rPr lang="de-DE" altLang="ko-KR" sz="1400" i="1" kern="0">
                        <a:solidFill>
                          <a:srgbClr val="183883"/>
                        </a:solidFill>
                        <a:latin typeface="Cambria Math"/>
                      </a:rPr>
                      <m:t>𝑗</m:t>
                    </m:r>
                    <m:r>
                      <a:rPr lang="de-DE" altLang="ko-KR" sz="1400" i="1" kern="0">
                        <a:solidFill>
                          <a:srgbClr val="183883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de-DE" altLang="ko-KR" sz="1400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3" name="직사각형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599" y="4881481"/>
                <a:ext cx="577146" cy="307777"/>
              </a:xfrm>
              <a:prstGeom prst="rect">
                <a:avLst/>
              </a:prstGeom>
              <a:blipFill rotWithShape="0"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7"/>
              <p:cNvSpPr>
                <a:spLocks noChangeArrowheads="1"/>
              </p:cNvSpPr>
              <p:nvPr/>
            </p:nvSpPr>
            <p:spPr bwMode="auto">
              <a:xfrm>
                <a:off x="3463170" y="5163101"/>
                <a:ext cx="513032" cy="17145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24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63170" y="5163101"/>
                <a:ext cx="513032" cy="171450"/>
              </a:xfrm>
              <a:prstGeom prst="rect">
                <a:avLst/>
              </a:prstGeom>
              <a:blipFill rotWithShape="0">
                <a:blip r:embed="rId6"/>
                <a:stretch>
                  <a:fillRect b="-16667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7"/>
              <p:cNvSpPr>
                <a:spLocks noChangeArrowheads="1"/>
              </p:cNvSpPr>
              <p:nvPr/>
            </p:nvSpPr>
            <p:spPr bwMode="auto">
              <a:xfrm>
                <a:off x="3652520" y="5479880"/>
                <a:ext cx="513032" cy="17145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altLang="ko-KR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25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2520" y="5479880"/>
                <a:ext cx="513032" cy="171450"/>
              </a:xfrm>
              <a:prstGeom prst="rect">
                <a:avLst/>
              </a:prstGeom>
              <a:blipFill rotWithShape="0">
                <a:blip r:embed="rId7"/>
                <a:stretch>
                  <a:fillRect b="-16667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7"/>
              <p:cNvSpPr>
                <a:spLocks noChangeArrowheads="1"/>
              </p:cNvSpPr>
              <p:nvPr/>
            </p:nvSpPr>
            <p:spPr bwMode="auto">
              <a:xfrm>
                <a:off x="5436040" y="5248826"/>
                <a:ext cx="513032" cy="17145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altLang="ko-KR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26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6040" y="5248826"/>
                <a:ext cx="513032" cy="171450"/>
              </a:xfrm>
              <a:prstGeom prst="rect">
                <a:avLst/>
              </a:prstGeom>
              <a:blipFill rotWithShape="0">
                <a:blip r:embed="rId8"/>
                <a:stretch>
                  <a:fillRect b="-16667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7"/>
              <p:cNvSpPr>
                <a:spLocks noChangeArrowheads="1"/>
              </p:cNvSpPr>
              <p:nvPr/>
            </p:nvSpPr>
            <p:spPr bwMode="auto">
              <a:xfrm>
                <a:off x="5709492" y="5574548"/>
                <a:ext cx="513032" cy="17145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altLang="ko-KR" i="1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27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09492" y="5574548"/>
                <a:ext cx="513032" cy="171450"/>
              </a:xfrm>
              <a:prstGeom prst="rect">
                <a:avLst/>
              </a:prstGeom>
              <a:blipFill rotWithShape="0">
                <a:blip r:embed="rId9"/>
                <a:stretch>
                  <a:fillRect b="-1612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05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en-US" altLang="ko-KR" b="0" dirty="0" smtClean="0"/>
              <a:t>Technology </a:t>
            </a:r>
            <a:r>
              <a:rPr lang="ko-KR" altLang="en-US" b="0" dirty="0" smtClean="0"/>
              <a:t>별 입력</a:t>
            </a:r>
            <a:endParaRPr lang="ko-KR" altLang="en-US" b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78259" y="4175489"/>
            <a:ext cx="2474711" cy="428878"/>
          </a:xfrm>
        </p:spPr>
        <p:txBody>
          <a:bodyPr/>
          <a:lstStyle/>
          <a:p>
            <a:r>
              <a:rPr lang="de-DE" altLang="ko-KR" sz="1200" dirty="0" smtClean="0"/>
              <a:t>Demand Technology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26</a:t>
            </a:fld>
            <a:endParaRPr lang="ko-KR" altLang="en-US" dirty="0"/>
          </a:p>
        </p:txBody>
      </p:sp>
      <p:sp>
        <p:nvSpPr>
          <p:cNvPr id="5" name="Line 223"/>
          <p:cNvSpPr>
            <a:spLocks noChangeShapeType="1"/>
          </p:cNvSpPr>
          <p:nvPr/>
        </p:nvSpPr>
        <p:spPr bwMode="auto">
          <a:xfrm>
            <a:off x="2906320" y="1848388"/>
            <a:ext cx="466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6" name="Text Box 247"/>
          <p:cNvSpPr txBox="1">
            <a:spLocks noChangeArrowheads="1"/>
          </p:cNvSpPr>
          <p:nvPr/>
        </p:nvSpPr>
        <p:spPr bwMode="auto">
          <a:xfrm>
            <a:off x="2976169" y="1632489"/>
            <a:ext cx="260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2079289" y="1666199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indent="88900"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  <a:ea typeface="굴림" charset="-127"/>
              </a:rPr>
              <a:t>oil carrier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9288" y="1670410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FF0000"/>
                </a:solidFill>
              </a:rPr>
              <a:t>1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4090410" y="1425161"/>
                <a:ext cx="4126451" cy="6472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unlimited capacity constraint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kern="0">
                            <a:solidFill>
                              <a:srgbClr val="183883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sSubSupPr>
                      <m:e>
                        <m:r>
                          <a:rPr lang="en-US" altLang="ko-KR" i="1" kern="0">
                            <a:solidFill>
                              <a:srgbClr val="183883"/>
                            </a:solidFill>
                            <a:latin typeface="Cambria Math"/>
                            <a:ea typeface="맑은 고딕" panose="020B0503020000020004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i="1" kern="0">
                            <a:solidFill>
                              <a:srgbClr val="183883"/>
                            </a:solidFill>
                            <a:latin typeface="Cambria Math"/>
                            <a:ea typeface="맑은 고딕" panose="020B0503020000020004" pitchFamily="50" charset="-127"/>
                          </a:rPr>
                          <m:t>1</m:t>
                        </m:r>
                      </m:sub>
                      <m:sup>
                        <m:r>
                          <a:rPr lang="en-US" altLang="ko-KR" i="1" kern="0">
                            <a:solidFill>
                              <a:srgbClr val="183883"/>
                            </a:solidFill>
                            <a:latin typeface="Cambria Math"/>
                            <a:ea typeface="맑은 고딕" panose="020B0503020000020004" pitchFamily="50" charset="-127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: 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투입되는 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oil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의 양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(liter)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main output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에 따른 변동비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en-US" altLang="ko-KR" kern="0" dirty="0" err="1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Var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만 발생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(\2,000/liter)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410" y="1425161"/>
                <a:ext cx="4126451" cy="647228"/>
              </a:xfrm>
              <a:prstGeom prst="rect">
                <a:avLst/>
              </a:prstGeom>
              <a:blipFill rotWithShape="0">
                <a:blip r:embed="rId2"/>
                <a:stretch>
                  <a:fillRect l="-295" t="-2830" b="-75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1456480" y="2341850"/>
            <a:ext cx="2569082" cy="365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•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»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 altLang="ko-KR" sz="1200" dirty="0"/>
              <a:t>Process Technology</a:t>
            </a:r>
            <a:endParaRPr lang="en-US" altLang="ko-KR" sz="1200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 bwMode="auto">
          <a:xfrm>
            <a:off x="1456481" y="1151011"/>
            <a:ext cx="2344102" cy="378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•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»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 altLang="ko-KR" sz="1200" dirty="0"/>
              <a:t>Energy Technology</a:t>
            </a:r>
            <a:endParaRPr lang="en-US" altLang="ko-KR" sz="1200" dirty="0"/>
          </a:p>
        </p:txBody>
      </p:sp>
      <p:sp>
        <p:nvSpPr>
          <p:cNvPr id="14" name="Line 226"/>
          <p:cNvSpPr>
            <a:spLocks noChangeShapeType="1"/>
          </p:cNvSpPr>
          <p:nvPr/>
        </p:nvSpPr>
        <p:spPr bwMode="auto">
          <a:xfrm>
            <a:off x="1890820" y="3090716"/>
            <a:ext cx="7858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5" name="Line 233"/>
          <p:cNvSpPr>
            <a:spLocks noChangeShapeType="1"/>
          </p:cNvSpPr>
          <p:nvPr/>
        </p:nvSpPr>
        <p:spPr bwMode="auto">
          <a:xfrm>
            <a:off x="3505307" y="2943078"/>
            <a:ext cx="5905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6" name="Text Box 252"/>
          <p:cNvSpPr txBox="1">
            <a:spLocks noChangeArrowheads="1"/>
          </p:cNvSpPr>
          <p:nvPr/>
        </p:nvSpPr>
        <p:spPr bwMode="auto">
          <a:xfrm>
            <a:off x="3632308" y="2731942"/>
            <a:ext cx="4413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7" name="Line 257"/>
          <p:cNvSpPr>
            <a:spLocks noChangeShapeType="1"/>
          </p:cNvSpPr>
          <p:nvPr/>
        </p:nvSpPr>
        <p:spPr bwMode="auto">
          <a:xfrm>
            <a:off x="1678096" y="2887516"/>
            <a:ext cx="1000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8" name="Text Box 273"/>
          <p:cNvSpPr txBox="1">
            <a:spLocks noChangeArrowheads="1"/>
          </p:cNvSpPr>
          <p:nvPr/>
        </p:nvSpPr>
        <p:spPr bwMode="auto">
          <a:xfrm>
            <a:off x="2111483" y="2887517"/>
            <a:ext cx="5365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>
                <a:solidFill>
                  <a:srgbClr val="000000"/>
                </a:solidFill>
              </a:rPr>
              <a:t>1/10</a:t>
            </a:r>
          </a:p>
        </p:txBody>
      </p:sp>
      <p:sp>
        <p:nvSpPr>
          <p:cNvPr id="19" name="Text Box 274"/>
          <p:cNvSpPr txBox="1">
            <a:spLocks noChangeArrowheads="1"/>
          </p:cNvSpPr>
          <p:nvPr/>
        </p:nvSpPr>
        <p:spPr bwMode="auto">
          <a:xfrm>
            <a:off x="2113071" y="2676366"/>
            <a:ext cx="479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9/10</a:t>
            </a: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2676633" y="2798870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ea typeface="굴림" charset="-127"/>
              </a:rPr>
              <a:t>    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6576" y="2803071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FF0000"/>
                </a:solidFill>
              </a:rPr>
              <a:t>4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2" name="Line 226"/>
          <p:cNvSpPr>
            <a:spLocks noChangeShapeType="1"/>
          </p:cNvSpPr>
          <p:nvPr/>
        </p:nvSpPr>
        <p:spPr bwMode="auto">
          <a:xfrm>
            <a:off x="5296216" y="3108104"/>
            <a:ext cx="7858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23" name="Line 233"/>
          <p:cNvSpPr>
            <a:spLocks noChangeShapeType="1"/>
          </p:cNvSpPr>
          <p:nvPr/>
        </p:nvSpPr>
        <p:spPr bwMode="auto">
          <a:xfrm>
            <a:off x="6910703" y="2960466"/>
            <a:ext cx="5905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24" name="Text Box 252"/>
          <p:cNvSpPr txBox="1">
            <a:spLocks noChangeArrowheads="1"/>
          </p:cNvSpPr>
          <p:nvPr/>
        </p:nvSpPr>
        <p:spPr bwMode="auto">
          <a:xfrm>
            <a:off x="7037704" y="2749330"/>
            <a:ext cx="56139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10/9</a:t>
            </a:r>
          </a:p>
        </p:txBody>
      </p:sp>
      <p:sp>
        <p:nvSpPr>
          <p:cNvPr id="25" name="Line 257"/>
          <p:cNvSpPr>
            <a:spLocks noChangeShapeType="1"/>
          </p:cNvSpPr>
          <p:nvPr/>
        </p:nvSpPr>
        <p:spPr bwMode="auto">
          <a:xfrm>
            <a:off x="5083492" y="2904904"/>
            <a:ext cx="1000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26" name="Text Box 273"/>
          <p:cNvSpPr txBox="1">
            <a:spLocks noChangeArrowheads="1"/>
          </p:cNvSpPr>
          <p:nvPr/>
        </p:nvSpPr>
        <p:spPr bwMode="auto">
          <a:xfrm>
            <a:off x="5516879" y="2904905"/>
            <a:ext cx="5365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1/9</a:t>
            </a:r>
          </a:p>
        </p:txBody>
      </p:sp>
      <p:sp>
        <p:nvSpPr>
          <p:cNvPr id="27" name="Text Box 274"/>
          <p:cNvSpPr txBox="1">
            <a:spLocks noChangeArrowheads="1"/>
          </p:cNvSpPr>
          <p:nvPr/>
        </p:nvSpPr>
        <p:spPr bwMode="auto">
          <a:xfrm>
            <a:off x="5518467" y="2693754"/>
            <a:ext cx="4794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8" name="Rectangle 7"/>
          <p:cNvSpPr>
            <a:spLocks noChangeArrowheads="1"/>
          </p:cNvSpPr>
          <p:nvPr/>
        </p:nvSpPr>
        <p:spPr bwMode="auto">
          <a:xfrm>
            <a:off x="6082029" y="2816258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kern="0" dirty="0">
                <a:solidFill>
                  <a:srgbClr val="000000"/>
                </a:solidFill>
                <a:ea typeface="굴림" charset="-127"/>
              </a:rPr>
              <a:t>    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1972" y="2814395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FF0000"/>
                </a:solidFill>
              </a:rPr>
              <a:t>4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1" name="내용 개체 틀 2"/>
          <p:cNvSpPr txBox="1">
            <a:spLocks/>
          </p:cNvSpPr>
          <p:nvPr/>
        </p:nvSpPr>
        <p:spPr bwMode="auto">
          <a:xfrm>
            <a:off x="4389541" y="2783769"/>
            <a:ext cx="355315" cy="378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•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»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de-DE" altLang="ko-KR" sz="1200" dirty="0">
                <a:sym typeface="Wingdings" pitchFamily="2" charset="2"/>
              </a:rPr>
              <a:t></a:t>
            </a:r>
            <a:endParaRPr lang="en-US" altLang="ko-KR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/>
              <p:cNvSpPr/>
              <p:nvPr/>
            </p:nvSpPr>
            <p:spPr>
              <a:xfrm>
                <a:off x="2100349" y="3284982"/>
                <a:ext cx="5097165" cy="6473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kern="0">
                            <a:solidFill>
                              <a:srgbClr val="183883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sSubSupPr>
                      <m:e>
                        <m:r>
                          <a:rPr lang="en-US" altLang="ko-KR" i="1" kern="0">
                            <a:solidFill>
                              <a:srgbClr val="183883"/>
                            </a:solidFill>
                            <a:latin typeface="Cambria Math"/>
                            <a:ea typeface="맑은 고딕" panose="020B0503020000020004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i="1" kern="0">
                            <a:solidFill>
                              <a:srgbClr val="183883"/>
                            </a:solidFill>
                            <a:latin typeface="Cambria Math"/>
                            <a:ea typeface="맑은 고딕" panose="020B0503020000020004" pitchFamily="50" charset="-127"/>
                          </a:rPr>
                          <m:t>4</m:t>
                        </m:r>
                      </m:sub>
                      <m:sup>
                        <m:r>
                          <a:rPr lang="en-US" altLang="ko-KR" i="1" kern="0">
                            <a:solidFill>
                              <a:srgbClr val="183883"/>
                            </a:solidFill>
                            <a:latin typeface="Cambria Math"/>
                            <a:ea typeface="맑은 고딕" panose="020B0503020000020004" pitchFamily="50" charset="-127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: 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투입되는 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main input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의 양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(liter) </a:t>
                </a:r>
                <a14:m>
                  <m:oMath xmlns:m="http://schemas.openxmlformats.org/officeDocument/2006/math">
                    <m:r>
                      <a:rPr lang="en-US" altLang="ko-KR" i="1" kern="0">
                        <a:solidFill>
                          <a:srgbClr val="183883"/>
                        </a:solidFill>
                        <a:latin typeface="Cambria Math"/>
                        <a:ea typeface="Cambria Math"/>
                      </a:rPr>
                      <m:t>⇔</m:t>
                    </m:r>
                  </m:oMath>
                </a14:m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변동비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en-US" altLang="ko-KR" kern="0" dirty="0" err="1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Var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발생</a:t>
                </a:r>
                <a:endParaRPr lang="en-US" altLang="ko-KR" kern="0" dirty="0">
                  <a:solidFill>
                    <a:srgbClr val="18388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kern="0">
                            <a:solidFill>
                              <a:srgbClr val="183883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sSubSupPr>
                      <m:e>
                        <m:r>
                          <a:rPr lang="en-US" altLang="ko-KR" i="1" kern="0">
                            <a:solidFill>
                              <a:srgbClr val="183883"/>
                            </a:solidFill>
                            <a:latin typeface="Cambria Math"/>
                            <a:ea typeface="맑은 고딕" panose="020B0503020000020004" pitchFamily="50" charset="-127"/>
                          </a:rPr>
                          <m:t>𝑦</m:t>
                        </m:r>
                      </m:e>
                      <m:sub>
                        <m:r>
                          <a:rPr lang="en-US" altLang="ko-KR" i="1" kern="0">
                            <a:solidFill>
                              <a:srgbClr val="183883"/>
                            </a:solidFill>
                            <a:latin typeface="Cambria Math"/>
                            <a:ea typeface="맑은 고딕" panose="020B0503020000020004" pitchFamily="50" charset="-127"/>
                          </a:rPr>
                          <m:t>4</m:t>
                        </m:r>
                      </m:sub>
                      <m:sup>
                        <m:r>
                          <a:rPr lang="en-US" altLang="ko-KR" i="1" kern="0">
                            <a:solidFill>
                              <a:srgbClr val="183883"/>
                            </a:solidFill>
                            <a:latin typeface="Cambria Math"/>
                            <a:ea typeface="맑은 고딕" panose="020B0503020000020004" pitchFamily="50" charset="-127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: main output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을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위한 설비 증설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(liter) </a:t>
                </a:r>
                <a14:m>
                  <m:oMath xmlns:m="http://schemas.openxmlformats.org/officeDocument/2006/math">
                    <m:r>
                      <a:rPr lang="en-US" altLang="ko-KR" i="1" kern="0">
                        <a:solidFill>
                          <a:srgbClr val="183883"/>
                        </a:solidFill>
                        <a:latin typeface="Cambria Math"/>
                        <a:ea typeface="Cambria Math"/>
                      </a:rPr>
                      <m:t>⇔</m:t>
                    </m:r>
                  </m:oMath>
                </a14:m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투자비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en-US" altLang="ko-KR" kern="0" dirty="0" err="1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Inv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), 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고정비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(Fix)</a:t>
                </a:r>
              </a:p>
              <a:p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      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 예에서는 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unlimited capacity constraint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를 가정함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2" name="직사각형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349" y="3284982"/>
                <a:ext cx="5097165" cy="647357"/>
              </a:xfrm>
              <a:prstGeom prst="rect">
                <a:avLst/>
              </a:prstGeom>
              <a:blipFill rotWithShape="0">
                <a:blip r:embed="rId3"/>
                <a:stretch>
                  <a:fillRect l="-120" t="-943" b="-5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Line 236"/>
          <p:cNvSpPr>
            <a:spLocks noChangeShapeType="1"/>
          </p:cNvSpPr>
          <p:nvPr/>
        </p:nvSpPr>
        <p:spPr bwMode="auto">
          <a:xfrm>
            <a:off x="1946902" y="4870469"/>
            <a:ext cx="8572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34" name="Text Box 253"/>
          <p:cNvSpPr txBox="1">
            <a:spLocks noChangeArrowheads="1"/>
          </p:cNvSpPr>
          <p:nvPr/>
        </p:nvSpPr>
        <p:spPr bwMode="auto">
          <a:xfrm>
            <a:off x="3582028" y="4589483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>
                <a:solidFill>
                  <a:srgbClr val="000000"/>
                </a:solidFill>
              </a:rPr>
              <a:t>15km</a:t>
            </a:r>
          </a:p>
        </p:txBody>
      </p:sp>
      <p:sp>
        <p:nvSpPr>
          <p:cNvPr id="35" name="Text Box 262"/>
          <p:cNvSpPr txBox="1">
            <a:spLocks noChangeArrowheads="1"/>
          </p:cNvSpPr>
          <p:nvPr/>
        </p:nvSpPr>
        <p:spPr bwMode="auto">
          <a:xfrm>
            <a:off x="2140578" y="4621233"/>
            <a:ext cx="5508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>
                <a:solidFill>
                  <a:srgbClr val="000000"/>
                </a:solidFill>
              </a:rPr>
              <a:t>1 liter</a:t>
            </a:r>
          </a:p>
        </p:txBody>
      </p:sp>
      <p:sp>
        <p:nvSpPr>
          <p:cNvPr id="36" name="Line 271"/>
          <p:cNvSpPr>
            <a:spLocks noChangeShapeType="1"/>
          </p:cNvSpPr>
          <p:nvPr/>
        </p:nvSpPr>
        <p:spPr bwMode="auto">
          <a:xfrm>
            <a:off x="3645339" y="4860944"/>
            <a:ext cx="76044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37" name="Rectangle 7"/>
          <p:cNvSpPr>
            <a:spLocks noChangeArrowheads="1"/>
          </p:cNvSpPr>
          <p:nvPr/>
        </p:nvSpPr>
        <p:spPr bwMode="auto">
          <a:xfrm>
            <a:off x="2806941" y="4672399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  <a:ea typeface="굴림" charset="-127"/>
              </a:rPr>
              <a:t>    </a:t>
            </a:r>
            <a:r>
              <a:rPr lang="en-US" altLang="ko-KR" kern="0" dirty="0">
                <a:solidFill>
                  <a:srgbClr val="000000"/>
                </a:solidFill>
              </a:rPr>
              <a:t>middle car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07538" y="4673535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>
                <a:solidFill>
                  <a:srgbClr val="FF0000"/>
                </a:solidFill>
              </a:rPr>
              <a:t>5</a:t>
            </a:r>
            <a:endParaRPr lang="ko-KR" altLang="en-US" sz="8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직사각형 38"/>
              <p:cNvSpPr/>
              <p:nvPr/>
            </p:nvSpPr>
            <p:spPr>
              <a:xfrm>
                <a:off x="2086779" y="5201444"/>
                <a:ext cx="527952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kern="0" smtClean="0">
                            <a:solidFill>
                              <a:srgbClr val="183883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sSubSupPr>
                      <m:e>
                        <m:r>
                          <a:rPr lang="en-US" altLang="ko-KR" i="1" kern="0">
                            <a:solidFill>
                              <a:srgbClr val="183883"/>
                            </a:solidFill>
                            <a:latin typeface="Cambria Math"/>
                            <a:ea typeface="맑은 고딕" panose="020B0503020000020004" pitchFamily="50" charset="-127"/>
                          </a:rPr>
                          <m:t>𝑦</m:t>
                        </m:r>
                      </m:e>
                      <m:sub>
                        <m:r>
                          <a:rPr lang="en-US" altLang="ko-KR" i="1" kern="0">
                            <a:solidFill>
                              <a:srgbClr val="183883"/>
                            </a:solidFill>
                            <a:latin typeface="Cambria Math"/>
                            <a:ea typeface="맑은 고딕" panose="020B0503020000020004" pitchFamily="50" charset="-127"/>
                          </a:rPr>
                          <m:t>4</m:t>
                        </m:r>
                      </m:sub>
                      <m:sup>
                        <m:r>
                          <a:rPr lang="en-US" altLang="ko-KR" b="0" i="1" kern="0" smtClean="0">
                            <a:solidFill>
                              <a:srgbClr val="183883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: main output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을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위한 설비 증설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대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-km) : 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투자비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en-US" altLang="ko-KR" kern="0" dirty="0" err="1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Inv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), 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고정비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(Fix)</a:t>
                </a:r>
              </a:p>
              <a:p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수명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(lifetime), 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연간주행거리 및 </a:t>
                </a:r>
                <a:r>
                  <a:rPr lang="en-US" altLang="ko-KR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historic capacity</a:t>
                </a:r>
                <a:r>
                  <a:rPr lang="ko-KR" altLang="en-US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에 대한 입력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9" name="직사각형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779" y="5201444"/>
                <a:ext cx="5279522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직사각형 42"/>
              <p:cNvSpPr/>
              <p:nvPr/>
            </p:nvSpPr>
            <p:spPr>
              <a:xfrm>
                <a:off x="4624703" y="4478174"/>
                <a:ext cx="4572000" cy="7444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 kern="0">
                            <a:solidFill>
                              <a:srgbClr val="183883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sSubSupPr>
                      <m:e>
                        <m:r>
                          <a:rPr lang="en-US" altLang="ko-KR" sz="1400" i="1" kern="0">
                            <a:solidFill>
                              <a:srgbClr val="183883"/>
                            </a:solidFill>
                            <a:latin typeface="Cambria Math"/>
                            <a:ea typeface="맑은 고딕" panose="020B0503020000020004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400" i="1" kern="0">
                            <a:solidFill>
                              <a:srgbClr val="183883"/>
                            </a:solidFill>
                            <a:latin typeface="Cambria Math"/>
                            <a:ea typeface="맑은 고딕" panose="020B0503020000020004" pitchFamily="50" charset="-127"/>
                          </a:rPr>
                          <m:t>5</m:t>
                        </m:r>
                      </m:sub>
                      <m:sup>
                        <m:r>
                          <a:rPr lang="en-US" altLang="ko-KR" sz="1400" i="1" kern="0">
                            <a:solidFill>
                              <a:srgbClr val="183883"/>
                            </a:solidFill>
                            <a:latin typeface="Cambria Math"/>
                            <a:ea typeface="맑은 고딕" panose="020B0503020000020004" pitchFamily="50" charset="-127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altLang="ko-KR" sz="1400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: </a:t>
                </a:r>
                <a:r>
                  <a:rPr lang="ko-KR" altLang="en-US" sz="1400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에너지 투입량 </a:t>
                </a:r>
                <a14:m>
                  <m:oMath xmlns:m="http://schemas.openxmlformats.org/officeDocument/2006/math">
                    <m:r>
                      <a:rPr lang="en-US" altLang="ko-KR" sz="1400" i="1" kern="0">
                        <a:solidFill>
                          <a:srgbClr val="183883"/>
                        </a:solidFill>
                        <a:latin typeface="Cambria Math"/>
                        <a:ea typeface="Cambria Math"/>
                      </a:rPr>
                      <m:t>⇔</m:t>
                    </m:r>
                  </m:oMath>
                </a14:m>
                <a:r>
                  <a:rPr lang="en-US" altLang="ko-KR" sz="1400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400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변동비</a:t>
                </a:r>
                <a:r>
                  <a:rPr lang="en-US" altLang="ko-KR" sz="1400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en-US" altLang="ko-KR" sz="1400" kern="0" dirty="0" err="1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Var</a:t>
                </a:r>
                <a:r>
                  <a:rPr lang="en-US" altLang="ko-KR" sz="1400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</a:t>
                </a:r>
                <a:r>
                  <a:rPr lang="ko-KR" altLang="en-US" sz="1400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발생</a:t>
                </a:r>
                <a:endParaRPr lang="en-US" altLang="ko-KR" sz="1400" kern="0" dirty="0">
                  <a:solidFill>
                    <a:srgbClr val="18388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vl="0"/>
                <a:r>
                  <a:rPr lang="en-US" altLang="ko-KR" sz="1400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(</a:t>
                </a:r>
                <a:r>
                  <a:rPr lang="ko-KR" altLang="en-US" sz="1400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대</a:t>
                </a:r>
                <a:r>
                  <a:rPr lang="en-US" altLang="ko-KR" sz="1400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-km</a:t>
                </a:r>
                <a:r>
                  <a:rPr lang="ko-KR" altLang="en-US" sz="1400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에 비례하여 발생하는 비용</a:t>
                </a:r>
                <a:r>
                  <a:rPr lang="en-US" altLang="ko-KR" sz="1400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</a:p>
              <a:p>
                <a:pPr lvl="0"/>
                <a:r>
                  <a:rPr lang="en-US" altLang="ko-KR" sz="1400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 </a:t>
                </a:r>
                <a:r>
                  <a:rPr lang="en-US" altLang="ko-KR" sz="1400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 pitchFamily="2" charset="2"/>
                  </a:rPr>
                  <a:t> </a:t>
                </a:r>
                <a:r>
                  <a:rPr lang="ko-KR" altLang="en-US" sz="1400" kern="0" dirty="0">
                    <a:solidFill>
                      <a:srgbClr val="183883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Wingdings" pitchFamily="2" charset="2"/>
                  </a:rPr>
                  <a:t>이 예에는 에너지 비용은 제외함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3" name="직사각형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703" y="4478174"/>
                <a:ext cx="4572000" cy="744499"/>
              </a:xfrm>
              <a:prstGeom prst="rect">
                <a:avLst/>
              </a:prstGeom>
              <a:blipFill rotWithShape="0">
                <a:blip r:embed="rId5"/>
                <a:stretch>
                  <a:fillRect l="-400" t="-1639" b="-7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039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en-US" altLang="ko-KR" b="0" dirty="0" smtClean="0"/>
              <a:t>Objective Function</a:t>
            </a:r>
            <a:endParaRPr lang="ko-KR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1353983" y="1764063"/>
                <a:ext cx="8010525" cy="289694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/>
                          </a:rPr>
                          <m:t>𝐴𝐼𝐶</m:t>
                        </m:r>
                      </m:e>
                      <m:sub>
                        <m:r>
                          <a:rPr lang="de-DE" altLang="ko-KR" sz="1200" b="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de-DE" altLang="ko-KR" sz="1200" b="0" i="1">
                            <a:latin typeface="Cambria Math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sz="1200" b="0" dirty="0"/>
                  <a:t> </a:t>
                </a:r>
                <a:r>
                  <a:rPr lang="de-DE" altLang="ko-KR" sz="1200" b="0" dirty="0" smtClean="0"/>
                  <a:t>: </a:t>
                </a:r>
                <a:r>
                  <a:rPr lang="de-DE" altLang="ko-KR" sz="1200" b="0" dirty="0"/>
                  <a:t>the annualized investment </a:t>
                </a:r>
                <a:r>
                  <a:rPr lang="de-DE" altLang="ko-KR" sz="1200" b="0" dirty="0" smtClean="0"/>
                  <a:t>cost for technology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𝑖</m:t>
                    </m:r>
                  </m:oMath>
                </a14:m>
                <a:r>
                  <a:rPr lang="de-DE" altLang="ko-KR" sz="1200" b="0" dirty="0"/>
                  <a:t> at time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𝑡</m:t>
                    </m:r>
                  </m:oMath>
                </a14:m>
                <a:endParaRPr lang="en-US" altLang="ko-KR" sz="1200" b="0" dirty="0" smtClean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en-US" altLang="ko-KR" sz="1200" b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sz="12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200" b="0" i="1" smtClean="0">
                                <a:latin typeface="Cambria Math"/>
                              </a:rPr>
                              <m:t>𝐴𝐼𝐶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ko-KR" sz="1200" b="0" i="1" smtClean="0">
                                <a:latin typeface="Cambria Math"/>
                              </a:rPr>
                              <m:t>𝑡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ko-KR" sz="1200" b="0" i="1">
                        <a:latin typeface="Cambria Math"/>
                      </a:rPr>
                      <m:t>⋅</m:t>
                    </m:r>
                    <m:func>
                      <m:func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200" b="0" i="1">
                            <a:latin typeface="Cambria Math"/>
                          </a:rPr>
                          <m:t>𝑚𝑖𝑛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>
                                <a:latin typeface="Cambria Math"/>
                              </a:rPr>
                              <m:t>𝑇</m:t>
                            </m:r>
                            <m:r>
                              <a:rPr lang="en-US" altLang="ko-KR" sz="1200" b="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ko-KR" sz="1200" b="0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altLang="ko-KR" sz="1200" b="0" i="1">
                                <a:latin typeface="Cambria Math"/>
                              </a:rPr>
                              <m:t>+1,</m:t>
                            </m:r>
                            <m:sSub>
                              <m:sSubPr>
                                <m:ctrlPr>
                                  <a:rPr lang="en-US" altLang="ko-KR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1200" b="0" i="1" smtClean="0">
                            <a:latin typeface="Cambria Math"/>
                          </a:rPr>
                          <m:t>/</m:t>
                        </m:r>
                        <m:sSup>
                          <m:sSupPr>
                            <m:ctrlPr>
                              <a:rPr lang="en-US" altLang="ko-KR" sz="1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200" b="0" i="1" smtClean="0">
                                    <a:latin typeface="Cambria Math"/>
                                  </a:rPr>
                                  <m:t>1+</m:t>
                                </m:r>
                                <m:r>
                                  <a:rPr lang="en-US" altLang="ko-KR" sz="1200" b="0" i="1" smtClean="0">
                                    <a:latin typeface="Cambria Math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1200" b="0" i="1" smtClean="0">
                                <a:latin typeface="Cambria Math"/>
                              </a:rPr>
                              <m:t>𝑡</m:t>
                            </m:r>
                          </m:sup>
                        </m:sSup>
                      </m:e>
                    </m:func>
                  </m:oMath>
                </a14:m>
                <a:endParaRPr lang="en-US" altLang="ko-KR" sz="1200" dirty="0" smtClean="0"/>
              </a:p>
              <a:p>
                <a:pPr marL="457200" lvl="1" indent="0">
                  <a:buNone/>
                </a:pPr>
                <a:r>
                  <a:rPr lang="en-US" altLang="ko-KR" sz="1200" dirty="0"/>
                  <a:t> </a:t>
                </a:r>
                <a:r>
                  <a:rPr lang="en-US" altLang="ko-KR" sz="1200" dirty="0" smtClean="0"/>
                  <a:t>     *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0" smtClean="0"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latin typeface="Cambria Math"/>
                          </a:rPr>
                          <m:t>𝑇</m:t>
                        </m:r>
                        <m:r>
                          <a:rPr lang="en-US" altLang="ko-KR" sz="1200" i="1">
                            <a:latin typeface="Cambria Math"/>
                          </a:rPr>
                          <m:t>−</m:t>
                        </m:r>
                        <m:r>
                          <a:rPr lang="en-US" altLang="ko-KR" sz="1200" i="1">
                            <a:latin typeface="Cambria Math"/>
                          </a:rPr>
                          <m:t>𝑡</m:t>
                        </m:r>
                        <m:r>
                          <a:rPr lang="en-US" altLang="ko-KR" sz="1200" i="1">
                            <a:latin typeface="Cambria Math"/>
                          </a:rPr>
                          <m:t>+1,</m:t>
                        </m:r>
                        <m:sSub>
                          <m:sSub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ko-KR" sz="12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200" dirty="0" smtClean="0"/>
                  <a:t>  </a:t>
                </a:r>
                <a:r>
                  <a:rPr lang="ko-KR" altLang="en-US" sz="1200" dirty="0" smtClean="0"/>
                  <a:t>는 </a:t>
                </a:r>
                <a:r>
                  <a:rPr lang="en-US" altLang="ko-KR" sz="1200" dirty="0" smtClean="0"/>
                  <a:t>salvage cost</a:t>
                </a:r>
                <a:r>
                  <a:rPr lang="ko-KR" altLang="en-US" sz="1200" dirty="0" smtClean="0"/>
                  <a:t>를 고려하기 위한 것</a:t>
                </a:r>
                <a:endParaRPr lang="en-US" altLang="ko-KR" sz="12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/>
                          </a:rPr>
                          <m:t>𝐹</m:t>
                        </m:r>
                        <m:r>
                          <a:rPr lang="en-US" altLang="ko-KR" sz="1200" b="0" i="1" smtClean="0">
                            <a:latin typeface="Cambria Math"/>
                          </a:rPr>
                          <m:t>𝐼𝑋</m:t>
                        </m:r>
                      </m:e>
                      <m:sub>
                        <m:r>
                          <a:rPr lang="de-DE" altLang="ko-KR" sz="1200" b="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de-DE" altLang="ko-KR" sz="1200" b="0" i="1">
                            <a:latin typeface="Cambria Math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sz="1200" b="0" dirty="0" smtClean="0"/>
                  <a:t> : the fixed </a:t>
                </a:r>
                <a:r>
                  <a:rPr lang="de-DE" altLang="ko-KR" sz="1200" b="0" dirty="0"/>
                  <a:t>O&amp;M </a:t>
                </a:r>
                <a:r>
                  <a:rPr lang="de-DE" altLang="ko-KR" sz="1200" b="0" dirty="0" smtClean="0"/>
                  <a:t>cost per year for </a:t>
                </a:r>
                <a:r>
                  <a:rPr lang="de-DE" altLang="ko-KR" sz="1200" b="0" dirty="0"/>
                  <a:t>technology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𝑖</m:t>
                    </m:r>
                  </m:oMath>
                </a14:m>
                <a:r>
                  <a:rPr lang="de-DE" altLang="ko-KR" sz="1200" b="0" dirty="0"/>
                  <a:t> at time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𝑡</m:t>
                    </m:r>
                  </m:oMath>
                </a14:m>
                <a:endParaRPr lang="en-US" altLang="ko-KR" sz="1200" b="0" dirty="0" smtClean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 sz="1200" b="0" i="1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en-US" altLang="ko-KR" sz="1200" b="0">
                        <a:latin typeface="Cambria Math"/>
                      </a:rPr>
                      <m:t>=</m:t>
                    </m:r>
                    <m:r>
                      <a:rPr lang="en-US" altLang="ko-KR" sz="1200" b="0" i="1" smtClean="0">
                        <a:latin typeface="Cambria Math"/>
                      </a:rPr>
                      <m:t>𝐹𝐼</m:t>
                    </m:r>
                    <m:sSubSup>
                      <m:sSubSup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en-US" altLang="ko-KR" sz="1200" b="0" i="1">
                        <a:latin typeface="Cambria Math"/>
                      </a:rPr>
                      <m:t>⋅</m:t>
                    </m:r>
                    <m:func>
                      <m:func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ko-KR" sz="1200" b="0" i="1">
                            <a:latin typeface="Cambria Math"/>
                          </a:rPr>
                          <m:t>𝑚𝑖𝑛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>
                                <a:latin typeface="Cambria Math"/>
                              </a:rPr>
                              <m:t>𝑇</m:t>
                            </m:r>
                            <m:r>
                              <a:rPr lang="en-US" altLang="ko-KR" sz="1200" b="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ko-KR" sz="1200" b="0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altLang="ko-KR" sz="1200" b="0" i="1">
                                <a:latin typeface="Cambria Math"/>
                              </a:rPr>
                              <m:t>+1,</m:t>
                            </m:r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1200" b="0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1200" b="0" i="1">
                        <a:latin typeface="Cambria Math"/>
                      </a:rPr>
                      <m:t>/</m:t>
                    </m:r>
                    <m:sSup>
                      <m:sSup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>
                                <a:latin typeface="Cambria Math"/>
                              </a:rPr>
                              <m:t>1+</m:t>
                            </m:r>
                            <m:r>
                              <a:rPr lang="en-US" altLang="ko-KR" sz="1200" b="0" i="1">
                                <a:latin typeface="Cambria Math"/>
                              </a:rPr>
                              <m:t>𝑟</m:t>
                            </m:r>
                          </m:e>
                        </m:d>
                      </m:e>
                      <m:sup>
                        <m:r>
                          <a:rPr lang="en-US" altLang="ko-KR" sz="1200" b="0" i="1">
                            <a:latin typeface="Cambria Math"/>
                          </a:rPr>
                          <m:t>𝑡</m:t>
                        </m:r>
                      </m:sup>
                    </m:sSup>
                  </m:oMath>
                </a14:m>
                <a:endParaRPr lang="en-US" altLang="ko-KR" sz="12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/>
                          </a:rPr>
                          <m:t>𝑉</m:t>
                        </m:r>
                        <m:r>
                          <a:rPr lang="en-US" altLang="ko-KR" sz="1200" b="0" i="1" smtClean="0">
                            <a:latin typeface="Cambria Math"/>
                          </a:rPr>
                          <m:t>𝑎𝑟</m:t>
                        </m:r>
                      </m:e>
                      <m:sub>
                        <m:r>
                          <a:rPr lang="de-DE" altLang="ko-KR" sz="1200" b="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de-DE" altLang="ko-KR" sz="1200" b="0" i="1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de-DE" altLang="ko-KR" sz="1200" b="0" i="1">
                        <a:latin typeface="Cambria Math"/>
                      </a:rPr>
                      <m:t> </m:t>
                    </m:r>
                  </m:oMath>
                </a14:m>
                <a:r>
                  <a:rPr lang="de-DE" altLang="ko-KR" sz="1200" b="0" dirty="0" smtClean="0"/>
                  <a:t> : the variable cost per main output for </a:t>
                </a:r>
                <a:r>
                  <a:rPr lang="de-DE" altLang="ko-KR" sz="1200" b="0" dirty="0"/>
                  <a:t>technology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𝑖</m:t>
                    </m:r>
                  </m:oMath>
                </a14:m>
                <a:r>
                  <a:rPr lang="de-DE" altLang="ko-KR" sz="1200" b="0" dirty="0"/>
                  <a:t> at time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𝑡</m:t>
                    </m:r>
                  </m:oMath>
                </a14:m>
                <a:r>
                  <a:rPr lang="de-DE" altLang="ko-KR" sz="1200" b="0" dirty="0" smtClean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ko-KR" sz="1200" b="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 sz="1200" b="0" i="1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en-US" altLang="ko-KR" sz="1200" b="0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/>
                          </a:rPr>
                          <m:t>𝑉𝑎𝑟</m:t>
                        </m:r>
                      </m:e>
                      <m:sub>
                        <m:r>
                          <a:rPr lang="en-US" altLang="ko-KR" sz="1200" b="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 sz="1200" b="0" i="1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en-US" altLang="ko-KR" sz="1200" b="0" i="1">
                        <a:latin typeface="Cambria Math"/>
                      </a:rPr>
                      <m:t>⋅</m:t>
                    </m:r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US" altLang="ko-KR" sz="1200" b="0" i="1">
                        <a:latin typeface="Cambria Math"/>
                      </a:rPr>
                      <m:t>/</m:t>
                    </m:r>
                    <m:sSup>
                      <m:sSup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>
                                <a:latin typeface="Cambria Math"/>
                              </a:rPr>
                              <m:t>1+</m:t>
                            </m:r>
                            <m:r>
                              <a:rPr lang="en-US" altLang="ko-KR" sz="1200" b="0" i="1">
                                <a:latin typeface="Cambria Math"/>
                              </a:rPr>
                              <m:t>𝑟</m:t>
                            </m:r>
                          </m:e>
                        </m:d>
                      </m:e>
                      <m:sup>
                        <m:r>
                          <a:rPr lang="en-US" altLang="ko-KR" sz="1200" b="0" i="1">
                            <a:latin typeface="Cambria Math"/>
                          </a:rPr>
                          <m:t>𝑡</m:t>
                        </m:r>
                      </m:sup>
                    </m:sSup>
                  </m:oMath>
                </a14:m>
                <a:endParaRPr lang="en-US" altLang="ko-KR" sz="1200" dirty="0" smtClean="0"/>
              </a:p>
              <a:p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𝑟</m:t>
                    </m:r>
                    <m:r>
                      <a:rPr lang="de-DE" altLang="ko-KR" sz="1200" b="0" i="1">
                        <a:latin typeface="Cambria Math"/>
                      </a:rPr>
                      <m:t> </m:t>
                    </m:r>
                  </m:oMath>
                </a14:m>
                <a:r>
                  <a:rPr lang="de-DE" altLang="ko-KR" sz="1200" b="0" dirty="0" smtClean="0"/>
                  <a:t> : the </a:t>
                </a:r>
                <a:r>
                  <a:rPr lang="de-DE" altLang="ko-KR" sz="1200" b="0" dirty="0"/>
                  <a:t>discount </a:t>
                </a:r>
                <a:r>
                  <a:rPr lang="de-DE" altLang="ko-KR" sz="1200" b="0" dirty="0" smtClean="0"/>
                  <a:t>rate.</a:t>
                </a:r>
              </a:p>
              <a:p>
                <a:r>
                  <a:rPr lang="de-DE" altLang="ko-KR" sz="1200" b="0" dirty="0"/>
                  <a:t>Summing up these costs, the cost incurred by technology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𝑖</m:t>
                    </m:r>
                  </m:oMath>
                </a14:m>
                <a:r>
                  <a:rPr lang="de-DE" altLang="ko-KR" sz="1200" b="0" dirty="0"/>
                  <a:t> at time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/>
                      </a:rPr>
                      <m:t>𝑡</m:t>
                    </m:r>
                  </m:oMath>
                </a14:m>
                <a:r>
                  <a:rPr lang="de-DE" altLang="ko-KR" sz="1200" b="0" dirty="0"/>
                  <a:t> can be written as </a:t>
                </a:r>
                <a:endParaRPr lang="de-DE" altLang="ko-KR" sz="1200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altLang="ko-KR" sz="1200" b="0" i="1">
                              <a:latin typeface="Cambria Math"/>
                            </a:rPr>
                            <m:t>𝑡</m:t>
                          </m:r>
                          <m:r>
                            <a:rPr lang="de-DE" altLang="ko-KR" sz="1200" b="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de-DE" altLang="ko-KR" sz="1200" b="0" i="1">
                              <a:latin typeface="Cambria Math"/>
                            </a:rPr>
                            <m:t>𝑇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e-DE" altLang="ko-KR" sz="1200" b="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de-DE" altLang="ko-KR" sz="1200" b="0" i="1">
                                  <a:latin typeface="Cambria Math"/>
                                </a:rPr>
                                <m:t>∈</m:t>
                              </m:r>
                              <m:r>
                                <a:rPr lang="de-DE" altLang="ko-KR" sz="1200" b="0" i="1">
                                  <a:latin typeface="Cambria Math"/>
                                </a:rPr>
                                <m:t>𝐼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ko-KR" altLang="ko-KR" sz="1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ko-KR" altLang="ko-KR" sz="1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altLang="ko-KR" sz="1200" b="0" i="1">
                                              <a:latin typeface="Cambria Math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de-DE" altLang="ko-KR" sz="1200" b="0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de-DE" altLang="ko-KR" sz="1200" b="0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  <m:r>
                                        <a:rPr lang="de-DE" altLang="ko-KR" sz="1200" b="0" i="1">
                                          <a:latin typeface="Cambria Math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ko-KR" altLang="ko-KR" sz="1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altLang="ko-KR" sz="1200" b="0" i="1">
                                              <a:latin typeface="Cambria Math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de-DE" altLang="ko-KR" sz="1200" b="0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de-DE" altLang="ko-KR" sz="1200" b="0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ko-KR" altLang="ko-KR" sz="1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altLang="ko-KR" sz="1200" b="0" i="1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de-DE" altLang="ko-KR" sz="1200" b="0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de-DE" altLang="ko-KR" sz="1200" b="0" i="1">
                                          <a:latin typeface="Cambria Math"/>
                                        </a:rPr>
                                        <m:t>𝑡</m:t>
                                      </m:r>
                                    </m:sup>
                                  </m:sSubSup>
                                  <m:r>
                                    <a:rPr lang="de-DE" altLang="ko-KR" sz="1200" b="0" i="1">
                                      <a:latin typeface="Cambria Math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ko-KR" altLang="ko-KR" sz="1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altLang="ko-KR" sz="1200" b="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de-DE" altLang="ko-KR" sz="1200" b="0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de-DE" altLang="ko-KR" sz="1200" b="0" i="1">
                                          <a:latin typeface="Cambria Math"/>
                                        </a:rPr>
                                        <m:t>𝑡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ko-KR" altLang="ko-KR" sz="1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altLang="ko-KR" sz="1200" b="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DE" altLang="ko-KR" sz="1200" b="0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de-DE" altLang="ko-KR" sz="1200" b="0" i="1">
                                          <a:latin typeface="Cambria Math"/>
                                        </a:rPr>
                                        <m:t>𝑡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ko-KR" sz="1200" b="0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53983" y="1764063"/>
                <a:ext cx="8010525" cy="2896949"/>
              </a:xfrm>
              <a:blipFill rotWithShape="0">
                <a:blip r:embed="rId2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608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en-US" altLang="ko-KR" b="0" dirty="0" smtClean="0"/>
              <a:t>Basic LP</a:t>
            </a:r>
            <a:endParaRPr lang="ko-KR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내용 개체 틀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26586321"/>
                  </p:ext>
                </p:extLst>
              </p:nvPr>
            </p:nvGraphicFramePr>
            <p:xfrm>
              <a:off x="1116627" y="1261857"/>
              <a:ext cx="7072439" cy="286367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58675"/>
                    <a:gridCol w="916563"/>
                    <a:gridCol w="4812905"/>
                    <a:gridCol w="184296"/>
                  </a:tblGrid>
                  <a:tr h="638471">
                    <a:tc>
                      <a:txBody>
                        <a:bodyPr/>
                        <a:lstStyle/>
                        <a:p>
                          <a:pPr marL="0" indent="0" algn="l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(Basic LP)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spcAft>
                              <a:spcPts val="0"/>
                            </a:spcAft>
                          </a:pPr>
                          <a:r>
                            <a:rPr lang="de-DE" sz="12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Minimize</a:t>
                          </a:r>
                          <a:endParaRPr lang="ko-KR" sz="1200" b="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ko-KR" sz="120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𝑇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∈</m:t>
                                        </m:r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𝐼</m:t>
                                        </m:r>
                                      </m:sub>
                                      <m:sup/>
                                      <m:e>
                                        <m:d>
                                          <m:dPr>
                                            <m:ctrlPr>
                                              <a:rPr lang="ko-KR" sz="1200" i="1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d>
                                              <m:dPr>
                                                <m:ctrlPr>
                                                  <a:rPr 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Sup>
                                                  <m:sSubSupPr>
                                                    <m:ctrlPr>
                                                      <a:rPr lang="ko-KR" sz="1200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𝐼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𝑡</m:t>
                                                    </m:r>
                                                  </m:sup>
                                                </m:sSubSup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+</m:t>
                                                </m:r>
                                                <m:sSubSup>
                                                  <m:sSubSupPr>
                                                    <m:ctrlPr>
                                                      <a:rPr lang="ko-KR" sz="1200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𝐹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𝑡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d>
                                            <m:sSubSup>
                                              <m:sSubSupPr>
                                                <m:ctrlPr>
                                                  <a:rPr 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𝑡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en-US" sz="120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/>
                                              </a:rPr>
                                              <m:t>+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𝑉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𝑡</m:t>
                                                </m:r>
                                              </m:sup>
                                            </m:sSubSup>
                                            <m:sSubSup>
                                              <m:sSubSupPr>
                                                <m:ctrlPr>
                                                  <a:rPr 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𝑡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>
                              <a:effectLst/>
                            </a:rPr>
                            <a:t> </a:t>
                          </a:r>
                          <a:endParaRPr lang="ko-KR" sz="120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1977874"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  <a:p>
                          <a:pPr marL="0" indent="0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Subjec to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79705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≤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𝑠</m:t>
                                    </m:r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max</m:t>
                                    </m:r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1,</m:t>
                                        </m:r>
                                        <m:r>
                                          <a:rPr lang="en-US" altLang="ko-KR" sz="120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ko-KR" altLang="en-US" sz="1200" i="1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/>
                                              </a:rPr>
                                              <m:t>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𝑠</m:t>
                                        </m:r>
                                      </m:sup>
                                    </m:sSubSup>
                                  </m:e>
                                </m:nary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𝐼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=1,2,⋯,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  <a:p>
                          <a:pPr indent="179705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ko-KR" altLang="ko-KR" sz="12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    </m:t>
                                    </m:r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ko-KR" altLang="ko-KR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de-DE" altLang="ko-KR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de-DE" altLang="ko-KR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</a:rPr>
                                          <m:t>∈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sub>
                                      <m:sup/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ko-KR" sz="1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de-DE" altLang="ko-KR" sz="1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/>
                                              </a:rPr>
                                              <m:t>𝑒</m:t>
                                            </m:r>
                                          </m:e>
                                          <m:sub>
                                            <m:r>
                                              <a:rPr lang="de-DE" altLang="ko-KR" sz="1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altLang="ko-KR" sz="1200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</m:d>
                                          </m:sub>
                                          <m:sup>
                                            <m:r>
                                              <a:rPr lang="en-US" altLang="ko-KR" sz="1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p>
                                        </m:sSubSup>
                                      </m:e>
                                    </m:nary>
                                    <m:r>
                                      <a:rPr lang="de-DE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de-DE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de-DE" altLang="ko-KR" sz="12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≥</m:t>
                                </m:r>
                                <m:sSubSup>
                                  <m:sSubSupPr>
                                    <m:ctrlPr>
                                      <a:rPr lang="ko-KR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de-DE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de-DE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     </m:t>
                                </m:r>
                                <m:r>
                                  <a:rPr lang="en-US" sz="1100" b="0" i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                         </m:t>
                                </m:r>
                                <m:r>
                                  <a:rPr lang="en-US" sz="1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sz="1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r>
                                  <a:rPr lang="en-US" sz="1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𝐾</m:t>
                                </m:r>
                                <m:r>
                                  <a:rPr lang="en-US" sz="1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</m:t>
                                </m:r>
                                <m:r>
                                  <a:rPr lang="en-US" sz="1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sz="1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=1,2,⋯,</m:t>
                                </m:r>
                                <m:r>
                                  <a:rPr lang="en-US" sz="1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  <a:p>
                          <a:pPr indent="179705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    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∈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𝑡</m:t>
                                        </m:r>
                                      </m:sup>
                                    </m:sSubSup>
                                  </m:e>
                                </m:nary>
                                <m:d>
                                  <m:d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𝑗</m:t>
                                    </m:r>
                                  </m:e>
                                </m:d>
                                <m:sSubSup>
                                  <m:sSubSup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≥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∈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𝐶</m:t>
                                    </m:r>
                                    <m:d>
                                      <m:d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𝑡</m:t>
                                        </m:r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e>
                                </m:nary>
                                <m:sSubSup>
                                  <m:sSubSup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 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𝐽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=1,2,⋯,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effectLst/>
                            </a:rPr>
                            <a:t> </a:t>
                          </a:r>
                          <a:endParaRPr lang="ko-KR" sz="1200" dirty="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47330"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ko-KR" sz="120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sSubSup>
                                  <m:sSubSup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≥0, 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𝐼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effectLst/>
                            </a:rPr>
                            <a:t> </a:t>
                          </a:r>
                          <a:endParaRPr lang="ko-KR" sz="1200" dirty="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내용 개체 틀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26586321"/>
                  </p:ext>
                </p:extLst>
              </p:nvPr>
            </p:nvGraphicFramePr>
            <p:xfrm>
              <a:off x="1116627" y="1261857"/>
              <a:ext cx="7072439" cy="298210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58675"/>
                    <a:gridCol w="916563"/>
                    <a:gridCol w="4812905"/>
                    <a:gridCol w="184296"/>
                  </a:tblGrid>
                  <a:tr h="638471">
                    <a:tc>
                      <a:txBody>
                        <a:bodyPr/>
                        <a:lstStyle/>
                        <a:p>
                          <a:pPr marL="0" indent="0" algn="l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(Basic LP)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spcAft>
                              <a:spcPts val="0"/>
                            </a:spcAft>
                          </a:pPr>
                          <a:r>
                            <a:rPr lang="de-DE" sz="12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Minimize</a:t>
                          </a:r>
                          <a:endParaRPr lang="ko-KR" sz="1200" b="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43291" t="-952" r="-4304" b="-36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>
                              <a:effectLst/>
                            </a:rPr>
                            <a:t> </a:t>
                          </a:r>
                          <a:endParaRPr lang="ko-KR" sz="120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1977874"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  <a:p>
                          <a:pPr marL="0" indent="0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Subjec to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43291" t="-32515" r="-4304" b="-19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effectLst/>
                            </a:rPr>
                            <a:t> </a:t>
                          </a:r>
                          <a:endParaRPr lang="ko-KR" sz="1200" dirty="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43291" t="-720000" r="-4304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effectLst/>
                            </a:rPr>
                            <a:t> </a:t>
                          </a:r>
                          <a:endParaRPr lang="ko-KR" sz="1200" dirty="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28</a:t>
            </a:fld>
            <a:endParaRPr lang="ko-KR" altLang="en-US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1116627" y="737650"/>
            <a:ext cx="8010525" cy="58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•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»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 altLang="ko-KR" dirty="0"/>
              <a:t>Each technology has only one activity.</a:t>
            </a:r>
          </a:p>
          <a:p>
            <a:r>
              <a:rPr lang="de-DE" altLang="ko-KR" dirty="0"/>
              <a:t>No load region/load curve</a:t>
            </a:r>
          </a:p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2"/>
              <p:cNvSpPr txBox="1">
                <a:spLocks/>
              </p:cNvSpPr>
              <p:nvPr/>
            </p:nvSpPr>
            <p:spPr bwMode="auto">
              <a:xfrm>
                <a:off x="1423682" y="4299160"/>
                <a:ext cx="6756259" cy="787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1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–"/>
                  <a:defRPr sz="12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•"/>
                  <a:defRPr sz="12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–"/>
                  <a:defRPr sz="10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»"/>
                  <a:defRPr sz="10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buFont typeface="Wingdings" pitchFamily="2" charset="2"/>
                  <a:buChar char="è"/>
                </a:pPr>
                <a:r>
                  <a:rPr lang="en-US" altLang="ko-KR" dirty="0">
                    <a:sym typeface="Wingdings" pitchFamily="2" charset="2"/>
                  </a:rPr>
                  <a:t>a very simple and minimal formulation 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ko-KR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>
                            <a:solidFill>
                              <a:srgbClr val="000000"/>
                            </a:solidFill>
                            <a:latin typeface="Cambria Math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altLang="ko-KR" dirty="0">
                    <a:sym typeface="Wingdings" pitchFamily="2" charset="2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ko-KR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>
                            <a:solidFill>
                              <a:srgbClr val="000000"/>
                            </a:solidFill>
                            <a:latin typeface="Cambria Math"/>
                          </a:rPr>
                          <m:t>𝑡</m:t>
                        </m:r>
                      </m:sup>
                    </m:sSubSup>
                  </m:oMath>
                </a14:m>
                <a:endParaRPr lang="en-US" altLang="ko-KR" dirty="0">
                  <a:sym typeface="Wingdings" pitchFamily="2" charset="2"/>
                </a:endParaRPr>
              </a:p>
              <a:p>
                <a:pPr>
                  <a:buFont typeface="Wingdings" pitchFamily="2" charset="2"/>
                  <a:buChar char="è"/>
                </a:pPr>
                <a:r>
                  <a:rPr lang="ko-KR" altLang="en-US" dirty="0"/>
                  <a:t>기존 </a:t>
                </a:r>
                <a:r>
                  <a:rPr lang="en-US" altLang="ko-KR" dirty="0" smtClean="0"/>
                  <a:t>formulation</a:t>
                </a:r>
                <a:r>
                  <a:rPr lang="ko-KR" altLang="en-US" dirty="0" smtClean="0"/>
                  <a:t>은 </a:t>
                </a:r>
                <a:r>
                  <a:rPr lang="ko-KR" altLang="en-US" dirty="0"/>
                  <a:t>매우 복잡하며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모든 경우를 다 포함한 것에서 </a:t>
                </a:r>
                <a:r>
                  <a:rPr lang="ko-KR" altLang="en-US" dirty="0" smtClean="0"/>
                  <a:t>출발함</a:t>
                </a:r>
                <a:r>
                  <a:rPr lang="en-US" altLang="ko-KR" dirty="0" smtClean="0"/>
                  <a:t> (</a:t>
                </a:r>
                <a:r>
                  <a:rPr lang="en-US" altLang="ko-KR" dirty="0"/>
                  <a:t>Basic LP)</a:t>
                </a:r>
                <a:r>
                  <a:rPr lang="ko-KR" altLang="en-US" dirty="0"/>
                  <a:t>에서 출발하여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복잡한 경우를 수용할 계획임</a:t>
                </a:r>
              </a:p>
            </p:txBody>
          </p:sp>
        </mc:Choice>
        <mc:Fallback xmlns="">
          <p:sp>
            <p:nvSpPr>
              <p:cNvPr id="8" name="내용 개체 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23682" y="4299160"/>
                <a:ext cx="6756259" cy="787400"/>
              </a:xfrm>
              <a:prstGeom prst="rect">
                <a:avLst/>
              </a:prstGeom>
              <a:blipFill rotWithShape="0">
                <a:blip r:embed="rId3"/>
                <a:stretch>
                  <a:fillRect l="-181" t="-1550" b="-775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4247" y="5202895"/>
            <a:ext cx="5012438" cy="140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82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내용 개체 틀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27734958"/>
                  </p:ext>
                </p:extLst>
              </p:nvPr>
            </p:nvGraphicFramePr>
            <p:xfrm>
              <a:off x="1395941" y="2172674"/>
              <a:ext cx="7388031" cy="290833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46175"/>
                    <a:gridCol w="921666"/>
                    <a:gridCol w="4718482"/>
                    <a:gridCol w="501708"/>
                  </a:tblGrid>
                  <a:tr h="638471">
                    <a:tc>
                      <a:txBody>
                        <a:bodyPr/>
                        <a:lstStyle/>
                        <a:p>
                          <a:pPr marL="0" indent="0" algn="l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(</a:t>
                          </a:r>
                          <a:r>
                            <a:rPr lang="de-DE" sz="1200" dirty="0" smtClean="0">
                              <a:solidFill>
                                <a:srgbClr val="000000"/>
                              </a:solidFill>
                              <a:effectLst/>
                            </a:rPr>
                            <a:t>Basic_LP_act)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spcAft>
                              <a:spcPts val="0"/>
                            </a:spcAft>
                          </a:pPr>
                          <a:r>
                            <a:rPr lang="de-DE" sz="12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Minimize</a:t>
                          </a:r>
                          <a:endParaRPr lang="ko-KR" sz="1200" b="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ko-KR" sz="120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𝑇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∈</m:t>
                                        </m:r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𝐼</m:t>
                                        </m:r>
                                      </m:sub>
                                      <m:sup/>
                                      <m:e>
                                        <m:d>
                                          <m:dPr>
                                            <m:ctrlPr>
                                              <a:rPr lang="ko-KR" sz="1200" i="1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d>
                                              <m:dPr>
                                                <m:ctrlPr>
                                                  <a:rPr 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Sup>
                                                  <m:sSubSupPr>
                                                    <m:ctrlPr>
                                                      <a:rPr lang="ko-KR" sz="1200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𝐼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𝑡</m:t>
                                                    </m:r>
                                                  </m:sup>
                                                </m:sSubSup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+</m:t>
                                                </m:r>
                                                <m:sSubSup>
                                                  <m:sSubSupPr>
                                                    <m:ctrlPr>
                                                      <a:rPr lang="ko-KR" sz="1200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𝐹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𝑡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d>
                                            <m:sSubSup>
                                              <m:sSubSupPr>
                                                <m:ctrlPr>
                                                  <a:rPr 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𝑡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en-US" sz="120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/>
                                              </a:rPr>
                                              <m:t>+</m:t>
                                            </m:r>
                                            <m:nary>
                                              <m:naryPr>
                                                <m:chr m:val="∑"/>
                                                <m:ctrlPr>
                                                  <a:rPr lang="en-US" altLang="ko-KR" sz="120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naryPr>
                                              <m:sub>
                                                <m:r>
                                                  <m:rPr>
                                                    <m:brk m:alnAt="23"/>
                                                  </m:rPr>
                                                  <a:rPr lang="en-US" altLang="ko-KR" sz="1200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𝑎</m:t>
                                                </m:r>
                                                <m:r>
                                                  <a:rPr lang="en-US" altLang="ko-KR" sz="1200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∈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altLang="ko-KR" sz="1200" b="0" i="1" smtClean="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ko-KR" sz="1200" b="0" i="1" smtClean="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𝐴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ko-KR" sz="1200" b="0" i="1" smtClean="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</m:sub>
                                              <m:sup/>
                                              <m:e>
                                                <m:sSubSup>
                                                  <m:sSubSupPr>
                                                    <m:ctrlPr>
                                                      <a:rPr lang="en-US" altLang="ko-KR" sz="1200" b="0" i="1" smtClean="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altLang="ko-KR" sz="1200" b="0" i="1" smtClean="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𝑉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ko-KR" sz="1200" b="0" i="1" smtClean="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𝑎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altLang="ko-KR" sz="1200" b="0" i="1" smtClean="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𝑡</m:t>
                                                    </m:r>
                                                  </m:sup>
                                                </m:sSubSup>
                                                <m:sSubSup>
                                                  <m:sSubSupPr>
                                                    <m:ctrlPr>
                                                      <a:rPr lang="en-US" altLang="ko-KR" sz="1200" b="0" i="1" smtClean="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altLang="ko-KR" sz="1200" b="0" i="1" smtClean="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𝑥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ko-KR" sz="1200" b="0" i="1" smtClean="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𝑎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altLang="ko-KR" sz="1200" b="0" i="1" smtClean="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𝑡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nary>
                                          </m:e>
                                        </m:d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r>
                            <a:rPr lang="de-DE" sz="1200" b="0" dirty="0" smtClean="0">
                              <a:solidFill>
                                <a:srgbClr val="000000"/>
                              </a:solidFill>
                              <a:effectLst/>
                            </a:rPr>
                            <a:t>(0)</a:t>
                          </a:r>
                          <a:r>
                            <a:rPr lang="de-DE" sz="12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b="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1977874"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  <a:p>
                          <a:pPr marL="0" indent="0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Subjec to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79705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n-US" altLang="ko-KR" sz="120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∈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𝑎</m:t>
                                        </m:r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ko-KR" altLang="en-US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𝑎</m:t>
                                        </m:r>
                                      </m:sub>
                                      <m:sup>
                                        <m:r>
                                          <a:rPr lang="en-US" altLang="ko-KR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𝑡</m:t>
                                        </m:r>
                                      </m:sup>
                                    </m:sSubSup>
                                  </m:e>
                                </m:nary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≤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𝑠</m:t>
                                    </m:r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max</m:t>
                                    </m:r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1,</m:t>
                                        </m:r>
                                        <m:r>
                                          <a:rPr lang="en-US" altLang="ko-KR" sz="120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ko-KR" altLang="en-US" sz="1200" i="1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/>
                                              </a:rPr>
                                              <m:t>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𝑠</m:t>
                                        </m:r>
                                      </m:sup>
                                    </m:sSubSup>
                                  </m:e>
                                </m:nary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200" b="0" i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  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1200" b="0" i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  </m:t>
                                </m:r>
                                <m:r>
                                  <a:rPr lang="en-US" sz="120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120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r>
                                  <a:rPr lang="en-US" sz="120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𝐼</m:t>
                                </m:r>
                                <m:r>
                                  <a:rPr lang="en-US" sz="120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</m:t>
                                </m:r>
                                <m:r>
                                  <a:rPr lang="en-US" sz="120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sz="120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=1,2,⋯,</m:t>
                                </m:r>
                                <m:r>
                                  <a:rPr lang="en-US" sz="120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  <a:p>
                          <a:pPr marL="177800" indent="1588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ko-KR" altLang="ko-KR" sz="12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𝑎</m:t>
                                    </m:r>
                                    <m:r>
                                      <a:rPr lang="de-DE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∈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𝑎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bSup>
                                    <m:sSubSup>
                                      <m:sSubSupPr>
                                        <m:ctrlPr>
                                          <a:rPr lang="ko-KR" altLang="en-US" sz="120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𝑎</m:t>
                                        </m:r>
                                      </m:sub>
                                      <m:sup>
                                        <m:r>
                                          <a:rPr lang="en-US" altLang="ko-KR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𝑡</m:t>
                                        </m:r>
                                      </m:sup>
                                    </m:sSubSup>
                                  </m:e>
                                </m:nary>
                                <m:r>
                                  <a:rPr lang="de-DE" altLang="ko-KR" sz="12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≥</m:t>
                                </m:r>
                                <m:sSubSup>
                                  <m:sSubSupPr>
                                    <m:ctrlPr>
                                      <a:rPr lang="ko-KR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de-DE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de-DE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  </m:t>
                                </m:r>
                                <m:r>
                                  <a:rPr lang="en-US" sz="1200" b="0" i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                                     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𝐾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=1,2,⋯,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  <a:p>
                          <a:pPr indent="179705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    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6"/>
                                      </m:rP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∈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ko-KR" altLang="en-US" sz="120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𝑎</m:t>
                                        </m:r>
                                      </m:sub>
                                      <m:sup>
                                        <m:r>
                                          <a:rPr lang="en-US" altLang="ko-KR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𝑡</m:t>
                                        </m:r>
                                      </m:sup>
                                    </m:sSubSup>
                                  </m:e>
                                </m:nary>
                                <m:d>
                                  <m:d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𝑗</m:t>
                                    </m:r>
                                  </m:e>
                                </m:d>
                                <m:sSubSup>
                                  <m:sSubSup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≥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16"/>
                                      </m:rP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∈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𝐶</m:t>
                                    </m:r>
                                    <m:d>
                                      <m:d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ko-KR" altLang="en-US" sz="120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𝑎</m:t>
                                        </m:r>
                                      </m:sub>
                                      <m:sup>
                                        <m:r>
                                          <a:rPr lang="en-US" altLang="ko-KR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𝑡</m:t>
                                        </m:r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ko-KR" altLang="en-US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e>
                                </m:nary>
                                <m:sSubSup>
                                  <m:sSubSup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200" b="0" i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𝐽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=1,2,⋯,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r>
                            <a:rPr lang="de-DE" sz="1200" b="0" kern="1200" dirty="0" smtClea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</a:t>
                          </a:r>
                        </a:p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endParaRPr lang="de-DE" sz="1200" b="0" kern="1200" dirty="0" smtClean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endParaRPr lang="de-DE" sz="1200" b="0" kern="1200" dirty="0" smtClean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r>
                            <a:rPr lang="de-DE" altLang="ko-KR" sz="1200" b="0" kern="1200" dirty="0" smtClea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</a:t>
                          </a:r>
                        </a:p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endParaRPr lang="de-DE" altLang="ko-KR" sz="1200" b="0" kern="1200" dirty="0" smtClean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endParaRPr lang="de-DE" altLang="ko-KR" sz="1200" b="0" kern="1200" dirty="0" smtClean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r>
                            <a:rPr lang="de-DE" altLang="ko-KR" sz="1200" b="0" kern="1200" dirty="0" smtClea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</a:t>
                          </a:r>
                          <a:endParaRPr lang="ko-KR" sz="1200" b="0" kern="12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47330"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ko-KR" sz="120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sSubSup>
                                  <m:sSubSup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≥0,  </m:t>
                                </m:r>
                                <m: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𝐼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r>
                            <a:rPr lang="de-DE" sz="1200" dirty="0" smtClean="0">
                              <a:effectLst/>
                            </a:rPr>
                            <a:t>(4)</a:t>
                          </a:r>
                          <a:r>
                            <a:rPr lang="de-DE" sz="1200" dirty="0">
                              <a:effectLst/>
                            </a:rPr>
                            <a:t> </a:t>
                          </a:r>
                          <a:endParaRPr lang="ko-KR" sz="1200" dirty="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내용 개체 틀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27734958"/>
                  </p:ext>
                </p:extLst>
              </p:nvPr>
            </p:nvGraphicFramePr>
            <p:xfrm>
              <a:off x="1395941" y="2172674"/>
              <a:ext cx="7388031" cy="290833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46175"/>
                    <a:gridCol w="921666"/>
                    <a:gridCol w="4718482"/>
                    <a:gridCol w="501708"/>
                  </a:tblGrid>
                  <a:tr h="683133">
                    <a:tc>
                      <a:txBody>
                        <a:bodyPr/>
                        <a:lstStyle/>
                        <a:p>
                          <a:pPr marL="0" indent="0" algn="l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(</a:t>
                          </a:r>
                          <a:r>
                            <a:rPr lang="de-DE" sz="1200" dirty="0" smtClean="0">
                              <a:solidFill>
                                <a:srgbClr val="000000"/>
                              </a:solidFill>
                              <a:effectLst/>
                            </a:rPr>
                            <a:t>Basic_LP_act)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spcAft>
                              <a:spcPts val="0"/>
                            </a:spcAft>
                          </a:pPr>
                          <a:r>
                            <a:rPr lang="de-DE" sz="12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Minimize</a:t>
                          </a:r>
                          <a:endParaRPr lang="ko-KR" sz="1200" b="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46065" t="-893" r="-11226" b="-3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r>
                            <a:rPr lang="de-DE" sz="1200" b="0" dirty="0" smtClean="0">
                              <a:solidFill>
                                <a:srgbClr val="000000"/>
                              </a:solidFill>
                              <a:effectLst/>
                            </a:rPr>
                            <a:t>(0)</a:t>
                          </a:r>
                          <a:r>
                            <a:rPr lang="de-DE" sz="12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b="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1977874"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  <a:p>
                          <a:pPr marL="0" indent="0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Subjec to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46065" t="-34769" r="-11226" b="-15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r>
                            <a:rPr lang="de-DE" sz="1200" b="0" kern="1200" dirty="0" smtClea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(1)</a:t>
                          </a:r>
                        </a:p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endParaRPr lang="de-DE" sz="1200" b="0" kern="1200" dirty="0" smtClean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endParaRPr lang="de-DE" sz="1200" b="0" kern="1200" dirty="0" smtClean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r>
                            <a:rPr lang="de-DE" altLang="ko-KR" sz="1200" b="0" kern="1200" dirty="0" smtClea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(2)</a:t>
                          </a:r>
                        </a:p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endParaRPr lang="de-DE" altLang="ko-KR" sz="1200" b="0" kern="1200" dirty="0" smtClean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endParaRPr lang="de-DE" altLang="ko-KR" sz="1200" b="0" kern="1200" dirty="0" smtClean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r>
                            <a:rPr lang="de-DE" altLang="ko-KR" sz="1200" b="0" kern="1200" dirty="0" smtClean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(3)</a:t>
                          </a:r>
                          <a:endParaRPr lang="ko-KR" sz="1200" b="0" kern="12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47330"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46065" t="-1068293" r="-11226" b="-24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spcAft>
                              <a:spcPts val="0"/>
                            </a:spcAft>
                          </a:pPr>
                          <a:r>
                            <a:rPr lang="de-DE" sz="1200" dirty="0" smtClean="0">
                              <a:effectLst/>
                            </a:rPr>
                            <a:t>(4)</a:t>
                          </a:r>
                          <a:r>
                            <a:rPr lang="de-DE" sz="1200" dirty="0">
                              <a:effectLst/>
                            </a:rPr>
                            <a:t> </a:t>
                          </a:r>
                          <a:endParaRPr lang="ko-KR" sz="1200" dirty="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29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/>
              <p:cNvSpPr txBox="1">
                <a:spLocks/>
              </p:cNvSpPr>
              <p:nvPr/>
            </p:nvSpPr>
            <p:spPr bwMode="auto">
              <a:xfrm>
                <a:off x="1395941" y="918634"/>
                <a:ext cx="8010525" cy="9194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1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–"/>
                  <a:defRPr sz="12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•"/>
                  <a:defRPr sz="12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–"/>
                  <a:defRPr sz="10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»"/>
                  <a:defRPr sz="10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: activity set for </a:t>
                </a: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de-DE" altLang="ko-KR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de-DE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: activity set producing final demand  </a:t>
                </a:r>
                <a14:m>
                  <m:oMath xmlns:m="http://schemas.openxmlformats.org/officeDocument/2006/math"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de-DE" altLang="ko-KR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de-DE" altLang="ko-KR" sz="1200" i="1" kern="0">
                        <a:solidFill>
                          <a:srgbClr val="18388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de-DE" altLang="ko-KR" sz="1200" i="1" kern="0">
                        <a:solidFill>
                          <a:srgbClr val="18388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altLang="ko-KR" sz="1200" i="1" kern="0">
                        <a:solidFill>
                          <a:srgbClr val="18388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de-DE" altLang="ko-KR" sz="1200" i="1" kern="0">
                        <a:solidFill>
                          <a:srgbClr val="18388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altLang="ko-KR" sz="1200" kern="0" dirty="0">
                    <a:solidFill>
                      <a:srgbClr val="18388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denotes the set of input activities generating </a:t>
                </a:r>
                <a14:m>
                  <m:oMath xmlns:m="http://schemas.openxmlformats.org/officeDocument/2006/math">
                    <m:r>
                      <a:rPr lang="de-DE" altLang="ko-KR" sz="1200" i="1" kern="0">
                        <a:solidFill>
                          <a:srgbClr val="18388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endParaRPr lang="de-DE" altLang="ko-KR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de-DE" altLang="ko-KR" sz="1200" i="1" kern="0">
                        <a:solidFill>
                          <a:srgbClr val="18388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de-DE" altLang="ko-KR" sz="1200" i="1" kern="0">
                        <a:solidFill>
                          <a:srgbClr val="18388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altLang="ko-KR" sz="1200" i="1" kern="0">
                        <a:solidFill>
                          <a:srgbClr val="18388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de-DE" altLang="ko-KR" sz="1200" i="1" kern="0">
                        <a:solidFill>
                          <a:srgbClr val="18388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altLang="ko-KR" sz="1200" kern="0" dirty="0">
                    <a:solidFill>
                      <a:srgbClr val="18388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denotes the set of output activities consuming </a:t>
                </a:r>
                <a14:m>
                  <m:oMath xmlns:m="http://schemas.openxmlformats.org/officeDocument/2006/math">
                    <m:r>
                      <a:rPr lang="de-DE" altLang="ko-KR" sz="1200" i="1" kern="0">
                        <a:solidFill>
                          <a:srgbClr val="18388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endParaRPr lang="de-DE" altLang="ko-KR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i="1" kern="0">
                            <a:solidFill>
                              <a:srgbClr val="18388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i="1" kern="0">
                            <a:solidFill>
                              <a:srgbClr val="18388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200" i="1" kern="0">
                            <a:solidFill>
                              <a:srgbClr val="18388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de-DE" altLang="ko-KR" sz="1200" i="1" kern="0">
                            <a:solidFill>
                              <a:srgbClr val="18388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de-DE" altLang="ko-KR" sz="1200" i="1" kern="0">
                        <a:solidFill>
                          <a:srgbClr val="18388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altLang="ko-KR" sz="1200" kern="0" dirty="0">
                    <a:solidFill>
                      <a:srgbClr val="18388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: the activity variable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altLang="ko-KR" sz="1200" kern="0" dirty="0">
                    <a:solidFill>
                      <a:srgbClr val="18388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ko-KR" sz="1200" i="1" kern="0">
                        <a:solidFill>
                          <a:srgbClr val="18388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ko-KR" sz="1200" i="1" kern="0">
                        <a:solidFill>
                          <a:srgbClr val="18388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ko-KR" sz="1200" i="1" kern="0">
                        <a:solidFill>
                          <a:srgbClr val="18388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de-DE" altLang="ko-KR" sz="1200" kern="0" dirty="0">
                    <a:solidFill>
                      <a:srgbClr val="183883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at time </a:t>
                </a:r>
                <a14:m>
                  <m:oMath xmlns:m="http://schemas.openxmlformats.org/officeDocument/2006/math">
                    <m:r>
                      <a:rPr lang="de-DE" altLang="ko-KR" sz="1200" i="1" kern="0">
                        <a:solidFill>
                          <a:srgbClr val="18388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ko-KR" altLang="en-US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내용 개체 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5941" y="918634"/>
                <a:ext cx="8010525" cy="919457"/>
              </a:xfrm>
              <a:prstGeom prst="rect">
                <a:avLst/>
              </a:prstGeom>
              <a:blipFill rotWithShape="0">
                <a:blip r:embed="rId3"/>
                <a:stretch>
                  <a:fillRect t="-662" b="-3046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1911360" y="5425597"/>
            <a:ext cx="6756259" cy="431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•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»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itchFamily="2" charset="2"/>
              <a:buChar char="è"/>
            </a:pPr>
            <a:r>
              <a:rPr lang="ko-KR" altLang="en-US" dirty="0">
                <a:sym typeface="Wingdings" pitchFamily="2" charset="2"/>
              </a:rPr>
              <a:t>실제 만들어지게 될 </a:t>
            </a:r>
            <a:r>
              <a:rPr lang="en-US" altLang="ko-KR" dirty="0">
                <a:sym typeface="Wingdings" pitchFamily="2" charset="2"/>
              </a:rPr>
              <a:t>LP formulation</a:t>
            </a:r>
            <a:r>
              <a:rPr lang="ko-KR" altLang="en-US" dirty="0">
                <a:sym typeface="Wingdings" pitchFamily="2" charset="2"/>
              </a:rPr>
              <a:t>의 </a:t>
            </a:r>
            <a:r>
              <a:rPr lang="ko-KR" altLang="en-US" dirty="0" smtClean="0">
                <a:sym typeface="Wingdings" pitchFamily="2" charset="2"/>
              </a:rPr>
              <a:t>원형</a:t>
            </a:r>
            <a:r>
              <a:rPr lang="en-US" altLang="ko-KR" dirty="0" smtClean="0">
                <a:sym typeface="Wingdings" pitchFamily="2" charset="2"/>
              </a:rPr>
              <a:t>(canonical form)</a:t>
            </a:r>
          </a:p>
          <a:p>
            <a:pPr>
              <a:buFont typeface="Wingdings" pitchFamily="2" charset="2"/>
              <a:buChar char="è"/>
            </a:pPr>
            <a:r>
              <a:rPr lang="ko-KR" altLang="en-US" dirty="0" smtClean="0">
                <a:sym typeface="Wingdings" pitchFamily="2" charset="2"/>
              </a:rPr>
              <a:t>설명은 </a:t>
            </a:r>
            <a:r>
              <a:rPr lang="en-US" altLang="ko-KR" dirty="0" smtClean="0">
                <a:sym typeface="Wingdings" pitchFamily="2" charset="2"/>
              </a:rPr>
              <a:t>Basic LP</a:t>
            </a:r>
            <a:r>
              <a:rPr lang="ko-KR" altLang="en-US" dirty="0" smtClean="0">
                <a:sym typeface="Wingdings" pitchFamily="2" charset="2"/>
              </a:rPr>
              <a:t>를 주로 이용함</a:t>
            </a:r>
            <a:endParaRPr lang="en-US" altLang="ko-KR" dirty="0">
              <a:sym typeface="Wingdings" pitchFamily="2" charset="2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en-US" altLang="ko-KR" b="0" dirty="0" smtClean="0"/>
              <a:t>Basic </a:t>
            </a:r>
            <a:r>
              <a:rPr lang="en-US" altLang="ko-KR" b="0" dirty="0"/>
              <a:t>LP with multiple activities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305449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altLang="ko-KR" sz="12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simplicity, suppose that there exist three competing technologies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with the given demand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as the annual total distance travelled. </a:t>
                </a:r>
                <a:endParaRPr lang="de-DE" altLang="ko-KR" sz="12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de-DE" altLang="ko-KR" sz="12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Assuming </a:t>
                </a:r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that the market shares for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50%, 30% and 20%, respectively, i.e</a:t>
                </a:r>
                <a:r>
                  <a:rPr lang="de-DE" altLang="ko-KR" sz="12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US" altLang="ko-KR" sz="1200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  <m:r>
                      <a:rPr lang="en-US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US" altLang="ko-KR" sz="1200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</m:t>
                    </m:r>
                    <m:r>
                      <a:rPr lang="en-US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endParaRPr lang="ko-KR" altLang="ko-KR" sz="1200" b="0" dirty="0">
                  <a:latin typeface="Cambria Math" panose="02040503050406030204" pitchFamily="18" charset="0"/>
                </a:endParaRPr>
              </a:p>
              <a:p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Noting that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de-DE" altLang="ko-KR" sz="1200" b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de-DE" altLang="ko-KR" sz="1200" b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altLang="ko-KR" sz="1200" b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sub>
                          <m:sup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e>
                    </m:d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the above equations simply </a:t>
                </a:r>
                <a:r>
                  <a:rPr lang="de-DE" altLang="ko-KR" sz="12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become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US" altLang="ko-KR" sz="1200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  <m:d>
                      <m:d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en-US" altLang="ko-KR" sz="1200" b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en-US" altLang="ko-KR" sz="1200" b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200" b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US" altLang="ko-KR" sz="1200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</m:t>
                    </m:r>
                    <m:d>
                      <m:d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en-US" altLang="ko-KR" sz="1200" b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en-US" altLang="ko-KR" sz="1200" b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200" b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e>
                    </m:d>
                  </m:oMath>
                </a14:m>
                <a:endParaRPr lang="ko-KR" altLang="ko-KR" sz="1200" b="0" dirty="0">
                  <a:latin typeface="Cambria Math" panose="02040503050406030204" pitchFamily="18" charset="0"/>
                </a:endParaRPr>
              </a:p>
              <a:p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It is quite useful to represent the market share constraint without knowing the demand. For example, suppose that not less than 20% of distance travelled by passenger vehicles should be covered by plug-in hybrid vehicles at time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which can be written </a:t>
                </a:r>
                <a:r>
                  <a:rPr lang="de-DE" altLang="ko-KR" sz="12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𝑃𝐻</m:t>
                              </m:r>
                            </m:sub>
                            <m:sup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𝑃𝐻</m:t>
                              </m:r>
                            </m:sub>
                            <m:sup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bar>
                                <m:barPr>
                                  <m:pos m:val="top"/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𝑃𝐻</m:t>
                                  </m:r>
                                </m:e>
                              </m:bar>
                            </m:sub>
                            <m:sup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den>
                      </m:f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≥0.2</m:t>
                      </m:r>
                    </m:oMath>
                  </m:oMathPara>
                </a14:m>
                <a:endParaRPr lang="en-US" altLang="ko-KR" sz="12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55600" indent="0">
                  <a:buNone/>
                </a:pPr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𝑃𝐻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represents the distance travelled by plug-in hybrid vehicles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bar>
                          <m:barPr>
                            <m:pos m:val="top"/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𝑃𝐻</m:t>
                            </m:r>
                          </m:e>
                        </m:ba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denotes the distance travelled by other types </a:t>
                </a:r>
                <a:r>
                  <a:rPr lang="de-DE" altLang="ko-KR" sz="12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of </a:t>
                </a:r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vehicles at time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e-DE" altLang="ko-KR" sz="12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  <a:p>
                <a:pPr marL="355600" indent="-355600"/>
                <a:r>
                  <a:rPr lang="de-DE" altLang="ko-KR" sz="12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Upper and lower bounding for market share</a:t>
                </a:r>
              </a:p>
              <a:p>
                <a:pPr marL="355600" indent="0">
                  <a:buNone/>
                </a:pPr>
                <a:endParaRPr lang="de-DE" altLang="ko-KR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556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𝑃𝐻</m:t>
                              </m:r>
                            </m:sub>
                            <m:sup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bar>
                                <m:barPr>
                                  <m:pos m:val="top"/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𝑃𝐻</m:t>
                                  </m:r>
                                </m:e>
                              </m:bar>
                            </m:sub>
                            <m:sup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𝑃𝐻</m:t>
                          </m:r>
                        </m:sub>
                        <m:sup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𝑃𝐻</m:t>
                              </m:r>
                            </m:sub>
                            <m:sup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bar>
                                <m:barPr>
                                  <m:pos m:val="top"/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𝑃𝐻</m:t>
                                  </m:r>
                                </m:e>
                              </m:bar>
                            </m:sub>
                            <m:sup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ko-KR" altLang="en-US" sz="1200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30</a:t>
            </a:fld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en-US" altLang="ko-KR" b="0" dirty="0" smtClean="0"/>
              <a:t>Constraint - </a:t>
            </a:r>
            <a:r>
              <a:rPr lang="en-US" altLang="ko-KR" b="0" dirty="0"/>
              <a:t>Market Share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2721074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AEEI (autonomous energy efficiency index) : one of the key components when developing various scenarios.</a:t>
                </a:r>
              </a:p>
              <a:p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CAFE (corporate average fuel economy) in USA sets the target of fuel efficiency to 54.5mpg by 2015 European Environment Agency (EEA) recommends automotive companies to reduce CO</a:t>
                </a:r>
                <a:r>
                  <a:rPr lang="de-DE" altLang="ko-KR" sz="1200" b="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emissions to 130g/km and 95g/km by the year 2015 and 2020, respectively </a:t>
                </a:r>
              </a:p>
              <a:p>
                <a:r>
                  <a:rPr lang="en-US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Example</a:t>
                </a:r>
              </a:p>
              <a:p>
                <a:endParaRPr lang="en-US" altLang="ko-KR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ko-KR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ko-KR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Suppose the target of fuel efficiency in year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9.2km/liter. The weighted harmonic mean of fuel efficiency at time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𝑊𝐻𝑀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de-DE" altLang="ko-KR" sz="1200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f>
                              <m:fPr>
                                <m:ctrlPr>
                                  <a:rPr lang="ko-KR" altLang="ko-KR" sz="1200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15000</m:t>
                                </m:r>
                              </m:den>
                            </m:f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  <m:sup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f>
                              <m:fPr>
                                <m:ctrlPr>
                                  <a:rPr lang="ko-KR" altLang="ko-KR" sz="1200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20000</m:t>
                                </m:r>
                              </m:den>
                            </m:f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f>
                              <m:fPr>
                                <m:ctrlPr>
                                  <a:rPr lang="ko-KR" altLang="ko-KR" sz="1200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22000</m:t>
                                </m:r>
                              </m:den>
                            </m:f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sub>
                          <m:sup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num>
                      <m:den>
                        <m:f>
                          <m:f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ko-KR" altLang="ko-KR" sz="1200" b="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f>
                                  <m:fPr>
                                    <m:ctrlPr>
                                      <a:rPr lang="ko-KR" altLang="ko-KR" sz="12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altLang="ko-KR" sz="1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altLang="ko-KR" sz="1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15000</m:t>
                                    </m:r>
                                  </m:den>
                                </m:f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  <m:sup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</m:num>
                          <m:den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7.4</m:t>
                            </m:r>
                          </m:den>
                        </m:f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ko-KR" altLang="ko-KR" sz="1200" b="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f>
                                  <m:fPr>
                                    <m:ctrlPr>
                                      <a:rPr lang="ko-KR" altLang="ko-KR" sz="12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altLang="ko-KR" sz="1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altLang="ko-KR" sz="1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20000</m:t>
                                    </m:r>
                                  </m:den>
                                </m:f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  <m:sup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</m:num>
                          <m:den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10.53</m:t>
                            </m:r>
                          </m:den>
                        </m:f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ko-KR" altLang="ko-KR" sz="1200" b="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f>
                                  <m:fPr>
                                    <m:ctrlPr>
                                      <a:rPr lang="ko-KR" altLang="ko-KR" sz="12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altLang="ko-KR" sz="1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DE" altLang="ko-KR" sz="12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22000</m:t>
                                    </m:r>
                                  </m:den>
                                </m:f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  <m:sup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</m:num>
                          <m:den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9.29</m:t>
                            </m:r>
                          </m:den>
                        </m:f>
                      </m:den>
                    </m:f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9.2</m:t>
                    </m:r>
                  </m:oMath>
                </a14:m>
                <a:r>
                  <a:rPr lang="ko-KR" altLang="en-US" sz="1200" b="0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ko-KR" altLang="en-US" sz="1200" b="0" i="1" dirty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ko-KR" altLang="en-US" sz="1200" b="0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9.2</m:t>
                            </m:r>
                          </m:num>
                          <m:den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7.4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15000</m:t>
                        </m:r>
                      </m:den>
                    </m:f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9.2</m:t>
                            </m:r>
                          </m:num>
                          <m:den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10.53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20000</m:t>
                        </m:r>
                      </m:den>
                    </m:f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9.2</m:t>
                            </m:r>
                          </m:num>
                          <m:den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9.29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22000</m:t>
                        </m:r>
                      </m:den>
                    </m:f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altLang="ko-KR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be the driving distance of technology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at time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respectively. Denoting the target of fuel efficiency at time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the above equation can be generalized as,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ko-KR" altLang="ko-KR" sz="1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ko-KR" altLang="ko-KR" sz="1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</m:nary>
                      <m:f>
                        <m:f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den>
                      </m:f>
                      <m:sSubSup>
                        <m:sSubSup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=1,2,⋯,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altLang="ko-KR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And </a:t>
                </a:r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weight arithmetic mean of fuel efficiency is for </a:t>
                </a:r>
                <a14:m>
                  <m:oMath xmlns:m="http://schemas.openxmlformats.org/officeDocument/2006/math"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=1,2,⋯,</m:t>
                    </m:r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de-DE" altLang="ko-KR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f>
                        <m:f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den>
                      </m:f>
                      <m:sSubSup>
                        <m:sSubSup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  <m:r>
                        <a:rPr lang="en-US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=1,2,⋯,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sz="1200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31</a:t>
            </a:fld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966451"/>
              </p:ext>
            </p:extLst>
          </p:nvPr>
        </p:nvGraphicFramePr>
        <p:xfrm>
          <a:off x="2734306" y="2026820"/>
          <a:ext cx="4549140" cy="731520"/>
        </p:xfrm>
        <a:graphic>
          <a:graphicData uri="http://schemas.openxmlformats.org/drawingml/2006/table">
            <a:tbl>
              <a:tblPr firstRow="1" firstCol="1" bandRow="1"/>
              <a:tblGrid>
                <a:gridCol w="1271270"/>
                <a:gridCol w="1435100"/>
                <a:gridCol w="1842770"/>
              </a:tblGrid>
              <a:tr h="165234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맑은 고딕"/>
                        </a:rPr>
                        <a:t>Car Technology</a:t>
                      </a:r>
                      <a:endParaRPr lang="ko-KR" sz="12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맑은 고딕"/>
                        </a:rPr>
                        <a:t>Efficiency (km/liter)</a:t>
                      </a:r>
                      <a:endParaRPr lang="ko-KR" sz="12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맑은 고딕"/>
                        </a:rPr>
                        <a:t>Driving Distance (km/year)</a:t>
                      </a:r>
                      <a:endParaRPr lang="ko-KR" sz="12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234">
                <a:tc>
                  <a:txBody>
                    <a:bodyPr/>
                    <a:lstStyle/>
                    <a:p>
                      <a:pPr indent="179705"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맑은 고딕"/>
                        </a:rPr>
                        <a:t>A</a:t>
                      </a:r>
                      <a:endParaRPr lang="ko-KR" sz="12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0795"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맑은 고딕"/>
                        </a:rPr>
                        <a:t>7.40</a:t>
                      </a:r>
                      <a:endParaRPr lang="ko-KR" sz="12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9705"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맑은 고딕"/>
                        </a:rPr>
                        <a:t>15,000</a:t>
                      </a:r>
                      <a:endParaRPr lang="ko-KR" sz="12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234">
                <a:tc>
                  <a:txBody>
                    <a:bodyPr/>
                    <a:lstStyle/>
                    <a:p>
                      <a:pPr indent="179705"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ea typeface="맑은 고딕"/>
                        </a:rPr>
                        <a:t>B</a:t>
                      </a:r>
                      <a:endParaRPr lang="ko-KR" sz="120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0795"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맑은 고딕"/>
                        </a:rPr>
                        <a:t>10.53</a:t>
                      </a:r>
                      <a:endParaRPr lang="ko-KR" sz="12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9705"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맑은 고딕"/>
                        </a:rPr>
                        <a:t>20,000</a:t>
                      </a:r>
                      <a:endParaRPr lang="ko-KR" sz="12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234">
                <a:tc>
                  <a:txBody>
                    <a:bodyPr/>
                    <a:lstStyle/>
                    <a:p>
                      <a:pPr indent="179705"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맑은 고딕"/>
                        </a:rPr>
                        <a:t>C</a:t>
                      </a:r>
                      <a:endParaRPr lang="ko-KR" sz="12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0795"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맑은 고딕"/>
                        </a:rPr>
                        <a:t>9.29</a:t>
                      </a:r>
                      <a:endParaRPr lang="ko-KR" sz="12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9705"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맑은 고딕"/>
                        </a:rPr>
                        <a:t>22,000</a:t>
                      </a:r>
                      <a:endParaRPr lang="ko-KR" sz="1200" dirty="0">
                        <a:effectLst/>
                        <a:latin typeface="Times New Roman"/>
                        <a:ea typeface="SimSu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en-US" altLang="ko-KR" b="0" dirty="0" smtClean="0"/>
              <a:t>Constraint - </a:t>
            </a:r>
            <a:r>
              <a:rPr lang="en-US" altLang="ko-KR" b="0" dirty="0"/>
              <a:t>Efficiency Improvement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352816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1400" b="0" dirty="0" smtClean="0">
                    <a:latin typeface="Cambria Math" panose="02040503050406030204" pitchFamily="18" charset="0"/>
                  </a:rPr>
                  <a:t>생산과 관련되어 현실에서 발생할 수 없는 해가 나옴</a:t>
                </a:r>
                <a:endParaRPr lang="en-US" altLang="ko-KR" sz="1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ko-KR" altLang="en-US" sz="1400" dirty="0" smtClean="0">
                    <a:latin typeface="Cambria Math" panose="02040503050406030204" pitchFamily="18" charset="0"/>
                  </a:rPr>
                  <a:t>특정 년도에 생산이 중단되었다가 다시 재개 되는 </a:t>
                </a:r>
                <a:r>
                  <a:rPr lang="en-US" altLang="ko-KR" sz="1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fluctuation </a:t>
                </a:r>
                <a:r>
                  <a:rPr lang="ko-KR" altLang="en-US" sz="1400" dirty="0" smtClean="0">
                    <a:latin typeface="Cambria Math" panose="02040503050406030204" pitchFamily="18" charset="0"/>
                  </a:rPr>
                  <a:t>문제가 발생함</a:t>
                </a:r>
                <a:endParaRPr lang="en-US" altLang="ko-KR" sz="1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ko-KR" altLang="en-US" sz="1400" dirty="0" smtClean="0">
                    <a:latin typeface="Cambria Math" panose="02040503050406030204" pitchFamily="18" charset="0"/>
                  </a:rPr>
                  <a:t>비현실적인 급격한 생산 증가 및 감소</a:t>
                </a:r>
                <a:endParaRPr lang="en-US" altLang="ko-KR" sz="1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98525" lvl="1" indent="-454025">
                  <a:buNone/>
                </a:pPr>
                <a:r>
                  <a:rPr lang="en-US" altLang="ko-KR" sz="14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itchFamily="2" charset="2"/>
                  </a:rPr>
                  <a:t>     </a:t>
                </a:r>
                <a:r>
                  <a:rPr lang="ko-KR" altLang="en-US" sz="1400" dirty="0" smtClean="0">
                    <a:latin typeface="Cambria Math" panose="02040503050406030204" pitchFamily="18" charset="0"/>
                  </a:rPr>
                  <a:t>실제로는 공정이나 공장의 경우</a:t>
                </a:r>
                <a:r>
                  <a:rPr lang="en-US" altLang="ko-KR" sz="1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ko-KR" altLang="en-US" sz="1400" dirty="0" smtClean="0">
                    <a:latin typeface="Cambria Math" panose="02040503050406030204" pitchFamily="18" charset="0"/>
                  </a:rPr>
                  <a:t>생산량을 향상 일정한 수준으로 유지하며</a:t>
                </a:r>
                <a:r>
                  <a:rPr lang="en-US" altLang="ko-KR" sz="1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ko-KR" altLang="en-US" sz="1400" dirty="0" smtClean="0">
                    <a:latin typeface="Cambria Math" panose="02040503050406030204" pitchFamily="18" charset="0"/>
                  </a:rPr>
                  <a:t>그렇지 않고 생산이 중단되면 이는 단종 또는 공정폐쇄가 일반적이라고 볼 수 있음</a:t>
                </a:r>
                <a:endParaRPr lang="en-US" altLang="ko-KR" sz="1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98475" indent="-454025"/>
                <a:r>
                  <a:rPr lang="en-US" altLang="ko-KR" sz="1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Production Smoothing Constraint</a:t>
                </a:r>
              </a:p>
              <a:p>
                <a:pPr marL="444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sz="1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98475" indent="-454025"/>
                <a:r>
                  <a:rPr lang="en-US" altLang="ko-KR" sz="1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Property 2.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en-US" altLang="ko-KR" sz="1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for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+1,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+2,⋯,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ko-KR" sz="1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298575" lvl="2" indent="-454025"/>
                <a:r>
                  <a:rPr lang="ko-KR" altLang="en-US" dirty="0" smtClean="0">
                    <a:latin typeface="Cambria Math" panose="02040503050406030204" pitchFamily="18" charset="0"/>
                  </a:rPr>
                  <a:t>단종 시키는 시나리오를 반영할 수 있음</a:t>
                </a:r>
                <a:endParaRPr lang="en-US" altLang="ko-KR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98525" lvl="1" indent="-454025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ko-KR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 </m:t>
                    </m:r>
                    <m:r>
                      <m:rPr>
                        <m:sty m:val="p"/>
                      </m:rPr>
                      <a:rPr lang="en-US" altLang="ko-KR" sz="1400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for</m:t>
                    </m:r>
                    <m:r>
                      <a:rPr lang="en-US" altLang="ko-KR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ko-KR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=1,2,⋯,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ko-KR" altLang="en-US" sz="1400" dirty="0" smtClean="0">
                    <a:latin typeface="Cambria Math" panose="02040503050406030204" pitchFamily="18" charset="0"/>
                  </a:rPr>
                  <a:t>을 추가하면</a:t>
                </a:r>
                <a:r>
                  <a:rPr lang="en-US" altLang="ko-KR" sz="1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ko-KR" altLang="en-US" sz="1400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o-KR" altLang="en-US" sz="1400" dirty="0" smtClean="0">
                    <a:latin typeface="Cambria Math" panose="02040503050406030204" pitchFamily="18" charset="0"/>
                  </a:rPr>
                  <a:t>년도 부터 생산시작</a:t>
                </a:r>
                <a:endParaRPr lang="en-US" altLang="ko-KR" sz="1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98525" lvl="1" indent="-454025"/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1&lt;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sz="1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ko-KR" altLang="en-US" sz="1400" dirty="0" smtClean="0">
                    <a:latin typeface="Cambria Math" panose="02040503050406030204" pitchFamily="18" charset="0"/>
                  </a:rPr>
                  <a:t>인</a:t>
                </a:r>
                <a:r>
                  <a:rPr lang="en-US" altLang="ko-KR" sz="1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ko-KR" altLang="en-US" sz="1400" dirty="0" smtClean="0">
                    <a:latin typeface="Cambria Math" panose="02040503050406030204" pitchFamily="18" charset="0"/>
                  </a:rPr>
                  <a:t>경우를 </a:t>
                </a:r>
                <a:r>
                  <a:rPr lang="en-US" altLang="ko-KR" sz="1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increasing smoothing</a:t>
                </a:r>
                <a:r>
                  <a:rPr lang="ko-KR" altLang="en-US" sz="1400" dirty="0" smtClean="0">
                    <a:latin typeface="Cambria Math" panose="02040503050406030204" pitchFamily="18" charset="0"/>
                  </a:rPr>
                  <a:t>이라 함</a:t>
                </a:r>
                <a:endParaRPr lang="en-US" altLang="ko-KR" sz="1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98525" lvl="1" indent="-454025"/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ko-KR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ko-KR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ko-KR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ko-KR" sz="1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인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경우를 </a:t>
                </a:r>
                <a:r>
                  <a:rPr lang="en-US" altLang="ko-KR" sz="1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decreasing </a:t>
                </a:r>
                <a:r>
                  <a:rPr lang="en-US" altLang="ko-K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smoothing</a:t>
                </a:r>
                <a:r>
                  <a:rPr lang="ko-KR" altLang="en-US" sz="1400" dirty="0">
                    <a:latin typeface="Cambria Math" panose="02040503050406030204" pitchFamily="18" charset="0"/>
                  </a:rPr>
                  <a:t>이라 </a:t>
                </a:r>
                <a:r>
                  <a:rPr lang="ko-KR" altLang="en-US" sz="1400" dirty="0" smtClean="0">
                    <a:latin typeface="Cambria Math" panose="02040503050406030204" pitchFamily="18" charset="0"/>
                  </a:rPr>
                  <a:t>함</a:t>
                </a:r>
                <a:endParaRPr lang="en-US" altLang="ko-KR" sz="1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98525" lvl="1" indent="-454025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ko-KR" altLang="en-US" sz="1400" dirty="0" smtClean="0">
                    <a:latin typeface="Cambria Math" panose="02040503050406030204" pitchFamily="18" charset="0"/>
                  </a:rPr>
                  <a:t>등으로</a:t>
                </a:r>
                <a:r>
                  <a:rPr lang="en-US" altLang="ko-KR" sz="1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ko-KR" altLang="en-US" sz="1400" dirty="0" smtClean="0">
                    <a:latin typeface="Cambria Math" panose="02040503050406030204" pitchFamily="18" charset="0"/>
                  </a:rPr>
                  <a:t>일반화할 수 있음  </a:t>
                </a:r>
                <a:endParaRPr lang="en-US" altLang="ko-K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98525" lvl="1" indent="-454025"/>
                <a:endParaRPr lang="en-US" altLang="ko-KR" sz="14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98475" indent="-454025"/>
                <a:r>
                  <a:rPr lang="en-US" altLang="ko-KR" sz="14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Production substitution smoothing</a:t>
                </a:r>
              </a:p>
              <a:p>
                <a:pPr marL="720725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US" altLang="ko-KR" sz="1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1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ko-KR" sz="1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20725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altLang="ko-KR" sz="1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sz="1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sz="1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  <m:r>
                              <a:rPr lang="en-US" altLang="ko-KR" sz="1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sz="1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sz="1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altLang="ko-KR" sz="1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</m:e>
                        </m:d>
                        <m:r>
                          <a:rPr lang="en-US" altLang="ko-KR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ko-KR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sz="1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b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US" altLang="ko-KR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sz="1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altLang="ko-KR" sz="1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sz="1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ko-KR" sz="1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endParaRPr lang="en-US" altLang="ko-KR" sz="14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98475" indent="-454025"/>
                <a:endParaRPr lang="en-US" altLang="ko-KR" sz="14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98475" indent="-454025"/>
                <a:endParaRPr lang="en-US" altLang="ko-KR" sz="14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98475" indent="-454025"/>
                <a:endParaRPr lang="en-US" altLang="ko-KR" sz="14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98475" indent="-454025"/>
                <a:endParaRPr lang="ko-KR" altLang="en-US" sz="1400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32</a:t>
            </a:fld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en-US" altLang="ko-KR" b="0" dirty="0" smtClean="0"/>
              <a:t>Constraint - </a:t>
            </a:r>
            <a:r>
              <a:rPr lang="en-US" altLang="ko-KR" b="0" dirty="0"/>
              <a:t>Production Smoothing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13179038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/>
              <p:cNvSpPr/>
              <p:nvPr/>
            </p:nvSpPr>
            <p:spPr>
              <a:xfrm>
                <a:off x="3493213" y="4298534"/>
                <a:ext cx="3767185" cy="628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de-DE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>
                              <a:latin typeface="Cambria Math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/>
                            </a:rPr>
                            <m:t>∈</m:t>
                          </m:r>
                          <m:r>
                            <a:rPr lang="en-US" altLang="ko-KR" i="1">
                              <a:latin typeface="Cambria Math"/>
                            </a:rPr>
                            <m:t>𝐺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de-DE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𝑡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𝑡</m:t>
                                  </m:r>
                                </m:sup>
                              </m:sSubSup>
                            </m:den>
                          </m:f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/>
                                </a:rPr>
                                <m:t>𝑡</m:t>
                              </m:r>
                            </m:sup>
                          </m:sSubSup>
                        </m:e>
                      </m:nary>
                      <m:r>
                        <a:rPr lang="de-DE" altLang="ko-KR" i="1">
                          <a:latin typeface="Cambria Math"/>
                        </a:rPr>
                        <m:t>≤</m:t>
                      </m:r>
                      <m:sSubSup>
                        <m:sSubSupPr>
                          <m:ctrlPr>
                            <a:rPr lang="ko-KR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lang="en-US" altLang="ko-KR" i="1">
                              <a:latin typeface="Cambria Math"/>
                            </a:rPr>
                            <m:t>𝐺</m:t>
                          </m:r>
                        </m:sub>
                        <m:sup>
                          <m:r>
                            <a:rPr lang="de-DE" altLang="ko-KR" i="1"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de-DE" altLang="ko-KR" i="1">
                          <a:latin typeface="Cambria Math"/>
                        </a:rPr>
                        <m:t>,          </m:t>
                      </m:r>
                      <m:r>
                        <a:rPr lang="en-US" altLang="ko-KR" i="1">
                          <a:latin typeface="Cambria Math"/>
                        </a:rPr>
                        <m:t>𝐺</m:t>
                      </m:r>
                      <m:r>
                        <a:rPr lang="en-US" altLang="ko-KR" b="1" i="1">
                          <a:latin typeface="Cambria Math"/>
                        </a:rPr>
                        <m:t>⊆</m:t>
                      </m:r>
                      <m:r>
                        <a:rPr lang="de-DE" altLang="ko-KR" i="1">
                          <a:latin typeface="Cambria Math"/>
                        </a:rPr>
                        <m:t>𝐼</m:t>
                      </m:r>
                      <m:r>
                        <a:rPr lang="de-DE" altLang="ko-KR" i="1">
                          <a:latin typeface="Cambria Math"/>
                        </a:rPr>
                        <m:t>,  </m:t>
                      </m:r>
                      <m:r>
                        <a:rPr lang="de-DE" altLang="ko-KR" i="1">
                          <a:latin typeface="Cambria Math"/>
                        </a:rPr>
                        <m:t>𝑡</m:t>
                      </m:r>
                      <m:r>
                        <a:rPr lang="de-DE" altLang="ko-KR" i="1">
                          <a:latin typeface="Cambria Math"/>
                        </a:rPr>
                        <m:t>=1,2,⋯,</m:t>
                      </m:r>
                      <m:r>
                        <a:rPr lang="de-DE" altLang="ko-KR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3213" y="4298534"/>
                <a:ext cx="3767185" cy="62812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Rectangle 7"/>
              <p:cNvSpPr>
                <a:spLocks noChangeArrowheads="1"/>
              </p:cNvSpPr>
              <p:nvPr/>
            </p:nvSpPr>
            <p:spPr bwMode="auto">
              <a:xfrm>
                <a:off x="3600414" y="2097584"/>
                <a:ext cx="764931" cy="34290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/>
                        </a:rPr>
                        <m:t>𝑖</m:t>
                      </m:r>
                    </m:oMath>
                  </m:oMathPara>
                </a14:m>
                <a:endParaRPr lang="en-US" altLang="ko-KR" i="1" dirty="0"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 xmlns="">
          <p:sp>
            <p:nvSpPr>
              <p:cNvPr id="139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0414" y="2097584"/>
                <a:ext cx="764931" cy="34290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Line 28"/>
          <p:cNvSpPr>
            <a:spLocks noChangeShapeType="1"/>
          </p:cNvSpPr>
          <p:nvPr/>
        </p:nvSpPr>
        <p:spPr bwMode="auto">
          <a:xfrm>
            <a:off x="2895564" y="2291259"/>
            <a:ext cx="71217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1" name="Line 36"/>
          <p:cNvSpPr>
            <a:spLocks noChangeShapeType="1"/>
          </p:cNvSpPr>
          <p:nvPr/>
        </p:nvSpPr>
        <p:spPr bwMode="auto">
          <a:xfrm>
            <a:off x="4378533" y="2228574"/>
            <a:ext cx="71217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4" name="Line 36"/>
          <p:cNvSpPr>
            <a:spLocks noChangeShapeType="1"/>
          </p:cNvSpPr>
          <p:nvPr/>
        </p:nvSpPr>
        <p:spPr bwMode="auto">
          <a:xfrm>
            <a:off x="4369739" y="2370333"/>
            <a:ext cx="181687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/>
              <p:cNvSpPr/>
              <p:nvPr/>
            </p:nvSpPr>
            <p:spPr>
              <a:xfrm>
                <a:off x="4515353" y="2008096"/>
                <a:ext cx="627159" cy="2857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en-US" altLang="ko-KR" i="1">
                        <a:latin typeface="Cambria Math"/>
                      </a:rPr>
                      <m:t>  </m:t>
                    </m:r>
                  </m:oMath>
                </a14:m>
                <a:r>
                  <a:rPr lang="en-US" altLang="ko-KR" dirty="0"/>
                  <a:t>Km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7" name="직사각형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353" y="2008096"/>
                <a:ext cx="627159" cy="285784"/>
              </a:xfrm>
              <a:prstGeom prst="rect">
                <a:avLst/>
              </a:prstGeom>
              <a:blipFill rotWithShape="0">
                <a:blip r:embed="rId4"/>
                <a:stretch>
                  <a:fillRect b="-148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직사각형 145"/>
              <p:cNvSpPr/>
              <p:nvPr/>
            </p:nvSpPr>
            <p:spPr>
              <a:xfrm>
                <a:off x="5363668" y="2142268"/>
                <a:ext cx="772519" cy="2857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en-US" altLang="ko-KR" i="1">
                        <a:latin typeface="Cambria Math"/>
                      </a:rPr>
                      <m:t>  </m:t>
                    </m:r>
                  </m:oMath>
                </a14:m>
                <a:r>
                  <a:rPr lang="en-US" altLang="ko-KR" dirty="0"/>
                  <a:t>CO2g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46" name="직사각형 1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668" y="2142268"/>
                <a:ext cx="772519" cy="285784"/>
              </a:xfrm>
              <a:prstGeom prst="rect">
                <a:avLst/>
              </a:prstGeom>
              <a:blipFill rotWithShape="0">
                <a:blip r:embed="rId5"/>
                <a:stretch>
                  <a:fillRect b="-148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/>
          <p:cNvSpPr/>
          <p:nvPr/>
        </p:nvSpPr>
        <p:spPr>
          <a:xfrm>
            <a:off x="2992293" y="2047935"/>
            <a:ext cx="5943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1 TOE</a:t>
            </a:r>
            <a:endParaRPr lang="ko-KR" altLang="en-US" dirty="0"/>
          </a:p>
        </p:txBody>
      </p:sp>
      <p:sp>
        <p:nvSpPr>
          <p:cNvPr id="147" name="Rectangle 7"/>
          <p:cNvSpPr>
            <a:spLocks noChangeArrowheads="1"/>
          </p:cNvSpPr>
          <p:nvPr/>
        </p:nvSpPr>
        <p:spPr bwMode="auto">
          <a:xfrm>
            <a:off x="3600413" y="2681074"/>
            <a:ext cx="764931" cy="3429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i="1" dirty="0">
                <a:latin typeface="Cambria Math" pitchFamily="18" charset="0"/>
                <a:ea typeface="Cambria Math" pitchFamily="18" charset="0"/>
              </a:rPr>
              <a:t>j</a:t>
            </a:r>
          </a:p>
        </p:txBody>
      </p:sp>
      <p:sp>
        <p:nvSpPr>
          <p:cNvPr id="148" name="Line 28"/>
          <p:cNvSpPr>
            <a:spLocks noChangeShapeType="1"/>
          </p:cNvSpPr>
          <p:nvPr/>
        </p:nvSpPr>
        <p:spPr bwMode="auto">
          <a:xfrm>
            <a:off x="2895563" y="2874749"/>
            <a:ext cx="71217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9" name="Line 36"/>
          <p:cNvSpPr>
            <a:spLocks noChangeShapeType="1"/>
          </p:cNvSpPr>
          <p:nvPr/>
        </p:nvSpPr>
        <p:spPr bwMode="auto">
          <a:xfrm>
            <a:off x="4378532" y="2812064"/>
            <a:ext cx="71217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50" name="Line 36"/>
          <p:cNvSpPr>
            <a:spLocks noChangeShapeType="1"/>
          </p:cNvSpPr>
          <p:nvPr/>
        </p:nvSpPr>
        <p:spPr bwMode="auto">
          <a:xfrm>
            <a:off x="4369738" y="2953823"/>
            <a:ext cx="181687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직사각형 150"/>
              <p:cNvSpPr/>
              <p:nvPr/>
            </p:nvSpPr>
            <p:spPr>
              <a:xfrm>
                <a:off x="4515352" y="2591587"/>
                <a:ext cx="627159" cy="3066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𝑗</m:t>
                        </m:r>
                      </m:sub>
                      <m:sup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en-US" altLang="ko-KR" i="1">
                        <a:latin typeface="Cambria Math"/>
                      </a:rPr>
                      <m:t>  </m:t>
                    </m:r>
                  </m:oMath>
                </a14:m>
                <a:r>
                  <a:rPr lang="en-US" altLang="ko-KR" dirty="0"/>
                  <a:t>Km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51" name="직사각형 1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352" y="2591587"/>
                <a:ext cx="627159" cy="306687"/>
              </a:xfrm>
              <a:prstGeom prst="rect">
                <a:avLst/>
              </a:prstGeom>
              <a:blipFill rotWithShape="0"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직사각형 151"/>
              <p:cNvSpPr/>
              <p:nvPr/>
            </p:nvSpPr>
            <p:spPr>
              <a:xfrm>
                <a:off x="5363667" y="2725759"/>
                <a:ext cx="772519" cy="3066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𝑗</m:t>
                        </m:r>
                      </m:sub>
                      <m:sup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sup>
                    </m:sSubSup>
                    <m:r>
                      <a:rPr lang="en-US" altLang="ko-KR" i="1">
                        <a:latin typeface="Cambria Math"/>
                      </a:rPr>
                      <m:t>  </m:t>
                    </m:r>
                  </m:oMath>
                </a14:m>
                <a:r>
                  <a:rPr lang="en-US" altLang="ko-KR" dirty="0"/>
                  <a:t>CO2g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52" name="직사각형 1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667" y="2725759"/>
                <a:ext cx="772519" cy="306687"/>
              </a:xfrm>
              <a:prstGeom prst="rect">
                <a:avLst/>
              </a:prstGeom>
              <a:blipFill rotWithShape="0">
                <a:blip r:embed="rId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직사각형 152"/>
          <p:cNvSpPr/>
          <p:nvPr/>
        </p:nvSpPr>
        <p:spPr>
          <a:xfrm>
            <a:off x="2992292" y="2631425"/>
            <a:ext cx="5943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1 TOE</a:t>
            </a:r>
            <a:endParaRPr lang="ko-KR" altLang="en-US" dirty="0"/>
          </a:p>
        </p:txBody>
      </p:sp>
      <p:sp>
        <p:nvSpPr>
          <p:cNvPr id="154" name="직사각형 153"/>
          <p:cNvSpPr/>
          <p:nvPr/>
        </p:nvSpPr>
        <p:spPr>
          <a:xfrm>
            <a:off x="1047850" y="4094919"/>
            <a:ext cx="25181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CO2g/Km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대한 상한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제약식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직사각형 154"/>
              <p:cNvSpPr/>
              <p:nvPr/>
            </p:nvSpPr>
            <p:spPr>
              <a:xfrm>
                <a:off x="3472823" y="5256476"/>
                <a:ext cx="3993081" cy="628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de-DE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/>
                                </a:rPr>
                                <m:t>𝐺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ctrlPr>
                            <a:rPr lang="de-DE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>
                              <a:latin typeface="Cambria Math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/>
                            </a:rPr>
                            <m:t>∈</m:t>
                          </m:r>
                          <m:r>
                            <a:rPr lang="en-US" altLang="ko-KR" i="1">
                              <a:latin typeface="Cambria Math"/>
                            </a:rPr>
                            <m:t>𝐺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de-DE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𝑡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𝑡</m:t>
                                  </m:r>
                                </m:sup>
                              </m:sSubSup>
                            </m:den>
                          </m:f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/>
                                </a:rPr>
                                <m:t>𝑡</m:t>
                              </m:r>
                            </m:sup>
                          </m:sSubSup>
                        </m:e>
                      </m:nary>
                      <m:r>
                        <a:rPr lang="de-DE" altLang="ko-KR" i="1">
                          <a:latin typeface="Cambria Math"/>
                        </a:rPr>
                        <m:t>≤</m:t>
                      </m:r>
                      <m:sSubSup>
                        <m:sSubSupPr>
                          <m:ctrlPr>
                            <a:rPr lang="ko-KR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US" altLang="ko-KR" i="1">
                              <a:latin typeface="Cambria Math"/>
                            </a:rPr>
                            <m:t>𝐺</m:t>
                          </m:r>
                        </m:sub>
                        <m:sup>
                          <m:r>
                            <a:rPr lang="de-DE" altLang="ko-KR" i="1"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de-DE" altLang="ko-KR" i="1">
                          <a:latin typeface="Cambria Math"/>
                        </a:rPr>
                        <m:t>,          </m:t>
                      </m:r>
                      <m:r>
                        <a:rPr lang="en-US" altLang="ko-KR" i="1">
                          <a:latin typeface="Cambria Math"/>
                        </a:rPr>
                        <m:t>𝐺</m:t>
                      </m:r>
                      <m:r>
                        <a:rPr lang="en-US" altLang="ko-KR" b="1" i="1">
                          <a:latin typeface="Cambria Math"/>
                        </a:rPr>
                        <m:t>⊆</m:t>
                      </m:r>
                      <m:r>
                        <a:rPr lang="de-DE" altLang="ko-KR" i="1">
                          <a:latin typeface="Cambria Math"/>
                        </a:rPr>
                        <m:t>𝐼</m:t>
                      </m:r>
                      <m:r>
                        <a:rPr lang="de-DE" altLang="ko-KR" i="1">
                          <a:latin typeface="Cambria Math"/>
                        </a:rPr>
                        <m:t>,  </m:t>
                      </m:r>
                      <m:r>
                        <a:rPr lang="de-DE" altLang="ko-KR" i="1">
                          <a:latin typeface="Cambria Math"/>
                        </a:rPr>
                        <m:t>𝑡</m:t>
                      </m:r>
                      <m:r>
                        <a:rPr lang="de-DE" altLang="ko-KR" i="1">
                          <a:latin typeface="Cambria Math"/>
                        </a:rPr>
                        <m:t>=1,2,⋯,</m:t>
                      </m:r>
                      <m:r>
                        <a:rPr lang="de-DE" altLang="ko-KR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5" name="직사각형 1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823" y="5256476"/>
                <a:ext cx="3993081" cy="62812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직사각형 155"/>
          <p:cNvSpPr/>
          <p:nvPr/>
        </p:nvSpPr>
        <p:spPr>
          <a:xfrm>
            <a:off x="1047851" y="4979477"/>
            <a:ext cx="334213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CO2g/Km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단위에 대한 평균에 대한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제약식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/>
              <p:cNvSpPr/>
              <p:nvPr/>
            </p:nvSpPr>
            <p:spPr>
              <a:xfrm>
                <a:off x="3497561" y="3490834"/>
                <a:ext cx="3679149" cy="628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de-DE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>
                              <a:latin typeface="Cambria Math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/>
                            </a:rPr>
                            <m:t>∈</m:t>
                          </m:r>
                          <m:r>
                            <a:rPr lang="en-US" altLang="ko-KR" i="1">
                              <a:latin typeface="Cambria Math"/>
                            </a:rPr>
                            <m:t>𝐺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de-DE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𝑡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/>
                                    </a:rPr>
                                    <m:t>𝑡</m:t>
                                  </m:r>
                                </m:sup>
                              </m:sSubSup>
                            </m:den>
                          </m:f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/>
                                </a:rPr>
                                <m:t>𝑡</m:t>
                              </m:r>
                            </m:sup>
                          </m:sSubSup>
                        </m:e>
                      </m:nary>
                      <m:r>
                        <a:rPr lang="en-US" altLang="ko-KR" i="1">
                          <a:latin typeface="Cambria Math"/>
                        </a:rPr>
                        <m:t>≥0</m:t>
                      </m:r>
                      <m:r>
                        <a:rPr lang="de-DE" altLang="ko-KR" i="1">
                          <a:latin typeface="Cambria Math"/>
                        </a:rPr>
                        <m:t>,          </m:t>
                      </m:r>
                      <m:r>
                        <a:rPr lang="en-US" altLang="ko-KR" i="1">
                          <a:latin typeface="Cambria Math"/>
                        </a:rPr>
                        <m:t>𝐺</m:t>
                      </m:r>
                      <m:r>
                        <a:rPr lang="en-US" altLang="ko-KR" b="1" i="1">
                          <a:latin typeface="Cambria Math"/>
                        </a:rPr>
                        <m:t>⊆</m:t>
                      </m:r>
                      <m:r>
                        <a:rPr lang="de-DE" altLang="ko-KR" i="1">
                          <a:latin typeface="Cambria Math"/>
                        </a:rPr>
                        <m:t>𝐼</m:t>
                      </m:r>
                      <m:r>
                        <a:rPr lang="de-DE" altLang="ko-KR" i="1">
                          <a:latin typeface="Cambria Math"/>
                        </a:rPr>
                        <m:t>,  </m:t>
                      </m:r>
                      <m:r>
                        <a:rPr lang="de-DE" altLang="ko-KR" i="1">
                          <a:latin typeface="Cambria Math"/>
                        </a:rPr>
                        <m:t>𝑡</m:t>
                      </m:r>
                      <m:r>
                        <a:rPr lang="de-DE" altLang="ko-KR" i="1">
                          <a:latin typeface="Cambria Math"/>
                        </a:rPr>
                        <m:t>=1,2,⋯,</m:t>
                      </m:r>
                      <m:r>
                        <a:rPr lang="de-DE" altLang="ko-KR" i="1"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1" name="직사각형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561" y="3490834"/>
                <a:ext cx="3679149" cy="62812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직사각형 21"/>
          <p:cNvSpPr/>
          <p:nvPr/>
        </p:nvSpPr>
        <p:spPr>
          <a:xfrm>
            <a:off x="1085769" y="3319004"/>
            <a:ext cx="43945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방법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 : CO2g/Km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배출량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제약식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(redundant)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직접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</a:p>
        </p:txBody>
      </p:sp>
      <p:sp>
        <p:nvSpPr>
          <p:cNvPr id="25" name="Line 243"/>
          <p:cNvSpPr>
            <a:spLocks noChangeShapeType="1"/>
          </p:cNvSpPr>
          <p:nvPr/>
        </p:nvSpPr>
        <p:spPr bwMode="auto">
          <a:xfrm flipH="1">
            <a:off x="6186904" y="1882227"/>
            <a:ext cx="0" cy="13186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856397" y="1622544"/>
            <a:ext cx="6559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dummy</a:t>
            </a:r>
            <a:endParaRPr lang="ko-KR" altLang="en-US" dirty="0"/>
          </a:p>
        </p:txBody>
      </p:sp>
      <p:sp>
        <p:nvSpPr>
          <p:cNvPr id="27" name="직사각형 26"/>
          <p:cNvSpPr/>
          <p:nvPr/>
        </p:nvSpPr>
        <p:spPr>
          <a:xfrm>
            <a:off x="1136177" y="1294979"/>
            <a:ext cx="62756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방법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 : RES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상에서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dummy demand=0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정의하고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최적해로 부터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CO2/km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계산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/>
              <p:cNvSpPr/>
              <p:nvPr/>
            </p:nvSpPr>
            <p:spPr>
              <a:xfrm>
                <a:off x="6980141" y="2228574"/>
                <a:ext cx="1879169" cy="2857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altLang="ko-KR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altLang="ko-KR" i="1"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en-US" altLang="ko-KR" i="1">
                          <a:latin typeface="Cambria Math"/>
                        </a:rPr>
                        <m:t>   : </m:t>
                      </m:r>
                      <m:r>
                        <a:rPr lang="en-US" altLang="ko-KR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>
                          <a:latin typeface="Cambria Math"/>
                        </a:rPr>
                        <m:t>TOE</m:t>
                      </m:r>
                      <m:r>
                        <a:rPr lang="ko-KR" altLang="en-US">
                          <a:latin typeface="Cambria Math"/>
                        </a:rPr>
                        <m:t>당</m:t>
                      </m:r>
                      <m:r>
                        <a:rPr lang="en-US" altLang="ko-KR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>
                          <a:latin typeface="Cambria Math"/>
                        </a:rPr>
                        <m:t>CO</m:t>
                      </m:r>
                      <m:r>
                        <a:rPr lang="en-US" altLang="ko-KR">
                          <a:latin typeface="Cambria Math"/>
                        </a:rPr>
                        <m:t>2 </m:t>
                      </m:r>
                      <m:r>
                        <a:rPr lang="ko-KR" altLang="en-US">
                          <a:latin typeface="Cambria Math"/>
                        </a:rPr>
                        <m:t>배출량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" name="직사각형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0141" y="2228574"/>
                <a:ext cx="1879169" cy="285784"/>
              </a:xfrm>
              <a:prstGeom prst="rect">
                <a:avLst/>
              </a:prstGeom>
              <a:blipFill rotWithShape="0">
                <a:blip r:embed="rId10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en-US" altLang="ko-KR" b="0" dirty="0" smtClean="0"/>
              <a:t>Constraint - </a:t>
            </a:r>
            <a:r>
              <a:rPr lang="en-US" altLang="ko-KR" b="0" dirty="0"/>
              <a:t>Emission</a:t>
            </a:r>
            <a:endParaRPr lang="ko-KR" altLang="en-US" b="0" dirty="0"/>
          </a:p>
        </p:txBody>
      </p:sp>
      <p:sp>
        <p:nvSpPr>
          <p:cNvPr id="28" name="Line 243"/>
          <p:cNvSpPr>
            <a:spLocks noChangeShapeType="1"/>
          </p:cNvSpPr>
          <p:nvPr/>
        </p:nvSpPr>
        <p:spPr bwMode="auto">
          <a:xfrm flipH="1">
            <a:off x="5090709" y="1899543"/>
            <a:ext cx="0" cy="13186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762734" y="1592597"/>
            <a:ext cx="6735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demand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202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It is often the case to assume that the demand is given and fixed in the bottom-up LP modeling. However, this assumption is unrealistic because of the demand shortage (or surplus) and replacement demand. </a:t>
                </a:r>
                <a:r>
                  <a:rPr lang="de-DE" altLang="ko-KR" sz="12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Let </a:t>
                </a:r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us introduce two arbitrary non-negative dummy variables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d>
                      <m:d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d>
                      <m:d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the demand constraint </a:t>
                </a:r>
                <a:r>
                  <a:rPr lang="de-DE" altLang="ko-KR" sz="12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d>
                            <m:d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=1,2,⋯,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altLang="ko-KR" sz="12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It is noted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ko-KR" altLang="ko-KR" sz="1200" b="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ko-KR" altLang="ko-KR" sz="12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d>
                          <m:d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denotes the difference between supply and demand. In other words,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ko-KR" altLang="ko-KR" sz="1200" b="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ko-KR" altLang="ko-KR" sz="12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d>
                          <m:d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for demand surplus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ko-KR" altLang="ko-KR" sz="1200" b="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ko-KR" altLang="ko-KR" sz="12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altLang="ko-KR" sz="1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d>
                          <m:dPr>
                            <m:ctrlPr>
                              <a:rPr lang="ko-KR" altLang="ko-KR" sz="12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altLang="ko-KR" sz="1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for demand shortage. Suppose the penalty costs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incurred for demand shortage and demand surplus, respectively. Then, the objective function of (Basic LP) may be converted to </a:t>
                </a:r>
                <a:endParaRPr lang="de-DE" altLang="ko-KR" sz="12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d>
                            <m:d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ctrlPr>
                                        <a:rPr lang="ko-KR" altLang="ko-KR" sz="1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ctrlPr>
                                            <a:rPr lang="ko-KR" altLang="ko-KR" sz="1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ko-KR" altLang="ko-KR" sz="1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de-DE" altLang="ko-KR" sz="1200" b="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altLang="ko-KR" sz="1200" b="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de-DE" altLang="ko-KR" sz="1200" b="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p>
                                          </m:sSubSup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ko-KR" altLang="ko-KR" sz="1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de-DE" altLang="ko-KR" sz="1200" b="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altLang="ko-KR" sz="1200" b="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de-DE" altLang="ko-KR" sz="1200" b="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p>
                                          </m:sSubSup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∙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ko-KR" altLang="ko-KR" sz="1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altLang="ko-KR" sz="1200" b="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altLang="ko-KR" sz="1200" b="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sSubSup>
                                        <m:sSubSupPr>
                                          <m:ctrlPr>
                                            <a:rPr lang="ko-KR" altLang="ko-KR" sz="1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ko-KR" altLang="ko-KR" sz="1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  <m:sSubSup>
                                        <m:sSubSupPr>
                                          <m:ctrlPr>
                                            <a:rPr lang="ko-KR" altLang="ko-KR" sz="1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ko-KR" altLang="ko-KR" sz="1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ko-KR" altLang="ko-KR" sz="1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sSubSup>
                                        <m:sSubSupPr>
                                          <m:ctrlPr>
                                            <a:rPr lang="ko-KR" altLang="ko-KR" sz="1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ko-KR" altLang="ko-KR" sz="1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ko-KR" altLang="ko-KR" sz="1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b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ko-KR" altLang="ko-KR" sz="1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(1+</m:t>
                          </m:r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ko-KR" sz="12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Property </a:t>
                </a:r>
                <a:r>
                  <a:rPr lang="de-DE" altLang="ko-KR" sz="12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1. </a:t>
                </a:r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Both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de-DE" altLang="ko-KR" sz="1200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cannot be nonzero at the optimal solution to the converted (Basic LP) problem.</a:t>
                </a:r>
                <a:endParaRPr lang="en-US" altLang="ko-KR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98475" indent="-454025"/>
                <a:endParaRPr lang="en-US" altLang="ko-KR" sz="12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98475" indent="-454025"/>
                <a:endParaRPr lang="en-US" altLang="ko-KR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98475" indent="-454025"/>
                <a:endParaRPr lang="ko-KR" altLang="en-US" sz="1200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r="-3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34</a:t>
            </a:fld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en-US" altLang="ko-KR" b="0" dirty="0" smtClean="0"/>
              <a:t>Constraint - </a:t>
            </a:r>
            <a:r>
              <a:rPr lang="en-US" altLang="ko-KR" b="0" dirty="0"/>
              <a:t>Variable Demand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1948685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55600" indent="-311150"/>
                <a:r>
                  <a:rPr lang="de-DE" altLang="ko-KR" sz="12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Let us introduce two arbitrary non-negative dummy variables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d>
                      <m:d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d>
                      <m:d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 the demand constraint given in equation </a:t>
                </a:r>
                <a:r>
                  <a:rPr lang="de-DE" altLang="ko-KR" sz="12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as</a:t>
                </a:r>
              </a:p>
              <a:p>
                <a:pPr marL="444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  <m:sup>
                                  <m:r>
                                    <a:rPr lang="en-US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a:rPr lang="en-US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d>
                            <m:d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en-US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en-US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=1,2,⋯,</m:t>
                      </m:r>
                      <m:r>
                        <a:rPr lang="en-US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ko-KR" sz="1200" b="0" dirty="0">
                  <a:latin typeface="Cambria Math" panose="02040503050406030204" pitchFamily="18" charset="0"/>
                </a:endParaRPr>
              </a:p>
              <a:p>
                <a:pPr marL="444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  <m:sup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d>
                            <m:d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=1,2,⋯,</m:t>
                      </m:r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altLang="ko-KR" sz="12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30200"/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be the penalty cost for demand replacement when demand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replaces demand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de-DE" altLang="ko-KR" sz="12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Similarly</a:t>
                </a:r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be the penalty cost for the </a:t>
                </a:r>
                <a:r>
                  <a:rPr lang="de-DE" altLang="ko-KR" sz="12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opposite. Then</a:t>
                </a:r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the objective function of the (Basic LP) problem can be converted to</a:t>
                </a:r>
                <a:endParaRPr lang="en-US" altLang="ko-KR" sz="12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44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d>
                            <m:dPr>
                              <m:ctrlPr>
                                <a:rPr lang="ko-KR" altLang="ko-KR" sz="1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de-DE" altLang="ko-KR" sz="12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ctrlPr>
                                        <a:rPr lang="ko-KR" altLang="ko-KR" sz="1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ctrlPr>
                                            <a:rPr lang="ko-KR" altLang="ko-KR" sz="1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ko-KR" altLang="ko-KR" sz="1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de-DE" altLang="ko-KR" sz="1200" b="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altLang="ko-KR" sz="1200" b="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de-DE" altLang="ko-KR" sz="1200" b="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p>
                                          </m:sSubSup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ko-KR" altLang="ko-KR" sz="1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de-DE" altLang="ko-KR" sz="1200" b="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𝐹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altLang="ko-KR" sz="1200" b="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de-DE" altLang="ko-KR" sz="1200" b="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p>
                                          </m:sSubSup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∙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ko-KR" altLang="ko-KR" sz="1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altLang="ko-KR" sz="1200" b="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altLang="ko-KR" sz="1200" b="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sSubSup>
                                        <m:sSubSupPr>
                                          <m:ctrlPr>
                                            <a:rPr lang="ko-KR" altLang="ko-KR" sz="1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ko-KR" altLang="ko-KR" sz="1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  <m:sSubSup>
                                        <m:sSubSupPr>
                                          <m:ctrlPr>
                                            <a:rPr lang="ko-KR" altLang="ko-KR" sz="1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  <m:r>
                                <a:rPr lang="de-DE" altLang="ko-KR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ko-KR" altLang="ko-KR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ko-KR" altLang="ko-KR" sz="1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  <m:sup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ko-KR" altLang="ko-KR" sz="1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sSubSup>
                                        <m:sSubSupPr>
                                          <m:ctrlPr>
                                            <a:rPr lang="ko-KR" altLang="ko-KR" sz="1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ko-KR" altLang="ko-KR" sz="1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ko-KR" altLang="ko-KR" sz="1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  <m:sup>
                                          <m:r>
                                            <a:rPr lang="de-DE" altLang="ko-KR" sz="12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  <m:sup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ko-KR" altLang="ko-KR" sz="1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e-DE" altLang="ko-KR" sz="1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  <m:r>
                        <a:rPr lang="de-DE" altLang="ko-KR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ko-KR" altLang="ko-KR" sz="1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(1+</m:t>
                          </m:r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DE" altLang="ko-KR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ko-KR" sz="1200" b="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30200"/>
                <a:r>
                  <a:rPr lang="de-DE" altLang="ko-KR" sz="12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Property 2. </a:t>
                </a:r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Both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de-DE" altLang="ko-KR" sz="1200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cannot be nonzero at the optimal solution to the converted (Basic LP) problem. Therefore,</a:t>
                </a:r>
                <a:endParaRPr lang="en-US" altLang="ko-KR" sz="12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4450" indent="311150">
                  <a:buNone/>
                </a:pPr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(i)  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de-DE" altLang="ko-KR" sz="1200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(1)&gt;</m:t>
                    </m:r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increases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de-DE" altLang="ko-KR" sz="1200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decreases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d>
                      <m:dPr>
                        <m:ctrlP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ko-KR" sz="1200" b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ko-KR" sz="1200" b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and </a:t>
                </a:r>
              </a:p>
              <a:p>
                <a:pPr marL="44450" indent="311150">
                  <a:buNone/>
                </a:pPr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(ii) 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d>
                      <m:d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de-DE" altLang="ko-KR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decreases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d>
                      <m:d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increases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d>
                      <m:dPr>
                        <m:ctrlPr>
                          <a:rPr lang="ko-KR" altLang="ko-KR" sz="1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ko-KR" sz="1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de-DE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  <a:endParaRPr lang="ko-KR" altLang="en-US" sz="1200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35</a:t>
            </a:fld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en-US" altLang="ko-KR" b="0" dirty="0" smtClean="0"/>
              <a:t>Constraint - </a:t>
            </a:r>
            <a:r>
              <a:rPr lang="en-US" altLang="ko-KR" b="0" dirty="0"/>
              <a:t>R</a:t>
            </a:r>
            <a:r>
              <a:rPr lang="de-DE" altLang="ko-KR" b="0" dirty="0"/>
              <a:t>eplacement Demand 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10740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ko-KR" altLang="en-US" b="0" dirty="0" smtClean="0"/>
              <a:t>일반적인</a:t>
            </a:r>
            <a:r>
              <a:rPr lang="en-US" altLang="ko-KR" b="0" dirty="0" smtClean="0"/>
              <a:t> </a:t>
            </a:r>
            <a:r>
              <a:rPr lang="ko-KR" altLang="en-US" b="0" dirty="0" err="1" smtClean="0"/>
              <a:t>제약식의</a:t>
            </a:r>
            <a:r>
              <a:rPr lang="ko-KR" altLang="en-US" b="0" dirty="0" smtClean="0"/>
              <a:t> 형태 및 분류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36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/>
              <p:cNvSpPr txBox="1">
                <a:spLocks/>
              </p:cNvSpPr>
              <p:nvPr/>
            </p:nvSpPr>
            <p:spPr bwMode="auto">
              <a:xfrm>
                <a:off x="1362075" y="1127828"/>
                <a:ext cx="8010525" cy="48764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1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–"/>
                  <a:defRPr sz="12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•"/>
                  <a:defRPr sz="12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–"/>
                  <a:defRPr sz="10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»"/>
                  <a:defRPr sz="10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ko-KR" altLang="en-US" kern="0" dirty="0" smtClean="0">
                    <a:solidFill>
                      <a:schemeClr val="tx1"/>
                    </a:solidFill>
                  </a:rPr>
                  <a:t>만약 모든 </a:t>
                </a:r>
                <a14:m>
                  <m:oMath xmlns:m="http://schemas.openxmlformats.org/officeDocument/2006/math"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𝑖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𝐼</m:t>
                    </m:r>
                  </m:oMath>
                </a14:m>
                <a:r>
                  <a:rPr lang="ko-KR" altLang="en-US" kern="0" dirty="0">
                    <a:solidFill>
                      <a:schemeClr val="tx1"/>
                    </a:solidFill>
                  </a:rPr>
                  <a:t>에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대해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ker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i="1" ker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=1</m:t>
                    </m:r>
                  </m:oMath>
                </a14:m>
                <a:r>
                  <a:rPr lang="ko-KR" altLang="en-US" kern="0" dirty="0">
                    <a:solidFill>
                      <a:schemeClr val="tx1"/>
                    </a:solidFill>
                  </a:rPr>
                  <a:t>인 경우에는 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ko-KR" kern="0" dirty="0" err="1">
                    <a:solidFill>
                      <a:schemeClr val="tx1"/>
                    </a:solidFill>
                  </a:rPr>
                  <a:t>Basic_LP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)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를 가지고 전개하면 됨</a:t>
                </a:r>
                <a:endParaRPr lang="en-US" altLang="ko-KR" kern="0" dirty="0">
                  <a:solidFill>
                    <a:schemeClr val="tx1"/>
                  </a:solidFill>
                </a:endParaRPr>
              </a:p>
              <a:p>
                <a:r>
                  <a:rPr lang="ko-KR" altLang="en-US" kern="0" dirty="0">
                    <a:solidFill>
                      <a:schemeClr val="tx1"/>
                    </a:solidFill>
                  </a:rPr>
                  <a:t>의사결정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변수에 따른 </a:t>
                </a:r>
                <a:r>
                  <a:rPr lang="ko-KR" altLang="en-US" kern="0" dirty="0" err="1">
                    <a:solidFill>
                      <a:schemeClr val="tx1"/>
                    </a:solidFill>
                  </a:rPr>
                  <a:t>제약식의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 분류 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: activity/capacity </a:t>
                </a:r>
              </a:p>
              <a:p>
                <a:pPr lvl="1"/>
                <a:r>
                  <a:rPr lang="en-US" altLang="ko-KR" kern="0" dirty="0">
                    <a:solidFill>
                      <a:schemeClr val="tx1"/>
                    </a:solidFill>
                  </a:rPr>
                  <a:t>activity </a:t>
                </a:r>
                <a:r>
                  <a:rPr lang="ko-KR" altLang="en-US" kern="0" dirty="0" err="1">
                    <a:solidFill>
                      <a:schemeClr val="tx1"/>
                    </a:solidFill>
                  </a:rPr>
                  <a:t>제약식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 kern="0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ko-KR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i="1" kern="0">
                            <a:solidFill>
                              <a:schemeClr val="tx1"/>
                            </a:solidFill>
                            <a:latin typeface="Cambria Math"/>
                          </a:rPr>
                          <m:t>𝑡</m:t>
                        </m:r>
                      </m:sup>
                    </m:sSubSup>
                  </m:oMath>
                </a14:m>
                <a:endParaRPr lang="en-US" altLang="ko-KR" kern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ko-KR" kern="0" dirty="0">
                    <a:solidFill>
                      <a:schemeClr val="tx1"/>
                    </a:solidFill>
                  </a:rPr>
                  <a:t>capacity </a:t>
                </a:r>
                <a:r>
                  <a:rPr lang="ko-KR" altLang="en-US" kern="0" dirty="0" err="1">
                    <a:solidFill>
                      <a:schemeClr val="tx1"/>
                    </a:solidFill>
                  </a:rPr>
                  <a:t>제약식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 kern="0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ko-KR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i="1" kern="0">
                            <a:solidFill>
                              <a:schemeClr val="tx1"/>
                            </a:solidFill>
                            <a:latin typeface="Cambria Math"/>
                          </a:rPr>
                          <m:t>𝑡</m:t>
                        </m:r>
                      </m:sup>
                    </m:sSubSup>
                  </m:oMath>
                </a14:m>
                <a:endParaRPr lang="en-US" altLang="ko-KR" kern="0" dirty="0">
                  <a:solidFill>
                    <a:schemeClr val="tx1"/>
                  </a:solidFill>
                </a:endParaRPr>
              </a:p>
              <a:p>
                <a:r>
                  <a:rPr lang="ko-KR" altLang="en-US" kern="0" dirty="0" err="1">
                    <a:solidFill>
                      <a:schemeClr val="tx1"/>
                    </a:solidFill>
                  </a:rPr>
                  <a:t>제약식의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범주</a:t>
                </a:r>
                <a:endParaRPr lang="en-US" altLang="ko-KR" kern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ko-KR" altLang="en-US" kern="0" dirty="0">
                    <a:solidFill>
                      <a:schemeClr val="tx1"/>
                    </a:solidFill>
                  </a:rPr>
                  <a:t>연도별 </a:t>
                </a:r>
                <a:r>
                  <a:rPr lang="ko-KR" altLang="en-US" kern="0" dirty="0" err="1">
                    <a:solidFill>
                      <a:schemeClr val="tx1"/>
                    </a:solidFill>
                  </a:rPr>
                  <a:t>제약식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(yearly constraint)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𝐼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′⊆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𝐼</m:t>
                    </m:r>
                  </m:oMath>
                </a14:m>
                <a:r>
                  <a:rPr lang="ko-KR" altLang="en-US" kern="0" dirty="0">
                    <a:solidFill>
                      <a:schemeClr val="tx1"/>
                    </a:solidFill>
                  </a:rPr>
                  <a:t>와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𝑡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=1,2,⋯, 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𝑇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ko-KR" altLang="en-US" kern="0" dirty="0">
                    <a:solidFill>
                      <a:schemeClr val="tx1"/>
                    </a:solidFill>
                  </a:rPr>
                  <a:t>에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대하여</a:t>
                </a:r>
                <a:endParaRPr lang="en-US" altLang="ko-KR" kern="0" dirty="0">
                  <a:solidFill>
                    <a:schemeClr val="tx1"/>
                  </a:solidFill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𝐼</m:t>
                              </m:r>
                            </m:e>
                            <m:sup>
                              <m: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ko-KR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p>
                          </m:sSubSup>
                        </m:e>
                      </m:nary>
                      <m:r>
                        <a:rPr lang="en-US" altLang="ko-KR" i="1" kern="0">
                          <a:solidFill>
                            <a:schemeClr val="tx1"/>
                          </a:solidFill>
                          <a:latin typeface="Cambria Math"/>
                        </a:rPr>
                        <m:t>≤</m:t>
                      </m:r>
                      <m:sSup>
                        <m:sSupPr>
                          <m:ctrlP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p>
                          <m: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ko-KR" kern="0" dirty="0">
                  <a:solidFill>
                    <a:schemeClr val="tx1"/>
                  </a:solidFill>
                </a:endParaRPr>
              </a:p>
              <a:p>
                <a:pPr marL="857250" lvl="2" indent="0">
                  <a:buNone/>
                </a:pPr>
                <a:r>
                  <a:rPr lang="ko-KR" altLang="en-US" kern="0" dirty="0">
                    <a:solidFill>
                      <a:schemeClr val="tx1"/>
                    </a:solidFill>
                  </a:rPr>
                  <a:t>가 된다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. 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예로는 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emission, budget, market share, efficiency improvement, 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기술대체 등을 들 수 있다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/>
                <a:r>
                  <a:rPr lang="ko-KR" altLang="en-US" kern="0" dirty="0">
                    <a:solidFill>
                      <a:schemeClr val="tx1"/>
                    </a:solidFill>
                  </a:rPr>
                  <a:t>연도별 누적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kern="0" dirty="0" err="1">
                    <a:solidFill>
                      <a:schemeClr val="tx1"/>
                    </a:solidFill>
                  </a:rPr>
                  <a:t>제약식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(cumulative constraint)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𝐼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′⊆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𝐼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ko-KR" altLang="en-US" kern="0" dirty="0">
                    <a:solidFill>
                      <a:schemeClr val="tx1"/>
                    </a:solidFill>
                  </a:rPr>
                  <a:t>에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대하여</a:t>
                </a:r>
                <a:endParaRPr lang="en-US" altLang="ko-KR" kern="0" dirty="0">
                  <a:solidFill>
                    <a:schemeClr val="tx1"/>
                  </a:solidFill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altLang="ko-KR" b="0" i="1" kern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𝑡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kern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  <m:r>
                        <a:rPr lang="en-US" altLang="ko-KR" i="1" kern="0">
                          <a:solidFill>
                            <a:schemeClr val="tx1"/>
                          </a:solidFill>
                          <a:latin typeface="Cambria Math"/>
                        </a:rPr>
                        <m:t>≤</m:t>
                      </m:r>
                      <m:sSup>
                        <m:sSupPr>
                          <m:ctrlP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p>
                          <m: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ko-KR" kern="0" dirty="0">
                  <a:solidFill>
                    <a:schemeClr val="tx1"/>
                  </a:solidFill>
                </a:endParaRPr>
              </a:p>
              <a:p>
                <a:pPr marL="857250" lvl="2" indent="0">
                  <a:buNone/>
                </a:pPr>
                <a:r>
                  <a:rPr lang="ko-KR" altLang="en-US" kern="0" dirty="0">
                    <a:solidFill>
                      <a:schemeClr val="tx1"/>
                    </a:solidFill>
                  </a:rPr>
                  <a:t>가 된다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. 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예로는 누적 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emission 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제약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예산 제약 등을 들 수 있다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lvl="1" indent="0">
                  <a:buNone/>
                </a:pPr>
                <a:endParaRPr lang="en-US" altLang="ko-KR" kern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ko-KR" altLang="en-US" kern="0" dirty="0" err="1">
                    <a:solidFill>
                      <a:schemeClr val="tx1"/>
                    </a:solidFill>
                  </a:rPr>
                  <a:t>시계열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 제약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(time series constraint)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𝐼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′⊆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𝐼</m:t>
                    </m:r>
                  </m:oMath>
                </a14:m>
                <a:r>
                  <a:rPr lang="ko-KR" altLang="en-US" kern="0" dirty="0">
                    <a:solidFill>
                      <a:schemeClr val="tx1"/>
                    </a:solidFill>
                  </a:rPr>
                  <a:t>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kern="0">
                            <a:solidFill>
                              <a:schemeClr val="tx1"/>
                            </a:solidFill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altLang="ko-KR" i="1" kern="0">
                            <a:solidFill>
                              <a:schemeClr val="tx1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⊆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kern="0">
                            <a:solidFill>
                              <a:schemeClr val="tx1"/>
                            </a:solidFill>
                            <a:latin typeface="Cambria Math"/>
                          </a:rPr>
                          <m:t>1,2,⋯, </m:t>
                        </m:r>
                        <m:r>
                          <a:rPr lang="en-US" altLang="ko-KR" i="1" kern="0">
                            <a:solidFill>
                              <a:schemeClr val="tx1"/>
                            </a:solidFill>
                            <a:latin typeface="Cambria Math"/>
                          </a:rPr>
                          <m:t>𝑇</m:t>
                        </m:r>
                      </m:e>
                    </m:d>
                  </m:oMath>
                </a14:m>
                <a:r>
                  <a:rPr lang="ko-KR" altLang="en-US" kern="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for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𝑡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=1,2,⋯, 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𝑇</m:t>
                    </m:r>
                  </m:oMath>
                </a14:m>
                <a:r>
                  <a:rPr lang="en-US" altLang="ko-KR" kern="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에 대하여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57150" lvl="1" indent="0">
                  <a:buClr>
                    <a:schemeClr val="tx2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hr m:val="∑"/>
                              <m:ctrlP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ko-KR" i="1" ker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altLang="ko-KR" b="0" i="1" kern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kern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 ker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  <m:r>
                        <a:rPr lang="en-US" altLang="ko-KR" i="1" kern="0">
                          <a:solidFill>
                            <a:schemeClr val="tx1"/>
                          </a:solidFill>
                          <a:latin typeface="Cambria Math"/>
                        </a:rPr>
                        <m:t>≤</m:t>
                      </m:r>
                      <m:sSup>
                        <m:sSupPr>
                          <m:ctrlP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p>
                          <m:r>
                            <a:rPr lang="en-US" altLang="ko-KR" i="1" ker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ko-KR" kern="0" dirty="0">
                  <a:solidFill>
                    <a:schemeClr val="tx1"/>
                  </a:solidFill>
                </a:endParaRPr>
              </a:p>
              <a:p>
                <a:pPr marL="914400" lvl="3" indent="0">
                  <a:buClr>
                    <a:schemeClr val="tx2"/>
                  </a:buClr>
                  <a:buNone/>
                </a:pPr>
                <a:r>
                  <a:rPr lang="en-US" altLang="ko-KR" sz="1200" kern="0" dirty="0">
                    <a:solidFill>
                      <a:schemeClr val="tx1"/>
                    </a:solidFill>
                  </a:rPr>
                  <a:t>production smoothing </a:t>
                </a:r>
                <a:r>
                  <a:rPr lang="ko-KR" altLang="en-US" sz="1200" kern="0" dirty="0">
                    <a:solidFill>
                      <a:schemeClr val="tx1"/>
                    </a:solidFill>
                  </a:rPr>
                  <a:t>제약 등을 들 수 있다</a:t>
                </a:r>
                <a:r>
                  <a:rPr lang="en-US" altLang="ko-KR" sz="1200" kern="0" dirty="0">
                    <a:solidFill>
                      <a:schemeClr val="tx1"/>
                    </a:solidFill>
                  </a:rPr>
                  <a:t>.</a:t>
                </a:r>
              </a:p>
              <a:p>
                <a:pPr indent="-285750"/>
                <a:r>
                  <a:rPr lang="ko-KR" altLang="en-US" kern="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Dummy variable set : </a:t>
                </a:r>
                <a14:m>
                  <m:oMath xmlns:m="http://schemas.openxmlformats.org/officeDocument/2006/math"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𝐷</m:t>
                    </m:r>
                  </m:oMath>
                </a14:m>
                <a:endParaRPr lang="en-US" altLang="ko-KR" kern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ko-KR" kern="0" dirty="0">
                    <a:solidFill>
                      <a:schemeClr val="tx1"/>
                    </a:solidFill>
                  </a:rPr>
                  <a:t>dummy variable 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 kern="0">
                            <a:solidFill>
                              <a:schemeClr val="tx1"/>
                            </a:solidFill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altLang="ko-KR" i="1" ker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</m:sub>
                      <m:sup>
                        <m:r>
                          <a:rPr lang="en-US" altLang="ko-KR" i="1" kern="0">
                            <a:solidFill>
                              <a:schemeClr val="tx1"/>
                            </a:solidFill>
                            <a:latin typeface="Cambria Math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altLang="ko-KR" kern="0" dirty="0">
                    <a:solidFill>
                      <a:schemeClr val="tx1"/>
                    </a:solidFill>
                  </a:rPr>
                  <a:t>  for </a:t>
                </a:r>
                <a14:m>
                  <m:oMath xmlns:m="http://schemas.openxmlformats.org/officeDocument/2006/math"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𝑑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𝐷</m:t>
                    </m:r>
                  </m:oMath>
                </a14:m>
                <a:endParaRPr lang="en-US" altLang="ko-KR" kern="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ko-KR" altLang="en-US" kern="0" dirty="0">
                    <a:solidFill>
                      <a:schemeClr val="tx1"/>
                    </a:solidFill>
                  </a:rPr>
                  <a:t>모든 </a:t>
                </a:r>
                <a:r>
                  <a:rPr lang="ko-KR" altLang="en-US" kern="0" dirty="0" err="1">
                    <a:solidFill>
                      <a:schemeClr val="tx1"/>
                    </a:solidFill>
                  </a:rPr>
                  <a:t>제약식에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𝐷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′⊆</m:t>
                    </m:r>
                    <m:r>
                      <a:rPr lang="en-US" altLang="ko-KR" i="1" kern="0">
                        <a:solidFill>
                          <a:schemeClr val="tx1"/>
                        </a:solidFill>
                        <a:latin typeface="Cambria Math"/>
                      </a:rPr>
                      <m:t>𝐷</m:t>
                    </m:r>
                  </m:oMath>
                </a14:m>
                <a:r>
                  <a:rPr lang="ko-KR" altLang="en-US" kern="0" dirty="0">
                    <a:solidFill>
                      <a:schemeClr val="tx1"/>
                    </a:solidFill>
                  </a:rPr>
                  <a:t>를</a:t>
                </a:r>
                <a:r>
                  <a:rPr lang="en-US" altLang="ko-KR" kern="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kern="0" dirty="0">
                    <a:solidFill>
                      <a:schemeClr val="tx1"/>
                    </a:solidFill>
                  </a:rPr>
                  <a:t>포함하도록 변형</a:t>
                </a:r>
                <a:endParaRPr lang="en-US" altLang="ko-KR" kern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내용 개체 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2075" y="1127828"/>
                <a:ext cx="8010525" cy="4876463"/>
              </a:xfrm>
              <a:prstGeom prst="rect">
                <a:avLst/>
              </a:prstGeom>
              <a:blipFill rotWithShape="0">
                <a:blip r:embed="rId2"/>
                <a:stretch>
                  <a:fillRect l="-76" t="-250" b="-675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4708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title"/>
          </p:nvPr>
        </p:nvSpPr>
        <p:spPr>
          <a:xfrm>
            <a:off x="704850" y="157163"/>
            <a:ext cx="8496300" cy="569912"/>
          </a:xfrm>
        </p:spPr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en-US" altLang="ko-KR" b="0" dirty="0" smtClean="0"/>
              <a:t>modeling - </a:t>
            </a:r>
            <a:r>
              <a:rPr lang="ko-KR" altLang="en-US" b="0" dirty="0" smtClean="0"/>
              <a:t>세금</a:t>
            </a:r>
          </a:p>
        </p:txBody>
      </p:sp>
      <p:sp>
        <p:nvSpPr>
          <p:cNvPr id="9219" name="내용 개체 틀 2"/>
          <p:cNvSpPr>
            <a:spLocks noGrp="1"/>
          </p:cNvSpPr>
          <p:nvPr>
            <p:ph idx="1"/>
          </p:nvPr>
        </p:nvSpPr>
        <p:spPr>
          <a:xfrm>
            <a:off x="685800" y="900113"/>
            <a:ext cx="8534400" cy="1397000"/>
          </a:xfrm>
        </p:spPr>
        <p:txBody>
          <a:bodyPr/>
          <a:lstStyle/>
          <a:p>
            <a:r>
              <a:rPr lang="ko-KR" altLang="en-US" dirty="0" smtClean="0"/>
              <a:t>국가모형 </a:t>
            </a:r>
            <a:r>
              <a:rPr lang="ko-KR" altLang="en-US" dirty="0" err="1" smtClean="0"/>
              <a:t>구축시에</a:t>
            </a:r>
            <a:r>
              <a:rPr lang="ko-KR" altLang="en-US" dirty="0" smtClean="0"/>
              <a:t> 세금부분의 처리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국가모형은 최종소비자가</a:t>
            </a:r>
            <a:r>
              <a:rPr lang="en-US" altLang="ko-KR" dirty="0" smtClean="0"/>
              <a:t>(</a:t>
            </a:r>
            <a:r>
              <a:rPr lang="ko-KR" altLang="en-US" dirty="0" smtClean="0"/>
              <a:t>공급가</a:t>
            </a:r>
            <a:r>
              <a:rPr lang="en-US" altLang="ko-KR" dirty="0" smtClean="0"/>
              <a:t>+</a:t>
            </a:r>
            <a:r>
              <a:rPr lang="ko-KR" altLang="en-US" dirty="0" smtClean="0"/>
              <a:t>각종세금</a:t>
            </a:r>
            <a:r>
              <a:rPr lang="en-US" altLang="ko-KR" dirty="0" smtClean="0"/>
              <a:t>)</a:t>
            </a:r>
            <a:r>
              <a:rPr lang="ko-KR" altLang="en-US" dirty="0" smtClean="0"/>
              <a:t>이 아닌 공급가를 가지고 하게 됨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그러나 </a:t>
            </a:r>
            <a:r>
              <a:rPr lang="en-US" altLang="ko-KR" dirty="0" smtClean="0"/>
              <a:t>LP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demand technology</a:t>
            </a:r>
            <a:r>
              <a:rPr lang="ko-KR" altLang="en-US" dirty="0" smtClean="0"/>
              <a:t>의 선택은 최종소비자가격에 의해 결정되어야 함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수송부문이 </a:t>
            </a:r>
            <a:r>
              <a:rPr lang="en-US" altLang="ko-KR" dirty="0" smtClean="0"/>
              <a:t>separable closed problem</a:t>
            </a:r>
            <a:r>
              <a:rPr lang="ko-KR" altLang="en-US" dirty="0" smtClean="0"/>
              <a:t>임에도 불구하고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수송부문 최적해와 국가모형이 다른 해가 나오게 됨</a:t>
            </a:r>
          </a:p>
        </p:txBody>
      </p:sp>
      <p:sp>
        <p:nvSpPr>
          <p:cNvPr id="922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sz="1400" smtClean="0">
                <a:latin typeface="Arial" panose="020B0604020202020204" pitchFamily="34" charset="0"/>
              </a:rPr>
              <a:t> </a:t>
            </a:r>
            <a:fld id="{A1CA27F1-D60F-426C-9031-60E8324D07E7}" type="slidenum">
              <a:rPr lang="en-US" altLang="ko-KR" sz="1400" smtClean="0">
                <a:latin typeface="Arial" panose="020B0604020202020204" pitchFamily="34" charset="0"/>
              </a:rPr>
              <a:pPr/>
              <a:t>37</a:t>
            </a:fld>
            <a:endParaRPr lang="en-US" altLang="ko-KR" sz="1400" smtClean="0">
              <a:latin typeface="Arial" panose="020B0604020202020204" pitchFamily="34" charset="0"/>
            </a:endParaRPr>
          </a:p>
        </p:txBody>
      </p:sp>
      <p:sp>
        <p:nvSpPr>
          <p:cNvPr id="5" name="Line 226"/>
          <p:cNvSpPr>
            <a:spLocks noChangeShapeType="1"/>
          </p:cNvSpPr>
          <p:nvPr/>
        </p:nvSpPr>
        <p:spPr bwMode="auto">
          <a:xfrm>
            <a:off x="4087813" y="3346450"/>
            <a:ext cx="7858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6" name="Line 236"/>
          <p:cNvSpPr>
            <a:spLocks noChangeShapeType="1"/>
          </p:cNvSpPr>
          <p:nvPr/>
        </p:nvSpPr>
        <p:spPr bwMode="auto">
          <a:xfrm>
            <a:off x="4878388" y="3343275"/>
            <a:ext cx="8572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7" name="Text Box 253"/>
          <p:cNvSpPr txBox="1">
            <a:spLocks noChangeArrowheads="1"/>
          </p:cNvSpPr>
          <p:nvPr/>
        </p:nvSpPr>
        <p:spPr bwMode="auto">
          <a:xfrm>
            <a:off x="6513513" y="3062288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smtClean="0">
                <a:solidFill>
                  <a:srgbClr val="000000"/>
                </a:solidFill>
              </a:rPr>
              <a:t>15km</a:t>
            </a:r>
          </a:p>
        </p:txBody>
      </p:sp>
      <p:sp>
        <p:nvSpPr>
          <p:cNvPr id="8" name="Text Box 262"/>
          <p:cNvSpPr txBox="1">
            <a:spLocks noChangeArrowheads="1"/>
          </p:cNvSpPr>
          <p:nvPr/>
        </p:nvSpPr>
        <p:spPr bwMode="auto">
          <a:xfrm>
            <a:off x="5072063" y="3062288"/>
            <a:ext cx="5508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 smtClean="0">
                <a:solidFill>
                  <a:srgbClr val="000000"/>
                </a:solidFill>
              </a:rPr>
              <a:t>1 liter</a:t>
            </a:r>
          </a:p>
        </p:txBody>
      </p:sp>
      <p:sp>
        <p:nvSpPr>
          <p:cNvPr id="9" name="Line 271"/>
          <p:cNvSpPr>
            <a:spLocks noChangeShapeType="1"/>
          </p:cNvSpPr>
          <p:nvPr/>
        </p:nvSpPr>
        <p:spPr bwMode="auto">
          <a:xfrm>
            <a:off x="6577013" y="3333750"/>
            <a:ext cx="7604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5738813" y="3144838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    middle car</a:t>
            </a:r>
          </a:p>
        </p:txBody>
      </p:sp>
      <p:sp>
        <p:nvSpPr>
          <p:cNvPr id="9227" name="TextBox 10"/>
          <p:cNvSpPr txBox="1">
            <a:spLocks noChangeArrowheads="1"/>
          </p:cNvSpPr>
          <p:nvPr/>
        </p:nvSpPr>
        <p:spPr bwMode="auto">
          <a:xfrm>
            <a:off x="5738813" y="3144838"/>
            <a:ext cx="147637" cy="1508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800">
                <a:solidFill>
                  <a:srgbClr val="FF0000"/>
                </a:solidFill>
                <a:ea typeface="굴림" panose="020B0600000101010101" pitchFamily="50" charset="-127"/>
              </a:rPr>
              <a:t>3</a:t>
            </a:r>
            <a:endParaRPr lang="ko-KR" altLang="en-US" sz="800">
              <a:solidFill>
                <a:srgbClr val="FF0000"/>
              </a:solidFill>
              <a:ea typeface="굴림" panose="020B0600000101010101" pitchFamily="50" charset="-127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249613" y="3144838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dummy</a:t>
            </a:r>
          </a:p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tax</a:t>
            </a:r>
          </a:p>
        </p:txBody>
      </p:sp>
      <p:sp>
        <p:nvSpPr>
          <p:cNvPr id="9229" name="TextBox 12"/>
          <p:cNvSpPr txBox="1">
            <a:spLocks noChangeArrowheads="1"/>
          </p:cNvSpPr>
          <p:nvPr/>
        </p:nvSpPr>
        <p:spPr bwMode="auto">
          <a:xfrm>
            <a:off x="3249613" y="3144838"/>
            <a:ext cx="147637" cy="1508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800">
                <a:solidFill>
                  <a:srgbClr val="FF0000"/>
                </a:solidFill>
                <a:ea typeface="굴림" panose="020B0600000101010101" pitchFamily="50" charset="-127"/>
              </a:rPr>
              <a:t>2</a:t>
            </a:r>
            <a:endParaRPr lang="ko-KR" altLang="en-US" sz="800">
              <a:solidFill>
                <a:srgbClr val="FF0000"/>
              </a:solidFill>
              <a:ea typeface="굴림" panose="020B0600000101010101" pitchFamily="50" charset="-127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1206500" y="3144838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indent="88900"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oil carrier</a:t>
            </a:r>
          </a:p>
        </p:txBody>
      </p:sp>
      <p:sp>
        <p:nvSpPr>
          <p:cNvPr id="9231" name="TextBox 14"/>
          <p:cNvSpPr txBox="1">
            <a:spLocks noChangeArrowheads="1"/>
          </p:cNvSpPr>
          <p:nvPr/>
        </p:nvSpPr>
        <p:spPr bwMode="auto">
          <a:xfrm>
            <a:off x="1206500" y="3144838"/>
            <a:ext cx="146050" cy="1508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800">
                <a:solidFill>
                  <a:srgbClr val="FF0000"/>
                </a:solidFill>
                <a:ea typeface="굴림" panose="020B0600000101010101" pitchFamily="50" charset="-127"/>
              </a:rPr>
              <a:t>1</a:t>
            </a:r>
            <a:endParaRPr lang="ko-KR" altLang="en-US" sz="800">
              <a:solidFill>
                <a:srgbClr val="FF0000"/>
              </a:solidFill>
              <a:ea typeface="굴림" panose="020B0600000101010101" pitchFamily="50" charset="-127"/>
            </a:endParaRPr>
          </a:p>
        </p:txBody>
      </p:sp>
      <p:sp>
        <p:nvSpPr>
          <p:cNvPr id="16" name="Line 243"/>
          <p:cNvSpPr>
            <a:spLocks noChangeShapeType="1"/>
          </p:cNvSpPr>
          <p:nvPr/>
        </p:nvSpPr>
        <p:spPr bwMode="auto">
          <a:xfrm>
            <a:off x="2500313" y="2830513"/>
            <a:ext cx="0" cy="981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7" name="Line 226"/>
          <p:cNvSpPr>
            <a:spLocks noChangeShapeType="1"/>
          </p:cNvSpPr>
          <p:nvPr/>
        </p:nvSpPr>
        <p:spPr bwMode="auto">
          <a:xfrm>
            <a:off x="2506663" y="3346450"/>
            <a:ext cx="742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8" name="Line 243"/>
          <p:cNvSpPr>
            <a:spLocks noChangeShapeType="1"/>
          </p:cNvSpPr>
          <p:nvPr/>
        </p:nvSpPr>
        <p:spPr bwMode="auto">
          <a:xfrm>
            <a:off x="4873625" y="2830513"/>
            <a:ext cx="0" cy="981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9" name="Line 243"/>
          <p:cNvSpPr>
            <a:spLocks noChangeShapeType="1"/>
          </p:cNvSpPr>
          <p:nvPr/>
        </p:nvSpPr>
        <p:spPr bwMode="auto">
          <a:xfrm>
            <a:off x="7326313" y="2830513"/>
            <a:ext cx="0" cy="981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20" name="Text Box 247"/>
          <p:cNvSpPr txBox="1">
            <a:spLocks noChangeArrowheads="1"/>
          </p:cNvSpPr>
          <p:nvPr/>
        </p:nvSpPr>
        <p:spPr bwMode="auto">
          <a:xfrm>
            <a:off x="1076325" y="3594100"/>
            <a:ext cx="1223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 smtClean="0">
                <a:solidFill>
                  <a:srgbClr val="000000"/>
                </a:solidFill>
              </a:rPr>
              <a:t>var. cost=900/liter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 smtClean="0">
                <a:solidFill>
                  <a:srgbClr val="000000"/>
                </a:solidFill>
              </a:rPr>
              <a:t>(</a:t>
            </a:r>
            <a:r>
              <a:rPr lang="ko-KR" altLang="en-US" sz="1000" kern="0" dirty="0" smtClean="0">
                <a:solidFill>
                  <a:srgbClr val="000000"/>
                </a:solidFill>
              </a:rPr>
              <a:t>휘발유 현물가격</a:t>
            </a:r>
            <a:r>
              <a:rPr lang="en-US" altLang="ko-KR" sz="1000" kern="0" dirty="0" smtClean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21" name="Text Box 247"/>
          <p:cNvSpPr txBox="1">
            <a:spLocks noChangeArrowheads="1"/>
          </p:cNvSpPr>
          <p:nvPr/>
        </p:nvSpPr>
        <p:spPr bwMode="auto">
          <a:xfrm>
            <a:off x="3049588" y="3556000"/>
            <a:ext cx="1127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 smtClean="0">
                <a:solidFill>
                  <a:srgbClr val="000000"/>
                </a:solidFill>
              </a:rPr>
              <a:t>var. cost=960/liter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 smtClean="0">
                <a:solidFill>
                  <a:srgbClr val="000000"/>
                </a:solidFill>
              </a:rPr>
              <a:t>(tax/liter)</a:t>
            </a:r>
          </a:p>
        </p:txBody>
      </p:sp>
      <p:sp>
        <p:nvSpPr>
          <p:cNvPr id="22" name="Line 223"/>
          <p:cNvSpPr>
            <a:spLocks noChangeShapeType="1"/>
          </p:cNvSpPr>
          <p:nvPr/>
        </p:nvSpPr>
        <p:spPr bwMode="auto">
          <a:xfrm>
            <a:off x="2060575" y="5280025"/>
            <a:ext cx="466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23" name="Line 236"/>
          <p:cNvSpPr>
            <a:spLocks noChangeShapeType="1"/>
          </p:cNvSpPr>
          <p:nvPr/>
        </p:nvSpPr>
        <p:spPr bwMode="auto">
          <a:xfrm>
            <a:off x="2536825" y="5278438"/>
            <a:ext cx="8572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24" name="Text Box 253"/>
          <p:cNvSpPr txBox="1">
            <a:spLocks noChangeArrowheads="1"/>
          </p:cNvSpPr>
          <p:nvPr/>
        </p:nvSpPr>
        <p:spPr bwMode="auto">
          <a:xfrm>
            <a:off x="4171950" y="4997450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smtClean="0">
                <a:solidFill>
                  <a:srgbClr val="000000"/>
                </a:solidFill>
              </a:rPr>
              <a:t>15km</a:t>
            </a:r>
          </a:p>
        </p:txBody>
      </p:sp>
      <p:sp>
        <p:nvSpPr>
          <p:cNvPr id="25" name="Text Box 262"/>
          <p:cNvSpPr txBox="1">
            <a:spLocks noChangeArrowheads="1"/>
          </p:cNvSpPr>
          <p:nvPr/>
        </p:nvSpPr>
        <p:spPr bwMode="auto">
          <a:xfrm>
            <a:off x="2730500" y="4997450"/>
            <a:ext cx="5508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smtClean="0">
                <a:solidFill>
                  <a:srgbClr val="000000"/>
                </a:solidFill>
              </a:rPr>
              <a:t>1 liter</a:t>
            </a:r>
          </a:p>
        </p:txBody>
      </p:sp>
      <p:sp>
        <p:nvSpPr>
          <p:cNvPr id="26" name="Line 271"/>
          <p:cNvSpPr>
            <a:spLocks noChangeShapeType="1"/>
          </p:cNvSpPr>
          <p:nvPr/>
        </p:nvSpPr>
        <p:spPr bwMode="auto">
          <a:xfrm>
            <a:off x="4235450" y="5268913"/>
            <a:ext cx="7604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3397250" y="5080000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    middle car</a:t>
            </a:r>
          </a:p>
        </p:txBody>
      </p:sp>
      <p:sp>
        <p:nvSpPr>
          <p:cNvPr id="9244" name="TextBox 27"/>
          <p:cNvSpPr txBox="1">
            <a:spLocks noChangeArrowheads="1"/>
          </p:cNvSpPr>
          <p:nvPr/>
        </p:nvSpPr>
        <p:spPr bwMode="auto">
          <a:xfrm>
            <a:off x="3397250" y="5074273"/>
            <a:ext cx="147638" cy="1508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800">
                <a:solidFill>
                  <a:srgbClr val="FF0000"/>
                </a:solidFill>
                <a:ea typeface="굴림" panose="020B0600000101010101" pitchFamily="50" charset="-127"/>
              </a:rPr>
              <a:t>3</a:t>
            </a:r>
            <a:endParaRPr lang="ko-KR" altLang="en-US" sz="800">
              <a:solidFill>
                <a:srgbClr val="FF0000"/>
              </a:solidFill>
              <a:ea typeface="굴림" panose="020B0600000101010101" pitchFamily="50" charset="-127"/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33488" y="5097463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indent="88900"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oil carrier</a:t>
            </a:r>
          </a:p>
        </p:txBody>
      </p:sp>
      <p:sp>
        <p:nvSpPr>
          <p:cNvPr id="9246" name="TextBox 29"/>
          <p:cNvSpPr txBox="1">
            <a:spLocks noChangeArrowheads="1"/>
          </p:cNvSpPr>
          <p:nvPr/>
        </p:nvSpPr>
        <p:spPr bwMode="auto">
          <a:xfrm>
            <a:off x="1233488" y="5100015"/>
            <a:ext cx="147637" cy="150813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800">
                <a:solidFill>
                  <a:srgbClr val="FF0000"/>
                </a:solidFill>
                <a:ea typeface="굴림" panose="020B0600000101010101" pitchFamily="50" charset="-127"/>
              </a:rPr>
              <a:t>1</a:t>
            </a:r>
            <a:endParaRPr lang="ko-KR" altLang="en-US" sz="800">
              <a:solidFill>
                <a:srgbClr val="FF0000"/>
              </a:solidFill>
              <a:ea typeface="굴림" panose="020B0600000101010101" pitchFamily="50" charset="-127"/>
            </a:endParaRPr>
          </a:p>
        </p:txBody>
      </p:sp>
      <p:sp>
        <p:nvSpPr>
          <p:cNvPr id="31" name="Line 243"/>
          <p:cNvSpPr>
            <a:spLocks noChangeShapeType="1"/>
          </p:cNvSpPr>
          <p:nvPr/>
        </p:nvSpPr>
        <p:spPr bwMode="auto">
          <a:xfrm>
            <a:off x="2527300" y="4764088"/>
            <a:ext cx="0" cy="981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32" name="Line 243"/>
          <p:cNvSpPr>
            <a:spLocks noChangeShapeType="1"/>
          </p:cNvSpPr>
          <p:nvPr/>
        </p:nvSpPr>
        <p:spPr bwMode="auto">
          <a:xfrm>
            <a:off x="4984750" y="4765675"/>
            <a:ext cx="0" cy="981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33" name="Text Box 247"/>
          <p:cNvSpPr txBox="1">
            <a:spLocks noChangeArrowheads="1"/>
          </p:cNvSpPr>
          <p:nvPr/>
        </p:nvSpPr>
        <p:spPr bwMode="auto">
          <a:xfrm>
            <a:off x="1104900" y="5519738"/>
            <a:ext cx="1223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 smtClean="0">
                <a:solidFill>
                  <a:srgbClr val="000000"/>
                </a:solidFill>
              </a:rPr>
              <a:t>var. cost=900/liter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 smtClean="0">
                <a:solidFill>
                  <a:srgbClr val="000000"/>
                </a:solidFill>
              </a:rPr>
              <a:t>(</a:t>
            </a:r>
            <a:r>
              <a:rPr lang="ko-KR" altLang="en-US" sz="1000" kern="0" dirty="0" smtClean="0">
                <a:solidFill>
                  <a:srgbClr val="000000"/>
                </a:solidFill>
              </a:rPr>
              <a:t>휘발유 현물가격</a:t>
            </a:r>
            <a:r>
              <a:rPr lang="en-US" altLang="ko-KR" sz="1000" kern="0" dirty="0" smtClean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4" name="Text Box 262"/>
          <p:cNvSpPr txBox="1">
            <a:spLocks noChangeArrowheads="1"/>
          </p:cNvSpPr>
          <p:nvPr/>
        </p:nvSpPr>
        <p:spPr bwMode="auto">
          <a:xfrm>
            <a:off x="4181475" y="3062288"/>
            <a:ext cx="5508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 smtClean="0">
                <a:solidFill>
                  <a:srgbClr val="000000"/>
                </a:solidFill>
              </a:rPr>
              <a:t>1 liter</a:t>
            </a:r>
          </a:p>
        </p:txBody>
      </p:sp>
      <p:sp>
        <p:nvSpPr>
          <p:cNvPr id="35" name="Text Box 262"/>
          <p:cNvSpPr txBox="1">
            <a:spLocks noChangeArrowheads="1"/>
          </p:cNvSpPr>
          <p:nvPr/>
        </p:nvSpPr>
        <p:spPr bwMode="auto">
          <a:xfrm>
            <a:off x="2641600" y="3062288"/>
            <a:ext cx="5508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 smtClean="0">
                <a:solidFill>
                  <a:srgbClr val="000000"/>
                </a:solidFill>
              </a:rPr>
              <a:t>1 liter</a:t>
            </a:r>
          </a:p>
        </p:txBody>
      </p:sp>
      <p:sp>
        <p:nvSpPr>
          <p:cNvPr id="36" name="Text Box 262"/>
          <p:cNvSpPr txBox="1">
            <a:spLocks noChangeArrowheads="1"/>
          </p:cNvSpPr>
          <p:nvPr/>
        </p:nvSpPr>
        <p:spPr bwMode="auto">
          <a:xfrm>
            <a:off x="1984375" y="3062288"/>
            <a:ext cx="5508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 smtClean="0">
                <a:solidFill>
                  <a:srgbClr val="000000"/>
                </a:solidFill>
              </a:rPr>
              <a:t>1 liter</a:t>
            </a:r>
          </a:p>
        </p:txBody>
      </p:sp>
      <p:sp>
        <p:nvSpPr>
          <p:cNvPr id="37" name="Line 223"/>
          <p:cNvSpPr>
            <a:spLocks noChangeShapeType="1"/>
          </p:cNvSpPr>
          <p:nvPr/>
        </p:nvSpPr>
        <p:spPr bwMode="auto">
          <a:xfrm>
            <a:off x="2035175" y="3346450"/>
            <a:ext cx="466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38" name="Text Box 262"/>
          <p:cNvSpPr txBox="1">
            <a:spLocks noChangeArrowheads="1"/>
          </p:cNvSpPr>
          <p:nvPr/>
        </p:nvSpPr>
        <p:spPr bwMode="auto">
          <a:xfrm>
            <a:off x="2017713" y="4997450"/>
            <a:ext cx="5508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 smtClean="0">
                <a:solidFill>
                  <a:srgbClr val="000000"/>
                </a:solidFill>
              </a:rPr>
              <a:t>1 liter</a:t>
            </a:r>
          </a:p>
        </p:txBody>
      </p:sp>
      <p:sp>
        <p:nvSpPr>
          <p:cNvPr id="39" name="Text Box 247"/>
          <p:cNvSpPr txBox="1">
            <a:spLocks noChangeArrowheads="1"/>
          </p:cNvSpPr>
          <p:nvPr/>
        </p:nvSpPr>
        <p:spPr bwMode="auto">
          <a:xfrm>
            <a:off x="3049588" y="5516563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 smtClean="0">
                <a:solidFill>
                  <a:srgbClr val="000000"/>
                </a:solidFill>
              </a:rPr>
              <a:t>var. cost </a:t>
            </a:r>
            <a:r>
              <a:rPr lang="en-US" altLang="ko-KR" sz="1000" kern="0" dirty="0" smtClean="0">
                <a:solidFill>
                  <a:srgbClr val="000000"/>
                </a:solidFill>
                <a:sym typeface="Wingdings" panose="05000000000000000000" pitchFamily="2" charset="2"/>
              </a:rPr>
              <a:t></a:t>
            </a:r>
            <a:r>
              <a:rPr lang="en-US" altLang="ko-KR" sz="1000" kern="0" dirty="0" smtClean="0">
                <a:solidFill>
                  <a:srgbClr val="000000"/>
                </a:solidFill>
              </a:rPr>
              <a:t> </a:t>
            </a:r>
            <a:r>
              <a:rPr lang="en-US" altLang="ko-KR" sz="1000" kern="0" dirty="0" err="1" smtClean="0">
                <a:solidFill>
                  <a:srgbClr val="000000"/>
                </a:solidFill>
              </a:rPr>
              <a:t>var.cost</a:t>
            </a:r>
            <a:r>
              <a:rPr lang="en-US" altLang="ko-KR" sz="1000" kern="0" dirty="0" smtClean="0">
                <a:solidFill>
                  <a:srgbClr val="000000"/>
                </a:solidFill>
              </a:rPr>
              <a:t> +960/liter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 smtClean="0">
                <a:solidFill>
                  <a:srgbClr val="000000"/>
                </a:solidFill>
              </a:rPr>
              <a:t>(</a:t>
            </a:r>
            <a:r>
              <a:rPr lang="ko-KR" altLang="en-US" sz="1000" kern="0" dirty="0" smtClean="0">
                <a:solidFill>
                  <a:srgbClr val="000000"/>
                </a:solidFill>
              </a:rPr>
              <a:t>기존</a:t>
            </a:r>
            <a:r>
              <a:rPr lang="en-US" altLang="ko-KR" sz="1000" kern="0" dirty="0" smtClean="0">
                <a:solidFill>
                  <a:srgbClr val="000000"/>
                </a:solidFill>
              </a:rPr>
              <a:t> </a:t>
            </a:r>
            <a:r>
              <a:rPr lang="ko-KR" altLang="en-US" sz="1000" kern="0" dirty="0" smtClean="0">
                <a:solidFill>
                  <a:srgbClr val="000000"/>
                </a:solidFill>
              </a:rPr>
              <a:t>변동비</a:t>
            </a:r>
            <a:r>
              <a:rPr lang="en-US" altLang="ko-KR" sz="1000" kern="0" dirty="0" smtClean="0">
                <a:solidFill>
                  <a:srgbClr val="000000"/>
                </a:solidFill>
              </a:rPr>
              <a:t>+tax/liter)</a:t>
            </a:r>
          </a:p>
        </p:txBody>
      </p:sp>
      <p:sp>
        <p:nvSpPr>
          <p:cNvPr id="9256" name="TextBox 39"/>
          <p:cNvSpPr txBox="1">
            <a:spLocks noChangeArrowheads="1"/>
          </p:cNvSpPr>
          <p:nvPr/>
        </p:nvSpPr>
        <p:spPr bwMode="auto">
          <a:xfrm>
            <a:off x="1014413" y="2597150"/>
            <a:ext cx="7112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/>
              <a:t>(</a:t>
            </a:r>
            <a:r>
              <a:rPr lang="ko-KR" altLang="en-US"/>
              <a:t>대안 </a:t>
            </a:r>
            <a:r>
              <a:rPr lang="en-US" altLang="ko-KR"/>
              <a:t>1)</a:t>
            </a:r>
            <a:endParaRPr lang="ko-KR" altLang="en-US"/>
          </a:p>
        </p:txBody>
      </p:sp>
      <p:sp>
        <p:nvSpPr>
          <p:cNvPr id="9257" name="TextBox 40"/>
          <p:cNvSpPr txBox="1">
            <a:spLocks noChangeArrowheads="1"/>
          </p:cNvSpPr>
          <p:nvPr/>
        </p:nvSpPr>
        <p:spPr bwMode="auto">
          <a:xfrm>
            <a:off x="1014413" y="4370388"/>
            <a:ext cx="7112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/>
              <a:t>(</a:t>
            </a:r>
            <a:r>
              <a:rPr lang="ko-KR" altLang="en-US"/>
              <a:t>대안 </a:t>
            </a:r>
            <a:r>
              <a:rPr lang="en-US" altLang="ko-KR"/>
              <a:t>2)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21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Line 223"/>
          <p:cNvSpPr>
            <a:spLocks noChangeShapeType="1"/>
          </p:cNvSpPr>
          <p:nvPr/>
        </p:nvSpPr>
        <p:spPr bwMode="auto">
          <a:xfrm>
            <a:off x="3510593" y="2658471"/>
            <a:ext cx="466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72" name="Text Box 8"/>
          <p:cNvSpPr txBox="1">
            <a:spLocks noChangeArrowheads="1"/>
          </p:cNvSpPr>
          <p:nvPr/>
        </p:nvSpPr>
        <p:spPr bwMode="auto">
          <a:xfrm>
            <a:off x="3514882" y="1519228"/>
            <a:ext cx="970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>
                <a:solidFill>
                  <a:srgbClr val="000000"/>
                </a:solidFill>
                <a:ea typeface="굴림" charset="-127"/>
              </a:rPr>
              <a:t>energy level</a:t>
            </a:r>
          </a:p>
        </p:txBody>
      </p:sp>
      <p:sp>
        <p:nvSpPr>
          <p:cNvPr id="73" name="Text Box 136"/>
          <p:cNvSpPr txBox="1">
            <a:spLocks noChangeArrowheads="1"/>
          </p:cNvSpPr>
          <p:nvPr/>
        </p:nvSpPr>
        <p:spPr bwMode="auto">
          <a:xfrm>
            <a:off x="3784837" y="1712903"/>
            <a:ext cx="3481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>
                <a:solidFill>
                  <a:srgbClr val="000000"/>
                </a:solidFill>
                <a:ea typeface="굴림" charset="-127"/>
              </a:rPr>
              <a:t>oil</a:t>
            </a:r>
          </a:p>
        </p:txBody>
      </p:sp>
      <p:sp>
        <p:nvSpPr>
          <p:cNvPr id="75" name="Line 236"/>
          <p:cNvSpPr>
            <a:spLocks noChangeShapeType="1"/>
          </p:cNvSpPr>
          <p:nvPr/>
        </p:nvSpPr>
        <p:spPr bwMode="auto">
          <a:xfrm>
            <a:off x="3973668" y="2655753"/>
            <a:ext cx="8572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82" name="Text Box 8"/>
          <p:cNvSpPr txBox="1">
            <a:spLocks noChangeArrowheads="1"/>
          </p:cNvSpPr>
          <p:nvPr/>
        </p:nvSpPr>
        <p:spPr bwMode="auto">
          <a:xfrm>
            <a:off x="6334277" y="1438624"/>
            <a:ext cx="7120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>
                <a:solidFill>
                  <a:srgbClr val="000000"/>
                </a:solidFill>
                <a:ea typeface="굴림" charset="-127"/>
              </a:rPr>
              <a:t>demand </a:t>
            </a:r>
          </a:p>
        </p:txBody>
      </p:sp>
      <p:sp>
        <p:nvSpPr>
          <p:cNvPr id="83" name="Text Box 136"/>
          <p:cNvSpPr txBox="1">
            <a:spLocks noChangeArrowheads="1"/>
          </p:cNvSpPr>
          <p:nvPr/>
        </p:nvSpPr>
        <p:spPr bwMode="auto">
          <a:xfrm>
            <a:off x="6436585" y="1638723"/>
            <a:ext cx="6383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>
                <a:solidFill>
                  <a:srgbClr val="000000"/>
                </a:solidFill>
                <a:ea typeface="굴림" charset="-127"/>
              </a:rPr>
              <a:t>PJ/year</a:t>
            </a:r>
          </a:p>
        </p:txBody>
      </p:sp>
      <p:sp>
        <p:nvSpPr>
          <p:cNvPr id="86" name="Text Box 247"/>
          <p:cNvSpPr txBox="1">
            <a:spLocks noChangeArrowheads="1"/>
          </p:cNvSpPr>
          <p:nvPr/>
        </p:nvSpPr>
        <p:spPr bwMode="auto">
          <a:xfrm>
            <a:off x="3580442" y="2442572"/>
            <a:ext cx="260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0" name="Text Box 253"/>
          <p:cNvSpPr txBox="1">
            <a:spLocks noChangeArrowheads="1"/>
          </p:cNvSpPr>
          <p:nvPr/>
        </p:nvSpPr>
        <p:spPr bwMode="auto">
          <a:xfrm>
            <a:off x="5913591" y="2406851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100</a:t>
            </a:r>
          </a:p>
        </p:txBody>
      </p:sp>
      <p:sp>
        <p:nvSpPr>
          <p:cNvPr id="95" name="Text Box 262"/>
          <p:cNvSpPr txBox="1">
            <a:spLocks noChangeArrowheads="1"/>
          </p:cNvSpPr>
          <p:nvPr/>
        </p:nvSpPr>
        <p:spPr bwMode="auto">
          <a:xfrm>
            <a:off x="4207448" y="2406517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03" name="Line 271"/>
          <p:cNvSpPr>
            <a:spLocks noChangeShapeType="1"/>
          </p:cNvSpPr>
          <p:nvPr/>
        </p:nvSpPr>
        <p:spPr bwMode="auto">
          <a:xfrm>
            <a:off x="5976902" y="2646228"/>
            <a:ext cx="76044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21" name="Rectangle 7"/>
          <p:cNvSpPr>
            <a:spLocks noChangeArrowheads="1"/>
          </p:cNvSpPr>
          <p:nvPr/>
        </p:nvSpPr>
        <p:spPr bwMode="auto">
          <a:xfrm>
            <a:off x="4833707" y="2457683"/>
            <a:ext cx="1136947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    demand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</a:rPr>
              <a:t>technology </a:t>
            </a:r>
            <a:r>
              <a:rPr lang="en-US" altLang="ko-KR" sz="1000" kern="0" dirty="0" smtClean="0">
                <a:solidFill>
                  <a:srgbClr val="000000"/>
                </a:solidFill>
              </a:rPr>
              <a:t>A</a:t>
            </a:r>
            <a:endParaRPr lang="en-US" altLang="ko-KR" sz="1000" kern="0" dirty="0">
              <a:solidFill>
                <a:srgbClr val="000000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834304" y="2457667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FF0000"/>
                </a:solidFill>
              </a:rPr>
              <a:t>2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31" name="Rectangle 7"/>
          <p:cNvSpPr>
            <a:spLocks noChangeArrowheads="1"/>
          </p:cNvSpPr>
          <p:nvPr/>
        </p:nvSpPr>
        <p:spPr bwMode="auto">
          <a:xfrm>
            <a:off x="2667520" y="2492324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indent="88900"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oil carrier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667519" y="2496535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FF0000"/>
                </a:solidFill>
              </a:rPr>
              <a:t>1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7" name="Line 243"/>
          <p:cNvSpPr>
            <a:spLocks noChangeShapeType="1"/>
          </p:cNvSpPr>
          <p:nvPr/>
        </p:nvSpPr>
        <p:spPr bwMode="auto">
          <a:xfrm>
            <a:off x="3973668" y="2016909"/>
            <a:ext cx="0" cy="1377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16" name="Line 243"/>
          <p:cNvSpPr>
            <a:spLocks noChangeShapeType="1"/>
          </p:cNvSpPr>
          <p:nvPr/>
        </p:nvSpPr>
        <p:spPr bwMode="auto">
          <a:xfrm>
            <a:off x="6733451" y="1914948"/>
            <a:ext cx="0" cy="1377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17" name="Line 223"/>
          <p:cNvSpPr>
            <a:spLocks noChangeShapeType="1"/>
          </p:cNvSpPr>
          <p:nvPr/>
        </p:nvSpPr>
        <p:spPr bwMode="auto">
          <a:xfrm>
            <a:off x="3518862" y="4961013"/>
            <a:ext cx="466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33" name="Text Box 8"/>
          <p:cNvSpPr txBox="1">
            <a:spLocks noChangeArrowheads="1"/>
          </p:cNvSpPr>
          <p:nvPr/>
        </p:nvSpPr>
        <p:spPr bwMode="auto">
          <a:xfrm>
            <a:off x="3523151" y="3910001"/>
            <a:ext cx="970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>
                <a:solidFill>
                  <a:srgbClr val="000000"/>
                </a:solidFill>
                <a:ea typeface="굴림" charset="-127"/>
              </a:rPr>
              <a:t>energy level</a:t>
            </a:r>
          </a:p>
        </p:txBody>
      </p:sp>
      <p:sp>
        <p:nvSpPr>
          <p:cNvPr id="134" name="Text Box 136"/>
          <p:cNvSpPr txBox="1">
            <a:spLocks noChangeArrowheads="1"/>
          </p:cNvSpPr>
          <p:nvPr/>
        </p:nvSpPr>
        <p:spPr bwMode="auto">
          <a:xfrm>
            <a:off x="3793106" y="4103676"/>
            <a:ext cx="3481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>
                <a:solidFill>
                  <a:srgbClr val="000000"/>
                </a:solidFill>
                <a:ea typeface="굴림" charset="-127"/>
              </a:rPr>
              <a:t>oil</a:t>
            </a:r>
          </a:p>
        </p:txBody>
      </p:sp>
      <p:sp>
        <p:nvSpPr>
          <p:cNvPr id="135" name="Line 236"/>
          <p:cNvSpPr>
            <a:spLocks noChangeShapeType="1"/>
          </p:cNvSpPr>
          <p:nvPr/>
        </p:nvSpPr>
        <p:spPr bwMode="auto">
          <a:xfrm>
            <a:off x="3981937" y="5046526"/>
            <a:ext cx="8572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36" name="Text Box 8"/>
          <p:cNvSpPr txBox="1">
            <a:spLocks noChangeArrowheads="1"/>
          </p:cNvSpPr>
          <p:nvPr/>
        </p:nvSpPr>
        <p:spPr bwMode="auto">
          <a:xfrm>
            <a:off x="6361776" y="3875712"/>
            <a:ext cx="7120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>
                <a:solidFill>
                  <a:srgbClr val="000000"/>
                </a:solidFill>
                <a:ea typeface="굴림" charset="-127"/>
              </a:rPr>
              <a:t>demand </a:t>
            </a:r>
          </a:p>
        </p:txBody>
      </p:sp>
      <p:sp>
        <p:nvSpPr>
          <p:cNvPr id="137" name="Text Box 136"/>
          <p:cNvSpPr txBox="1">
            <a:spLocks noChangeArrowheads="1"/>
          </p:cNvSpPr>
          <p:nvPr/>
        </p:nvSpPr>
        <p:spPr bwMode="auto">
          <a:xfrm>
            <a:off x="6378067" y="4089849"/>
            <a:ext cx="6383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>
                <a:solidFill>
                  <a:srgbClr val="000000"/>
                </a:solidFill>
                <a:ea typeface="굴림" charset="-127"/>
              </a:rPr>
              <a:t>PJ/year</a:t>
            </a:r>
          </a:p>
        </p:txBody>
      </p:sp>
      <p:sp>
        <p:nvSpPr>
          <p:cNvPr id="138" name="Text Box 247"/>
          <p:cNvSpPr txBox="1">
            <a:spLocks noChangeArrowheads="1"/>
          </p:cNvSpPr>
          <p:nvPr/>
        </p:nvSpPr>
        <p:spPr bwMode="auto">
          <a:xfrm>
            <a:off x="3588711" y="4769177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39" name="Text Box 253"/>
          <p:cNvSpPr txBox="1">
            <a:spLocks noChangeArrowheads="1"/>
          </p:cNvSpPr>
          <p:nvPr/>
        </p:nvSpPr>
        <p:spPr bwMode="auto">
          <a:xfrm>
            <a:off x="5896467" y="4797624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100</a:t>
            </a:r>
          </a:p>
        </p:txBody>
      </p:sp>
      <p:sp>
        <p:nvSpPr>
          <p:cNvPr id="140" name="Text Box 262"/>
          <p:cNvSpPr txBox="1">
            <a:spLocks noChangeArrowheads="1"/>
          </p:cNvSpPr>
          <p:nvPr/>
        </p:nvSpPr>
        <p:spPr bwMode="auto">
          <a:xfrm>
            <a:off x="4215717" y="4797290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41" name="Line 271"/>
          <p:cNvSpPr>
            <a:spLocks noChangeShapeType="1"/>
          </p:cNvSpPr>
          <p:nvPr/>
        </p:nvSpPr>
        <p:spPr bwMode="auto">
          <a:xfrm>
            <a:off x="5959778" y="5037001"/>
            <a:ext cx="76044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42" name="Rectangle 7"/>
          <p:cNvSpPr>
            <a:spLocks noChangeArrowheads="1"/>
          </p:cNvSpPr>
          <p:nvPr/>
        </p:nvSpPr>
        <p:spPr bwMode="auto">
          <a:xfrm>
            <a:off x="4841976" y="4848456"/>
            <a:ext cx="1105990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    demand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</a:rPr>
              <a:t>technology </a:t>
            </a:r>
            <a:r>
              <a:rPr lang="en-US" altLang="ko-KR" sz="1000" kern="0" dirty="0" smtClean="0">
                <a:solidFill>
                  <a:srgbClr val="000000"/>
                </a:solidFill>
              </a:rPr>
              <a:t>A</a:t>
            </a:r>
            <a:endParaRPr lang="en-US" altLang="ko-KR" sz="1000" kern="0" dirty="0">
              <a:solidFill>
                <a:srgbClr val="000000"/>
              </a:solidFill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4842573" y="4848440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FF0000"/>
                </a:solidFill>
              </a:rPr>
              <a:t>2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44" name="Rectangle 7"/>
          <p:cNvSpPr>
            <a:spLocks noChangeArrowheads="1"/>
          </p:cNvSpPr>
          <p:nvPr/>
        </p:nvSpPr>
        <p:spPr bwMode="auto">
          <a:xfrm>
            <a:off x="2675789" y="4875076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indent="88900"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oil carrier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675788" y="4871972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FF0000"/>
                </a:solidFill>
              </a:rPr>
              <a:t>1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46" name="Line 243"/>
          <p:cNvSpPr>
            <a:spLocks noChangeShapeType="1"/>
          </p:cNvSpPr>
          <p:nvPr/>
        </p:nvSpPr>
        <p:spPr bwMode="auto">
          <a:xfrm>
            <a:off x="3981937" y="4407682"/>
            <a:ext cx="0" cy="1377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47" name="Line 243"/>
          <p:cNvSpPr>
            <a:spLocks noChangeShapeType="1"/>
          </p:cNvSpPr>
          <p:nvPr/>
        </p:nvSpPr>
        <p:spPr bwMode="auto">
          <a:xfrm>
            <a:off x="6719658" y="4476789"/>
            <a:ext cx="0" cy="1377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48" name="Line 243"/>
          <p:cNvSpPr>
            <a:spLocks noChangeShapeType="1"/>
          </p:cNvSpPr>
          <p:nvPr/>
        </p:nvSpPr>
        <p:spPr bwMode="auto">
          <a:xfrm>
            <a:off x="4112716" y="4502619"/>
            <a:ext cx="0" cy="1377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49" name="Text Box 136"/>
          <p:cNvSpPr txBox="1">
            <a:spLocks noChangeArrowheads="1"/>
          </p:cNvSpPr>
          <p:nvPr/>
        </p:nvSpPr>
        <p:spPr bwMode="auto">
          <a:xfrm>
            <a:off x="3945507" y="4256076"/>
            <a:ext cx="13111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charset="-127"/>
              </a:rPr>
              <a:t>dummy for tech A</a:t>
            </a:r>
            <a:endParaRPr lang="en-US" altLang="ko-KR" dirty="0">
              <a:solidFill>
                <a:srgbClr val="000000"/>
              </a:solidFill>
              <a:ea typeface="굴림" charset="-127"/>
            </a:endParaRPr>
          </a:p>
        </p:txBody>
      </p:sp>
      <p:sp>
        <p:nvSpPr>
          <p:cNvPr id="151" name="Text Box 253"/>
          <p:cNvSpPr txBox="1">
            <a:spLocks noChangeArrowheads="1"/>
          </p:cNvSpPr>
          <p:nvPr/>
        </p:nvSpPr>
        <p:spPr bwMode="auto">
          <a:xfrm>
            <a:off x="5906190" y="5293731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2" name="Text Box 262"/>
          <p:cNvSpPr txBox="1">
            <a:spLocks noChangeArrowheads="1"/>
          </p:cNvSpPr>
          <p:nvPr/>
        </p:nvSpPr>
        <p:spPr bwMode="auto">
          <a:xfrm>
            <a:off x="4225440" y="5293397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53" name="Line 271"/>
          <p:cNvSpPr>
            <a:spLocks noChangeShapeType="1"/>
          </p:cNvSpPr>
          <p:nvPr/>
        </p:nvSpPr>
        <p:spPr bwMode="auto">
          <a:xfrm>
            <a:off x="5969501" y="5533108"/>
            <a:ext cx="76044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54" name="Rectangle 7"/>
          <p:cNvSpPr>
            <a:spLocks noChangeArrowheads="1"/>
          </p:cNvSpPr>
          <p:nvPr/>
        </p:nvSpPr>
        <p:spPr bwMode="auto">
          <a:xfrm>
            <a:off x="4851699" y="5344563"/>
            <a:ext cx="1096267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    </a:t>
            </a:r>
            <a:r>
              <a:rPr lang="en-US" altLang="ko-KR" sz="1000" kern="0" dirty="0">
                <a:solidFill>
                  <a:srgbClr val="000000"/>
                </a:solidFill>
              </a:rPr>
              <a:t>efficiency</a:t>
            </a:r>
            <a:endParaRPr lang="en-US" altLang="ko-KR" sz="1000" kern="0" dirty="0">
              <a:solidFill>
                <a:srgbClr val="000000"/>
              </a:solidFill>
              <a:ea typeface="굴림" charset="-127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</a:rPr>
              <a:t>improvement </a:t>
            </a:r>
            <a:r>
              <a:rPr lang="en-US" altLang="ko-KR" sz="1000" kern="0" dirty="0" smtClean="0">
                <a:solidFill>
                  <a:srgbClr val="000000"/>
                </a:solidFill>
              </a:rPr>
              <a:t>A</a:t>
            </a:r>
            <a:endParaRPr lang="en-US" altLang="ko-KR" sz="1000" kern="0" dirty="0">
              <a:solidFill>
                <a:srgbClr val="000000"/>
              </a:solidFill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4852296" y="5344547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FF0000"/>
                </a:solidFill>
              </a:rPr>
              <a:t>3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cxnSp>
        <p:nvCxnSpPr>
          <p:cNvPr id="6" name="직선 화살표 연결선 5"/>
          <p:cNvCxnSpPr>
            <a:endCxn id="154" idx="1"/>
          </p:cNvCxnSpPr>
          <p:nvPr/>
        </p:nvCxnSpPr>
        <p:spPr bwMode="auto">
          <a:xfrm>
            <a:off x="4114814" y="5516013"/>
            <a:ext cx="73688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6" name="Line 223"/>
          <p:cNvSpPr>
            <a:spLocks noChangeShapeType="1"/>
          </p:cNvSpPr>
          <p:nvPr/>
        </p:nvSpPr>
        <p:spPr bwMode="auto">
          <a:xfrm flipV="1">
            <a:off x="3511507" y="5168470"/>
            <a:ext cx="617252" cy="318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57" name="Text Box 247"/>
          <p:cNvSpPr txBox="1">
            <a:spLocks noChangeArrowheads="1"/>
          </p:cNvSpPr>
          <p:nvPr/>
        </p:nvSpPr>
        <p:spPr bwMode="auto">
          <a:xfrm>
            <a:off x="3584518" y="4993098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58" name="내용 개체 틀 2"/>
          <p:cNvSpPr txBox="1">
            <a:spLocks/>
          </p:cNvSpPr>
          <p:nvPr/>
        </p:nvSpPr>
        <p:spPr bwMode="auto">
          <a:xfrm>
            <a:off x="1260773" y="967804"/>
            <a:ext cx="8010525" cy="384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•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»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ko-KR" altLang="en-US" dirty="0">
                <a:solidFill>
                  <a:srgbClr val="000000"/>
                </a:solidFill>
                <a:ea typeface="굴림" charset="-127"/>
              </a:rPr>
              <a:t>한 개 기술만 존재하는 경우</a:t>
            </a:r>
            <a:r>
              <a:rPr lang="en-US" altLang="ko-KR" dirty="0">
                <a:solidFill>
                  <a:srgbClr val="000000"/>
                </a:solidFill>
                <a:ea typeface="굴림" charset="-127"/>
              </a:rPr>
              <a:t>, </a:t>
            </a:r>
            <a:r>
              <a:rPr lang="ko-KR" altLang="en-US" dirty="0">
                <a:solidFill>
                  <a:srgbClr val="000000"/>
                </a:solidFill>
                <a:ea typeface="굴림" charset="-127"/>
              </a:rPr>
              <a:t>효율개선 도입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en-US" altLang="ko-KR" sz="2400" b="0" dirty="0" smtClean="0"/>
              <a:t>modeling - </a:t>
            </a:r>
            <a:r>
              <a:rPr lang="ko-KR" altLang="en-US" sz="2400" b="0" dirty="0" smtClean="0"/>
              <a:t>특정기술에 효율개선 적용</a:t>
            </a:r>
            <a:r>
              <a:rPr lang="en-US" altLang="ko-KR" sz="2400" b="0" dirty="0" smtClean="0"/>
              <a:t>(1)</a:t>
            </a:r>
            <a:endParaRPr lang="ko-KR" altLang="en-US" sz="2400" b="0" dirty="0"/>
          </a:p>
        </p:txBody>
      </p:sp>
      <p:sp>
        <p:nvSpPr>
          <p:cNvPr id="46" name="Text Box 136"/>
          <p:cNvSpPr txBox="1">
            <a:spLocks noChangeArrowheads="1"/>
          </p:cNvSpPr>
          <p:nvPr/>
        </p:nvSpPr>
        <p:spPr bwMode="auto">
          <a:xfrm>
            <a:off x="5091949" y="3309715"/>
            <a:ext cx="3561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charset="-127"/>
              </a:rPr>
              <a:t>(a)</a:t>
            </a:r>
            <a:endParaRPr lang="en-US" altLang="ko-KR" dirty="0">
              <a:solidFill>
                <a:srgbClr val="000000"/>
              </a:solidFill>
              <a:ea typeface="굴림" charset="-127"/>
            </a:endParaRPr>
          </a:p>
        </p:txBody>
      </p:sp>
      <p:sp>
        <p:nvSpPr>
          <p:cNvPr id="47" name="Text Box 136"/>
          <p:cNvSpPr txBox="1">
            <a:spLocks noChangeArrowheads="1"/>
          </p:cNvSpPr>
          <p:nvPr/>
        </p:nvSpPr>
        <p:spPr bwMode="auto">
          <a:xfrm>
            <a:off x="5216877" y="5821480"/>
            <a:ext cx="3642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charset="-127"/>
              </a:rPr>
              <a:t>(b)</a:t>
            </a:r>
            <a:endParaRPr lang="en-US" altLang="ko-KR" dirty="0">
              <a:solidFill>
                <a:srgbClr val="000000"/>
              </a:solidFill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8558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en-US" altLang="ko-KR" sz="2400" b="0" dirty="0" smtClean="0"/>
              <a:t>modeling </a:t>
            </a:r>
            <a:r>
              <a:rPr lang="ko-KR" altLang="en-US" sz="2400" b="0" dirty="0"/>
              <a:t>방법 </a:t>
            </a:r>
            <a:r>
              <a:rPr lang="en-US" altLang="ko-KR" sz="2400" b="0" dirty="0" smtClean="0"/>
              <a:t>- </a:t>
            </a:r>
            <a:r>
              <a:rPr lang="ko-KR" altLang="en-US" sz="2400" b="0" dirty="0" smtClean="0"/>
              <a:t>특정기술에 효율개선 적용</a:t>
            </a:r>
            <a:r>
              <a:rPr lang="en-US" altLang="ko-KR" sz="2400" b="0" dirty="0" smtClean="0"/>
              <a:t>(2)</a:t>
            </a:r>
            <a:endParaRPr lang="ko-KR" altLang="en-US" b="0" dirty="0"/>
          </a:p>
        </p:txBody>
      </p:sp>
      <p:sp>
        <p:nvSpPr>
          <p:cNvPr id="88" name="Line 223"/>
          <p:cNvSpPr>
            <a:spLocks noChangeShapeType="1"/>
          </p:cNvSpPr>
          <p:nvPr/>
        </p:nvSpPr>
        <p:spPr bwMode="auto">
          <a:xfrm>
            <a:off x="2342566" y="3054660"/>
            <a:ext cx="466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89" name="Text Box 8"/>
          <p:cNvSpPr txBox="1">
            <a:spLocks noChangeArrowheads="1"/>
          </p:cNvSpPr>
          <p:nvPr/>
        </p:nvSpPr>
        <p:spPr bwMode="auto">
          <a:xfrm>
            <a:off x="2346855" y="1594576"/>
            <a:ext cx="970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 smtClean="0">
                <a:solidFill>
                  <a:srgbClr val="000000"/>
                </a:solidFill>
                <a:ea typeface="굴림" charset="-127"/>
              </a:rPr>
              <a:t>energy level</a:t>
            </a:r>
          </a:p>
        </p:txBody>
      </p:sp>
      <p:sp>
        <p:nvSpPr>
          <p:cNvPr id="91" name="Text Box 136"/>
          <p:cNvSpPr txBox="1">
            <a:spLocks noChangeArrowheads="1"/>
          </p:cNvSpPr>
          <p:nvPr/>
        </p:nvSpPr>
        <p:spPr bwMode="auto">
          <a:xfrm>
            <a:off x="2616811" y="1788251"/>
            <a:ext cx="3481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charset="-127"/>
              </a:rPr>
              <a:t>oil</a:t>
            </a:r>
          </a:p>
        </p:txBody>
      </p:sp>
      <p:sp>
        <p:nvSpPr>
          <p:cNvPr id="92" name="Line 236"/>
          <p:cNvSpPr>
            <a:spLocks noChangeShapeType="1"/>
          </p:cNvSpPr>
          <p:nvPr/>
        </p:nvSpPr>
        <p:spPr bwMode="auto">
          <a:xfrm>
            <a:off x="2805642" y="2690997"/>
            <a:ext cx="8572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93" name="Text Box 8"/>
          <p:cNvSpPr txBox="1">
            <a:spLocks noChangeArrowheads="1"/>
          </p:cNvSpPr>
          <p:nvPr/>
        </p:nvSpPr>
        <p:spPr bwMode="auto">
          <a:xfrm>
            <a:off x="5168536" y="1560287"/>
            <a:ext cx="7521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 smtClean="0">
                <a:solidFill>
                  <a:srgbClr val="000000"/>
                </a:solidFill>
                <a:ea typeface="굴림" charset="-127"/>
              </a:rPr>
              <a:t>demand </a:t>
            </a:r>
          </a:p>
        </p:txBody>
      </p:sp>
      <p:sp>
        <p:nvSpPr>
          <p:cNvPr id="94" name="Text Box 136"/>
          <p:cNvSpPr txBox="1">
            <a:spLocks noChangeArrowheads="1"/>
          </p:cNvSpPr>
          <p:nvPr/>
        </p:nvSpPr>
        <p:spPr bwMode="auto">
          <a:xfrm>
            <a:off x="5184827" y="1774424"/>
            <a:ext cx="6912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charset="-127"/>
              </a:rPr>
              <a:t>PJ/year</a:t>
            </a:r>
          </a:p>
        </p:txBody>
      </p:sp>
      <p:sp>
        <p:nvSpPr>
          <p:cNvPr id="96" name="Text Box 247"/>
          <p:cNvSpPr txBox="1">
            <a:spLocks noChangeArrowheads="1"/>
          </p:cNvSpPr>
          <p:nvPr/>
        </p:nvSpPr>
        <p:spPr bwMode="auto">
          <a:xfrm>
            <a:off x="2412416" y="2862823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1</a:t>
            </a:r>
          </a:p>
        </p:txBody>
      </p:sp>
      <p:sp>
        <p:nvSpPr>
          <p:cNvPr id="97" name="Text Box 253"/>
          <p:cNvSpPr txBox="1">
            <a:spLocks noChangeArrowheads="1"/>
          </p:cNvSpPr>
          <p:nvPr/>
        </p:nvSpPr>
        <p:spPr bwMode="auto">
          <a:xfrm>
            <a:off x="4703226" y="2442094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100</a:t>
            </a:r>
          </a:p>
        </p:txBody>
      </p:sp>
      <p:sp>
        <p:nvSpPr>
          <p:cNvPr id="98" name="Text Box 262"/>
          <p:cNvSpPr txBox="1">
            <a:spLocks noChangeArrowheads="1"/>
          </p:cNvSpPr>
          <p:nvPr/>
        </p:nvSpPr>
        <p:spPr bwMode="auto">
          <a:xfrm>
            <a:off x="3039422" y="2441760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1</a:t>
            </a:r>
          </a:p>
        </p:txBody>
      </p:sp>
      <p:sp>
        <p:nvSpPr>
          <p:cNvPr id="99" name="Line 271"/>
          <p:cNvSpPr>
            <a:spLocks noChangeShapeType="1"/>
          </p:cNvSpPr>
          <p:nvPr/>
        </p:nvSpPr>
        <p:spPr bwMode="auto">
          <a:xfrm>
            <a:off x="4766537" y="2681472"/>
            <a:ext cx="76044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00" name="Rectangle 7"/>
          <p:cNvSpPr>
            <a:spLocks noChangeArrowheads="1"/>
          </p:cNvSpPr>
          <p:nvPr/>
        </p:nvSpPr>
        <p:spPr bwMode="auto">
          <a:xfrm>
            <a:off x="3665680" y="2492927"/>
            <a:ext cx="1097066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rPr>
              <a:t>    demand</a:t>
            </a:r>
          </a:p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kern="0" dirty="0" smtClean="0">
                <a:solidFill>
                  <a:srgbClr val="000000"/>
                </a:solidFill>
                <a:latin typeface="Times New Roman" pitchFamily="18" charset="0"/>
              </a:rPr>
              <a:t>technology A</a:t>
            </a:r>
            <a:endParaRPr kumimoji="1" lang="en-US" altLang="ko-KR" sz="1000" b="0" kern="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3665642" y="2492911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 smtClean="0">
                <a:solidFill>
                  <a:srgbClr val="FF0000"/>
                </a:solidFill>
              </a:rPr>
              <a:t>2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02" name="Rectangle 7"/>
          <p:cNvSpPr>
            <a:spLocks noChangeArrowheads="1"/>
          </p:cNvSpPr>
          <p:nvPr/>
        </p:nvSpPr>
        <p:spPr bwMode="auto">
          <a:xfrm>
            <a:off x="1499493" y="2968723"/>
            <a:ext cx="828675" cy="364242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R="0" lvl="0" indent="8890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kern="0" dirty="0">
                <a:solidFill>
                  <a:srgbClr val="000000"/>
                </a:solidFill>
                <a:latin typeface="Times New Roman" pitchFamily="18" charset="0"/>
                <a:ea typeface="굴림" charset="-127"/>
              </a:rPr>
              <a:t>oil carrier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499493" y="2972934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 smtClean="0">
                <a:solidFill>
                  <a:srgbClr val="FF0000"/>
                </a:solidFill>
              </a:rPr>
              <a:t>1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05" name="Line 243"/>
          <p:cNvSpPr>
            <a:spLocks noChangeShapeType="1"/>
          </p:cNvSpPr>
          <p:nvPr/>
        </p:nvSpPr>
        <p:spPr bwMode="auto">
          <a:xfrm flipH="1">
            <a:off x="2799308" y="2040710"/>
            <a:ext cx="3522" cy="19917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07" name="Text Box 253"/>
          <p:cNvSpPr txBox="1">
            <a:spLocks noChangeArrowheads="1"/>
          </p:cNvSpPr>
          <p:nvPr/>
        </p:nvSpPr>
        <p:spPr bwMode="auto">
          <a:xfrm>
            <a:off x="4712949" y="2938201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5</a:t>
            </a:r>
          </a:p>
        </p:txBody>
      </p:sp>
      <p:sp>
        <p:nvSpPr>
          <p:cNvPr id="108" name="Text Box 262"/>
          <p:cNvSpPr txBox="1">
            <a:spLocks noChangeArrowheads="1"/>
          </p:cNvSpPr>
          <p:nvPr/>
        </p:nvSpPr>
        <p:spPr bwMode="auto">
          <a:xfrm>
            <a:off x="3049145" y="2937867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1</a:t>
            </a:r>
          </a:p>
        </p:txBody>
      </p:sp>
      <p:sp>
        <p:nvSpPr>
          <p:cNvPr id="109" name="Line 271"/>
          <p:cNvSpPr>
            <a:spLocks noChangeShapeType="1"/>
          </p:cNvSpPr>
          <p:nvPr/>
        </p:nvSpPr>
        <p:spPr bwMode="auto">
          <a:xfrm>
            <a:off x="4776260" y="3177579"/>
            <a:ext cx="76044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10" name="Rectangle 7"/>
          <p:cNvSpPr>
            <a:spLocks noChangeArrowheads="1"/>
          </p:cNvSpPr>
          <p:nvPr/>
        </p:nvSpPr>
        <p:spPr bwMode="auto">
          <a:xfrm>
            <a:off x="3682718" y="2989034"/>
            <a:ext cx="1091134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rPr>
              <a:t>    </a:t>
            </a:r>
            <a:r>
              <a:rPr kumimoji="1" lang="en-US" altLang="ko-KR" sz="1000" b="0" kern="0" dirty="0" smtClean="0">
                <a:solidFill>
                  <a:srgbClr val="000000"/>
                </a:solidFill>
                <a:latin typeface="Times New Roman" pitchFamily="18" charset="0"/>
              </a:rPr>
              <a:t>efficiency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charset="-127"/>
            </a:endParaRPr>
          </a:p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kern="0" dirty="0" smtClean="0">
                <a:solidFill>
                  <a:srgbClr val="000000"/>
                </a:solidFill>
                <a:latin typeface="Times New Roman" pitchFamily="18" charset="0"/>
              </a:rPr>
              <a:t>improvement A1</a:t>
            </a:r>
            <a:endParaRPr kumimoji="1" lang="en-US" altLang="ko-KR" sz="1000" b="0" kern="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3676001" y="2989654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 smtClean="0">
                <a:solidFill>
                  <a:srgbClr val="FF0000"/>
                </a:solidFill>
              </a:rPr>
              <a:t>3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cxnSp>
        <p:nvCxnSpPr>
          <p:cNvPr id="112" name="직선 화살표 연결선 111"/>
          <p:cNvCxnSpPr/>
          <p:nvPr/>
        </p:nvCxnSpPr>
        <p:spPr bwMode="auto">
          <a:xfrm flipV="1">
            <a:off x="2951320" y="3159665"/>
            <a:ext cx="723075" cy="819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3" name="Line 223"/>
          <p:cNvSpPr>
            <a:spLocks noChangeShapeType="1"/>
          </p:cNvSpPr>
          <p:nvPr/>
        </p:nvSpPr>
        <p:spPr bwMode="auto">
          <a:xfrm flipV="1">
            <a:off x="2335212" y="3262117"/>
            <a:ext cx="617252" cy="318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14" name="Text Box 247"/>
          <p:cNvSpPr txBox="1">
            <a:spLocks noChangeArrowheads="1"/>
          </p:cNvSpPr>
          <p:nvPr/>
        </p:nvSpPr>
        <p:spPr bwMode="auto">
          <a:xfrm>
            <a:off x="2408223" y="3086744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1</a:t>
            </a:r>
          </a:p>
        </p:txBody>
      </p:sp>
      <p:sp>
        <p:nvSpPr>
          <p:cNvPr id="115" name="Line 243"/>
          <p:cNvSpPr>
            <a:spLocks noChangeShapeType="1"/>
          </p:cNvSpPr>
          <p:nvPr/>
        </p:nvSpPr>
        <p:spPr bwMode="auto">
          <a:xfrm flipH="1">
            <a:off x="2951589" y="2193109"/>
            <a:ext cx="3641" cy="21655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18" name="Text Box 253"/>
          <p:cNvSpPr txBox="1">
            <a:spLocks noChangeArrowheads="1"/>
          </p:cNvSpPr>
          <p:nvPr/>
        </p:nvSpPr>
        <p:spPr bwMode="auto">
          <a:xfrm>
            <a:off x="4720971" y="3440105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4</a:t>
            </a:r>
          </a:p>
        </p:txBody>
      </p:sp>
      <p:sp>
        <p:nvSpPr>
          <p:cNvPr id="119" name="Text Box 262"/>
          <p:cNvSpPr txBox="1">
            <a:spLocks noChangeArrowheads="1"/>
          </p:cNvSpPr>
          <p:nvPr/>
        </p:nvSpPr>
        <p:spPr bwMode="auto">
          <a:xfrm>
            <a:off x="3057167" y="3439771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1</a:t>
            </a:r>
          </a:p>
        </p:txBody>
      </p:sp>
      <p:sp>
        <p:nvSpPr>
          <p:cNvPr id="120" name="Rectangle 7"/>
          <p:cNvSpPr>
            <a:spLocks noChangeArrowheads="1"/>
          </p:cNvSpPr>
          <p:nvPr/>
        </p:nvSpPr>
        <p:spPr bwMode="auto">
          <a:xfrm>
            <a:off x="3683425" y="3490938"/>
            <a:ext cx="1089431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rPr>
              <a:t>    </a:t>
            </a:r>
            <a:r>
              <a:rPr kumimoji="1" lang="en-US" altLang="ko-KR" sz="1000" b="0" kern="0" dirty="0" smtClean="0">
                <a:solidFill>
                  <a:srgbClr val="000000"/>
                </a:solidFill>
                <a:latin typeface="Times New Roman" pitchFamily="18" charset="0"/>
              </a:rPr>
              <a:t>efficiency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charset="-127"/>
            </a:endParaRPr>
          </a:p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kern="0" dirty="0" smtClean="0">
                <a:solidFill>
                  <a:srgbClr val="000000"/>
                </a:solidFill>
                <a:latin typeface="Times New Roman" pitchFamily="18" charset="0"/>
              </a:rPr>
              <a:t>improvement A2</a:t>
            </a:r>
            <a:endParaRPr kumimoji="1" lang="en-US" altLang="ko-KR" sz="1000" b="0" kern="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3684023" y="3491558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 smtClean="0">
                <a:solidFill>
                  <a:srgbClr val="FF0000"/>
                </a:solidFill>
              </a:rPr>
              <a:t>4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cxnSp>
        <p:nvCxnSpPr>
          <p:cNvPr id="124" name="직선 화살표 연결선 123"/>
          <p:cNvCxnSpPr>
            <a:endCxn id="120" idx="1"/>
          </p:cNvCxnSpPr>
          <p:nvPr/>
        </p:nvCxnSpPr>
        <p:spPr bwMode="auto">
          <a:xfrm>
            <a:off x="2951320" y="3660103"/>
            <a:ext cx="732105" cy="228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6" name="Line 243"/>
          <p:cNvSpPr>
            <a:spLocks noChangeShapeType="1"/>
          </p:cNvSpPr>
          <p:nvPr/>
        </p:nvSpPr>
        <p:spPr bwMode="auto">
          <a:xfrm>
            <a:off x="5518394" y="2193109"/>
            <a:ext cx="4799" cy="217874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27" name="Line 271"/>
          <p:cNvSpPr>
            <a:spLocks noChangeShapeType="1"/>
          </p:cNvSpPr>
          <p:nvPr/>
        </p:nvSpPr>
        <p:spPr bwMode="auto">
          <a:xfrm>
            <a:off x="4772856" y="3660103"/>
            <a:ext cx="76044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28" name="내용 개체 틀 2"/>
          <p:cNvSpPr txBox="1">
            <a:spLocks/>
          </p:cNvSpPr>
          <p:nvPr/>
        </p:nvSpPr>
        <p:spPr bwMode="auto">
          <a:xfrm>
            <a:off x="1014941" y="967656"/>
            <a:ext cx="8010525" cy="384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•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»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ko-KR" altLang="en-US" dirty="0" smtClean="0">
                <a:solidFill>
                  <a:srgbClr val="000000"/>
                </a:solidFill>
                <a:ea typeface="굴림" charset="-127"/>
              </a:rPr>
              <a:t>한 개 기술에 </a:t>
            </a:r>
            <a:r>
              <a:rPr lang="ko-KR" altLang="en-US" dirty="0" err="1" smtClean="0">
                <a:solidFill>
                  <a:srgbClr val="000000"/>
                </a:solidFill>
                <a:ea typeface="굴림" charset="-127"/>
              </a:rPr>
              <a:t>두가지</a:t>
            </a:r>
            <a:r>
              <a:rPr lang="ko-KR" altLang="en-US" dirty="0" smtClean="0">
                <a:solidFill>
                  <a:srgbClr val="000000"/>
                </a:solidFill>
                <a:ea typeface="굴림" charset="-127"/>
              </a:rPr>
              <a:t> 효율개선이 경쟁하는 경우</a:t>
            </a:r>
            <a:endParaRPr lang="ko-KR" altLang="en-US" b="0" dirty="0"/>
          </a:p>
        </p:txBody>
      </p:sp>
      <p:sp>
        <p:nvSpPr>
          <p:cNvPr id="129" name="Text Box 8"/>
          <p:cNvSpPr txBox="1">
            <a:spLocks noChangeArrowheads="1"/>
          </p:cNvSpPr>
          <p:nvPr/>
        </p:nvSpPr>
        <p:spPr bwMode="auto">
          <a:xfrm>
            <a:off x="1554134" y="4614305"/>
            <a:ext cx="37369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ko-KR" altLang="en-US" u="sng" dirty="0" smtClean="0">
                <a:solidFill>
                  <a:srgbClr val="000000"/>
                </a:solidFill>
                <a:ea typeface="굴림" charset="-127"/>
              </a:rPr>
              <a:t>변형</a:t>
            </a:r>
            <a:r>
              <a:rPr lang="en-US" altLang="ko-KR" u="sng" dirty="0" smtClean="0">
                <a:solidFill>
                  <a:srgbClr val="000000"/>
                </a:solidFill>
                <a:ea typeface="굴림" charset="-127"/>
              </a:rPr>
              <a:t>) </a:t>
            </a:r>
            <a:r>
              <a:rPr lang="ko-KR" altLang="en-US" u="sng" dirty="0" smtClean="0">
                <a:solidFill>
                  <a:srgbClr val="000000"/>
                </a:solidFill>
                <a:ea typeface="굴림" charset="-127"/>
              </a:rPr>
              <a:t>효율개선 둘 중에 하나만 선택할 수 있는 경우</a:t>
            </a:r>
            <a:endParaRPr lang="en-US" altLang="ko-KR" u="sng" dirty="0" smtClean="0">
              <a:solidFill>
                <a:srgbClr val="000000"/>
              </a:solidFill>
              <a:ea typeface="굴림" charset="-127"/>
            </a:endParaRPr>
          </a:p>
          <a:p>
            <a:pPr eaLnBrk="1" latinLnBrk="1" hangingPunct="1"/>
            <a:r>
              <a:rPr lang="en-US" altLang="ko-KR" b="0" dirty="0">
                <a:solidFill>
                  <a:srgbClr val="000000"/>
                </a:solidFill>
                <a:ea typeface="굴림" charset="-127"/>
              </a:rPr>
              <a:t> </a:t>
            </a:r>
            <a:r>
              <a:rPr lang="en-US" altLang="ko-KR" b="0" dirty="0" smtClean="0">
                <a:solidFill>
                  <a:srgbClr val="000000"/>
                </a:solidFill>
                <a:ea typeface="굴림" charset="-127"/>
              </a:rPr>
              <a:t>   </a:t>
            </a:r>
            <a:r>
              <a:rPr lang="en-US" altLang="ko-KR" b="0" dirty="0" smtClean="0">
                <a:solidFill>
                  <a:srgbClr val="000000"/>
                </a:solidFill>
                <a:ea typeface="굴림" charset="-127"/>
                <a:sym typeface="Wingdings" panose="05000000000000000000" pitchFamily="2" charset="2"/>
              </a:rPr>
              <a:t>   Integer variable </a:t>
            </a:r>
            <a:r>
              <a:rPr lang="ko-KR" altLang="en-US" b="0" dirty="0" smtClean="0">
                <a:solidFill>
                  <a:srgbClr val="000000"/>
                </a:solidFill>
                <a:ea typeface="굴림" charset="-127"/>
                <a:sym typeface="Wingdings" panose="05000000000000000000" pitchFamily="2" charset="2"/>
              </a:rPr>
              <a:t>필요</a:t>
            </a:r>
            <a:endParaRPr lang="en-US" altLang="ko-KR" b="0" dirty="0" smtClean="0">
              <a:solidFill>
                <a:srgbClr val="000000"/>
              </a:solidFill>
              <a:ea typeface="굴림" charset="-127"/>
            </a:endParaRPr>
          </a:p>
        </p:txBody>
      </p:sp>
      <p:sp>
        <p:nvSpPr>
          <p:cNvPr id="130" name="Text Box 136"/>
          <p:cNvSpPr txBox="1">
            <a:spLocks noChangeArrowheads="1"/>
          </p:cNvSpPr>
          <p:nvPr/>
        </p:nvSpPr>
        <p:spPr bwMode="auto">
          <a:xfrm>
            <a:off x="2810551" y="1960585"/>
            <a:ext cx="13111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charset="-127"/>
              </a:rPr>
              <a:t>dummy for tech A</a:t>
            </a:r>
            <a:endParaRPr lang="en-US" altLang="ko-KR" dirty="0">
              <a:solidFill>
                <a:srgbClr val="000000"/>
              </a:solidFill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72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수리모형화 </a:t>
            </a:r>
            <a:r>
              <a:rPr lang="en-US" altLang="ko-KR" b="0" dirty="0"/>
              <a:t>: </a:t>
            </a:r>
            <a:r>
              <a:rPr lang="en-US" altLang="ko-KR" sz="2400" b="0" dirty="0" smtClean="0"/>
              <a:t>modeling - </a:t>
            </a:r>
            <a:r>
              <a:rPr lang="ko-KR" altLang="en-US" sz="2400" b="0" dirty="0" smtClean="0"/>
              <a:t>특정기술에 효율개선 적용</a:t>
            </a:r>
            <a:r>
              <a:rPr lang="en-US" altLang="ko-KR" sz="2400" b="0" dirty="0" smtClean="0"/>
              <a:t>(3)</a:t>
            </a:r>
            <a:endParaRPr lang="ko-KR" altLang="en-US" b="0" dirty="0"/>
          </a:p>
        </p:txBody>
      </p:sp>
      <p:sp>
        <p:nvSpPr>
          <p:cNvPr id="128" name="내용 개체 틀 2"/>
          <p:cNvSpPr txBox="1">
            <a:spLocks/>
          </p:cNvSpPr>
          <p:nvPr/>
        </p:nvSpPr>
        <p:spPr bwMode="auto">
          <a:xfrm>
            <a:off x="1014941" y="967656"/>
            <a:ext cx="8010525" cy="384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•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»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ko-KR" altLang="en-US" dirty="0" err="1" smtClean="0">
                <a:solidFill>
                  <a:srgbClr val="000000"/>
                </a:solidFill>
                <a:ea typeface="굴림" charset="-127"/>
              </a:rPr>
              <a:t>두개</a:t>
            </a:r>
            <a:r>
              <a:rPr lang="ko-KR" altLang="en-US" dirty="0" smtClean="0">
                <a:solidFill>
                  <a:srgbClr val="000000"/>
                </a:solidFill>
                <a:ea typeface="굴림" charset="-127"/>
              </a:rPr>
              <a:t> 이상의 경쟁기술이 있는 경우</a:t>
            </a:r>
            <a:r>
              <a:rPr lang="en-US" altLang="ko-KR" dirty="0" smtClean="0">
                <a:solidFill>
                  <a:srgbClr val="000000"/>
                </a:solidFill>
                <a:ea typeface="굴림" charset="-127"/>
              </a:rPr>
              <a:t>, </a:t>
            </a:r>
            <a:r>
              <a:rPr lang="ko-KR" altLang="en-US" dirty="0" smtClean="0">
                <a:solidFill>
                  <a:srgbClr val="000000"/>
                </a:solidFill>
                <a:ea typeface="굴림" charset="-127"/>
              </a:rPr>
              <a:t>개별 </a:t>
            </a:r>
            <a:r>
              <a:rPr lang="ko-KR" altLang="en-US" dirty="0" err="1" smtClean="0">
                <a:solidFill>
                  <a:srgbClr val="000000"/>
                </a:solidFill>
                <a:ea typeface="굴림" charset="-127"/>
              </a:rPr>
              <a:t>기술별</a:t>
            </a:r>
            <a:r>
              <a:rPr lang="ko-KR" altLang="en-US" dirty="0" smtClean="0">
                <a:solidFill>
                  <a:srgbClr val="000000"/>
                </a:solidFill>
                <a:ea typeface="굴림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ea typeface="굴림" charset="-127"/>
              </a:rPr>
              <a:t>효율개선 </a:t>
            </a:r>
            <a:r>
              <a:rPr lang="ko-KR" altLang="en-US" dirty="0" smtClean="0">
                <a:solidFill>
                  <a:srgbClr val="000000"/>
                </a:solidFill>
                <a:ea typeface="굴림" charset="-127"/>
              </a:rPr>
              <a:t>도입</a:t>
            </a:r>
            <a:endParaRPr lang="ko-KR" altLang="en-US" b="0" dirty="0"/>
          </a:p>
        </p:txBody>
      </p:sp>
      <p:sp>
        <p:nvSpPr>
          <p:cNvPr id="150" name="Line 223"/>
          <p:cNvSpPr>
            <a:spLocks noChangeShapeType="1"/>
          </p:cNvSpPr>
          <p:nvPr/>
        </p:nvSpPr>
        <p:spPr bwMode="auto">
          <a:xfrm>
            <a:off x="2049929" y="2389498"/>
            <a:ext cx="466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59" name="Text Box 8"/>
          <p:cNvSpPr txBox="1">
            <a:spLocks noChangeArrowheads="1"/>
          </p:cNvSpPr>
          <p:nvPr/>
        </p:nvSpPr>
        <p:spPr bwMode="auto">
          <a:xfrm>
            <a:off x="2054218" y="1250254"/>
            <a:ext cx="970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 smtClean="0">
                <a:solidFill>
                  <a:srgbClr val="000000"/>
                </a:solidFill>
                <a:ea typeface="굴림" charset="-127"/>
              </a:rPr>
              <a:t>energy level</a:t>
            </a:r>
          </a:p>
        </p:txBody>
      </p:sp>
      <p:sp>
        <p:nvSpPr>
          <p:cNvPr id="160" name="Text Box 136"/>
          <p:cNvSpPr txBox="1">
            <a:spLocks noChangeArrowheads="1"/>
          </p:cNvSpPr>
          <p:nvPr/>
        </p:nvSpPr>
        <p:spPr bwMode="auto">
          <a:xfrm>
            <a:off x="2324174" y="1443929"/>
            <a:ext cx="3481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charset="-127"/>
              </a:rPr>
              <a:t>oil</a:t>
            </a:r>
          </a:p>
        </p:txBody>
      </p:sp>
      <p:sp>
        <p:nvSpPr>
          <p:cNvPr id="161" name="Line 236"/>
          <p:cNvSpPr>
            <a:spLocks noChangeShapeType="1"/>
          </p:cNvSpPr>
          <p:nvPr/>
        </p:nvSpPr>
        <p:spPr bwMode="auto">
          <a:xfrm>
            <a:off x="2513005" y="2811893"/>
            <a:ext cx="8572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62" name="Text Box 8"/>
          <p:cNvSpPr txBox="1">
            <a:spLocks noChangeArrowheads="1"/>
          </p:cNvSpPr>
          <p:nvPr/>
        </p:nvSpPr>
        <p:spPr bwMode="auto">
          <a:xfrm>
            <a:off x="4568817" y="1169650"/>
            <a:ext cx="7521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 smtClean="0">
                <a:solidFill>
                  <a:srgbClr val="000000"/>
                </a:solidFill>
                <a:ea typeface="굴림" charset="-127"/>
              </a:rPr>
              <a:t>demand </a:t>
            </a:r>
          </a:p>
        </p:txBody>
      </p:sp>
      <p:sp>
        <p:nvSpPr>
          <p:cNvPr id="163" name="Text Box 136"/>
          <p:cNvSpPr txBox="1">
            <a:spLocks noChangeArrowheads="1"/>
          </p:cNvSpPr>
          <p:nvPr/>
        </p:nvSpPr>
        <p:spPr bwMode="auto">
          <a:xfrm>
            <a:off x="4671125" y="1369749"/>
            <a:ext cx="6912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charset="-127"/>
              </a:rPr>
              <a:t>PJ/year</a:t>
            </a:r>
          </a:p>
        </p:txBody>
      </p:sp>
      <p:sp>
        <p:nvSpPr>
          <p:cNvPr id="164" name="Text Box 247"/>
          <p:cNvSpPr txBox="1">
            <a:spLocks noChangeArrowheads="1"/>
          </p:cNvSpPr>
          <p:nvPr/>
        </p:nvSpPr>
        <p:spPr bwMode="auto">
          <a:xfrm>
            <a:off x="2119779" y="2173598"/>
            <a:ext cx="260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1</a:t>
            </a:r>
          </a:p>
        </p:txBody>
      </p:sp>
      <p:sp>
        <p:nvSpPr>
          <p:cNvPr id="165" name="Text Box 253"/>
          <p:cNvSpPr txBox="1">
            <a:spLocks noChangeArrowheads="1"/>
          </p:cNvSpPr>
          <p:nvPr/>
        </p:nvSpPr>
        <p:spPr bwMode="auto">
          <a:xfrm>
            <a:off x="4148130" y="2562990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90</a:t>
            </a:r>
          </a:p>
        </p:txBody>
      </p:sp>
      <p:sp>
        <p:nvSpPr>
          <p:cNvPr id="166" name="Text Box 262"/>
          <p:cNvSpPr txBox="1">
            <a:spLocks noChangeArrowheads="1"/>
          </p:cNvSpPr>
          <p:nvPr/>
        </p:nvSpPr>
        <p:spPr bwMode="auto">
          <a:xfrm>
            <a:off x="2746785" y="2562656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1</a:t>
            </a:r>
          </a:p>
        </p:txBody>
      </p:sp>
      <p:sp>
        <p:nvSpPr>
          <p:cNvPr id="167" name="Line 271"/>
          <p:cNvSpPr>
            <a:spLocks noChangeShapeType="1"/>
          </p:cNvSpPr>
          <p:nvPr/>
        </p:nvSpPr>
        <p:spPr bwMode="auto">
          <a:xfrm>
            <a:off x="4211441" y="2802368"/>
            <a:ext cx="76044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68" name="Rectangle 7"/>
          <p:cNvSpPr>
            <a:spLocks noChangeArrowheads="1"/>
          </p:cNvSpPr>
          <p:nvPr/>
        </p:nvSpPr>
        <p:spPr bwMode="auto">
          <a:xfrm>
            <a:off x="3373043" y="2613823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rPr>
              <a:t>    demand</a:t>
            </a:r>
          </a:p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kern="0" dirty="0" smtClean="0">
                <a:solidFill>
                  <a:srgbClr val="000000"/>
                </a:solidFill>
                <a:latin typeface="Times New Roman" pitchFamily="18" charset="0"/>
              </a:rPr>
              <a:t>technology B</a:t>
            </a:r>
            <a:endParaRPr kumimoji="1" lang="en-US" altLang="ko-KR" sz="1000" b="0" kern="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3373641" y="2607644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FF0000"/>
                </a:solidFill>
              </a:rPr>
              <a:t>3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70" name="Rectangle 7"/>
          <p:cNvSpPr>
            <a:spLocks noChangeArrowheads="1"/>
          </p:cNvSpPr>
          <p:nvPr/>
        </p:nvSpPr>
        <p:spPr bwMode="auto">
          <a:xfrm>
            <a:off x="1206856" y="2223351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R="0" lvl="0" indent="8890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kern="0" dirty="0">
                <a:solidFill>
                  <a:srgbClr val="000000"/>
                </a:solidFill>
                <a:latin typeface="Times New Roman" pitchFamily="18" charset="0"/>
                <a:ea typeface="굴림" charset="-127"/>
              </a:rPr>
              <a:t>oil carrier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206856" y="2226410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 smtClean="0">
                <a:solidFill>
                  <a:srgbClr val="FF0000"/>
                </a:solidFill>
              </a:rPr>
              <a:t>1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72" name="Line 243"/>
          <p:cNvSpPr>
            <a:spLocks noChangeShapeType="1"/>
          </p:cNvSpPr>
          <p:nvPr/>
        </p:nvSpPr>
        <p:spPr bwMode="auto">
          <a:xfrm>
            <a:off x="2513005" y="1747935"/>
            <a:ext cx="0" cy="1377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73" name="Line 243"/>
          <p:cNvSpPr>
            <a:spLocks noChangeShapeType="1"/>
          </p:cNvSpPr>
          <p:nvPr/>
        </p:nvSpPr>
        <p:spPr bwMode="auto">
          <a:xfrm>
            <a:off x="4967991" y="1747935"/>
            <a:ext cx="0" cy="1377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74" name="Line 223"/>
          <p:cNvSpPr>
            <a:spLocks noChangeShapeType="1"/>
          </p:cNvSpPr>
          <p:nvPr/>
        </p:nvSpPr>
        <p:spPr bwMode="auto">
          <a:xfrm>
            <a:off x="1988561" y="4906789"/>
            <a:ext cx="466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75" name="Text Box 8"/>
          <p:cNvSpPr txBox="1">
            <a:spLocks noChangeArrowheads="1"/>
          </p:cNvSpPr>
          <p:nvPr/>
        </p:nvSpPr>
        <p:spPr bwMode="auto">
          <a:xfrm>
            <a:off x="1992850" y="3446705"/>
            <a:ext cx="970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 smtClean="0">
                <a:solidFill>
                  <a:srgbClr val="000000"/>
                </a:solidFill>
                <a:ea typeface="굴림" charset="-127"/>
              </a:rPr>
              <a:t>energy level</a:t>
            </a:r>
          </a:p>
        </p:txBody>
      </p:sp>
      <p:sp>
        <p:nvSpPr>
          <p:cNvPr id="176" name="Text Box 136"/>
          <p:cNvSpPr txBox="1">
            <a:spLocks noChangeArrowheads="1"/>
          </p:cNvSpPr>
          <p:nvPr/>
        </p:nvSpPr>
        <p:spPr bwMode="auto">
          <a:xfrm>
            <a:off x="2262806" y="3640380"/>
            <a:ext cx="3481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charset="-127"/>
              </a:rPr>
              <a:t>oil</a:t>
            </a:r>
          </a:p>
        </p:txBody>
      </p:sp>
      <p:sp>
        <p:nvSpPr>
          <p:cNvPr id="177" name="Line 236"/>
          <p:cNvSpPr>
            <a:spLocks noChangeShapeType="1"/>
          </p:cNvSpPr>
          <p:nvPr/>
        </p:nvSpPr>
        <p:spPr bwMode="auto">
          <a:xfrm>
            <a:off x="2451637" y="4543126"/>
            <a:ext cx="8572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78" name="Text Box 8"/>
          <p:cNvSpPr txBox="1">
            <a:spLocks noChangeArrowheads="1"/>
          </p:cNvSpPr>
          <p:nvPr/>
        </p:nvSpPr>
        <p:spPr bwMode="auto">
          <a:xfrm>
            <a:off x="4789140" y="3412416"/>
            <a:ext cx="7521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 smtClean="0">
                <a:solidFill>
                  <a:srgbClr val="000000"/>
                </a:solidFill>
                <a:ea typeface="굴림" charset="-127"/>
              </a:rPr>
              <a:t>demand </a:t>
            </a:r>
          </a:p>
        </p:txBody>
      </p:sp>
      <p:sp>
        <p:nvSpPr>
          <p:cNvPr id="179" name="Text Box 136"/>
          <p:cNvSpPr txBox="1">
            <a:spLocks noChangeArrowheads="1"/>
          </p:cNvSpPr>
          <p:nvPr/>
        </p:nvSpPr>
        <p:spPr bwMode="auto">
          <a:xfrm>
            <a:off x="4805431" y="3626553"/>
            <a:ext cx="6912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charset="-127"/>
              </a:rPr>
              <a:t>PJ/year</a:t>
            </a:r>
          </a:p>
        </p:txBody>
      </p:sp>
      <p:sp>
        <p:nvSpPr>
          <p:cNvPr id="180" name="Text Box 247"/>
          <p:cNvSpPr txBox="1">
            <a:spLocks noChangeArrowheads="1"/>
          </p:cNvSpPr>
          <p:nvPr/>
        </p:nvSpPr>
        <p:spPr bwMode="auto">
          <a:xfrm>
            <a:off x="2058411" y="4714952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1</a:t>
            </a:r>
          </a:p>
        </p:txBody>
      </p:sp>
      <p:sp>
        <p:nvSpPr>
          <p:cNvPr id="181" name="Text Box 253"/>
          <p:cNvSpPr txBox="1">
            <a:spLocks noChangeArrowheads="1"/>
          </p:cNvSpPr>
          <p:nvPr/>
        </p:nvSpPr>
        <p:spPr bwMode="auto">
          <a:xfrm>
            <a:off x="4323830" y="4294223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100</a:t>
            </a:r>
          </a:p>
        </p:txBody>
      </p:sp>
      <p:sp>
        <p:nvSpPr>
          <p:cNvPr id="182" name="Text Box 262"/>
          <p:cNvSpPr txBox="1">
            <a:spLocks noChangeArrowheads="1"/>
          </p:cNvSpPr>
          <p:nvPr/>
        </p:nvSpPr>
        <p:spPr bwMode="auto">
          <a:xfrm>
            <a:off x="2685417" y="4293889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1</a:t>
            </a:r>
          </a:p>
        </p:txBody>
      </p:sp>
      <p:sp>
        <p:nvSpPr>
          <p:cNvPr id="183" name="Line 271"/>
          <p:cNvSpPr>
            <a:spLocks noChangeShapeType="1"/>
          </p:cNvSpPr>
          <p:nvPr/>
        </p:nvSpPr>
        <p:spPr bwMode="auto">
          <a:xfrm>
            <a:off x="4387141" y="4533601"/>
            <a:ext cx="76044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84" name="Rectangle 7"/>
          <p:cNvSpPr>
            <a:spLocks noChangeArrowheads="1"/>
          </p:cNvSpPr>
          <p:nvPr/>
        </p:nvSpPr>
        <p:spPr bwMode="auto">
          <a:xfrm>
            <a:off x="3311675" y="4345056"/>
            <a:ext cx="108178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rPr>
              <a:t>    demand</a:t>
            </a:r>
          </a:p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kern="0" dirty="0" smtClean="0">
                <a:solidFill>
                  <a:srgbClr val="000000"/>
                </a:solidFill>
                <a:latin typeface="Times New Roman" pitchFamily="18" charset="0"/>
              </a:rPr>
              <a:t>technology A</a:t>
            </a:r>
            <a:endParaRPr kumimoji="1" lang="en-US" altLang="ko-KR" sz="1000" b="0" kern="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3312789" y="4346192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 smtClean="0">
                <a:solidFill>
                  <a:srgbClr val="FF0000"/>
                </a:solidFill>
              </a:rPr>
              <a:t>2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86" name="Rectangle 7"/>
          <p:cNvSpPr>
            <a:spLocks noChangeArrowheads="1"/>
          </p:cNvSpPr>
          <p:nvPr/>
        </p:nvSpPr>
        <p:spPr bwMode="auto">
          <a:xfrm>
            <a:off x="1145488" y="4820852"/>
            <a:ext cx="828675" cy="364242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R="0" lvl="0" indent="8890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kern="0" dirty="0">
                <a:solidFill>
                  <a:srgbClr val="000000"/>
                </a:solidFill>
                <a:latin typeface="Times New Roman" pitchFamily="18" charset="0"/>
                <a:ea typeface="굴림" charset="-127"/>
              </a:rPr>
              <a:t>oil carrier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45488" y="4817112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 smtClean="0">
                <a:solidFill>
                  <a:srgbClr val="FF0000"/>
                </a:solidFill>
              </a:rPr>
              <a:t>1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88" name="Line 243"/>
          <p:cNvSpPr>
            <a:spLocks noChangeShapeType="1"/>
          </p:cNvSpPr>
          <p:nvPr/>
        </p:nvSpPr>
        <p:spPr bwMode="auto">
          <a:xfrm flipH="1">
            <a:off x="2445303" y="3892839"/>
            <a:ext cx="3522" cy="19917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90" name="Text Box 253"/>
          <p:cNvSpPr txBox="1">
            <a:spLocks noChangeArrowheads="1"/>
          </p:cNvSpPr>
          <p:nvPr/>
        </p:nvSpPr>
        <p:spPr bwMode="auto">
          <a:xfrm>
            <a:off x="4333553" y="4790330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5</a:t>
            </a:r>
          </a:p>
        </p:txBody>
      </p:sp>
      <p:sp>
        <p:nvSpPr>
          <p:cNvPr id="191" name="Text Box 262"/>
          <p:cNvSpPr txBox="1">
            <a:spLocks noChangeArrowheads="1"/>
          </p:cNvSpPr>
          <p:nvPr/>
        </p:nvSpPr>
        <p:spPr bwMode="auto">
          <a:xfrm>
            <a:off x="2695140" y="4789996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1</a:t>
            </a:r>
          </a:p>
        </p:txBody>
      </p:sp>
      <p:sp>
        <p:nvSpPr>
          <p:cNvPr id="192" name="Line 271"/>
          <p:cNvSpPr>
            <a:spLocks noChangeShapeType="1"/>
          </p:cNvSpPr>
          <p:nvPr/>
        </p:nvSpPr>
        <p:spPr bwMode="auto">
          <a:xfrm>
            <a:off x="4396864" y="5029708"/>
            <a:ext cx="76044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93" name="Rectangle 7"/>
          <p:cNvSpPr>
            <a:spLocks noChangeArrowheads="1"/>
          </p:cNvSpPr>
          <p:nvPr/>
        </p:nvSpPr>
        <p:spPr bwMode="auto">
          <a:xfrm>
            <a:off x="3321398" y="4841163"/>
            <a:ext cx="1071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rPr>
              <a:t>    </a:t>
            </a:r>
            <a:r>
              <a:rPr kumimoji="1" lang="en-US" altLang="ko-KR" sz="1000" b="0" kern="0" dirty="0" smtClean="0">
                <a:solidFill>
                  <a:srgbClr val="000000"/>
                </a:solidFill>
                <a:latin typeface="Times New Roman" pitchFamily="18" charset="0"/>
              </a:rPr>
              <a:t>efficiency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charset="-127"/>
            </a:endParaRPr>
          </a:p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kern="0" dirty="0" smtClean="0">
                <a:solidFill>
                  <a:srgbClr val="000000"/>
                </a:solidFill>
                <a:latin typeface="Times New Roman" pitchFamily="18" charset="0"/>
              </a:rPr>
              <a:t>improvement A</a:t>
            </a:r>
            <a:endParaRPr kumimoji="1" lang="en-US" altLang="ko-KR" sz="1000" b="0" kern="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3321996" y="4841783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 smtClean="0">
                <a:solidFill>
                  <a:srgbClr val="FF0000"/>
                </a:solidFill>
              </a:rPr>
              <a:t>3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cxnSp>
        <p:nvCxnSpPr>
          <p:cNvPr id="195" name="직선 화살표 연결선 194"/>
          <p:cNvCxnSpPr/>
          <p:nvPr/>
        </p:nvCxnSpPr>
        <p:spPr bwMode="auto">
          <a:xfrm flipV="1">
            <a:off x="2597315" y="5011794"/>
            <a:ext cx="723075" cy="819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6" name="Line 223"/>
          <p:cNvSpPr>
            <a:spLocks noChangeShapeType="1"/>
          </p:cNvSpPr>
          <p:nvPr/>
        </p:nvSpPr>
        <p:spPr bwMode="auto">
          <a:xfrm flipV="1">
            <a:off x="1981207" y="5114246"/>
            <a:ext cx="617252" cy="318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97" name="Text Box 247"/>
          <p:cNvSpPr txBox="1">
            <a:spLocks noChangeArrowheads="1"/>
          </p:cNvSpPr>
          <p:nvPr/>
        </p:nvSpPr>
        <p:spPr bwMode="auto">
          <a:xfrm>
            <a:off x="2054218" y="4938873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1</a:t>
            </a:r>
          </a:p>
        </p:txBody>
      </p:sp>
      <p:sp>
        <p:nvSpPr>
          <p:cNvPr id="198" name="Line 236"/>
          <p:cNvSpPr>
            <a:spLocks noChangeShapeType="1"/>
          </p:cNvSpPr>
          <p:nvPr/>
        </p:nvSpPr>
        <p:spPr bwMode="auto">
          <a:xfrm>
            <a:off x="2521027" y="2090004"/>
            <a:ext cx="8572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199" name="Text Box 253"/>
          <p:cNvSpPr txBox="1">
            <a:spLocks noChangeArrowheads="1"/>
          </p:cNvSpPr>
          <p:nvPr/>
        </p:nvSpPr>
        <p:spPr bwMode="auto">
          <a:xfrm>
            <a:off x="4156152" y="1841101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100</a:t>
            </a:r>
          </a:p>
        </p:txBody>
      </p:sp>
      <p:sp>
        <p:nvSpPr>
          <p:cNvPr id="200" name="Text Box 262"/>
          <p:cNvSpPr txBox="1">
            <a:spLocks noChangeArrowheads="1"/>
          </p:cNvSpPr>
          <p:nvPr/>
        </p:nvSpPr>
        <p:spPr bwMode="auto">
          <a:xfrm>
            <a:off x="2754807" y="1840767"/>
            <a:ext cx="2616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1</a:t>
            </a:r>
          </a:p>
        </p:txBody>
      </p:sp>
      <p:sp>
        <p:nvSpPr>
          <p:cNvPr id="201" name="Line 271"/>
          <p:cNvSpPr>
            <a:spLocks noChangeShapeType="1"/>
          </p:cNvSpPr>
          <p:nvPr/>
        </p:nvSpPr>
        <p:spPr bwMode="auto">
          <a:xfrm>
            <a:off x="4219463" y="2080479"/>
            <a:ext cx="76044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202" name="Rectangle 7"/>
          <p:cNvSpPr>
            <a:spLocks noChangeArrowheads="1"/>
          </p:cNvSpPr>
          <p:nvPr/>
        </p:nvSpPr>
        <p:spPr bwMode="auto">
          <a:xfrm>
            <a:off x="3381065" y="1891934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rPr>
              <a:t>    demand</a:t>
            </a:r>
          </a:p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kern="0" dirty="0" smtClean="0">
                <a:solidFill>
                  <a:srgbClr val="000000"/>
                </a:solidFill>
                <a:latin typeface="Times New Roman" pitchFamily="18" charset="0"/>
              </a:rPr>
              <a:t>technology A</a:t>
            </a:r>
            <a:endParaRPr kumimoji="1" lang="en-US" altLang="ko-KR" sz="1000" b="0" kern="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3381663" y="1893070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 smtClean="0">
                <a:solidFill>
                  <a:srgbClr val="FF0000"/>
                </a:solidFill>
              </a:rPr>
              <a:t>2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04" name="Line 243"/>
          <p:cNvSpPr>
            <a:spLocks noChangeShapeType="1"/>
          </p:cNvSpPr>
          <p:nvPr/>
        </p:nvSpPr>
        <p:spPr bwMode="auto">
          <a:xfrm flipH="1">
            <a:off x="2597584" y="4045238"/>
            <a:ext cx="3641" cy="21655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205" name="Line 236"/>
          <p:cNvSpPr>
            <a:spLocks noChangeShapeType="1"/>
          </p:cNvSpPr>
          <p:nvPr/>
        </p:nvSpPr>
        <p:spPr bwMode="auto">
          <a:xfrm>
            <a:off x="2459659" y="5569815"/>
            <a:ext cx="8572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206" name="Text Box 253"/>
          <p:cNvSpPr txBox="1">
            <a:spLocks noChangeArrowheads="1"/>
          </p:cNvSpPr>
          <p:nvPr/>
        </p:nvSpPr>
        <p:spPr bwMode="auto">
          <a:xfrm>
            <a:off x="4331852" y="5320912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90</a:t>
            </a:r>
          </a:p>
        </p:txBody>
      </p:sp>
      <p:sp>
        <p:nvSpPr>
          <p:cNvPr id="207" name="Text Box 262"/>
          <p:cNvSpPr txBox="1">
            <a:spLocks noChangeArrowheads="1"/>
          </p:cNvSpPr>
          <p:nvPr/>
        </p:nvSpPr>
        <p:spPr bwMode="auto">
          <a:xfrm>
            <a:off x="2693439" y="5320578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1</a:t>
            </a:r>
          </a:p>
        </p:txBody>
      </p:sp>
      <p:sp>
        <p:nvSpPr>
          <p:cNvPr id="208" name="Line 271"/>
          <p:cNvSpPr>
            <a:spLocks noChangeShapeType="1"/>
          </p:cNvSpPr>
          <p:nvPr/>
        </p:nvSpPr>
        <p:spPr bwMode="auto">
          <a:xfrm>
            <a:off x="4395163" y="5560290"/>
            <a:ext cx="76044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209" name="Rectangle 7"/>
          <p:cNvSpPr>
            <a:spLocks noChangeArrowheads="1"/>
          </p:cNvSpPr>
          <p:nvPr/>
        </p:nvSpPr>
        <p:spPr bwMode="auto">
          <a:xfrm>
            <a:off x="3319697" y="5371745"/>
            <a:ext cx="1071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rPr>
              <a:t>    demand</a:t>
            </a:r>
          </a:p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kern="0" dirty="0" smtClean="0">
                <a:solidFill>
                  <a:srgbClr val="000000"/>
                </a:solidFill>
                <a:latin typeface="Times New Roman" pitchFamily="18" charset="0"/>
              </a:rPr>
              <a:t>technology B</a:t>
            </a:r>
            <a:endParaRPr kumimoji="1" lang="en-US" altLang="ko-KR" sz="1000" b="0" kern="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3320295" y="5363898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 smtClean="0">
                <a:solidFill>
                  <a:srgbClr val="FF0000"/>
                </a:solidFill>
              </a:rPr>
              <a:t>4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11" name="Text Box 253"/>
          <p:cNvSpPr txBox="1">
            <a:spLocks noChangeArrowheads="1"/>
          </p:cNvSpPr>
          <p:nvPr/>
        </p:nvSpPr>
        <p:spPr bwMode="auto">
          <a:xfrm>
            <a:off x="4341575" y="5817019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4</a:t>
            </a:r>
          </a:p>
        </p:txBody>
      </p:sp>
      <p:sp>
        <p:nvSpPr>
          <p:cNvPr id="212" name="Text Box 262"/>
          <p:cNvSpPr txBox="1">
            <a:spLocks noChangeArrowheads="1"/>
          </p:cNvSpPr>
          <p:nvPr/>
        </p:nvSpPr>
        <p:spPr bwMode="auto">
          <a:xfrm>
            <a:off x="2703162" y="5816685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돋움" pitchFamily="50" charset="-127"/>
              </a:rPr>
              <a:t>1</a:t>
            </a:r>
          </a:p>
        </p:txBody>
      </p:sp>
      <p:sp>
        <p:nvSpPr>
          <p:cNvPr id="213" name="Rectangle 7"/>
          <p:cNvSpPr>
            <a:spLocks noChangeArrowheads="1"/>
          </p:cNvSpPr>
          <p:nvPr/>
        </p:nvSpPr>
        <p:spPr bwMode="auto">
          <a:xfrm>
            <a:off x="3329420" y="5867852"/>
            <a:ext cx="1065743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rPr>
              <a:t>    </a:t>
            </a:r>
            <a:r>
              <a:rPr kumimoji="1" lang="en-US" altLang="ko-KR" sz="1000" b="0" kern="0" dirty="0" smtClean="0">
                <a:solidFill>
                  <a:srgbClr val="000000"/>
                </a:solidFill>
                <a:latin typeface="Times New Roman" pitchFamily="18" charset="0"/>
              </a:rPr>
              <a:t>efficiency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굴림" charset="-127"/>
            </a:endParaRPr>
          </a:p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1000" b="0" kern="0" dirty="0" smtClean="0">
                <a:solidFill>
                  <a:srgbClr val="000000"/>
                </a:solidFill>
                <a:latin typeface="Times New Roman" pitchFamily="18" charset="0"/>
              </a:rPr>
              <a:t>improvement B</a:t>
            </a:r>
            <a:endParaRPr kumimoji="1" lang="en-US" altLang="ko-KR" sz="1000" b="0" kern="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3330018" y="5868472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FF0000"/>
                </a:solidFill>
              </a:rPr>
              <a:t>5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cxnSp>
        <p:nvCxnSpPr>
          <p:cNvPr id="215" name="직선 화살표 연결선 214"/>
          <p:cNvCxnSpPr>
            <a:endCxn id="213" idx="1"/>
          </p:cNvCxnSpPr>
          <p:nvPr/>
        </p:nvCxnSpPr>
        <p:spPr bwMode="auto">
          <a:xfrm>
            <a:off x="2597315" y="6037017"/>
            <a:ext cx="732105" cy="228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직사각형 215"/>
              <p:cNvSpPr/>
              <p:nvPr/>
            </p:nvSpPr>
            <p:spPr>
              <a:xfrm>
                <a:off x="5806840" y="4446439"/>
                <a:ext cx="643509" cy="2480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6" name="직사각형 2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840" y="4446439"/>
                <a:ext cx="643509" cy="248017"/>
              </a:xfrm>
              <a:prstGeom prst="rect">
                <a:avLst/>
              </a:prstGeom>
              <a:blipFill rotWithShape="0">
                <a:blip r:embed="rId2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직사각형 216"/>
              <p:cNvSpPr/>
              <p:nvPr/>
            </p:nvSpPr>
            <p:spPr>
              <a:xfrm>
                <a:off x="5824553" y="4745907"/>
                <a:ext cx="643317" cy="2503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7" name="직사각형 2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553" y="4745907"/>
                <a:ext cx="643317" cy="250390"/>
              </a:xfrm>
              <a:prstGeom prst="rect">
                <a:avLst/>
              </a:prstGeom>
              <a:blipFill rotWithShape="0">
                <a:blip r:embed="rId3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Text Box 8"/>
          <p:cNvSpPr txBox="1">
            <a:spLocks noChangeArrowheads="1"/>
          </p:cNvSpPr>
          <p:nvPr/>
        </p:nvSpPr>
        <p:spPr bwMode="auto">
          <a:xfrm>
            <a:off x="5553055" y="4140000"/>
            <a:ext cx="36455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 smtClean="0">
                <a:solidFill>
                  <a:srgbClr val="000000"/>
                </a:solidFill>
                <a:ea typeface="굴림" charset="-127"/>
              </a:rPr>
              <a:t>2) dependency constraint </a:t>
            </a:r>
            <a:r>
              <a:rPr lang="ko-KR" altLang="en-US" u="sng" dirty="0" smtClean="0">
                <a:solidFill>
                  <a:srgbClr val="000000"/>
                </a:solidFill>
                <a:ea typeface="굴림" charset="-127"/>
              </a:rPr>
              <a:t>를 이용한 종속된 기술처리</a:t>
            </a:r>
            <a:endParaRPr lang="en-US" altLang="ko-KR" u="sng" dirty="0" smtClean="0">
              <a:solidFill>
                <a:srgbClr val="000000"/>
              </a:solidFill>
              <a:ea typeface="굴림" charset="-127"/>
            </a:endParaRPr>
          </a:p>
        </p:txBody>
      </p:sp>
      <p:sp>
        <p:nvSpPr>
          <p:cNvPr id="219" name="Text Box 8"/>
          <p:cNvSpPr txBox="1">
            <a:spLocks noChangeArrowheads="1"/>
          </p:cNvSpPr>
          <p:nvPr/>
        </p:nvSpPr>
        <p:spPr bwMode="auto">
          <a:xfrm>
            <a:off x="5528992" y="3808960"/>
            <a:ext cx="28793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 smtClean="0">
                <a:solidFill>
                  <a:srgbClr val="000000"/>
                </a:solidFill>
                <a:ea typeface="굴림" charset="-127"/>
              </a:rPr>
              <a:t>1) </a:t>
            </a:r>
            <a:r>
              <a:rPr lang="ko-KR" altLang="en-US" u="sng" dirty="0" err="1" smtClean="0">
                <a:solidFill>
                  <a:srgbClr val="000000"/>
                </a:solidFill>
                <a:ea typeface="굴림" charset="-127"/>
              </a:rPr>
              <a:t>비례성을</a:t>
            </a:r>
            <a:r>
              <a:rPr lang="ko-KR" altLang="en-US" u="sng" dirty="0" smtClean="0">
                <a:solidFill>
                  <a:srgbClr val="000000"/>
                </a:solidFill>
                <a:ea typeface="굴림" charset="-127"/>
              </a:rPr>
              <a:t> 이용한 </a:t>
            </a:r>
            <a:r>
              <a:rPr lang="en-US" altLang="ko-KR" u="sng" dirty="0" smtClean="0">
                <a:solidFill>
                  <a:srgbClr val="000000"/>
                </a:solidFill>
                <a:ea typeface="굴림" charset="-127"/>
              </a:rPr>
              <a:t>dummy form</a:t>
            </a:r>
            <a:r>
              <a:rPr lang="ko-KR" altLang="en-US" u="sng" dirty="0" smtClean="0">
                <a:solidFill>
                  <a:srgbClr val="000000"/>
                </a:solidFill>
                <a:ea typeface="굴림" charset="-127"/>
              </a:rPr>
              <a:t>의 도입</a:t>
            </a:r>
            <a:endParaRPr lang="en-US" altLang="ko-KR" u="sng" dirty="0" smtClean="0">
              <a:solidFill>
                <a:srgbClr val="000000"/>
              </a:solidFill>
              <a:ea typeface="굴림" charset="-127"/>
            </a:endParaRPr>
          </a:p>
        </p:txBody>
      </p:sp>
      <p:sp>
        <p:nvSpPr>
          <p:cNvPr id="220" name="Line 243"/>
          <p:cNvSpPr>
            <a:spLocks noChangeShapeType="1"/>
          </p:cNvSpPr>
          <p:nvPr/>
        </p:nvSpPr>
        <p:spPr bwMode="auto">
          <a:xfrm>
            <a:off x="5138998" y="4045238"/>
            <a:ext cx="4799" cy="217874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221" name="Line 271"/>
          <p:cNvSpPr>
            <a:spLocks noChangeShapeType="1"/>
          </p:cNvSpPr>
          <p:nvPr/>
        </p:nvSpPr>
        <p:spPr bwMode="auto">
          <a:xfrm>
            <a:off x="4393460" y="6037017"/>
            <a:ext cx="76044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돋움" pitchFamily="50" charset="-127"/>
            </a:endParaRPr>
          </a:p>
        </p:txBody>
      </p:sp>
      <p:sp>
        <p:nvSpPr>
          <p:cNvPr id="222" name="Text Box 136"/>
          <p:cNvSpPr txBox="1">
            <a:spLocks noChangeArrowheads="1"/>
          </p:cNvSpPr>
          <p:nvPr/>
        </p:nvSpPr>
        <p:spPr bwMode="auto">
          <a:xfrm>
            <a:off x="2479961" y="3797460"/>
            <a:ext cx="13111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charset="-127"/>
              </a:rPr>
              <a:t>dummy for tech A</a:t>
            </a:r>
            <a:endParaRPr lang="en-US" altLang="ko-KR" dirty="0">
              <a:solidFill>
                <a:srgbClr val="000000"/>
              </a:solidFill>
              <a:ea typeface="굴림" charset="-127"/>
            </a:endParaRPr>
          </a:p>
        </p:txBody>
      </p:sp>
      <p:sp>
        <p:nvSpPr>
          <p:cNvPr id="223" name="Text Box 8"/>
          <p:cNvSpPr txBox="1">
            <a:spLocks noChangeArrowheads="1"/>
          </p:cNvSpPr>
          <p:nvPr/>
        </p:nvSpPr>
        <p:spPr bwMode="auto">
          <a:xfrm>
            <a:off x="5723142" y="5355020"/>
            <a:ext cx="32367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ko-KR" altLang="en-US" u="sng" dirty="0" smtClean="0">
                <a:solidFill>
                  <a:srgbClr val="000000"/>
                </a:solidFill>
                <a:ea typeface="굴림" charset="-127"/>
              </a:rPr>
              <a:t>변형</a:t>
            </a:r>
            <a:r>
              <a:rPr lang="en-US" altLang="ko-KR" u="sng" dirty="0" smtClean="0">
                <a:solidFill>
                  <a:srgbClr val="000000"/>
                </a:solidFill>
                <a:ea typeface="굴림" charset="-127"/>
              </a:rPr>
              <a:t>) </a:t>
            </a:r>
            <a:r>
              <a:rPr lang="ko-KR" altLang="en-US" u="sng" dirty="0" err="1" smtClean="0">
                <a:solidFill>
                  <a:srgbClr val="000000"/>
                </a:solidFill>
                <a:ea typeface="굴림" charset="-127"/>
              </a:rPr>
              <a:t>기술별</a:t>
            </a:r>
            <a:r>
              <a:rPr lang="ko-KR" altLang="en-US" u="sng" dirty="0" smtClean="0">
                <a:solidFill>
                  <a:srgbClr val="000000"/>
                </a:solidFill>
                <a:ea typeface="굴림" charset="-127"/>
              </a:rPr>
              <a:t> 효율개선 기술의 </a:t>
            </a:r>
            <a:r>
              <a:rPr lang="en-US" altLang="ko-KR" u="sng" dirty="0" smtClean="0">
                <a:solidFill>
                  <a:srgbClr val="000000"/>
                </a:solidFill>
                <a:ea typeface="굴림" charset="-127"/>
              </a:rPr>
              <a:t>pairing</a:t>
            </a:r>
          </a:p>
          <a:p>
            <a:pPr eaLnBrk="1" latinLnBrk="1" hangingPunct="1"/>
            <a:r>
              <a:rPr lang="en-US" altLang="ko-KR" b="0" dirty="0" smtClean="0">
                <a:solidFill>
                  <a:srgbClr val="000000"/>
                </a:solidFill>
                <a:ea typeface="굴림" charset="-127"/>
                <a:sym typeface="Wingdings" panose="05000000000000000000" pitchFamily="2" charset="2"/>
              </a:rPr>
              <a:t>  demand technology </a:t>
            </a:r>
            <a:r>
              <a:rPr lang="en-US" altLang="ko-KR" b="0" dirty="0" smtClean="0">
                <a:solidFill>
                  <a:srgbClr val="000000"/>
                </a:solidFill>
                <a:ea typeface="굴림" charset="-127"/>
                <a:sym typeface="Symbol" panose="05050102010706020507" pitchFamily="18" charset="2"/>
              </a:rPr>
              <a:t> efficiency technology</a:t>
            </a:r>
            <a:endParaRPr lang="en-US" altLang="ko-KR" b="0" dirty="0" smtClean="0">
              <a:solidFill>
                <a:srgbClr val="000000"/>
              </a:solidFill>
              <a:ea typeface="굴림" charset="-127"/>
            </a:endParaRPr>
          </a:p>
        </p:txBody>
      </p:sp>
      <p:sp>
        <p:nvSpPr>
          <p:cNvPr id="69" name="Text Box 136"/>
          <p:cNvSpPr txBox="1">
            <a:spLocks noChangeArrowheads="1"/>
          </p:cNvSpPr>
          <p:nvPr/>
        </p:nvSpPr>
        <p:spPr bwMode="auto">
          <a:xfrm>
            <a:off x="3674473" y="3118215"/>
            <a:ext cx="3561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charset="-127"/>
              </a:rPr>
              <a:t>(a)</a:t>
            </a:r>
          </a:p>
        </p:txBody>
      </p:sp>
      <p:sp>
        <p:nvSpPr>
          <p:cNvPr id="70" name="Text Box 136"/>
          <p:cNvSpPr txBox="1">
            <a:spLocks noChangeArrowheads="1"/>
          </p:cNvSpPr>
          <p:nvPr/>
        </p:nvSpPr>
        <p:spPr bwMode="auto">
          <a:xfrm>
            <a:off x="3674473" y="6270350"/>
            <a:ext cx="3642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charset="-127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183488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수송 부문 </a:t>
            </a:r>
            <a:r>
              <a:rPr lang="en-US" altLang="ko-KR" b="0" dirty="0" smtClean="0"/>
              <a:t>: 2020 MESSAGE Modeling</a:t>
            </a:r>
            <a:r>
              <a:rPr lang="ko-KR" altLang="en-US" b="0" dirty="0" smtClean="0"/>
              <a:t>의</a:t>
            </a:r>
            <a:r>
              <a:rPr lang="en-US" altLang="ko-KR" b="0" dirty="0" smtClean="0"/>
              <a:t> </a:t>
            </a:r>
            <a:r>
              <a:rPr lang="ko-KR" altLang="en-US" b="0" dirty="0" smtClean="0"/>
              <a:t>범위</a:t>
            </a:r>
          </a:p>
        </p:txBody>
      </p:sp>
      <p:sp>
        <p:nvSpPr>
          <p:cNvPr id="614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hangingPunct="1"/>
            <a:r>
              <a:rPr lang="en-US" altLang="ko-KR" sz="1400" smtClean="0">
                <a:latin typeface="Arial" charset="0"/>
              </a:rPr>
              <a:t> </a:t>
            </a:r>
            <a:fld id="{A92EEEEB-9395-403E-A6BA-8B07E514D907}" type="slidenum">
              <a:rPr lang="en-US" altLang="ko-KR" sz="1400" smtClean="0">
                <a:latin typeface="Arial" charset="0"/>
              </a:rPr>
              <a:pPr eaLnBrk="1" hangingPunct="1"/>
              <a:t>41</a:t>
            </a:fld>
            <a:endParaRPr lang="en-US" altLang="ko-KR" sz="1400" smtClean="0">
              <a:latin typeface="Arial" charset="0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551621" y="1548200"/>
          <a:ext cx="3087758" cy="4415620"/>
        </p:xfrm>
        <a:graphic>
          <a:graphicData uri="http://schemas.openxmlformats.org/drawingml/2006/table">
            <a:tbl>
              <a:tblPr/>
              <a:tblGrid>
                <a:gridCol w="972379"/>
                <a:gridCol w="2115379"/>
              </a:tblGrid>
              <a:tr h="20071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중분류</a:t>
                      </a: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소분류</a:t>
                      </a: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200710">
                <a:tc rowSpan="4"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휘발유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경차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(800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CC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미만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소형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(1500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cc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미만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중형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(1500cc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이상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~2000CC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미만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대형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(2000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CC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이상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rowSpan="4"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LPG)</a:t>
                      </a: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경차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(800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CC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미만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소형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(1500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cc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미만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중형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(1500cc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이상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~2000CC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미만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대형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(2000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CC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이상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rowSpan="3"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경유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소형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(1500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cc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미만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중형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(1500cc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이상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~2000CC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미만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대형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(2000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CC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이상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rowSpan="6"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돋움"/>
                        </a:rPr>
                        <a:t>MPV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중형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경유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중형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LPG)</a:t>
                      </a: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중형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휘발유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대형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경유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대형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LPG)</a:t>
                      </a: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대형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휘발유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기타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돋움"/>
                        </a:rPr>
                        <a:t>LPG　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rowSpan="3"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렌터카　</a:t>
                      </a: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휘발유</a:t>
                      </a: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돋움"/>
                        </a:rPr>
                        <a:t>LPG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7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경유</a:t>
                      </a:r>
                    </a:p>
                  </a:txBody>
                  <a:tcPr marL="62713" marR="62713" marT="31357" marB="3135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3973525" y="1548200"/>
          <a:ext cx="2146300" cy="2423160"/>
        </p:xfrm>
        <a:graphic>
          <a:graphicData uri="http://schemas.openxmlformats.org/drawingml/2006/table">
            <a:tbl>
              <a:tblPr/>
              <a:tblGrid>
                <a:gridCol w="1073150"/>
                <a:gridCol w="1073150"/>
              </a:tblGrid>
              <a:tr h="2751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중분류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소분류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23583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택시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LPG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837">
                <a:tc rowSpan="4"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자가 버스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휘발유</a:t>
                      </a: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effectLst/>
                        <a:latin typeface="돋움"/>
                        <a:ea typeface="+mn-ea"/>
                        <a:cs typeface="+mn-cs"/>
                      </a:endParaRP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8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경유</a:t>
                      </a: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effectLst/>
                        <a:latin typeface="돋움"/>
                        <a:ea typeface="+mn-ea"/>
                        <a:cs typeface="+mn-cs"/>
                      </a:endParaRP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8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(LPG)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8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기타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837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영업용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버스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effectLst/>
                        <a:latin typeface="돋움"/>
                        <a:ea typeface="+mn-ea"/>
                        <a:cs typeface="+mn-cs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근거리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effectLst/>
                        <a:latin typeface="돋움"/>
                        <a:ea typeface="+mn-ea"/>
                        <a:cs typeface="+mn-cs"/>
                      </a:endParaRP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버스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8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CNG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23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영업용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버스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effectLst/>
                        <a:latin typeface="돋움"/>
                        <a:ea typeface="+mn-ea"/>
                        <a:cs typeface="+mn-cs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장거리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버스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6478228" y="1524000"/>
          <a:ext cx="2722054" cy="2926080"/>
        </p:xfrm>
        <a:graphic>
          <a:graphicData uri="http://schemas.openxmlformats.org/drawingml/2006/table">
            <a:tbl>
              <a:tblPr/>
              <a:tblGrid>
                <a:gridCol w="1007554"/>
                <a:gridCol w="1714500"/>
              </a:tblGrid>
              <a:tr h="21463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중분류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소분류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214630">
                <a:tc rowSpan="4"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자가용화물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자가용화물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휘발유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자가용화물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경유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자가용화물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LPG)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자가용화물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기타경유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rowSpan="4"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영업용화물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영업용화물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휘발유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영업용화물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경유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영업용화물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LPG)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영업용화물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기타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rowSpan="3"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특수차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자가용화물 </a:t>
                      </a: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특수차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자가용버스 </a:t>
                      </a: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특수차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영업용화물 </a:t>
                      </a: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특수차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738438" y="1844675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3993580" y="4354830"/>
          <a:ext cx="2169095" cy="1706880"/>
        </p:xfrm>
        <a:graphic>
          <a:graphicData uri="http://schemas.openxmlformats.org/drawingml/2006/table">
            <a:tbl>
              <a:tblPr/>
              <a:tblGrid>
                <a:gridCol w="956533"/>
                <a:gridCol w="1212562"/>
              </a:tblGrid>
              <a:tr h="2095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중분류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소분류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75514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철도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철도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여객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경유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5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철도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여객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전력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51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지하철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지하철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51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돋움"/>
                          <a:ea typeface="돋움"/>
                        </a:rPr>
                        <a:t>KTX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돋움"/>
                        </a:rPr>
                        <a:t>KTX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51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해운여객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해운여객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51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항공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여객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항공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여객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165475" y="2620963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63575" y="1261676"/>
            <a:ext cx="9492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O </a:t>
            </a:r>
            <a:r>
              <a:rPr lang="ko-KR" altLang="en-US" dirty="0"/>
              <a:t>승용부문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973525" y="1266051"/>
            <a:ext cx="9492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O </a:t>
            </a:r>
            <a:r>
              <a:rPr lang="ko-KR" altLang="en-US" dirty="0"/>
              <a:t>대중교통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6470112" y="1237476"/>
            <a:ext cx="10262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O </a:t>
            </a:r>
            <a:r>
              <a:rPr lang="ko-KR" altLang="en-US" dirty="0"/>
              <a:t>화물</a:t>
            </a:r>
            <a:r>
              <a:rPr lang="en-US" altLang="ko-KR" dirty="0"/>
              <a:t>, </a:t>
            </a:r>
            <a:r>
              <a:rPr lang="ko-KR" altLang="en-US" dirty="0"/>
              <a:t>특수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003700" y="4071551"/>
            <a:ext cx="9492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O </a:t>
            </a:r>
            <a:r>
              <a:rPr lang="ko-KR" altLang="en-US" dirty="0"/>
              <a:t>대중교통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94718" y="4698612"/>
            <a:ext cx="2536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승용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대중교통</a:t>
            </a:r>
            <a:r>
              <a:rPr lang="en-US" altLang="ko-KR" dirty="0" smtClean="0"/>
              <a:t>, </a:t>
            </a:r>
            <a:r>
              <a:rPr lang="ko-KR" altLang="en-US" dirty="0" smtClean="0"/>
              <a:t>화물 등 수명 </a:t>
            </a:r>
            <a:r>
              <a:rPr lang="en-US" altLang="ko-KR" dirty="0" smtClean="0"/>
              <a:t>: 10</a:t>
            </a:r>
            <a:r>
              <a:rPr lang="ko-KR" altLang="en-US" dirty="0" smtClean="0"/>
              <a:t>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02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en-US" altLang="ko-KR" sz="2400" b="0" dirty="0" smtClean="0"/>
              <a:t>2020 </a:t>
            </a:r>
            <a:r>
              <a:rPr lang="ko-KR" altLang="en-US" sz="2400" b="0" dirty="0" smtClean="0"/>
              <a:t>승용부문 </a:t>
            </a:r>
            <a:r>
              <a:rPr lang="en-US" altLang="ko-KR" sz="2400" b="0" dirty="0"/>
              <a:t>RES</a:t>
            </a:r>
            <a:r>
              <a:rPr lang="ko-KR" altLang="en-US" sz="2400" b="0" dirty="0"/>
              <a:t>의 </a:t>
            </a:r>
            <a:r>
              <a:rPr lang="ko-KR" altLang="en-US" sz="2400" b="0" dirty="0" err="1"/>
              <a:t>엔티티와</a:t>
            </a:r>
            <a:r>
              <a:rPr lang="ko-KR" altLang="en-US" sz="2400" b="0" dirty="0"/>
              <a:t> </a:t>
            </a:r>
            <a:r>
              <a:rPr lang="ko-KR" altLang="en-US" sz="2400" b="0" dirty="0" smtClean="0"/>
              <a:t>통계자료</a:t>
            </a:r>
            <a:endParaRPr lang="ko-KR" altLang="en-US" sz="2400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B5333E76-F732-46F1-B063-929DDF6EEE9D}" type="slidenum">
              <a:rPr lang="en-US" altLang="ko-KR" smtClean="0"/>
              <a:pPr>
                <a:defRPr/>
              </a:pPr>
              <a:t>42</a:t>
            </a:fld>
            <a:endParaRPr lang="en-US" altLang="ko-KR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2153202" y="1834519"/>
          <a:ext cx="4466674" cy="3290868"/>
        </p:xfrm>
        <a:graphic>
          <a:graphicData uri="http://schemas.openxmlformats.org/drawingml/2006/table">
            <a:tbl>
              <a:tblPr/>
              <a:tblGrid>
                <a:gridCol w="990048"/>
                <a:gridCol w="1571625"/>
                <a:gridCol w="1905001"/>
              </a:tblGrid>
              <a:tr h="280267"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effectLst/>
                          <a:latin typeface="휴먼명조"/>
                        </a:rPr>
                        <a:t>　</a:t>
                      </a:r>
                      <a:endParaRPr lang="ko-KR" altLang="en-US" sz="1300" dirty="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  <a:ea typeface="휴먼명조"/>
                        </a:rPr>
                        <a:t>entity name</a:t>
                      </a:r>
                      <a:endParaRPr 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effectLst/>
                          <a:latin typeface="휴먼명조"/>
                        </a:rPr>
                        <a:t>필요한 통계자료</a:t>
                      </a:r>
                      <a:endParaRPr lang="ko-KR" altLang="en-US" sz="1300" dirty="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993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  <a:ea typeface="휴먼명조"/>
                        </a:rPr>
                        <a:t>demand</a:t>
                      </a:r>
                      <a:endParaRPr lang="en-US" sz="1300">
                        <a:effectLst/>
                      </a:endParaRPr>
                    </a:p>
                  </a:txBody>
                  <a:tcPr marL="65617" marR="65617" marT="32808" marB="32808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  <a:ea typeface="휴먼명조"/>
                        </a:rPr>
                        <a:t>car demand</a:t>
                      </a:r>
                      <a:endParaRPr 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effectLst/>
                          <a:latin typeface="휴먼명조"/>
                        </a:rPr>
                        <a:t>이동거리</a:t>
                      </a:r>
                      <a:endParaRPr lang="ko-KR" alt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382">
                <a:tc rowSpan="3">
                  <a:txBody>
                    <a:bodyPr/>
                    <a:lstStyle/>
                    <a:p>
                      <a:r>
                        <a:rPr lang="en-US" sz="1300">
                          <a:effectLst/>
                          <a:ea typeface="휴먼명조"/>
                        </a:rPr>
                        <a:t>car </a:t>
                      </a:r>
                      <a:endParaRPr lang="en-US" sz="1300">
                        <a:effectLst/>
                      </a:endParaRPr>
                    </a:p>
                    <a:p>
                      <a:r>
                        <a:rPr lang="en-US" sz="1300">
                          <a:effectLst/>
                          <a:ea typeface="휴먼명조"/>
                        </a:rPr>
                        <a:t>technology</a:t>
                      </a:r>
                      <a:endParaRPr 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  <a:ea typeface="휴먼명조"/>
                        </a:rPr>
                        <a:t>middle car</a:t>
                      </a:r>
                      <a:endParaRPr 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effectLst/>
                          <a:latin typeface="휴먼명조"/>
                        </a:rPr>
                        <a:t>연도별 구입가</a:t>
                      </a:r>
                      <a:r>
                        <a:rPr lang="en-US" altLang="ko-KR" sz="1300">
                          <a:effectLst/>
                          <a:latin typeface="휴먼명조"/>
                        </a:rPr>
                        <a:t>, </a:t>
                      </a:r>
                      <a:r>
                        <a:rPr lang="ko-KR" altLang="en-US" sz="1300">
                          <a:effectLst/>
                          <a:latin typeface="휴먼명조"/>
                        </a:rPr>
                        <a:t>연비</a:t>
                      </a:r>
                      <a:r>
                        <a:rPr lang="en-US" altLang="ko-KR" sz="1300">
                          <a:effectLst/>
                          <a:latin typeface="휴먼명조"/>
                        </a:rPr>
                        <a:t>, </a:t>
                      </a:r>
                      <a:endParaRPr lang="ko-KR" altLang="en-US" sz="1300">
                        <a:effectLst/>
                      </a:endParaRPr>
                    </a:p>
                    <a:p>
                      <a:r>
                        <a:rPr lang="ko-KR" altLang="en-US" sz="1300">
                          <a:effectLst/>
                          <a:latin typeface="휴먼명조"/>
                        </a:rPr>
                        <a:t>차량수명</a:t>
                      </a:r>
                      <a:endParaRPr lang="ko-KR" alt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4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  <a:ea typeface="휴먼명조"/>
                        </a:rPr>
                        <a:t>plug-in hybrid</a:t>
                      </a:r>
                      <a:endParaRPr 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effectLst/>
                          <a:latin typeface="휴먼명조"/>
                        </a:rPr>
                        <a:t>연도별 구입가</a:t>
                      </a:r>
                      <a:r>
                        <a:rPr lang="en-US" altLang="ko-KR" sz="1300">
                          <a:effectLst/>
                          <a:latin typeface="휴먼명조"/>
                        </a:rPr>
                        <a:t>, </a:t>
                      </a:r>
                      <a:r>
                        <a:rPr lang="ko-KR" altLang="en-US" sz="1300">
                          <a:effectLst/>
                          <a:latin typeface="휴먼명조"/>
                        </a:rPr>
                        <a:t>연비</a:t>
                      </a:r>
                      <a:r>
                        <a:rPr lang="en-US" altLang="ko-KR" sz="1300">
                          <a:effectLst/>
                          <a:latin typeface="휴먼명조"/>
                        </a:rPr>
                        <a:t>,</a:t>
                      </a:r>
                      <a:endParaRPr lang="ko-KR" altLang="en-US" sz="1300">
                        <a:effectLst/>
                      </a:endParaRPr>
                    </a:p>
                    <a:p>
                      <a:r>
                        <a:rPr lang="ko-KR" altLang="en-US" sz="1300">
                          <a:effectLst/>
                          <a:latin typeface="휴먼명조"/>
                        </a:rPr>
                        <a:t>연료구성비</a:t>
                      </a:r>
                      <a:r>
                        <a:rPr lang="en-US" altLang="ko-KR" sz="1300">
                          <a:effectLst/>
                          <a:latin typeface="휴먼명조"/>
                        </a:rPr>
                        <a:t>,</a:t>
                      </a:r>
                      <a:r>
                        <a:rPr lang="ko-KR" altLang="en-US" sz="1300">
                          <a:effectLst/>
                          <a:latin typeface="휴먼명조"/>
                        </a:rPr>
                        <a:t>차량수명</a:t>
                      </a:r>
                      <a:endParaRPr lang="ko-KR" alt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3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  <a:ea typeface="휴먼명조"/>
                        </a:rPr>
                        <a:t>electric car</a:t>
                      </a:r>
                      <a:endParaRPr 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effectLst/>
                          <a:latin typeface="휴먼명조"/>
                        </a:rPr>
                        <a:t>연도별 구입가</a:t>
                      </a:r>
                      <a:r>
                        <a:rPr lang="en-US" altLang="ko-KR" sz="1300">
                          <a:effectLst/>
                          <a:latin typeface="휴먼명조"/>
                        </a:rPr>
                        <a:t>, </a:t>
                      </a:r>
                      <a:r>
                        <a:rPr lang="ko-KR" altLang="en-US" sz="1300">
                          <a:effectLst/>
                          <a:latin typeface="휴먼명조"/>
                        </a:rPr>
                        <a:t>연비</a:t>
                      </a:r>
                      <a:r>
                        <a:rPr lang="en-US" altLang="ko-KR" sz="1300">
                          <a:effectLst/>
                          <a:latin typeface="휴먼명조"/>
                        </a:rPr>
                        <a:t>,</a:t>
                      </a:r>
                      <a:endParaRPr lang="ko-KR" altLang="en-US" sz="1300">
                        <a:effectLst/>
                      </a:endParaRPr>
                    </a:p>
                    <a:p>
                      <a:r>
                        <a:rPr lang="ko-KR" altLang="en-US" sz="1300">
                          <a:effectLst/>
                          <a:latin typeface="휴먼명조"/>
                        </a:rPr>
                        <a:t>차량수명</a:t>
                      </a:r>
                      <a:endParaRPr lang="ko-KR" alt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009"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  <a:ea typeface="휴먼명조"/>
                        </a:rPr>
                        <a:t>blended </a:t>
                      </a:r>
                      <a:endParaRPr lang="en-US" sz="1300">
                        <a:effectLst/>
                      </a:endParaRPr>
                    </a:p>
                    <a:p>
                      <a:r>
                        <a:rPr lang="en-US" sz="1300">
                          <a:effectLst/>
                          <a:ea typeface="휴먼명조"/>
                        </a:rPr>
                        <a:t>carrier</a:t>
                      </a:r>
                      <a:endParaRPr 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  <a:ea typeface="휴먼명조"/>
                        </a:rPr>
                        <a:t>BE</a:t>
                      </a:r>
                      <a:endParaRPr 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effectLst/>
                          <a:latin typeface="휴먼명조"/>
                        </a:rPr>
                        <a:t>연도별 혼합비욜</a:t>
                      </a:r>
                      <a:endParaRPr lang="ko-KR" alt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267">
                <a:tc rowSpan="3">
                  <a:txBody>
                    <a:bodyPr/>
                    <a:lstStyle/>
                    <a:p>
                      <a:r>
                        <a:rPr lang="en-US" sz="1300">
                          <a:effectLst/>
                          <a:ea typeface="휴먼명조"/>
                        </a:rPr>
                        <a:t>energy</a:t>
                      </a:r>
                      <a:endParaRPr lang="en-US" sz="1300">
                        <a:effectLst/>
                      </a:endParaRPr>
                    </a:p>
                    <a:p>
                      <a:r>
                        <a:rPr lang="en-US" sz="1300">
                          <a:effectLst/>
                          <a:ea typeface="휴먼명조"/>
                        </a:rPr>
                        <a:t>carrier</a:t>
                      </a:r>
                      <a:endParaRPr 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  <a:ea typeface="휴먼명조"/>
                        </a:rPr>
                        <a:t>oil carrier</a:t>
                      </a:r>
                      <a:endParaRPr 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effectLst/>
                          <a:latin typeface="휴먼명조"/>
                        </a:rPr>
                        <a:t>연도별 </a:t>
                      </a:r>
                      <a:r>
                        <a:rPr lang="en-US" altLang="ko-KR" sz="1300">
                          <a:effectLst/>
                          <a:latin typeface="휴먼명조"/>
                        </a:rPr>
                        <a:t>liter</a:t>
                      </a:r>
                      <a:r>
                        <a:rPr lang="ko-KR" altLang="en-US" sz="1300">
                          <a:effectLst/>
                          <a:latin typeface="휴먼명조"/>
                        </a:rPr>
                        <a:t>당 가격</a:t>
                      </a:r>
                      <a:endParaRPr lang="ko-KR" alt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2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effectLst/>
                          <a:ea typeface="휴먼명조"/>
                        </a:rPr>
                        <a:t>bio ethanol carrier</a:t>
                      </a:r>
                      <a:endParaRPr 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effectLst/>
                          <a:latin typeface="휴먼명조"/>
                        </a:rPr>
                        <a:t>연도별 </a:t>
                      </a:r>
                      <a:r>
                        <a:rPr lang="en-US" altLang="ko-KR" sz="1300">
                          <a:effectLst/>
                          <a:latin typeface="휴먼명조"/>
                        </a:rPr>
                        <a:t>liter</a:t>
                      </a:r>
                      <a:r>
                        <a:rPr lang="ko-KR" altLang="en-US" sz="1300">
                          <a:effectLst/>
                          <a:latin typeface="휴먼명조"/>
                        </a:rPr>
                        <a:t>당 가격</a:t>
                      </a:r>
                      <a:endParaRPr lang="ko-KR" altLang="en-US" sz="130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2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effectLst/>
                          <a:ea typeface="휴먼명조"/>
                        </a:rPr>
                        <a:t>electricity carrier</a:t>
                      </a:r>
                      <a:endParaRPr lang="en-US" sz="1300" dirty="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effectLst/>
                          <a:latin typeface="휴먼명조"/>
                        </a:rPr>
                        <a:t>연도별 </a:t>
                      </a:r>
                      <a:r>
                        <a:rPr lang="en-US" altLang="ko-KR" sz="1300" dirty="0">
                          <a:effectLst/>
                          <a:latin typeface="휴먼명조"/>
                        </a:rPr>
                        <a:t>kwh</a:t>
                      </a:r>
                      <a:r>
                        <a:rPr lang="ko-KR" altLang="en-US" sz="1300" dirty="0">
                          <a:effectLst/>
                          <a:latin typeface="휴먼명조"/>
                        </a:rPr>
                        <a:t>당 가격</a:t>
                      </a:r>
                      <a:endParaRPr lang="ko-KR" altLang="en-US" sz="1300" dirty="0">
                        <a:effectLst/>
                      </a:endParaRPr>
                    </a:p>
                  </a:txBody>
                  <a:tcPr marL="65617" marR="65617" marT="32808" marB="32808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3166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D610EA1F-3FE2-4BA4-891B-3CAB6C08D37A}" type="slidenum">
              <a:rPr lang="en-US" altLang="ko-KR" smtClean="0"/>
              <a:pPr>
                <a:defRPr/>
              </a:pPr>
              <a:t>43</a:t>
            </a:fld>
            <a:endParaRPr lang="en-US" altLang="ko-KR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5035549" y="2194560"/>
          <a:ext cx="1193801" cy="2263140"/>
        </p:xfrm>
        <a:graphic>
          <a:graphicData uri="http://schemas.openxmlformats.org/drawingml/2006/table">
            <a:tbl>
              <a:tblPr/>
              <a:tblGrid>
                <a:gridCol w="1193801"/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승용차 </a:t>
                      </a:r>
                      <a:r>
                        <a:rPr lang="ko-KR" altLang="en-US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기술명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종래형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신형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번들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번들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번들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번들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Hybrid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Plug-in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Hybrid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전기자동차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수소 연료전지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3273424" y="2194560"/>
          <a:ext cx="1193801" cy="838200"/>
        </p:xfrm>
        <a:graphic>
          <a:graphicData uri="http://schemas.openxmlformats.org/drawingml/2006/table">
            <a:tbl>
              <a:tblPr/>
              <a:tblGrid>
                <a:gridCol w="1193801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연료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휘발유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경유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LPG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1511299" y="2194560"/>
          <a:ext cx="1193801" cy="1466850"/>
        </p:xfrm>
        <a:graphic>
          <a:graphicData uri="http://schemas.openxmlformats.org/drawingml/2006/table">
            <a:tbl>
              <a:tblPr/>
              <a:tblGrid>
                <a:gridCol w="1193801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차급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경차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소형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중형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대형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MPV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중형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MPV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대형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en-US" altLang="ko-KR" b="0" dirty="0" smtClean="0"/>
              <a:t>2020 </a:t>
            </a:r>
            <a:r>
              <a:rPr lang="ko-KR" altLang="en-US" b="0" dirty="0" smtClean="0"/>
              <a:t>승용부문 </a:t>
            </a:r>
            <a:r>
              <a:rPr lang="ko-KR" altLang="en-US" b="0" dirty="0"/>
              <a:t>기술 </a:t>
            </a:r>
            <a:r>
              <a:rPr lang="en-US" altLang="ko-KR" b="0" dirty="0"/>
              <a:t>DB</a:t>
            </a:r>
            <a:r>
              <a:rPr lang="ko-KR" altLang="en-US" b="0" dirty="0"/>
              <a:t>의 구성</a:t>
            </a:r>
          </a:p>
        </p:txBody>
      </p:sp>
    </p:spTree>
    <p:extLst>
      <p:ext uri="{BB962C8B-B14F-4D97-AF65-F5344CB8AC3E}">
        <p14:creationId xmlns:p14="http://schemas.microsoft.com/office/powerpoint/2010/main" val="30222498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D610EA1F-3FE2-4BA4-891B-3CAB6C08D37A}" type="slidenum">
              <a:rPr lang="en-US" altLang="ko-KR" smtClean="0"/>
              <a:pPr>
                <a:defRPr/>
              </a:pPr>
              <a:t>44</a:t>
            </a:fld>
            <a:endParaRPr lang="en-US" altLang="ko-KR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733425" y="2386013"/>
          <a:ext cx="952500" cy="23336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2500"/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Primary name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PrGasoline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PrDiesel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PrLPG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PrElectric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PrBioEthanol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190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PrBioDiesel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190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PrFuelCell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PrCNG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PrJet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190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 err="1">
                          <a:effectLst/>
                        </a:rPr>
                        <a:t>PrBKC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cxnSp>
        <p:nvCxnSpPr>
          <p:cNvPr id="18" name="직선 연결선 17"/>
          <p:cNvCxnSpPr/>
          <p:nvPr/>
        </p:nvCxnSpPr>
        <p:spPr>
          <a:xfrm flipH="1">
            <a:off x="2047876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H="1">
            <a:off x="2152651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H="1">
            <a:off x="2257426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2362201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2466976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2571751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H="1">
            <a:off x="2676526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H="1">
            <a:off x="2781301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H="1">
            <a:off x="2886076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H="1">
            <a:off x="2990851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표 31"/>
          <p:cNvGraphicFramePr>
            <a:graphicFrameLocks noGrp="1"/>
          </p:cNvGraphicFramePr>
          <p:nvPr>
            <p:extLst/>
          </p:nvPr>
        </p:nvGraphicFramePr>
        <p:xfrm>
          <a:off x="3416300" y="2995612"/>
          <a:ext cx="965200" cy="6381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5200"/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Mixed name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mixedGasolineBE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190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 err="1">
                          <a:effectLst/>
                        </a:rPr>
                        <a:t>mixedDieselBD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cxnSp>
        <p:nvCxnSpPr>
          <p:cNvPr id="33" name="직선 연결선 32"/>
          <p:cNvCxnSpPr/>
          <p:nvPr/>
        </p:nvCxnSpPr>
        <p:spPr>
          <a:xfrm flipH="1">
            <a:off x="4724401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>
            <a:off x="4876802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표 35"/>
          <p:cNvGraphicFramePr>
            <a:graphicFrameLocks noGrp="1"/>
          </p:cNvGraphicFramePr>
          <p:nvPr>
            <p:extLst/>
          </p:nvPr>
        </p:nvGraphicFramePr>
        <p:xfrm>
          <a:off x="5445125" y="2281237"/>
          <a:ext cx="955675" cy="2381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5675"/>
              </a:tblGrid>
              <a:tr h="2190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car technologies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a1_CMAG_1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a1_CMAG_2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a1_CMAG_3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a1_CMAG_4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a1_CMAG_5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a1_CMAG_6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571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a1_CMAG_7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190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a1_CMAG_8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190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a1_CMAG_9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</a:rPr>
                        <a:t>a1_CMAG_10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37" name="표 36"/>
          <p:cNvGraphicFramePr>
            <a:graphicFrameLocks noGrp="1"/>
          </p:cNvGraphicFramePr>
          <p:nvPr>
            <p:extLst/>
          </p:nvPr>
        </p:nvGraphicFramePr>
        <p:xfrm>
          <a:off x="7893050" y="2400300"/>
          <a:ext cx="863600" cy="1485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3600"/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 err="1">
                          <a:effectLst/>
                        </a:rPr>
                        <a:t>TrDemands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aCompactCars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aSmallCars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190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 err="1">
                          <a:effectLst/>
                        </a:rPr>
                        <a:t>aMediumCars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aLargeCars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aMPVMedium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  <a:tr h="2190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 err="1">
                          <a:effectLst/>
                        </a:rPr>
                        <a:t>aMPVLarge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cxnSp>
        <p:nvCxnSpPr>
          <p:cNvPr id="38" name="직선 연결선 37"/>
          <p:cNvCxnSpPr/>
          <p:nvPr/>
        </p:nvCxnSpPr>
        <p:spPr>
          <a:xfrm flipH="1">
            <a:off x="6724652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6877052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7029452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 flipH="1">
            <a:off x="7181852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7334252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 flipH="1">
            <a:off x="7486652" y="1743075"/>
            <a:ext cx="1" cy="345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/>
          <p:nvPr/>
        </p:nvCxnSpPr>
        <p:spPr>
          <a:xfrm flipV="1">
            <a:off x="1676400" y="2714625"/>
            <a:ext cx="371477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>
            <a:off x="1676400" y="2914650"/>
            <a:ext cx="47625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>
          <a:xfrm>
            <a:off x="1676400" y="3143250"/>
            <a:ext cx="58102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/>
          <p:nvPr/>
        </p:nvCxnSpPr>
        <p:spPr>
          <a:xfrm>
            <a:off x="1676400" y="3333750"/>
            <a:ext cx="68580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/>
          <p:nvPr/>
        </p:nvCxnSpPr>
        <p:spPr>
          <a:xfrm flipV="1">
            <a:off x="1676400" y="3562350"/>
            <a:ext cx="790576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/>
          <p:nvPr/>
        </p:nvCxnSpPr>
        <p:spPr>
          <a:xfrm>
            <a:off x="1676400" y="3752850"/>
            <a:ext cx="89535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/>
          <p:nvPr/>
        </p:nvCxnSpPr>
        <p:spPr>
          <a:xfrm>
            <a:off x="1676400" y="3990975"/>
            <a:ext cx="100012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>
            <a:off x="1676400" y="4191000"/>
            <a:ext cx="110490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 flipV="1">
            <a:off x="1676400" y="4381500"/>
            <a:ext cx="1209676" cy="95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>
            <a:off x="1676400" y="4619625"/>
            <a:ext cx="13144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/>
          <p:nvPr/>
        </p:nvCxnSpPr>
        <p:spPr>
          <a:xfrm>
            <a:off x="2057401" y="3257551"/>
            <a:ext cx="13684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/>
          <p:nvPr/>
        </p:nvCxnSpPr>
        <p:spPr>
          <a:xfrm flipV="1">
            <a:off x="2152651" y="3462337"/>
            <a:ext cx="1273174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/>
          <p:nvPr/>
        </p:nvCxnSpPr>
        <p:spPr>
          <a:xfrm>
            <a:off x="2466976" y="3333749"/>
            <a:ext cx="9493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/>
          <p:nvPr/>
        </p:nvCxnSpPr>
        <p:spPr>
          <a:xfrm>
            <a:off x="2466977" y="3543300"/>
            <a:ext cx="9588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/>
          <p:nvPr/>
        </p:nvCxnSpPr>
        <p:spPr>
          <a:xfrm>
            <a:off x="4391025" y="3333749"/>
            <a:ext cx="333376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/>
          <p:nvPr/>
        </p:nvCxnSpPr>
        <p:spPr>
          <a:xfrm>
            <a:off x="4391025" y="3543300"/>
            <a:ext cx="48577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/>
          <p:nvPr/>
        </p:nvCxnSpPr>
        <p:spPr>
          <a:xfrm>
            <a:off x="4724401" y="2609850"/>
            <a:ext cx="7524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/>
          <p:nvPr/>
        </p:nvCxnSpPr>
        <p:spPr>
          <a:xfrm>
            <a:off x="4714876" y="2809875"/>
            <a:ext cx="7524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/>
          <p:cNvCxnSpPr/>
          <p:nvPr/>
        </p:nvCxnSpPr>
        <p:spPr>
          <a:xfrm>
            <a:off x="4724401" y="3009900"/>
            <a:ext cx="7524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/>
          <p:nvPr/>
        </p:nvCxnSpPr>
        <p:spPr>
          <a:xfrm>
            <a:off x="4724401" y="3200400"/>
            <a:ext cx="7524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/>
          <p:nvPr/>
        </p:nvCxnSpPr>
        <p:spPr>
          <a:xfrm>
            <a:off x="4733926" y="3429000"/>
            <a:ext cx="7524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/>
          <p:nvPr/>
        </p:nvCxnSpPr>
        <p:spPr>
          <a:xfrm>
            <a:off x="4724401" y="3657600"/>
            <a:ext cx="7524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/>
          <p:nvPr/>
        </p:nvCxnSpPr>
        <p:spPr>
          <a:xfrm>
            <a:off x="4724401" y="3895725"/>
            <a:ext cx="7524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/>
          <p:nvPr/>
        </p:nvCxnSpPr>
        <p:spPr>
          <a:xfrm>
            <a:off x="4724401" y="4124325"/>
            <a:ext cx="75247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/>
          <p:nvPr/>
        </p:nvCxnSpPr>
        <p:spPr>
          <a:xfrm>
            <a:off x="2476502" y="4333875"/>
            <a:ext cx="29908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/>
          <p:cNvCxnSpPr/>
          <p:nvPr/>
        </p:nvCxnSpPr>
        <p:spPr>
          <a:xfrm flipV="1">
            <a:off x="2667001" y="4562475"/>
            <a:ext cx="2790824" cy="95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/>
          <p:nvPr/>
        </p:nvCxnSpPr>
        <p:spPr>
          <a:xfrm>
            <a:off x="6381750" y="2609850"/>
            <a:ext cx="34290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/>
          <p:cNvCxnSpPr/>
          <p:nvPr/>
        </p:nvCxnSpPr>
        <p:spPr>
          <a:xfrm>
            <a:off x="6381750" y="2825750"/>
            <a:ext cx="34290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/>
          <p:cNvCxnSpPr/>
          <p:nvPr/>
        </p:nvCxnSpPr>
        <p:spPr>
          <a:xfrm>
            <a:off x="6381750" y="3041650"/>
            <a:ext cx="34290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/>
          <p:cNvCxnSpPr/>
          <p:nvPr/>
        </p:nvCxnSpPr>
        <p:spPr>
          <a:xfrm>
            <a:off x="6381750" y="3257550"/>
            <a:ext cx="34290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/>
          <p:cNvCxnSpPr/>
          <p:nvPr/>
        </p:nvCxnSpPr>
        <p:spPr>
          <a:xfrm>
            <a:off x="6381750" y="3473450"/>
            <a:ext cx="34290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/>
          <p:cNvCxnSpPr/>
          <p:nvPr/>
        </p:nvCxnSpPr>
        <p:spPr>
          <a:xfrm>
            <a:off x="6381750" y="3689350"/>
            <a:ext cx="34290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/>
          <p:cNvCxnSpPr/>
          <p:nvPr/>
        </p:nvCxnSpPr>
        <p:spPr>
          <a:xfrm>
            <a:off x="6381750" y="3905250"/>
            <a:ext cx="34290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/>
          <p:cNvCxnSpPr/>
          <p:nvPr/>
        </p:nvCxnSpPr>
        <p:spPr>
          <a:xfrm>
            <a:off x="6381750" y="4121150"/>
            <a:ext cx="34290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/>
          <p:cNvCxnSpPr/>
          <p:nvPr/>
        </p:nvCxnSpPr>
        <p:spPr>
          <a:xfrm>
            <a:off x="6381750" y="4337050"/>
            <a:ext cx="34290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/>
          <p:nvPr/>
        </p:nvCxnSpPr>
        <p:spPr>
          <a:xfrm>
            <a:off x="6381750" y="4552950"/>
            <a:ext cx="34290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/>
          <p:cNvCxnSpPr/>
          <p:nvPr/>
        </p:nvCxnSpPr>
        <p:spPr>
          <a:xfrm>
            <a:off x="6724652" y="2714625"/>
            <a:ext cx="116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en-US" altLang="ko-KR" b="0" dirty="0" smtClean="0"/>
              <a:t>2020 </a:t>
            </a:r>
            <a:r>
              <a:rPr lang="ko-KR" altLang="en-US" b="0" dirty="0" smtClean="0"/>
              <a:t>승용부문 </a:t>
            </a:r>
            <a:r>
              <a:rPr lang="en-US" altLang="ko-KR" b="0" dirty="0"/>
              <a:t>RES</a:t>
            </a:r>
            <a:r>
              <a:rPr lang="ko-KR" altLang="en-US" b="0" dirty="0"/>
              <a:t>의 일부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876092" y="4787374"/>
                <a:ext cx="8656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092" y="4787374"/>
                <a:ext cx="86562" cy="184666"/>
              </a:xfrm>
              <a:prstGeom prst="rect">
                <a:avLst/>
              </a:prstGeom>
              <a:blipFill rotWithShape="0">
                <a:blip r:embed="rId2"/>
                <a:stretch>
                  <a:fillRect l="-35714" r="-35714" b="-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51141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D610EA1F-3FE2-4BA4-891B-3CAB6C08D37A}" type="slidenum">
              <a:rPr lang="en-US" altLang="ko-KR" smtClean="0"/>
              <a:pPr>
                <a:defRPr/>
              </a:pPr>
              <a:t>45</a:t>
            </a:fld>
            <a:endParaRPr lang="en-US" altLang="ko-KR"/>
          </a:p>
        </p:txBody>
      </p:sp>
      <p:sp>
        <p:nvSpPr>
          <p:cNvPr id="5" name="직사각형 4"/>
          <p:cNvSpPr/>
          <p:nvPr/>
        </p:nvSpPr>
        <p:spPr>
          <a:xfrm>
            <a:off x="1371600" y="2193925"/>
            <a:ext cx="1304925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BAU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371600" y="3044825"/>
            <a:ext cx="1304925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Bio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371600" y="3895725"/>
            <a:ext cx="1304925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그린카보급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371600" y="4746625"/>
            <a:ext cx="1304925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그린카보급강화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/>
          <p:cNvCxnSpPr>
            <a:stCxn id="5" idx="2"/>
            <a:endCxn id="6" idx="0"/>
          </p:cNvCxnSpPr>
          <p:nvPr/>
        </p:nvCxnSpPr>
        <p:spPr>
          <a:xfrm>
            <a:off x="2024063" y="2574925"/>
            <a:ext cx="0" cy="469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stCxn id="6" idx="2"/>
            <a:endCxn id="7" idx="0"/>
          </p:cNvCxnSpPr>
          <p:nvPr/>
        </p:nvCxnSpPr>
        <p:spPr>
          <a:xfrm>
            <a:off x="2024063" y="3425825"/>
            <a:ext cx="0" cy="469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7" idx="2"/>
            <a:endCxn id="8" idx="0"/>
          </p:cNvCxnSpPr>
          <p:nvPr/>
        </p:nvCxnSpPr>
        <p:spPr>
          <a:xfrm>
            <a:off x="2024063" y="4276725"/>
            <a:ext cx="0" cy="469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5653087" y="3605214"/>
            <a:ext cx="1304925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adb</a:t>
            </a:r>
            <a:r>
              <a:rPr lang="en-US" altLang="ko-KR" dirty="0" smtClean="0">
                <a:solidFill>
                  <a:schemeClr val="tx1"/>
                </a:solidFill>
              </a:rPr>
              <a:t> file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543549" y="2212975"/>
            <a:ext cx="1524000" cy="8413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scenario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- UPDS file</a:t>
            </a:r>
          </a:p>
          <a:p>
            <a:pPr marL="171450" indent="-171450" algn="ctr">
              <a:buFontTx/>
              <a:buChar char="-"/>
            </a:pPr>
            <a:r>
              <a:rPr lang="en-US" altLang="ko-KR" dirty="0" err="1" smtClean="0">
                <a:solidFill>
                  <a:schemeClr val="tx1"/>
                </a:solidFill>
              </a:rPr>
              <a:t>upd</a:t>
            </a:r>
            <a:r>
              <a:rPr lang="en-US" altLang="ko-KR" dirty="0" smtClean="0">
                <a:solidFill>
                  <a:schemeClr val="tx1"/>
                </a:solidFill>
              </a:rPr>
              <a:t> file</a:t>
            </a:r>
          </a:p>
          <a:p>
            <a:pPr marL="171450" indent="-171450" algn="ctr">
              <a:buFontTx/>
              <a:buChar char="-"/>
            </a:pPr>
            <a:r>
              <a:rPr lang="en-US" altLang="ko-KR" dirty="0" err="1" smtClean="0">
                <a:solidFill>
                  <a:schemeClr val="tx1"/>
                </a:solidFill>
              </a:rPr>
              <a:t>ldb</a:t>
            </a:r>
            <a:r>
              <a:rPr lang="en-US" altLang="ko-KR" dirty="0" smtClean="0">
                <a:solidFill>
                  <a:schemeClr val="tx1"/>
                </a:solidFill>
              </a:rPr>
              <a:t> file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919537" y="3354389"/>
            <a:ext cx="1304925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cin</a:t>
            </a:r>
            <a:r>
              <a:rPr lang="en-US" altLang="ko-KR" dirty="0" smtClean="0">
                <a:solidFill>
                  <a:schemeClr val="tx1"/>
                </a:solidFill>
              </a:rPr>
              <a:t> file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919537" y="4008439"/>
            <a:ext cx="1304925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fil</a:t>
            </a:r>
            <a:r>
              <a:rPr lang="en-US" altLang="ko-KR" dirty="0" smtClean="0">
                <a:solidFill>
                  <a:schemeClr val="tx1"/>
                </a:solidFill>
              </a:rPr>
              <a:t> file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491412" y="3605214"/>
            <a:ext cx="1304925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tab file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/>
          <p:cNvCxnSpPr>
            <a:stCxn id="16" idx="2"/>
            <a:endCxn id="15" idx="0"/>
          </p:cNvCxnSpPr>
          <p:nvPr/>
        </p:nvCxnSpPr>
        <p:spPr>
          <a:xfrm>
            <a:off x="6305549" y="3054350"/>
            <a:ext cx="1" cy="5508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17" idx="3"/>
            <a:endCxn id="15" idx="1"/>
          </p:cNvCxnSpPr>
          <p:nvPr/>
        </p:nvCxnSpPr>
        <p:spPr>
          <a:xfrm>
            <a:off x="5224462" y="3544889"/>
            <a:ext cx="428625" cy="2508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18" idx="3"/>
            <a:endCxn id="15" idx="1"/>
          </p:cNvCxnSpPr>
          <p:nvPr/>
        </p:nvCxnSpPr>
        <p:spPr>
          <a:xfrm flipV="1">
            <a:off x="5224462" y="3795714"/>
            <a:ext cx="428625" cy="4032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stCxn id="15" idx="3"/>
            <a:endCxn id="19" idx="1"/>
          </p:cNvCxnSpPr>
          <p:nvPr/>
        </p:nvCxnSpPr>
        <p:spPr>
          <a:xfrm>
            <a:off x="6958012" y="3795714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en-US" altLang="ko-KR" b="0" dirty="0" smtClean="0"/>
              <a:t>2020 </a:t>
            </a:r>
            <a:r>
              <a:rPr lang="ko-KR" altLang="en-US" b="0" dirty="0" smtClean="0"/>
              <a:t>수송부문 </a:t>
            </a:r>
            <a:r>
              <a:rPr lang="ko-KR" altLang="en-US" b="0" dirty="0"/>
              <a:t>시나리오의 구성 및 실행</a:t>
            </a:r>
          </a:p>
        </p:txBody>
      </p:sp>
    </p:spTree>
    <p:extLst>
      <p:ext uri="{BB962C8B-B14F-4D97-AF65-F5344CB8AC3E}">
        <p14:creationId xmlns:p14="http://schemas.microsoft.com/office/powerpoint/2010/main" val="32189298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en-US" altLang="ko-KR" sz="2000" b="0" dirty="0"/>
              <a:t>POST2020</a:t>
            </a:r>
            <a:r>
              <a:rPr lang="ko-KR" altLang="en-US" sz="2000" b="0" dirty="0"/>
              <a:t> </a:t>
            </a:r>
            <a:r>
              <a:rPr lang="en-US" altLang="ko-KR" sz="2000" b="0" dirty="0"/>
              <a:t>inventory </a:t>
            </a:r>
            <a:r>
              <a:rPr lang="ko-KR" altLang="en-US" sz="2000" b="0" dirty="0"/>
              <a:t>및 기술 </a:t>
            </a:r>
            <a:r>
              <a:rPr lang="en-US" altLang="ko-KR" sz="2000" b="0" dirty="0"/>
              <a:t>DB </a:t>
            </a:r>
            <a:r>
              <a:rPr lang="ko-KR" altLang="en-US" sz="2000" b="0" dirty="0"/>
              <a:t>구축 </a:t>
            </a:r>
            <a:r>
              <a:rPr lang="ko-KR" altLang="en-US" sz="2000" b="0" dirty="0" smtClean="0"/>
              <a:t>절차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86600" y="6191577"/>
            <a:ext cx="2057400" cy="304800"/>
          </a:xfrm>
        </p:spPr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46</a:t>
            </a:fld>
            <a:endParaRPr lang="en-US" altLang="ko-KR"/>
          </a:p>
        </p:txBody>
      </p:sp>
      <p:sp>
        <p:nvSpPr>
          <p:cNvPr id="89" name="AutoShape 16"/>
          <p:cNvSpPr>
            <a:spLocks noChangeArrowheads="1"/>
          </p:cNvSpPr>
          <p:nvPr/>
        </p:nvSpPr>
        <p:spPr bwMode="auto">
          <a:xfrm>
            <a:off x="7112704" y="2957547"/>
            <a:ext cx="1640305" cy="777788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5B9BD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수요</a:t>
            </a: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(</a:t>
            </a: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대</a:t>
            </a: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-km) </a:t>
            </a: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전망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전체수요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[</a:t>
            </a:r>
            <a:r>
              <a:rPr kumimoji="1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에너지원별</a:t>
            </a: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 수요</a:t>
            </a: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]</a:t>
            </a:r>
          </a:p>
        </p:txBody>
      </p:sp>
      <p:sp>
        <p:nvSpPr>
          <p:cNvPr id="90" name="AutoShape 16"/>
          <p:cNvSpPr>
            <a:spLocks noChangeArrowheads="1"/>
          </p:cNvSpPr>
          <p:nvPr/>
        </p:nvSpPr>
        <p:spPr bwMode="auto">
          <a:xfrm>
            <a:off x="866727" y="3130541"/>
            <a:ext cx="1296987" cy="4318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5B9BD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기준년도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분석기간</a:t>
            </a: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91" name="Text Box 6"/>
          <p:cNvSpPr txBox="1">
            <a:spLocks noChangeArrowheads="1"/>
          </p:cNvSpPr>
          <p:nvPr/>
        </p:nvSpPr>
        <p:spPr bwMode="auto">
          <a:xfrm>
            <a:off x="2808196" y="3639041"/>
            <a:ext cx="1716507" cy="503610"/>
          </a:xfrm>
          <a:prstGeom prst="rect">
            <a:avLst/>
          </a:prstGeom>
          <a:noFill/>
          <a:ln w="19050" algn="ctr">
            <a:solidFill>
              <a:srgbClr val="5B9BD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기존기술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historic capacity</a:t>
            </a: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[last year]</a:t>
            </a:r>
            <a:endParaRPr kumimoji="1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92" name="AutoShape 16"/>
          <p:cNvSpPr>
            <a:spLocks noChangeArrowheads="1"/>
          </p:cNvSpPr>
          <p:nvPr/>
        </p:nvSpPr>
        <p:spPr bwMode="auto">
          <a:xfrm>
            <a:off x="4721824" y="2540159"/>
            <a:ext cx="1716507" cy="946648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5B9BD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  </a:t>
            </a: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비용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1000" b="1" i="0" u="sng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투자비</a:t>
            </a:r>
            <a:r>
              <a:rPr kumimoji="1" lang="en-US" altLang="ko-KR" sz="1000" b="1" i="0" u="sng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(</a:t>
            </a:r>
            <a:r>
              <a:rPr kumimoji="1" lang="ko-KR" altLang="en-US" sz="1000" b="1" i="0" u="sng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원</a:t>
            </a:r>
            <a:r>
              <a:rPr kumimoji="1" lang="en-US" altLang="ko-KR" sz="1000" b="1" i="0" u="sng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/</a:t>
            </a:r>
            <a:r>
              <a:rPr kumimoji="1" lang="ko-KR" altLang="en-US" sz="1000" b="1" i="0" u="sng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대</a:t>
            </a:r>
            <a:r>
              <a:rPr kumimoji="1" lang="en-US" altLang="ko-KR" sz="1000" b="1" i="0" u="sng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-km)</a:t>
            </a: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고정비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(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원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/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년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/</a:t>
            </a: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대</a:t>
            </a: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-km)</a:t>
            </a: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변동비</a:t>
            </a: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(</a:t>
            </a: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원</a:t>
            </a: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/</a:t>
            </a: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대</a:t>
            </a: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-km)</a:t>
            </a:r>
          </a:p>
        </p:txBody>
      </p:sp>
      <p:sp>
        <p:nvSpPr>
          <p:cNvPr id="93" name="AutoShape 16"/>
          <p:cNvSpPr>
            <a:spLocks noChangeArrowheads="1"/>
          </p:cNvSpPr>
          <p:nvPr/>
        </p:nvSpPr>
        <p:spPr bwMode="auto">
          <a:xfrm>
            <a:off x="2808197" y="2540158"/>
            <a:ext cx="1716507" cy="946649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5B9BD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  </a:t>
            </a: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공통사항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수명</a:t>
            </a: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(year)</a:t>
            </a: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사용연료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연간주행거리</a:t>
            </a: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(km)</a:t>
            </a: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연비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(km/liter)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[</a:t>
            </a: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효율감축비율</a:t>
            </a: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](%/</a:t>
            </a: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대</a:t>
            </a: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)</a:t>
            </a:r>
          </a:p>
        </p:txBody>
      </p:sp>
      <p:sp>
        <p:nvSpPr>
          <p:cNvPr id="94" name="Text Box 6"/>
          <p:cNvSpPr txBox="1">
            <a:spLocks noChangeArrowheads="1"/>
          </p:cNvSpPr>
          <p:nvPr/>
        </p:nvSpPr>
        <p:spPr bwMode="auto">
          <a:xfrm>
            <a:off x="4768133" y="3639041"/>
            <a:ext cx="1716507" cy="401052"/>
          </a:xfrm>
          <a:prstGeom prst="rect">
            <a:avLst/>
          </a:prstGeom>
          <a:noFill/>
          <a:ln w="19050" algn="ctr">
            <a:solidFill>
              <a:srgbClr val="5B9BD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신기술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first year, last year</a:t>
            </a:r>
            <a:endParaRPr kumimoji="1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95" name="모서리가 둥근 직사각형 94"/>
          <p:cNvSpPr/>
          <p:nvPr/>
        </p:nvSpPr>
        <p:spPr>
          <a:xfrm>
            <a:off x="2584820" y="2379904"/>
            <a:ext cx="4106778" cy="1933074"/>
          </a:xfrm>
          <a:prstGeom prst="round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2584820" y="2067081"/>
            <a:ext cx="4106778" cy="312821"/>
          </a:xfrm>
          <a:prstGeom prst="round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기술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DB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sym typeface="Symbol" panose="05050102010706020507" pitchFamily="18" charset="2"/>
              </a:rPr>
              <a:t>및 관련 전망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97" name="AutoShape 16"/>
          <p:cNvSpPr>
            <a:spLocks noChangeArrowheads="1"/>
          </p:cNvSpPr>
          <p:nvPr/>
        </p:nvSpPr>
        <p:spPr bwMode="auto">
          <a:xfrm>
            <a:off x="5367750" y="1324172"/>
            <a:ext cx="1296987" cy="434306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5B9BD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에너지원별</a:t>
            </a: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배출계수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98" name="AutoShape 16"/>
          <p:cNvSpPr>
            <a:spLocks noChangeArrowheads="1"/>
          </p:cNvSpPr>
          <p:nvPr/>
        </p:nvSpPr>
        <p:spPr bwMode="auto">
          <a:xfrm>
            <a:off x="2584820" y="5044173"/>
            <a:ext cx="1296987" cy="4318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5B9BD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바이오 연료 강화</a:t>
            </a: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99" name="모서리가 둥근 직사각형 98"/>
          <p:cNvSpPr/>
          <p:nvPr/>
        </p:nvSpPr>
        <p:spPr>
          <a:xfrm>
            <a:off x="2584820" y="4658281"/>
            <a:ext cx="4106778" cy="312821"/>
          </a:xfrm>
          <a:prstGeom prst="round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시나리오 관련 전망</a:t>
            </a:r>
          </a:p>
        </p:txBody>
      </p:sp>
      <p:sp>
        <p:nvSpPr>
          <p:cNvPr id="100" name="AutoShape 16"/>
          <p:cNvSpPr>
            <a:spLocks noChangeArrowheads="1"/>
          </p:cNvSpPr>
          <p:nvPr/>
        </p:nvSpPr>
        <p:spPr bwMode="auto">
          <a:xfrm>
            <a:off x="4005758" y="5044173"/>
            <a:ext cx="1296987" cy="4318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5B9BD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연비향상</a:t>
            </a: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1" name="AutoShape 16"/>
          <p:cNvSpPr>
            <a:spLocks noChangeArrowheads="1"/>
          </p:cNvSpPr>
          <p:nvPr/>
        </p:nvSpPr>
        <p:spPr bwMode="auto">
          <a:xfrm>
            <a:off x="5394611" y="5044173"/>
            <a:ext cx="1296987" cy="4318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5B9BD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그린카</a:t>
            </a: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2" name="AutoShape 16"/>
          <p:cNvSpPr>
            <a:spLocks noChangeArrowheads="1"/>
          </p:cNvSpPr>
          <p:nvPr/>
        </p:nvSpPr>
        <p:spPr bwMode="auto">
          <a:xfrm>
            <a:off x="7112704" y="4053205"/>
            <a:ext cx="1640304" cy="632536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5B9BD5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연료비 관련 세금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차량 관련 세금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차량 관련 지원금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2584820" y="938280"/>
            <a:ext cx="4106778" cy="312821"/>
          </a:xfrm>
          <a:prstGeom prst="roundRec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에너지 관련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sym typeface="Symbol" panose="05050102010706020507" pitchFamily="18" charset="2"/>
              </a:rPr>
              <a:t> 전망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04" name="AutoShape 16"/>
          <p:cNvSpPr>
            <a:spLocks noChangeArrowheads="1"/>
          </p:cNvSpPr>
          <p:nvPr/>
        </p:nvSpPr>
        <p:spPr bwMode="auto">
          <a:xfrm>
            <a:off x="866727" y="4606708"/>
            <a:ext cx="1296987" cy="42020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5B9BD5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marL="171450" marR="0" lvl="0" indent="-17145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BAU </a:t>
            </a: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전망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5" name="AutoShape 16"/>
          <p:cNvSpPr>
            <a:spLocks noChangeArrowheads="1"/>
          </p:cNvSpPr>
          <p:nvPr/>
        </p:nvSpPr>
        <p:spPr bwMode="auto">
          <a:xfrm>
            <a:off x="2591632" y="1311859"/>
            <a:ext cx="1296987" cy="4318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5B9BD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에너지원별</a:t>
            </a:r>
            <a:r>
              <a:rPr kumimoji="1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anose="020B0600000101010101" pitchFamily="50" charset="-127"/>
                <a:ea typeface="돋움" panose="020B0600000101010101" pitchFamily="50" charset="-127"/>
              </a:rPr>
              <a:t> 가격</a:t>
            </a:r>
            <a:endParaRPr kumimoji="1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cxnSp>
        <p:nvCxnSpPr>
          <p:cNvPr id="106" name="직선 화살표 연결선 105"/>
          <p:cNvCxnSpPr>
            <a:stCxn id="103" idx="2"/>
            <a:endCxn id="96" idx="0"/>
          </p:cNvCxnSpPr>
          <p:nvPr/>
        </p:nvCxnSpPr>
        <p:spPr>
          <a:xfrm>
            <a:off x="4638209" y="1251101"/>
            <a:ext cx="0" cy="81598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7" name="직선 화살표 연결선 106"/>
          <p:cNvCxnSpPr>
            <a:stCxn id="95" idx="2"/>
            <a:endCxn id="99" idx="0"/>
          </p:cNvCxnSpPr>
          <p:nvPr/>
        </p:nvCxnSpPr>
        <p:spPr>
          <a:xfrm>
            <a:off x="4638209" y="4312978"/>
            <a:ext cx="0" cy="345303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8" name="직선 화살표 연결선 107"/>
          <p:cNvCxnSpPr>
            <a:stCxn id="90" idx="3"/>
            <a:endCxn id="95" idx="1"/>
          </p:cNvCxnSpPr>
          <p:nvPr/>
        </p:nvCxnSpPr>
        <p:spPr>
          <a:xfrm>
            <a:off x="2163714" y="3346441"/>
            <a:ext cx="421106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9" name="직선 화살표 연결선 108"/>
          <p:cNvCxnSpPr>
            <a:stCxn id="89" idx="1"/>
            <a:endCxn id="95" idx="3"/>
          </p:cNvCxnSpPr>
          <p:nvPr/>
        </p:nvCxnSpPr>
        <p:spPr>
          <a:xfrm flipH="1">
            <a:off x="6691598" y="3346441"/>
            <a:ext cx="421106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0" name="직선 화살표 연결선 109"/>
          <p:cNvCxnSpPr>
            <a:stCxn id="104" idx="3"/>
            <a:endCxn id="99" idx="1"/>
          </p:cNvCxnSpPr>
          <p:nvPr/>
        </p:nvCxnSpPr>
        <p:spPr>
          <a:xfrm flipV="1">
            <a:off x="2163714" y="4814692"/>
            <a:ext cx="421106" cy="2119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1" name="꺾인 연결선 110"/>
          <p:cNvCxnSpPr>
            <a:stCxn id="102" idx="2"/>
            <a:endCxn id="99" idx="3"/>
          </p:cNvCxnSpPr>
          <p:nvPr/>
        </p:nvCxnSpPr>
        <p:spPr>
          <a:xfrm rot="5400000">
            <a:off x="7247752" y="4129587"/>
            <a:ext cx="128951" cy="1241258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2" name="꺾인 연결선 111"/>
          <p:cNvCxnSpPr>
            <a:stCxn id="102" idx="0"/>
          </p:cNvCxnSpPr>
          <p:nvPr/>
        </p:nvCxnSpPr>
        <p:spPr>
          <a:xfrm rot="16200000" flipV="1">
            <a:off x="7200969" y="3321318"/>
            <a:ext cx="222517" cy="1241258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3" name="직선 연결선 112"/>
          <p:cNvCxnSpPr/>
          <p:nvPr/>
        </p:nvCxnSpPr>
        <p:spPr>
          <a:xfrm>
            <a:off x="2288040" y="1887205"/>
            <a:ext cx="6184232" cy="16042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</p:cxnSp>
      <p:cxnSp>
        <p:nvCxnSpPr>
          <p:cNvPr id="114" name="직선 연결선 113"/>
          <p:cNvCxnSpPr/>
          <p:nvPr/>
        </p:nvCxnSpPr>
        <p:spPr>
          <a:xfrm>
            <a:off x="2301759" y="1903247"/>
            <a:ext cx="18365" cy="3968585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</p:cxnSp>
      <p:sp>
        <p:nvSpPr>
          <p:cNvPr id="115" name="TextBox 114"/>
          <p:cNvSpPr txBox="1"/>
          <p:nvPr/>
        </p:nvSpPr>
        <p:spPr>
          <a:xfrm>
            <a:off x="6743498" y="2216235"/>
            <a:ext cx="9421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수송내부</a:t>
            </a:r>
            <a:endParaRPr kumimoji="0" lang="ko-KR" altLang="en-US" sz="10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116" name="직선 화살표 연결선 115"/>
          <p:cNvCxnSpPr>
            <a:endCxn id="105" idx="1"/>
          </p:cNvCxnSpPr>
          <p:nvPr/>
        </p:nvCxnSpPr>
        <p:spPr>
          <a:xfrm flipV="1">
            <a:off x="1822739" y="1527759"/>
            <a:ext cx="768893" cy="798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7" name="TextBox 116"/>
          <p:cNvSpPr txBox="1"/>
          <p:nvPr/>
        </p:nvSpPr>
        <p:spPr>
          <a:xfrm>
            <a:off x="609826" y="1368363"/>
            <a:ext cx="12522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dirty="0" err="1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최근유가</a:t>
            </a:r>
            <a:r>
              <a:rPr kumimoji="0" lang="en-US" altLang="ko-KR" sz="10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LPG</a:t>
            </a:r>
            <a:r>
              <a:rPr kumimoji="0" lang="ko-KR" altLang="en-US" sz="10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하락</a:t>
            </a:r>
            <a:endParaRPr kumimoji="0" lang="ko-KR" altLang="en-US" sz="10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663526" y="2618367"/>
            <a:ext cx="9300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2007</a:t>
            </a:r>
            <a:r>
              <a:rPr kumimoji="0" lang="en-US" altLang="ko-KR" sz="10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  <a:sym typeface="Wingdings" panose="05000000000000000000" pitchFamily="2" charset="2"/>
              </a:rPr>
              <a:t></a:t>
            </a:r>
            <a:r>
              <a:rPr kumimoji="0" lang="en-US" altLang="ko-KR" sz="10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2010</a:t>
            </a:r>
            <a:endParaRPr kumimoji="0" lang="ko-KR" altLang="en-US" sz="10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656364" y="2822947"/>
            <a:ext cx="8386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2011~2050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48577" y="4206744"/>
            <a:ext cx="1281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2011 </a:t>
            </a:r>
            <a:r>
              <a:rPr kumimoji="0" lang="ko-KR" altLang="en-US" sz="1000" dirty="0" err="1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에너지총조사</a:t>
            </a:r>
            <a:endParaRPr kumimoji="0" lang="en-US" altLang="ko-KR" sz="1000" dirty="0" smtClean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(2010</a:t>
            </a:r>
            <a:r>
              <a:rPr kumimoji="0" lang="ko-KR" altLang="en-US" sz="10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년 </a:t>
            </a:r>
            <a:r>
              <a:rPr kumimoji="0" lang="en-US" altLang="ko-KR" sz="10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TOE)</a:t>
            </a:r>
          </a:p>
        </p:txBody>
      </p:sp>
      <p:cxnSp>
        <p:nvCxnSpPr>
          <p:cNvPr id="124" name="직선 화살표 연결선 123"/>
          <p:cNvCxnSpPr>
            <a:stCxn id="8" idx="0"/>
          </p:cNvCxnSpPr>
          <p:nvPr/>
        </p:nvCxnSpPr>
        <p:spPr>
          <a:xfrm flipH="1" flipV="1">
            <a:off x="8480294" y="3483692"/>
            <a:ext cx="537896" cy="24242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5" name="직선 화살표 연결선 124"/>
          <p:cNvCxnSpPr>
            <a:stCxn id="128" idx="2"/>
          </p:cNvCxnSpPr>
          <p:nvPr/>
        </p:nvCxnSpPr>
        <p:spPr>
          <a:xfrm flipH="1">
            <a:off x="8353586" y="2785031"/>
            <a:ext cx="321562" cy="394564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8" name="직사각형 127"/>
          <p:cNvSpPr/>
          <p:nvPr/>
        </p:nvSpPr>
        <p:spPr>
          <a:xfrm>
            <a:off x="7662691" y="2077145"/>
            <a:ext cx="202491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http://www.kotems.or.kr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/>
              <a:t>교통부문온실가스관리시스템</a:t>
            </a:r>
            <a:endParaRPr lang="en-US" altLang="ko-KR" sz="1000" dirty="0" smtClean="0"/>
          </a:p>
          <a:p>
            <a:r>
              <a:rPr lang="en-US" altLang="ko-KR" sz="1000" dirty="0"/>
              <a:t>http://climate-koti.re.kr/kor</a:t>
            </a:r>
            <a:r>
              <a:rPr lang="en-US" altLang="ko-KR" sz="1000" dirty="0" smtClean="0"/>
              <a:t>/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/>
              <a:t>지속가능교통연구사업</a:t>
            </a:r>
            <a:endParaRPr lang="ko-KR" altLang="en-US" sz="1000" dirty="0"/>
          </a:p>
        </p:txBody>
      </p:sp>
      <p:sp>
        <p:nvSpPr>
          <p:cNvPr id="8" name="직사각형 7"/>
          <p:cNvSpPr/>
          <p:nvPr/>
        </p:nvSpPr>
        <p:spPr>
          <a:xfrm>
            <a:off x="8348776" y="3726120"/>
            <a:ext cx="133882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장기에너지수요전망</a:t>
            </a:r>
            <a:endParaRPr kumimoji="0" lang="ko-KR" altLang="en-US" sz="1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5614626" y="5549044"/>
            <a:ext cx="31999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 smtClean="0"/>
              <a:t>그린카</a:t>
            </a:r>
            <a:r>
              <a:rPr lang="ko-KR" altLang="en-US" sz="1000" dirty="0" smtClean="0"/>
              <a:t> 전망</a:t>
            </a:r>
            <a:endParaRPr lang="en-US" altLang="ko-KR" sz="1000" dirty="0" smtClean="0"/>
          </a:p>
          <a:p>
            <a:pPr marL="171450" indent="-171450">
              <a:buFontTx/>
              <a:buChar char="-"/>
            </a:pPr>
            <a:r>
              <a:rPr lang="ko-KR" altLang="en-US" sz="1000" dirty="0" smtClean="0"/>
              <a:t>자동차가격 전망이 매우 중요</a:t>
            </a:r>
            <a:endParaRPr lang="en-US" altLang="ko-KR" sz="1000" dirty="0" smtClean="0"/>
          </a:p>
          <a:p>
            <a:pPr marL="171450" indent="-171450">
              <a:buFontTx/>
              <a:buChar char="-"/>
            </a:pPr>
            <a:r>
              <a:rPr lang="ko-KR" altLang="en-US" sz="1000" dirty="0" smtClean="0"/>
              <a:t>유가전망과 밀접한 관련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(Model S </a:t>
            </a:r>
            <a:r>
              <a:rPr lang="ko-KR" altLang="en-US" sz="1000" dirty="0" smtClean="0"/>
              <a:t>전망 </a:t>
            </a:r>
            <a:r>
              <a:rPr lang="en-US" altLang="ko-KR" sz="1000" dirty="0" smtClean="0"/>
              <a:t>: 2020</a:t>
            </a:r>
            <a:r>
              <a:rPr lang="ko-KR" altLang="en-US" sz="1000" dirty="0" err="1" smtClean="0"/>
              <a:t>년말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오십만대에서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3</a:t>
            </a:r>
            <a:r>
              <a:rPr lang="ko-KR" altLang="en-US" sz="1000" dirty="0" err="1" smtClean="0"/>
              <a:t>십만대</a:t>
            </a:r>
            <a:r>
              <a:rPr lang="en-US" altLang="ko-KR" sz="1000" dirty="0" smtClean="0"/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1000" dirty="0" smtClean="0"/>
              <a:t>EV, FCEV</a:t>
            </a:r>
            <a:r>
              <a:rPr lang="ko-KR" altLang="en-US" sz="1000" dirty="0" smtClean="0"/>
              <a:t>는 충전인프라와 연관됨</a:t>
            </a:r>
            <a:endParaRPr lang="en-US" altLang="ko-KR" sz="1000" dirty="0"/>
          </a:p>
          <a:p>
            <a:r>
              <a:rPr lang="en-US" altLang="ko-KR" sz="1000" dirty="0" smtClean="0"/>
              <a:t>    (</a:t>
            </a:r>
            <a:r>
              <a:rPr lang="ko-KR" altLang="en-US" sz="1000" dirty="0" smtClean="0"/>
              <a:t>충전인프라 시나리오</a:t>
            </a:r>
            <a:r>
              <a:rPr lang="en-US" altLang="ko-KR" sz="1000" dirty="0" smtClean="0"/>
              <a:t>)</a:t>
            </a:r>
            <a:endParaRPr lang="ko-KR" altLang="en-US" sz="1000" dirty="0"/>
          </a:p>
        </p:txBody>
      </p:sp>
      <p:sp>
        <p:nvSpPr>
          <p:cNvPr id="130" name="TextBox 129"/>
          <p:cNvSpPr txBox="1"/>
          <p:nvPr/>
        </p:nvSpPr>
        <p:spPr>
          <a:xfrm>
            <a:off x="3420562" y="5601840"/>
            <a:ext cx="21226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smtClean="0"/>
              <a:t>연비향상</a:t>
            </a:r>
            <a:endParaRPr lang="en-US" altLang="ko-KR" sz="1000" dirty="0" smtClean="0"/>
          </a:p>
          <a:p>
            <a:pPr marL="171450" indent="-171450">
              <a:buFontTx/>
              <a:buChar char="-"/>
            </a:pPr>
            <a:r>
              <a:rPr lang="ko-KR" altLang="en-US" sz="1000" dirty="0" smtClean="0"/>
              <a:t>국내외 규제 정책이 매우 중요</a:t>
            </a:r>
            <a:endParaRPr lang="en-US" altLang="ko-KR" sz="1000" dirty="0"/>
          </a:p>
          <a:p>
            <a:r>
              <a:rPr lang="en-US" altLang="ko-KR" sz="1000" dirty="0" smtClean="0"/>
              <a:t>    (</a:t>
            </a:r>
            <a:r>
              <a:rPr lang="ko-KR" altLang="en-US" sz="1000" dirty="0"/>
              <a:t>환경부</a:t>
            </a:r>
            <a:r>
              <a:rPr lang="en-US" altLang="ko-KR" sz="1000" dirty="0"/>
              <a:t> </a:t>
            </a:r>
            <a:r>
              <a:rPr lang="ko-KR" altLang="en-US" sz="1000" dirty="0"/>
              <a:t>온실가스</a:t>
            </a:r>
            <a:r>
              <a:rPr lang="en-US" altLang="ko-KR" sz="1000" dirty="0"/>
              <a:t>-</a:t>
            </a:r>
            <a:r>
              <a:rPr lang="ko-KR" altLang="en-US" sz="1000" dirty="0"/>
              <a:t>연비 </a:t>
            </a:r>
            <a:r>
              <a:rPr lang="ko-KR" altLang="en-US" sz="1000" dirty="0" err="1" smtClean="0"/>
              <a:t>기준안</a:t>
            </a:r>
            <a:r>
              <a:rPr lang="en-US" altLang="ko-KR" sz="1000" dirty="0" smtClean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/>
              <a:t>연비향상 노력을 어떻게 반영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(</a:t>
            </a:r>
            <a:r>
              <a:rPr lang="ko-KR" altLang="en-US" sz="1000" dirty="0" err="1" smtClean="0"/>
              <a:t>현대차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2020)</a:t>
            </a:r>
          </a:p>
          <a:p>
            <a:r>
              <a:rPr lang="en-US" altLang="ko-KR" sz="1000" dirty="0" smtClean="0"/>
              <a:t>- </a:t>
            </a:r>
            <a:r>
              <a:rPr lang="ko-KR" altLang="en-US" sz="1000" dirty="0" smtClean="0"/>
              <a:t>자동차가격 전망이 매우 중요</a:t>
            </a:r>
            <a:endParaRPr lang="en-US" altLang="ko-KR" sz="1000" dirty="0" smtClean="0"/>
          </a:p>
        </p:txBody>
      </p:sp>
      <p:sp>
        <p:nvSpPr>
          <p:cNvPr id="131" name="직사각형 130"/>
          <p:cNvSpPr/>
          <p:nvPr/>
        </p:nvSpPr>
        <p:spPr>
          <a:xfrm>
            <a:off x="-44985" y="5582206"/>
            <a:ext cx="241925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1000" dirty="0" smtClean="0">
                <a:solidFill>
                  <a:prstClr val="black"/>
                </a:solidFill>
              </a:rPr>
              <a:t>2014 </a:t>
            </a:r>
            <a:r>
              <a:rPr lang="ko-KR" altLang="en-US" sz="1000" dirty="0" err="1" smtClean="0">
                <a:solidFill>
                  <a:prstClr val="black"/>
                </a:solidFill>
              </a:rPr>
              <a:t>에너지총조사</a:t>
            </a:r>
            <a:r>
              <a:rPr lang="en-US" altLang="ko-KR" sz="1000" dirty="0" smtClean="0">
                <a:solidFill>
                  <a:prstClr val="black"/>
                </a:solidFill>
              </a:rPr>
              <a:t>(2013</a:t>
            </a:r>
            <a:r>
              <a:rPr lang="ko-KR" altLang="en-US" sz="1000" dirty="0" smtClean="0">
                <a:solidFill>
                  <a:prstClr val="black"/>
                </a:solidFill>
              </a:rPr>
              <a:t>년도 사용량</a:t>
            </a:r>
            <a:r>
              <a:rPr lang="en-US" altLang="ko-KR" sz="1000" dirty="0" smtClean="0">
                <a:solidFill>
                  <a:prstClr val="black"/>
                </a:solidFill>
              </a:rPr>
              <a:t>)</a:t>
            </a:r>
            <a:r>
              <a:rPr lang="ko-KR" altLang="en-US" sz="1000" dirty="0" smtClean="0">
                <a:solidFill>
                  <a:prstClr val="black"/>
                </a:solidFill>
              </a:rPr>
              <a:t>가 </a:t>
            </a:r>
            <a:endParaRPr lang="en-US" altLang="ko-KR" sz="1000" dirty="0" smtClean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 smtClean="0">
                <a:solidFill>
                  <a:prstClr val="black"/>
                </a:solidFill>
              </a:rPr>
              <a:t>2015</a:t>
            </a:r>
            <a:r>
              <a:rPr lang="ko-KR" altLang="en-US" sz="1000" dirty="0" smtClean="0">
                <a:solidFill>
                  <a:prstClr val="black"/>
                </a:solidFill>
              </a:rPr>
              <a:t>년 초에 발간될 것으로 예상되므로</a:t>
            </a:r>
            <a:r>
              <a:rPr lang="en-US" altLang="ko-KR" sz="1000" dirty="0" smtClean="0">
                <a:solidFill>
                  <a:prstClr val="black"/>
                </a:solidFill>
              </a:rPr>
              <a:t>,</a:t>
            </a:r>
          </a:p>
          <a:p>
            <a:pPr lvl="0"/>
            <a:r>
              <a:rPr lang="en-US" altLang="ko-KR" sz="1000" dirty="0" smtClean="0">
                <a:solidFill>
                  <a:prstClr val="black"/>
                </a:solidFill>
              </a:rPr>
              <a:t>2011 </a:t>
            </a:r>
            <a:r>
              <a:rPr lang="ko-KR" altLang="en-US" sz="1000" dirty="0" smtClean="0">
                <a:solidFill>
                  <a:prstClr val="black"/>
                </a:solidFill>
              </a:rPr>
              <a:t>에너지 </a:t>
            </a:r>
            <a:r>
              <a:rPr lang="ko-KR" altLang="en-US" sz="1000" dirty="0" err="1" smtClean="0">
                <a:solidFill>
                  <a:prstClr val="black"/>
                </a:solidFill>
              </a:rPr>
              <a:t>총조사를</a:t>
            </a:r>
            <a:r>
              <a:rPr lang="ko-KR" altLang="en-US" sz="1000" dirty="0" smtClean="0">
                <a:solidFill>
                  <a:prstClr val="black"/>
                </a:solidFill>
              </a:rPr>
              <a:t> 사용하여야 함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2295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ko-KR" altLang="en-US" b="0" dirty="0" smtClean="0"/>
              <a:t>관련 전망</a:t>
            </a:r>
            <a:endParaRPr lang="ko-KR" altLang="en-US" b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수송부문 주요 전망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LP parameter </a:t>
            </a:r>
            <a:r>
              <a:rPr lang="ko-KR" altLang="en-US" dirty="0" smtClean="0"/>
              <a:t>관련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비용전망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대</a:t>
            </a:r>
            <a:r>
              <a:rPr lang="en-US" altLang="ko-KR" dirty="0"/>
              <a:t>-km</a:t>
            </a:r>
            <a:r>
              <a:rPr lang="ko-KR" altLang="en-US" dirty="0"/>
              <a:t>당 비용 및 </a:t>
            </a:r>
            <a:r>
              <a:rPr lang="en-US" altLang="ko-KR" dirty="0"/>
              <a:t>liter</a:t>
            </a:r>
            <a:r>
              <a:rPr lang="ko-KR" altLang="en-US" dirty="0"/>
              <a:t>당 </a:t>
            </a:r>
            <a:r>
              <a:rPr lang="ko-KR" altLang="en-US" dirty="0" smtClean="0"/>
              <a:t>에너지비용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연비전망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연도별 연비개선 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제약식</a:t>
            </a:r>
            <a:r>
              <a:rPr lang="ko-KR" altLang="en-US" dirty="0" smtClean="0"/>
              <a:t> 및 시나리오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차급</a:t>
            </a:r>
            <a:r>
              <a:rPr lang="en-US" altLang="ko-KR" dirty="0" smtClean="0"/>
              <a:t>/</a:t>
            </a:r>
            <a:r>
              <a:rPr lang="ko-KR" altLang="en-US" dirty="0" err="1" smtClean="0"/>
              <a:t>유종별</a:t>
            </a:r>
            <a:r>
              <a:rPr lang="ko-KR" altLang="en-US" dirty="0" smtClean="0"/>
              <a:t> 시장점유율전망</a:t>
            </a:r>
            <a:r>
              <a:rPr lang="en-US" altLang="ko-KR" dirty="0" smtClean="0"/>
              <a:t>, </a:t>
            </a:r>
            <a:r>
              <a:rPr lang="ko-KR" altLang="en-US" dirty="0" smtClean="0"/>
              <a:t>평균온실가스</a:t>
            </a:r>
            <a:r>
              <a:rPr lang="ko-KR" altLang="en-US" dirty="0" smtClean="0">
                <a:sym typeface="Symbol" panose="05050102010706020507" pitchFamily="18" charset="2"/>
              </a:rPr>
              <a:t>연비 제약</a:t>
            </a:r>
            <a:r>
              <a:rPr lang="en-US" altLang="ko-KR" dirty="0" smtClean="0">
                <a:sym typeface="Symbol" panose="05050102010706020507" pitchFamily="18" charset="2"/>
              </a:rPr>
              <a:t>, </a:t>
            </a:r>
            <a:r>
              <a:rPr lang="ko-KR" altLang="en-US" dirty="0" err="1" smtClean="0">
                <a:sym typeface="Symbol" panose="05050102010706020507" pitchFamily="18" charset="2"/>
              </a:rPr>
              <a:t>그린카</a:t>
            </a:r>
            <a:r>
              <a:rPr lang="ko-KR" altLang="en-US" dirty="0" smtClean="0">
                <a:sym typeface="Symbol" panose="05050102010706020507" pitchFamily="18" charset="2"/>
              </a:rPr>
              <a:t> 전망</a:t>
            </a:r>
            <a:endParaRPr lang="en-US" altLang="ko-KR" dirty="0" smtClean="0"/>
          </a:p>
          <a:p>
            <a:r>
              <a:rPr lang="ko-KR" altLang="en-US" dirty="0" smtClean="0"/>
              <a:t>유가전망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장기유가전망은 유가하락으로 인해 급변할 가능성 존재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국내소비자가는 조세 정책을 반영</a:t>
            </a:r>
            <a:endParaRPr lang="en-US" altLang="ko-KR" dirty="0" smtClean="0"/>
          </a:p>
          <a:p>
            <a:r>
              <a:rPr lang="ko-KR" altLang="en-US" dirty="0" smtClean="0"/>
              <a:t>차량가격 전망</a:t>
            </a:r>
            <a:endParaRPr lang="en-US" altLang="ko-KR" dirty="0"/>
          </a:p>
          <a:p>
            <a:pPr lvl="1"/>
            <a:r>
              <a:rPr lang="en-US" altLang="ko-KR" dirty="0"/>
              <a:t>WEO 2009 Potential cost reductions in fuel consumption passenger car </a:t>
            </a:r>
            <a:r>
              <a:rPr lang="en-US" altLang="ko-KR" dirty="0" smtClean="0"/>
              <a:t>transport</a:t>
            </a:r>
          </a:p>
          <a:p>
            <a:pPr lvl="2"/>
            <a:r>
              <a:rPr lang="en-US" altLang="ko-KR" dirty="0" smtClean="0"/>
              <a:t>10</a:t>
            </a:r>
            <a:r>
              <a:rPr lang="ko-KR" altLang="en-US" dirty="0" smtClean="0"/>
              <a:t>명의 전문가 인터뷰를 통해 작성</a:t>
            </a:r>
            <a:r>
              <a:rPr lang="en-US" altLang="ko-KR" dirty="0" smtClean="0"/>
              <a:t>. </a:t>
            </a:r>
            <a:r>
              <a:rPr lang="ko-KR" altLang="en-US" dirty="0" smtClean="0"/>
              <a:t>상대적으로 보수적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한국에너지기술평가원 </a:t>
            </a:r>
            <a:r>
              <a:rPr lang="en-US" altLang="ko-KR" dirty="0" smtClean="0"/>
              <a:t>: 2013-2014 </a:t>
            </a:r>
            <a:r>
              <a:rPr lang="ko-KR" altLang="en-US" dirty="0" smtClean="0"/>
              <a:t>에너지기술 국내전망</a:t>
            </a:r>
            <a:endParaRPr lang="en-US" altLang="ko-KR" dirty="0" smtClean="0"/>
          </a:p>
          <a:p>
            <a:r>
              <a:rPr lang="ko-KR" altLang="en-US" dirty="0" smtClean="0"/>
              <a:t>연비전망</a:t>
            </a:r>
            <a:endParaRPr lang="en-US" altLang="ko-KR" dirty="0" smtClean="0"/>
          </a:p>
          <a:p>
            <a:pPr lvl="1"/>
            <a:r>
              <a:rPr lang="en-US" altLang="ko-KR" dirty="0"/>
              <a:t>WEO 2009 Potential cost reductions in fuel consumption passenger car </a:t>
            </a:r>
            <a:r>
              <a:rPr lang="en-US" altLang="ko-KR" dirty="0" smtClean="0"/>
              <a:t>transport</a:t>
            </a:r>
          </a:p>
          <a:p>
            <a:pPr lvl="1"/>
            <a:r>
              <a:rPr lang="en-US" altLang="ko-KR" dirty="0"/>
              <a:t>2013, </a:t>
            </a:r>
            <a:r>
              <a:rPr lang="ko-KR" altLang="en-US" dirty="0"/>
              <a:t>에너지관리공단</a:t>
            </a:r>
            <a:r>
              <a:rPr lang="en-US" altLang="ko-KR" dirty="0"/>
              <a:t>, </a:t>
            </a:r>
            <a:r>
              <a:rPr lang="ko-KR" altLang="en-US" dirty="0"/>
              <a:t>건물</a:t>
            </a:r>
            <a:r>
              <a:rPr lang="en-US" altLang="ko-KR" dirty="0"/>
              <a:t>·</a:t>
            </a:r>
            <a:r>
              <a:rPr lang="ko-KR" altLang="en-US" dirty="0"/>
              <a:t>수송부문 온실가스 감축수단 </a:t>
            </a:r>
            <a:r>
              <a:rPr lang="en-US" altLang="ko-KR" dirty="0"/>
              <a:t>Pool </a:t>
            </a:r>
            <a:r>
              <a:rPr lang="ko-KR" altLang="en-US" dirty="0"/>
              <a:t>구축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47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22796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en-US" altLang="ko-KR" b="0" dirty="0" smtClean="0"/>
              <a:t>EPA 2006 Database</a:t>
            </a:r>
            <a:endParaRPr lang="ko-KR" altLang="en-US" b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349 </a:t>
            </a:r>
            <a:r>
              <a:rPr lang="en-US" altLang="ko-KR" dirty="0"/>
              <a:t>end-use technologies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48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092" y="2851152"/>
            <a:ext cx="6470059" cy="318322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35" y="1302625"/>
            <a:ext cx="2220042" cy="13246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5574" y="4724888"/>
            <a:ext cx="17175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vintaged</a:t>
            </a:r>
            <a:r>
              <a:rPr lang="en-US" altLang="ko-KR" dirty="0" smtClean="0"/>
              <a:t> efficiency </a:t>
            </a:r>
            <a:r>
              <a:rPr lang="ko-KR" altLang="en-US" dirty="0" smtClean="0"/>
              <a:t>고려</a:t>
            </a:r>
            <a:endParaRPr lang="ko-KR" altLang="en-US" dirty="0"/>
          </a:p>
        </p:txBody>
      </p:sp>
      <p:sp>
        <p:nvSpPr>
          <p:cNvPr id="8" name="왼쪽 중괄호 7"/>
          <p:cNvSpPr/>
          <p:nvPr/>
        </p:nvSpPr>
        <p:spPr>
          <a:xfrm>
            <a:off x="1967790" y="4513477"/>
            <a:ext cx="275672" cy="763219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왼쪽 중괄호 8"/>
          <p:cNvSpPr/>
          <p:nvPr/>
        </p:nvSpPr>
        <p:spPr>
          <a:xfrm>
            <a:off x="2004365" y="5413212"/>
            <a:ext cx="253727" cy="591904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6114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ko-KR" altLang="en-US" dirty="0" smtClean="0"/>
              <a:t>기술 </a:t>
            </a:r>
            <a:r>
              <a:rPr lang="en-US" altLang="ko-KR" dirty="0" smtClean="0"/>
              <a:t>DB </a:t>
            </a:r>
            <a:r>
              <a:rPr lang="ko-KR" altLang="en-US" dirty="0" smtClean="0"/>
              <a:t>구성방안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연도별 연비향상을 고려하는 방안</a:t>
            </a:r>
            <a:r>
              <a:rPr lang="en-US" altLang="ko-KR" dirty="0" smtClean="0"/>
              <a:t>(EPA 2006</a:t>
            </a:r>
            <a:r>
              <a:rPr lang="ko-KR" altLang="en-US" dirty="0" smtClean="0"/>
              <a:t>방식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승용</a:t>
            </a:r>
            <a:r>
              <a:rPr lang="en-US" altLang="ko-KR" dirty="0" smtClean="0"/>
              <a:t>(LDV)</a:t>
            </a:r>
            <a:r>
              <a:rPr lang="ko-KR" altLang="en-US" dirty="0" smtClean="0"/>
              <a:t>부문은 </a:t>
            </a:r>
            <a:r>
              <a:rPr lang="en-US" altLang="ko-KR" dirty="0" smtClean="0"/>
              <a:t>312</a:t>
            </a:r>
            <a:r>
              <a:rPr lang="ko-KR" altLang="en-US" dirty="0" smtClean="0"/>
              <a:t>개로 구성되는데</a:t>
            </a:r>
            <a:endParaRPr lang="en-US" altLang="ko-KR" dirty="0"/>
          </a:p>
          <a:p>
            <a:pPr lvl="2"/>
            <a:r>
              <a:rPr lang="ko-KR" altLang="en-US" dirty="0" err="1" smtClean="0"/>
              <a:t>차급</a:t>
            </a:r>
            <a:r>
              <a:rPr lang="ko-KR" altLang="en-US" dirty="0" smtClean="0"/>
              <a:t> </a:t>
            </a:r>
            <a:r>
              <a:rPr lang="en-US" altLang="ko-KR" dirty="0" smtClean="0"/>
              <a:t>: existing, compact, full-size, SUV, minivan, pick-up</a:t>
            </a:r>
          </a:p>
          <a:p>
            <a:pPr lvl="2"/>
            <a:r>
              <a:rPr lang="ko-KR" altLang="en-US" dirty="0" smtClean="0"/>
              <a:t>연도 </a:t>
            </a:r>
            <a:r>
              <a:rPr lang="en-US" altLang="ko-KR" dirty="0" smtClean="0"/>
              <a:t>: 2000, 2005, …, 2035</a:t>
            </a:r>
          </a:p>
          <a:p>
            <a:pPr lvl="2"/>
            <a:r>
              <a:rPr lang="ko-KR" altLang="en-US" dirty="0" smtClean="0"/>
              <a:t>연료 </a:t>
            </a:r>
            <a:r>
              <a:rPr lang="en-US" altLang="ko-KR" dirty="0" smtClean="0"/>
              <a:t>: gasoline, diesel, LPG </a:t>
            </a:r>
            <a:r>
              <a:rPr lang="ko-KR" altLang="en-US" dirty="0" smtClean="0"/>
              <a:t>등</a:t>
            </a:r>
            <a:endParaRPr lang="en-US" altLang="ko-KR" dirty="0" smtClean="0"/>
          </a:p>
          <a:p>
            <a:r>
              <a:rPr lang="en-US" altLang="ko-KR" dirty="0" smtClean="0"/>
              <a:t>2020 </a:t>
            </a:r>
            <a:r>
              <a:rPr lang="ko-KR" altLang="en-US" dirty="0" smtClean="0"/>
              <a:t>중기계획에서의 승용부문 기술 </a:t>
            </a:r>
            <a:r>
              <a:rPr lang="en-US" altLang="ko-KR" dirty="0" smtClean="0"/>
              <a:t>DB</a:t>
            </a:r>
          </a:p>
          <a:p>
            <a:pPr lvl="1"/>
            <a:r>
              <a:rPr lang="ko-KR" altLang="en-US" dirty="0" smtClean="0"/>
              <a:t>유종</a:t>
            </a:r>
            <a:r>
              <a:rPr lang="en-US" altLang="ko-KR" dirty="0" smtClean="0"/>
              <a:t>(6), </a:t>
            </a:r>
            <a:r>
              <a:rPr lang="ko-KR" altLang="en-US" dirty="0" err="1" smtClean="0"/>
              <a:t>차급</a:t>
            </a:r>
            <a:r>
              <a:rPr lang="en-US" altLang="ko-KR" dirty="0" smtClean="0"/>
              <a:t>(3), </a:t>
            </a:r>
            <a:r>
              <a:rPr lang="ko-KR" altLang="en-US" dirty="0" err="1" smtClean="0"/>
              <a:t>기술별</a:t>
            </a:r>
            <a:r>
              <a:rPr lang="en-US" altLang="ko-KR" dirty="0" smtClean="0"/>
              <a:t>(10)</a:t>
            </a:r>
            <a:r>
              <a:rPr lang="ko-KR" altLang="en-US" dirty="0" smtClean="0"/>
              <a:t>로 나누고 있음</a:t>
            </a:r>
            <a:r>
              <a:rPr lang="en-US" altLang="ko-KR" dirty="0" smtClean="0"/>
              <a:t>(180</a:t>
            </a:r>
            <a:r>
              <a:rPr lang="ko-KR" altLang="en-US" dirty="0" smtClean="0"/>
              <a:t>차종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연도별 효율개선은 포함하지 않음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49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252004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ko-KR" altLang="en-US" b="0" dirty="0" smtClean="0"/>
              <a:t>기술 </a:t>
            </a:r>
            <a:r>
              <a:rPr lang="en-US" altLang="ko-KR" b="0" dirty="0" smtClean="0"/>
              <a:t>DB </a:t>
            </a:r>
            <a:r>
              <a:rPr lang="ko-KR" altLang="en-US" b="0" dirty="0" smtClean="0"/>
              <a:t>구성방안 </a:t>
            </a:r>
            <a:r>
              <a:rPr lang="en-US" altLang="ko-KR" b="0" dirty="0" smtClean="0"/>
              <a:t>- </a:t>
            </a:r>
            <a:r>
              <a:rPr lang="ko-KR" altLang="en-US" b="0" dirty="0" smtClean="0"/>
              <a:t>승용부문</a:t>
            </a:r>
            <a:endParaRPr lang="ko-KR" altLang="en-US" b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제조사별 차종 구분을 고려하는 방안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승용부문의 경우 차량등록대수는 국내생산은 </a:t>
            </a:r>
            <a:r>
              <a:rPr lang="en-US" altLang="ko-KR" dirty="0" smtClean="0"/>
              <a:t>2013</a:t>
            </a:r>
            <a:r>
              <a:rPr lang="ko-KR" altLang="en-US" dirty="0" smtClean="0"/>
              <a:t>년 기준 </a:t>
            </a:r>
            <a:r>
              <a:rPr lang="en-US" altLang="ko-KR" dirty="0" smtClean="0"/>
              <a:t>1</a:t>
            </a:r>
            <a:r>
              <a:rPr lang="ko-KR" altLang="en-US" dirty="0" smtClean="0"/>
              <a:t>위 소나타</a:t>
            </a:r>
            <a:r>
              <a:rPr lang="en-US" altLang="ko-KR" dirty="0"/>
              <a:t>(</a:t>
            </a:r>
            <a:r>
              <a:rPr lang="en-US" altLang="ko-KR" dirty="0" smtClean="0"/>
              <a:t>1,643,109</a:t>
            </a:r>
            <a:r>
              <a:rPr lang="ko-KR" altLang="en-US" dirty="0" smtClean="0"/>
              <a:t>대</a:t>
            </a:r>
            <a:r>
              <a:rPr lang="en-US" altLang="ko-KR" dirty="0" smtClean="0"/>
              <a:t>), 45</a:t>
            </a:r>
            <a:r>
              <a:rPr lang="ko-KR" altLang="en-US" dirty="0" smtClean="0"/>
              <a:t>위는 </a:t>
            </a:r>
            <a:r>
              <a:rPr lang="ko-KR" altLang="en-US" dirty="0" err="1" smtClean="0"/>
              <a:t>한국지엠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라보</a:t>
            </a:r>
            <a:r>
              <a:rPr lang="en-US" altLang="ko-KR" dirty="0"/>
              <a:t>(</a:t>
            </a:r>
            <a:r>
              <a:rPr lang="en-US" altLang="ko-KR" dirty="0" smtClean="0"/>
              <a:t>46,109</a:t>
            </a:r>
            <a:r>
              <a:rPr lang="ko-KR" altLang="en-US" dirty="0" smtClean="0"/>
              <a:t>대</a:t>
            </a:r>
            <a:r>
              <a:rPr lang="en-US" altLang="ko-KR" dirty="0" smtClean="0"/>
              <a:t>)</a:t>
            </a:r>
            <a:r>
              <a:rPr lang="ko-KR" altLang="en-US" dirty="0" smtClean="0"/>
              <a:t>이고</a:t>
            </a:r>
            <a:endParaRPr lang="en-US" altLang="ko-KR" dirty="0"/>
          </a:p>
          <a:p>
            <a:pPr lvl="2"/>
            <a:r>
              <a:rPr lang="ko-KR" altLang="en-US" dirty="0" err="1" smtClean="0"/>
              <a:t>수입차의</a:t>
            </a:r>
            <a:r>
              <a:rPr lang="ko-KR" altLang="en-US" dirty="0" smtClean="0"/>
              <a:t> 경우 </a:t>
            </a:r>
            <a:r>
              <a:rPr lang="en-US" altLang="ko-KR" dirty="0" smtClean="0"/>
              <a:t>BMW 5</a:t>
            </a:r>
            <a:r>
              <a:rPr lang="ko-KR" altLang="en-US" dirty="0" err="1" smtClean="0"/>
              <a:t>시리스</a:t>
            </a:r>
            <a:r>
              <a:rPr lang="en-US" altLang="ko-KR" dirty="0" smtClean="0"/>
              <a:t>(79,960</a:t>
            </a:r>
            <a:r>
              <a:rPr lang="ko-KR" altLang="en-US" dirty="0" smtClean="0"/>
              <a:t>대</a:t>
            </a:r>
            <a:r>
              <a:rPr lang="en-US" altLang="ko-KR" dirty="0" smtClean="0"/>
              <a:t>)</a:t>
            </a:r>
            <a:r>
              <a:rPr lang="ko-KR" altLang="en-US" dirty="0" smtClean="0"/>
              <a:t>이고</a:t>
            </a:r>
            <a:r>
              <a:rPr lang="en-US" altLang="ko-KR" dirty="0" smtClean="0"/>
              <a:t>, 30,000</a:t>
            </a:r>
            <a:r>
              <a:rPr lang="ko-KR" altLang="en-US" dirty="0" smtClean="0"/>
              <a:t>대 이상은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개 차종이 있음</a:t>
            </a:r>
            <a:endParaRPr lang="en-US" altLang="ko-KR" dirty="0" smtClean="0"/>
          </a:p>
          <a:p>
            <a:r>
              <a:rPr lang="ko-KR" altLang="en-US" dirty="0" smtClean="0"/>
              <a:t>제조사별 차종 구분</a:t>
            </a:r>
            <a:r>
              <a:rPr lang="en-US" altLang="ko-KR" dirty="0" smtClean="0"/>
              <a:t>(50+264)</a:t>
            </a:r>
          </a:p>
          <a:p>
            <a:pPr lvl="1"/>
            <a:r>
              <a:rPr lang="ko-KR" altLang="en-US" dirty="0" smtClean="0"/>
              <a:t>승용부문 기술 </a:t>
            </a:r>
            <a:r>
              <a:rPr lang="en-US" altLang="ko-KR" dirty="0" smtClean="0"/>
              <a:t>DB</a:t>
            </a:r>
            <a:r>
              <a:rPr lang="ko-KR" altLang="en-US" dirty="0" smtClean="0"/>
              <a:t>의 구성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기존기술은 약 </a:t>
            </a:r>
            <a:r>
              <a:rPr lang="en-US" altLang="ko-KR" dirty="0" smtClean="0"/>
              <a:t>50</a:t>
            </a:r>
            <a:r>
              <a:rPr lang="ko-KR" altLang="en-US" dirty="0" smtClean="0"/>
              <a:t>개의 차종을 고려</a:t>
            </a:r>
            <a:r>
              <a:rPr lang="en-US" altLang="ko-KR" dirty="0" smtClean="0"/>
              <a:t> : 2015</a:t>
            </a:r>
            <a:r>
              <a:rPr lang="ko-KR" altLang="en-US" dirty="0" smtClean="0"/>
              <a:t>년까지 생산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기존기술 효율개선은 </a:t>
            </a:r>
            <a:r>
              <a:rPr lang="ko-KR" altLang="en-US" dirty="0"/>
              <a:t>유종</a:t>
            </a:r>
            <a:r>
              <a:rPr lang="en-US" altLang="ko-KR" dirty="0"/>
              <a:t>(3), </a:t>
            </a:r>
            <a:r>
              <a:rPr lang="ko-KR" altLang="en-US" dirty="0" err="1"/>
              <a:t>차급</a:t>
            </a:r>
            <a:r>
              <a:rPr lang="en-US" altLang="ko-KR" dirty="0" smtClean="0"/>
              <a:t>(6), </a:t>
            </a:r>
            <a:r>
              <a:rPr lang="ko-KR" altLang="en-US" dirty="0"/>
              <a:t>연도별</a:t>
            </a:r>
            <a:r>
              <a:rPr lang="en-US" altLang="ko-KR" dirty="0"/>
              <a:t>(2015, 2020, 2030, 2040) : 3</a:t>
            </a:r>
            <a:r>
              <a:rPr lang="en-US" altLang="ko-KR" dirty="0" smtClean="0">
                <a:sym typeface="Symbol" panose="05050102010706020507" pitchFamily="18" charset="2"/>
              </a:rPr>
              <a:t>64=72</a:t>
            </a:r>
            <a:r>
              <a:rPr lang="ko-KR" altLang="en-US" dirty="0" smtClean="0">
                <a:sym typeface="Symbol" panose="05050102010706020507" pitchFamily="18" charset="2"/>
              </a:rPr>
              <a:t>개 </a:t>
            </a:r>
            <a:r>
              <a:rPr lang="ko-KR" altLang="en-US" dirty="0">
                <a:sym typeface="Symbol" panose="05050102010706020507" pitchFamily="18" charset="2"/>
              </a:rPr>
              <a:t>차종</a:t>
            </a:r>
            <a:endParaRPr lang="en-US" altLang="ko-KR" dirty="0"/>
          </a:p>
          <a:p>
            <a:pPr lvl="2"/>
            <a:r>
              <a:rPr lang="en-US" altLang="ko-KR" dirty="0" smtClean="0"/>
              <a:t>hybrid, plug-in</a:t>
            </a:r>
            <a:r>
              <a:rPr lang="ko-KR" altLang="en-US" dirty="0" smtClean="0"/>
              <a:t>은 </a:t>
            </a:r>
            <a:r>
              <a:rPr lang="ko-KR" altLang="en-US" dirty="0"/>
              <a:t>유종</a:t>
            </a:r>
            <a:r>
              <a:rPr lang="en-US" altLang="ko-KR" dirty="0"/>
              <a:t>(3), </a:t>
            </a:r>
            <a:r>
              <a:rPr lang="ko-KR" altLang="en-US" dirty="0" err="1"/>
              <a:t>차급</a:t>
            </a:r>
            <a:r>
              <a:rPr lang="en-US" altLang="ko-KR" dirty="0" smtClean="0"/>
              <a:t>(6), </a:t>
            </a:r>
            <a:r>
              <a:rPr lang="ko-KR" altLang="en-US" dirty="0" smtClean="0"/>
              <a:t>연도별</a:t>
            </a:r>
            <a:r>
              <a:rPr lang="en-US" altLang="ko-KR" dirty="0" smtClean="0"/>
              <a:t>(2015, 2020, 2030, 2040) </a:t>
            </a:r>
            <a:r>
              <a:rPr lang="en-US" altLang="ko-KR" dirty="0"/>
              <a:t>: </a:t>
            </a:r>
            <a:r>
              <a:rPr lang="en-US" altLang="ko-KR" dirty="0" smtClean="0"/>
              <a:t>2</a:t>
            </a:r>
            <a:r>
              <a:rPr lang="en-US" altLang="ko-KR" dirty="0" smtClean="0">
                <a:sym typeface="Symbol" panose="05050102010706020507" pitchFamily="18" charset="2"/>
              </a:rPr>
              <a:t> </a:t>
            </a:r>
            <a:r>
              <a:rPr lang="en-US" altLang="ko-KR" dirty="0" smtClean="0"/>
              <a:t>3</a:t>
            </a:r>
            <a:r>
              <a:rPr lang="en-US" altLang="ko-KR" dirty="0" smtClean="0">
                <a:sym typeface="Symbol" panose="05050102010706020507" pitchFamily="18" charset="2"/>
              </a:rPr>
              <a:t>64=144</a:t>
            </a:r>
            <a:r>
              <a:rPr lang="ko-KR" altLang="en-US" dirty="0" smtClean="0">
                <a:sym typeface="Symbol" panose="05050102010706020507" pitchFamily="18" charset="2"/>
              </a:rPr>
              <a:t>개 차종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electric, fuel-cell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차급</a:t>
            </a:r>
            <a:r>
              <a:rPr lang="en-US" altLang="ko-KR" dirty="0" smtClean="0"/>
              <a:t>(6),</a:t>
            </a:r>
            <a:r>
              <a:rPr lang="ko-KR" altLang="en-US" dirty="0" smtClean="0"/>
              <a:t> 연도별</a:t>
            </a:r>
            <a:r>
              <a:rPr lang="en-US" altLang="ko-KR" dirty="0" smtClean="0"/>
              <a:t>(</a:t>
            </a:r>
            <a:r>
              <a:rPr lang="en-US" altLang="ko-KR" dirty="0"/>
              <a:t>2015, 2020, 2030, 2040</a:t>
            </a:r>
            <a:r>
              <a:rPr lang="en-US" altLang="ko-KR" dirty="0" smtClean="0"/>
              <a:t>) : (2</a:t>
            </a:r>
            <a:r>
              <a:rPr lang="en-US" altLang="ko-KR" dirty="0" smtClean="0">
                <a:sym typeface="Symbol" panose="05050102010706020507" pitchFamily="18" charset="2"/>
              </a:rPr>
              <a:t>64=48</a:t>
            </a:r>
            <a:r>
              <a:rPr lang="ko-KR" altLang="en-US" dirty="0" smtClean="0">
                <a:sym typeface="Symbol" panose="05050102010706020507" pitchFamily="18" charset="2"/>
              </a:rPr>
              <a:t>개</a:t>
            </a:r>
            <a:r>
              <a:rPr lang="ko-KR" altLang="en-US" dirty="0" smtClean="0"/>
              <a:t> </a:t>
            </a:r>
            <a:r>
              <a:rPr lang="ko-KR" altLang="en-US" dirty="0"/>
              <a:t>차종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장점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기존기술에 대한 세밀한 정보 활용가능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BAU </a:t>
            </a:r>
            <a:r>
              <a:rPr lang="ko-KR" altLang="en-US" dirty="0" smtClean="0"/>
              <a:t>산정 및 에너지전망에 대한 정합성 확보 가능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2010</a:t>
            </a:r>
            <a:r>
              <a:rPr lang="ko-KR" altLang="en-US" dirty="0" smtClean="0"/>
              <a:t>년부터 </a:t>
            </a:r>
            <a:r>
              <a:rPr lang="en-US" altLang="ko-KR" dirty="0" smtClean="0"/>
              <a:t>2014</a:t>
            </a:r>
            <a:r>
              <a:rPr lang="ko-KR" altLang="en-US" dirty="0" smtClean="0"/>
              <a:t>년까지는 기존등록차량을 가지고 모형의 정합성확인</a:t>
            </a:r>
            <a:r>
              <a:rPr lang="en-US" altLang="ko-KR" dirty="0" smtClean="0"/>
              <a:t>(learning)</a:t>
            </a:r>
          </a:p>
          <a:p>
            <a:pPr lvl="2"/>
            <a:r>
              <a:rPr lang="en-US" altLang="ko-KR" dirty="0" smtClean="0"/>
              <a:t>2015</a:t>
            </a:r>
            <a:r>
              <a:rPr lang="ko-KR" altLang="en-US" dirty="0" smtClean="0"/>
              <a:t>년부터는 기존기술효율개선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그린카</a:t>
            </a:r>
            <a:r>
              <a:rPr lang="ko-KR" altLang="en-US" dirty="0" smtClean="0"/>
              <a:t> 도입되고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기존기술은 </a:t>
            </a:r>
            <a:r>
              <a:rPr lang="en-US" altLang="ko-KR" dirty="0" smtClean="0"/>
              <a:t>2015</a:t>
            </a:r>
            <a:r>
              <a:rPr lang="ko-KR" altLang="en-US" dirty="0" smtClean="0"/>
              <a:t>년까지 생산되므로 운행은 </a:t>
            </a:r>
            <a:r>
              <a:rPr lang="en-US" altLang="ko-KR" dirty="0" smtClean="0"/>
              <a:t>2024</a:t>
            </a:r>
            <a:r>
              <a:rPr lang="ko-KR" altLang="en-US" dirty="0" smtClean="0"/>
              <a:t>년에 모두 종료됨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의사결정변수의 수 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기존 </a:t>
            </a:r>
            <a:r>
              <a:rPr lang="en-US" altLang="ko-KR" dirty="0" smtClean="0"/>
              <a:t>180</a:t>
            </a:r>
            <a:r>
              <a:rPr lang="en-US" altLang="ko-KR" dirty="0" smtClean="0">
                <a:sym typeface="Symbol" panose="05050102010706020507" pitchFamily="18" charset="2"/>
              </a:rPr>
              <a:t> </a:t>
            </a:r>
            <a:r>
              <a:rPr lang="en-US" altLang="ko-KR" dirty="0">
                <a:sym typeface="Symbol" panose="05050102010706020507" pitchFamily="18" charset="2"/>
              </a:rPr>
              <a:t> </a:t>
            </a:r>
            <a:r>
              <a:rPr lang="en-US" altLang="ko-KR" dirty="0" smtClean="0">
                <a:sym typeface="Symbol" panose="05050102010706020507" pitchFamily="18" charset="2"/>
              </a:rPr>
              <a:t>50 </a:t>
            </a:r>
            <a:r>
              <a:rPr lang="en-US" altLang="ko-KR" dirty="0">
                <a:sym typeface="Symbol" panose="05050102010706020507" pitchFamily="18" charset="2"/>
              </a:rPr>
              <a:t> 2</a:t>
            </a:r>
            <a:endParaRPr lang="en-US" altLang="ko-KR" dirty="0"/>
          </a:p>
          <a:p>
            <a:pPr lvl="2"/>
            <a:r>
              <a:rPr lang="ko-KR" altLang="en-US" dirty="0" smtClean="0"/>
              <a:t>변경 </a:t>
            </a:r>
            <a:r>
              <a:rPr lang="en-US" altLang="ko-KR" dirty="0" smtClean="0"/>
              <a:t>314</a:t>
            </a:r>
            <a:r>
              <a:rPr lang="en-US" altLang="ko-KR" dirty="0" smtClean="0">
                <a:sym typeface="Symbol" panose="05050102010706020507" pitchFamily="18" charset="2"/>
              </a:rPr>
              <a:t>  40  2 </a:t>
            </a:r>
          </a:p>
          <a:p>
            <a:pPr marL="914400" lvl="2" indent="0">
              <a:buNone/>
            </a:pPr>
            <a:r>
              <a:rPr lang="en-US" altLang="ko-KR" dirty="0" smtClean="0">
                <a:sym typeface="Symbol" panose="05050102010706020507" pitchFamily="18" charset="2"/>
              </a:rPr>
              <a:t>     (</a:t>
            </a:r>
            <a:r>
              <a:rPr lang="ko-KR" altLang="en-US" dirty="0" smtClean="0">
                <a:sym typeface="Symbol" panose="05050102010706020507" pitchFamily="18" charset="2"/>
              </a:rPr>
              <a:t>실제 기술기술은 </a:t>
            </a:r>
            <a:r>
              <a:rPr lang="en-US" altLang="ko-KR" dirty="0" smtClean="0">
                <a:sym typeface="Symbol" panose="05050102010706020507" pitchFamily="18" charset="2"/>
              </a:rPr>
              <a:t>2015</a:t>
            </a:r>
            <a:r>
              <a:rPr lang="ko-KR" altLang="en-US" dirty="0" smtClean="0">
                <a:sym typeface="Symbol" panose="05050102010706020507" pitchFamily="18" charset="2"/>
              </a:rPr>
              <a:t>년까지 생산이므로</a:t>
            </a:r>
            <a:r>
              <a:rPr lang="en-US" altLang="ko-KR" dirty="0" smtClean="0">
                <a:sym typeface="Symbol" panose="05050102010706020507" pitchFamily="18" charset="2"/>
              </a:rPr>
              <a:t>, </a:t>
            </a:r>
            <a:r>
              <a:rPr lang="ko-KR" altLang="en-US" dirty="0" smtClean="0">
                <a:sym typeface="Symbol" panose="05050102010706020507" pitchFamily="18" charset="2"/>
              </a:rPr>
              <a:t>변수의 수가 많이 </a:t>
            </a:r>
            <a:r>
              <a:rPr lang="ko-KR" altLang="en-US" dirty="0" err="1" smtClean="0">
                <a:sym typeface="Symbol" panose="05050102010706020507" pitchFamily="18" charset="2"/>
              </a:rPr>
              <a:t>줄어듬</a:t>
            </a:r>
            <a:r>
              <a:rPr lang="en-US" altLang="ko-KR" dirty="0" smtClean="0">
                <a:sym typeface="Symbol" panose="05050102010706020507" pitchFamily="18" charset="2"/>
              </a:rPr>
              <a:t>)</a:t>
            </a:r>
          </a:p>
          <a:p>
            <a:pPr marL="914400" lvl="2" indent="0">
              <a:buNone/>
            </a:pPr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50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701711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ko-KR" altLang="en-US" sz="2400" b="0" dirty="0" smtClean="0"/>
              <a:t>기술 </a:t>
            </a:r>
            <a:r>
              <a:rPr lang="en-US" altLang="ko-KR" sz="2400" b="0" dirty="0" smtClean="0"/>
              <a:t>DB </a:t>
            </a:r>
            <a:r>
              <a:rPr lang="ko-KR" altLang="en-US" sz="2400" b="0" dirty="0" smtClean="0"/>
              <a:t>구성방안 </a:t>
            </a:r>
            <a:r>
              <a:rPr lang="en-US" altLang="ko-KR" sz="2400" b="0" dirty="0" smtClean="0"/>
              <a:t> </a:t>
            </a:r>
            <a:r>
              <a:rPr lang="ko-KR" altLang="en-US" sz="2400" b="0" dirty="0" smtClean="0"/>
              <a:t>승용부문의</a:t>
            </a:r>
            <a:r>
              <a:rPr lang="en-US" altLang="ko-KR" sz="2400" b="0" dirty="0" smtClean="0"/>
              <a:t> approximation</a:t>
            </a:r>
            <a:endParaRPr lang="ko-KR" altLang="en-US" sz="2400" b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연도별 효율개선을 </a:t>
            </a:r>
            <a:r>
              <a:rPr lang="en-US" altLang="ko-KR" dirty="0" smtClean="0"/>
              <a:t>(type-1 technology)</a:t>
            </a:r>
            <a:r>
              <a:rPr lang="ko-KR" altLang="en-US" dirty="0" smtClean="0"/>
              <a:t>로 구성하는 경우</a:t>
            </a:r>
            <a:endParaRPr lang="en-US" altLang="ko-KR" dirty="0" smtClean="0"/>
          </a:p>
          <a:p>
            <a:pPr lvl="2"/>
            <a:r>
              <a:rPr lang="ko-KR" altLang="en-US" dirty="0"/>
              <a:t>연도별</a:t>
            </a:r>
            <a:r>
              <a:rPr lang="en-US" altLang="ko-KR" dirty="0"/>
              <a:t>(2015, 2020, 2030, 2040) </a:t>
            </a:r>
            <a:r>
              <a:rPr lang="ko-KR" altLang="en-US" dirty="0" smtClean="0"/>
              <a:t>로 나누어져 있던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차량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기술을 한 개로 취급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(type-1 technology)</a:t>
            </a:r>
            <a:r>
              <a:rPr lang="ko-KR" altLang="en-US" dirty="0" smtClean="0"/>
              <a:t>로 구성하여 연비효율개선 반영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최적해로부터 정확한 에너지 사용량 재계산</a:t>
            </a:r>
            <a:endParaRPr lang="en-US" altLang="ko-KR" dirty="0" smtClean="0"/>
          </a:p>
          <a:p>
            <a:r>
              <a:rPr lang="ko-KR" altLang="en-US" dirty="0" smtClean="0"/>
              <a:t>제조사별 차종 구분을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하지 않는 경우</a:t>
            </a:r>
            <a:r>
              <a:rPr lang="en-US" altLang="ko-KR" dirty="0" smtClean="0"/>
              <a:t>(66</a:t>
            </a:r>
            <a:r>
              <a:rPr lang="ko-KR" altLang="en-US" dirty="0" smtClean="0"/>
              <a:t>종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승용부문 기술 </a:t>
            </a:r>
            <a:r>
              <a:rPr lang="en-US" altLang="ko-KR" dirty="0" smtClean="0"/>
              <a:t>DB</a:t>
            </a:r>
            <a:r>
              <a:rPr lang="ko-KR" altLang="en-US" dirty="0" smtClean="0"/>
              <a:t>의 구성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기존기술은 효율개선</a:t>
            </a:r>
            <a:r>
              <a:rPr lang="en-US" altLang="ko-KR" dirty="0" smtClean="0"/>
              <a:t>(type-1)</a:t>
            </a:r>
            <a:r>
              <a:rPr lang="ko-KR" altLang="en-US" dirty="0" smtClean="0"/>
              <a:t>을 포함하면서 </a:t>
            </a:r>
            <a:r>
              <a:rPr lang="ko-KR" altLang="en-US" dirty="0"/>
              <a:t>유종</a:t>
            </a:r>
            <a:r>
              <a:rPr lang="en-US" altLang="ko-KR" dirty="0"/>
              <a:t>(3), </a:t>
            </a:r>
            <a:r>
              <a:rPr lang="ko-KR" altLang="en-US" dirty="0" err="1"/>
              <a:t>차급</a:t>
            </a:r>
            <a:r>
              <a:rPr lang="en-US" altLang="ko-KR" dirty="0" smtClean="0"/>
              <a:t>(6) </a:t>
            </a:r>
            <a:r>
              <a:rPr lang="en-US" altLang="ko-KR" dirty="0"/>
              <a:t>: 3</a:t>
            </a:r>
            <a:r>
              <a:rPr lang="en-US" altLang="ko-KR" dirty="0" smtClean="0">
                <a:sym typeface="Symbol" panose="05050102010706020507" pitchFamily="18" charset="2"/>
              </a:rPr>
              <a:t>6=18</a:t>
            </a:r>
            <a:r>
              <a:rPr lang="ko-KR" altLang="en-US" dirty="0" smtClean="0">
                <a:sym typeface="Symbol" panose="05050102010706020507" pitchFamily="18" charset="2"/>
              </a:rPr>
              <a:t>개 </a:t>
            </a:r>
            <a:r>
              <a:rPr lang="ko-KR" altLang="en-US" dirty="0">
                <a:sym typeface="Symbol" panose="05050102010706020507" pitchFamily="18" charset="2"/>
              </a:rPr>
              <a:t>차종</a:t>
            </a:r>
            <a:endParaRPr lang="en-US" altLang="ko-KR" dirty="0"/>
          </a:p>
          <a:p>
            <a:pPr lvl="2"/>
            <a:r>
              <a:rPr lang="ko-KR" altLang="en-US" dirty="0" err="1" smtClean="0"/>
              <a:t>그린카</a:t>
            </a:r>
            <a:r>
              <a:rPr lang="ko-KR" altLang="en-US" dirty="0" smtClean="0"/>
              <a:t> 중 </a:t>
            </a:r>
            <a:r>
              <a:rPr lang="en-US" altLang="ko-KR" dirty="0" smtClean="0"/>
              <a:t>hybrid, plug-in</a:t>
            </a:r>
            <a:r>
              <a:rPr lang="ko-KR" altLang="en-US" dirty="0" smtClean="0"/>
              <a:t>은 </a:t>
            </a:r>
            <a:r>
              <a:rPr lang="ko-KR" altLang="en-US" dirty="0"/>
              <a:t>유종</a:t>
            </a:r>
            <a:r>
              <a:rPr lang="en-US" altLang="ko-KR" dirty="0"/>
              <a:t>(3), </a:t>
            </a:r>
            <a:r>
              <a:rPr lang="ko-KR" altLang="en-US" dirty="0" err="1"/>
              <a:t>차급</a:t>
            </a:r>
            <a:r>
              <a:rPr lang="en-US" altLang="ko-KR" dirty="0" smtClean="0"/>
              <a:t>(6) </a:t>
            </a:r>
            <a:r>
              <a:rPr lang="en-US" altLang="ko-KR" dirty="0"/>
              <a:t>: </a:t>
            </a:r>
            <a:r>
              <a:rPr lang="en-US" altLang="ko-KR" dirty="0" smtClean="0"/>
              <a:t>2</a:t>
            </a:r>
            <a:r>
              <a:rPr lang="en-US" altLang="ko-KR" dirty="0" smtClean="0">
                <a:sym typeface="Symbol" panose="05050102010706020507" pitchFamily="18" charset="2"/>
              </a:rPr>
              <a:t></a:t>
            </a:r>
            <a:r>
              <a:rPr lang="en-US" altLang="ko-KR" dirty="0" smtClean="0"/>
              <a:t>3</a:t>
            </a:r>
            <a:r>
              <a:rPr lang="en-US" altLang="ko-KR" dirty="0" smtClean="0">
                <a:sym typeface="Symbol" panose="05050102010706020507" pitchFamily="18" charset="2"/>
              </a:rPr>
              <a:t>6=36</a:t>
            </a:r>
            <a:r>
              <a:rPr lang="ko-KR" altLang="en-US" dirty="0" smtClean="0">
                <a:sym typeface="Symbol" panose="05050102010706020507" pitchFamily="18" charset="2"/>
              </a:rPr>
              <a:t>개 차종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그린카</a:t>
            </a:r>
            <a:r>
              <a:rPr lang="ko-KR" altLang="en-US" dirty="0" smtClean="0"/>
              <a:t> 중 </a:t>
            </a:r>
            <a:r>
              <a:rPr lang="en-US" altLang="ko-KR" dirty="0" smtClean="0"/>
              <a:t>electric, fuel-cell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차급</a:t>
            </a:r>
            <a:r>
              <a:rPr lang="en-US" altLang="ko-KR" dirty="0" smtClean="0"/>
              <a:t>(6) : (2</a:t>
            </a:r>
            <a:r>
              <a:rPr lang="en-US" altLang="ko-KR" dirty="0" smtClean="0">
                <a:sym typeface="Symbol" panose="05050102010706020507" pitchFamily="18" charset="2"/>
              </a:rPr>
              <a:t>6=12</a:t>
            </a:r>
            <a:r>
              <a:rPr lang="ko-KR" altLang="en-US" dirty="0" smtClean="0">
                <a:sym typeface="Symbol" panose="05050102010706020507" pitchFamily="18" charset="2"/>
              </a:rPr>
              <a:t>개</a:t>
            </a:r>
            <a:r>
              <a:rPr lang="ko-KR" altLang="en-US" dirty="0" smtClean="0"/>
              <a:t> </a:t>
            </a:r>
            <a:r>
              <a:rPr lang="ko-KR" altLang="en-US" dirty="0"/>
              <a:t>차종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장점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기술 </a:t>
            </a:r>
            <a:r>
              <a:rPr lang="en-US" altLang="ko-KR" dirty="0" smtClean="0"/>
              <a:t>DB </a:t>
            </a:r>
            <a:r>
              <a:rPr lang="ko-KR" altLang="en-US" dirty="0" smtClean="0"/>
              <a:t>자체가 매우 간단해짐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단점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최적해로부터 에너지사용량 재계산 필요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제조사별 </a:t>
            </a:r>
            <a:r>
              <a:rPr lang="ko-KR" altLang="en-US" dirty="0" err="1" smtClean="0"/>
              <a:t>제약식</a:t>
            </a:r>
            <a:r>
              <a:rPr lang="ko-KR" altLang="en-US" dirty="0" smtClean="0"/>
              <a:t> 구현 못함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의사결정변수의 수 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기존 </a:t>
            </a:r>
            <a:r>
              <a:rPr lang="en-US" altLang="ko-KR" dirty="0" smtClean="0"/>
              <a:t>180</a:t>
            </a:r>
            <a:r>
              <a:rPr lang="en-US" altLang="ko-KR" dirty="0" smtClean="0">
                <a:sym typeface="Symbol" panose="05050102010706020507" pitchFamily="18" charset="2"/>
              </a:rPr>
              <a:t>  50 </a:t>
            </a:r>
            <a:r>
              <a:rPr lang="en-US" altLang="ko-KR" dirty="0">
                <a:sym typeface="Symbol" panose="05050102010706020507" pitchFamily="18" charset="2"/>
              </a:rPr>
              <a:t> 2</a:t>
            </a:r>
            <a:endParaRPr lang="en-US" altLang="ko-KR" dirty="0"/>
          </a:p>
          <a:p>
            <a:pPr lvl="2"/>
            <a:r>
              <a:rPr lang="ko-KR" altLang="en-US" dirty="0" smtClean="0"/>
              <a:t>변경 </a:t>
            </a:r>
            <a:r>
              <a:rPr lang="en-US" altLang="ko-KR" dirty="0" smtClean="0"/>
              <a:t>66</a:t>
            </a:r>
            <a:r>
              <a:rPr lang="en-US" altLang="ko-KR" dirty="0" smtClean="0">
                <a:sym typeface="Symbol" panose="05050102010706020507" pitchFamily="18" charset="2"/>
              </a:rPr>
              <a:t>  40  2</a:t>
            </a:r>
            <a:endParaRPr lang="en-US" altLang="ko-KR" dirty="0"/>
          </a:p>
          <a:p>
            <a:r>
              <a:rPr lang="ko-KR" altLang="en-US" dirty="0"/>
              <a:t>제조사별 차종 </a:t>
            </a:r>
            <a:r>
              <a:rPr lang="ko-KR" altLang="en-US" dirty="0" smtClean="0"/>
              <a:t>구분을 하는 경우</a:t>
            </a:r>
            <a:r>
              <a:rPr lang="en-US" altLang="ko-KR" dirty="0" smtClean="0"/>
              <a:t>(50+66</a:t>
            </a:r>
            <a:r>
              <a:rPr lang="ko-KR" altLang="en-US" dirty="0" smtClean="0"/>
              <a:t>종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51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239373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ko-KR" altLang="en-US" b="0" dirty="0" smtClean="0"/>
              <a:t>기술 </a:t>
            </a:r>
            <a:r>
              <a:rPr lang="en-US" altLang="ko-KR" b="0" dirty="0" smtClean="0"/>
              <a:t>DB </a:t>
            </a:r>
            <a:r>
              <a:rPr lang="ko-KR" altLang="en-US" b="0" dirty="0" smtClean="0"/>
              <a:t>구성방안 </a:t>
            </a:r>
            <a:r>
              <a:rPr lang="en-US" altLang="ko-KR" b="0" dirty="0" smtClean="0"/>
              <a:t>- </a:t>
            </a:r>
            <a:r>
              <a:rPr lang="ko-KR" altLang="en-US" b="0" dirty="0" smtClean="0"/>
              <a:t>화물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대중교통 등</a:t>
            </a:r>
            <a:endParaRPr lang="ko-KR" altLang="en-US" b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연도별 연비향상을 고려하는 방안</a:t>
            </a:r>
            <a:r>
              <a:rPr lang="en-US" altLang="ko-KR" dirty="0"/>
              <a:t>(EPA 2006</a:t>
            </a:r>
            <a:r>
              <a:rPr lang="ko-KR" altLang="en-US" dirty="0"/>
              <a:t>방식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 smtClean="0"/>
              <a:t>HDV(</a:t>
            </a:r>
            <a:r>
              <a:rPr lang="ko-KR" altLang="en-US" dirty="0" smtClean="0"/>
              <a:t>화물</a:t>
            </a:r>
            <a:r>
              <a:rPr lang="en-US" altLang="ko-KR" dirty="0" smtClean="0"/>
              <a:t>) </a:t>
            </a:r>
            <a:r>
              <a:rPr lang="en-US" altLang="ko-KR" dirty="0"/>
              <a:t>: existing, 10%, 20%, 40% efficiency improvement</a:t>
            </a:r>
            <a:r>
              <a:rPr lang="ko-KR" altLang="en-US" dirty="0"/>
              <a:t>로 나누어서 </a:t>
            </a:r>
            <a:r>
              <a:rPr lang="en-US" altLang="ko-KR" dirty="0"/>
              <a:t>15</a:t>
            </a:r>
            <a:r>
              <a:rPr lang="ko-KR" altLang="en-US" dirty="0"/>
              <a:t>개로 구성</a:t>
            </a:r>
            <a:endParaRPr lang="en-US" altLang="ko-KR" dirty="0"/>
          </a:p>
          <a:p>
            <a:pPr lvl="1"/>
            <a:r>
              <a:rPr lang="en-US" altLang="ko-KR" dirty="0"/>
              <a:t>Bus : existing, 10%, 20% efficiency improvement</a:t>
            </a:r>
            <a:r>
              <a:rPr lang="ko-KR" altLang="en-US" dirty="0"/>
              <a:t>로 나누어서 </a:t>
            </a:r>
            <a:r>
              <a:rPr lang="en-US" altLang="ko-KR" dirty="0"/>
              <a:t>10</a:t>
            </a:r>
            <a:r>
              <a:rPr lang="ko-KR" altLang="en-US" dirty="0"/>
              <a:t>개로 </a:t>
            </a:r>
            <a:r>
              <a:rPr lang="ko-KR" altLang="en-US" dirty="0" smtClean="0"/>
              <a:t>구성</a:t>
            </a:r>
            <a:endParaRPr lang="en-US" altLang="ko-KR" dirty="0" smtClean="0"/>
          </a:p>
          <a:p>
            <a:r>
              <a:rPr lang="ko-KR" altLang="en-US" dirty="0"/>
              <a:t>기존</a:t>
            </a:r>
            <a:endParaRPr lang="en-US" altLang="ko-KR" dirty="0"/>
          </a:p>
          <a:p>
            <a:pPr lvl="1"/>
            <a:r>
              <a:rPr lang="ko-KR" altLang="en-US" dirty="0" smtClean="0"/>
              <a:t>화물 및 택시의 경우 승용과 유사한 접근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버스는 </a:t>
            </a:r>
            <a:r>
              <a:rPr lang="en-US" altLang="ko-KR" dirty="0" smtClean="0"/>
              <a:t>EPA </a:t>
            </a:r>
            <a:r>
              <a:rPr lang="ko-KR" altLang="en-US" dirty="0" smtClean="0"/>
              <a:t>방식고려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기타대중교통은 </a:t>
            </a:r>
            <a:r>
              <a:rPr lang="en-US" altLang="ko-KR" dirty="0" smtClean="0"/>
              <a:t>KEITI(</a:t>
            </a:r>
            <a:r>
              <a:rPr lang="ko-KR" altLang="en-US" dirty="0" smtClean="0"/>
              <a:t>철도연구원 수행</a:t>
            </a:r>
            <a:r>
              <a:rPr lang="en-US" altLang="ko-KR" dirty="0" smtClean="0"/>
              <a:t>)</a:t>
            </a:r>
            <a:r>
              <a:rPr lang="ko-KR" altLang="en-US" dirty="0" smtClean="0"/>
              <a:t>의 연구결과 활용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09704" y="6948152"/>
            <a:ext cx="2057400" cy="304800"/>
          </a:xfrm>
        </p:spPr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52</a:t>
            </a:fld>
            <a:endParaRPr lang="en-US" altLang="ko-KR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1187942" y="3582201"/>
          <a:ext cx="2116900" cy="2293506"/>
        </p:xfrm>
        <a:graphic>
          <a:graphicData uri="http://schemas.openxmlformats.org/drawingml/2006/table">
            <a:tbl>
              <a:tblPr/>
              <a:tblGrid>
                <a:gridCol w="1415442"/>
                <a:gridCol w="701458"/>
              </a:tblGrid>
              <a:tr h="2844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중분류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소분류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6962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택시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LPG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620">
                <a:tc rowSpan="4"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자가 버스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휘발유</a:t>
                      </a: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effectLst/>
                        <a:latin typeface="돋움"/>
                        <a:ea typeface="+mn-ea"/>
                        <a:cs typeface="+mn-cs"/>
                      </a:endParaRP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6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경유</a:t>
                      </a:r>
                      <a:r>
                        <a:rPr lang="en-US" altLang="ko-KR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effectLst/>
                        <a:latin typeface="돋움"/>
                        <a:ea typeface="+mn-ea"/>
                        <a:cs typeface="+mn-cs"/>
                      </a:endParaRP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6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(LPG)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6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기타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620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영업용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버스 근거리</a:t>
                      </a:r>
                      <a:endParaRPr lang="ko-KR" altLang="en-US" sz="1000" kern="1200" dirty="0">
                        <a:solidFill>
                          <a:srgbClr val="000000"/>
                        </a:solidFill>
                        <a:effectLst/>
                        <a:latin typeface="돋움"/>
                        <a:ea typeface="+mn-ea"/>
                        <a:cs typeface="+mn-cs"/>
                      </a:endParaRP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버스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2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CNG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58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영업용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버스  </a:t>
                      </a: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장거리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+mn-ea"/>
                          <a:cs typeface="+mn-cs"/>
                        </a:rPr>
                        <a:t>버스</a:t>
                      </a:r>
                    </a:p>
                  </a:txBody>
                  <a:tcPr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6394779" y="3582201"/>
          <a:ext cx="2722054" cy="2926080"/>
        </p:xfrm>
        <a:graphic>
          <a:graphicData uri="http://schemas.openxmlformats.org/drawingml/2006/table">
            <a:tbl>
              <a:tblPr/>
              <a:tblGrid>
                <a:gridCol w="1007554"/>
                <a:gridCol w="1714500"/>
              </a:tblGrid>
              <a:tr h="21463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중분류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소분류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214630">
                <a:tc rowSpan="4"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자가용화물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자가용화물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휘발유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자가용화물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경유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자가용화물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LPG)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자가용화물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기타경유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rowSpan="4"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영업용화물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영업용화물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휘발유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영업용화물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경유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영업용화물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LPG)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영업용화물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기타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rowSpan="3"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특수차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자가용화물 </a:t>
                      </a: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특수차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자가용버스 </a:t>
                      </a: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특수차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6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영업용화물 </a:t>
                      </a: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특수차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3766083" y="3582201"/>
          <a:ext cx="2169095" cy="1706880"/>
        </p:xfrm>
        <a:graphic>
          <a:graphicData uri="http://schemas.openxmlformats.org/drawingml/2006/table">
            <a:tbl>
              <a:tblPr/>
              <a:tblGrid>
                <a:gridCol w="956533"/>
                <a:gridCol w="1212562"/>
              </a:tblGrid>
              <a:tr h="2095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중분류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소분류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175514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철도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철도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여객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경유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5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철도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여객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전력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51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지하철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지하철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51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돋움"/>
                          <a:ea typeface="돋움"/>
                        </a:rPr>
                        <a:t>KTX</a:t>
                      </a:r>
                      <a:endParaRPr lang="en-US" sz="100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  <a:ea typeface="돋움"/>
                        </a:rPr>
                        <a:t>KTX</a:t>
                      </a:r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51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해운여객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해운여객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51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항공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여객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항공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여객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effectLst/>
                          <a:latin typeface="돋움"/>
                        </a:rPr>
                        <a:t>)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돋움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1040406" y="3272499"/>
            <a:ext cx="9492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O </a:t>
            </a:r>
            <a:r>
              <a:rPr lang="ko-KR" altLang="en-US" dirty="0"/>
              <a:t>대중교통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386663" y="3272499"/>
            <a:ext cx="10262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O </a:t>
            </a:r>
            <a:r>
              <a:rPr lang="ko-KR" altLang="en-US" dirty="0"/>
              <a:t>화물</a:t>
            </a:r>
            <a:r>
              <a:rPr lang="en-US" altLang="ko-KR" dirty="0"/>
              <a:t>, </a:t>
            </a:r>
            <a:r>
              <a:rPr lang="ko-KR" altLang="en-US" dirty="0"/>
              <a:t>특수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713534" y="3272499"/>
            <a:ext cx="12570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O </a:t>
            </a:r>
            <a:r>
              <a:rPr lang="ko-KR" altLang="en-US" dirty="0" smtClean="0"/>
              <a:t>기타대중교통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35785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ko-KR" altLang="en-US" b="0" dirty="0" smtClean="0"/>
              <a:t>평균 온실가스</a:t>
            </a:r>
            <a:r>
              <a:rPr lang="ko-KR" altLang="en-US" b="0" dirty="0" smtClean="0">
                <a:sym typeface="Symbol" panose="05050102010706020507" pitchFamily="18" charset="2"/>
              </a:rPr>
              <a:t></a:t>
            </a:r>
            <a:r>
              <a:rPr lang="ko-KR" altLang="en-US" b="0" dirty="0" smtClean="0"/>
              <a:t>연비 제도 </a:t>
            </a:r>
            <a:r>
              <a:rPr lang="en-US" altLang="ko-KR" b="0" dirty="0" smtClean="0"/>
              <a:t>- </a:t>
            </a:r>
            <a:r>
              <a:rPr lang="ko-KR" altLang="en-US" b="0" dirty="0" smtClean="0"/>
              <a:t>개요</a:t>
            </a:r>
            <a:endParaRPr lang="ko-KR" altLang="en-US" b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 smtClean="0"/>
              <a:t>차기</a:t>
            </a:r>
            <a:r>
              <a:rPr lang="en-US" altLang="ko-KR" dirty="0"/>
              <a:t>(2016</a:t>
            </a:r>
            <a:r>
              <a:rPr lang="ko-KR" altLang="en-US" dirty="0"/>
              <a:t>년～</a:t>
            </a:r>
            <a:r>
              <a:rPr lang="en-US" altLang="ko-KR" dirty="0"/>
              <a:t>2020</a:t>
            </a:r>
            <a:r>
              <a:rPr lang="ko-KR" altLang="en-US" dirty="0"/>
              <a:t>년</a:t>
            </a:r>
            <a:r>
              <a:rPr lang="en-US" altLang="ko-KR" dirty="0"/>
              <a:t>) </a:t>
            </a:r>
            <a:r>
              <a:rPr lang="ko-KR" altLang="en-US" dirty="0"/>
              <a:t>자동차 평균 </a:t>
            </a:r>
            <a:r>
              <a:rPr lang="ko-KR" altLang="en-US" dirty="0" smtClean="0"/>
              <a:t>온실가스</a:t>
            </a:r>
            <a:r>
              <a:rPr lang="ko-KR" altLang="en-US" dirty="0" smtClean="0">
                <a:sym typeface="Symbol" panose="05050102010706020507" pitchFamily="18" charset="2"/>
              </a:rPr>
              <a:t></a:t>
            </a:r>
            <a:r>
              <a:rPr lang="ko-KR" altLang="en-US" dirty="0" smtClean="0"/>
              <a:t>연비 </a:t>
            </a:r>
            <a:r>
              <a:rPr lang="ko-KR" altLang="en-US" dirty="0"/>
              <a:t>기준</a:t>
            </a:r>
            <a:r>
              <a:rPr lang="en-US" altLang="ko-KR" dirty="0"/>
              <a:t>(</a:t>
            </a:r>
            <a:r>
              <a:rPr lang="ko-KR" altLang="en-US" dirty="0"/>
              <a:t>안</a:t>
            </a:r>
            <a:r>
              <a:rPr lang="en-US" altLang="ko-KR" dirty="0"/>
              <a:t>)</a:t>
            </a:r>
            <a:endParaRPr lang="ko-KR" altLang="en-US" dirty="0"/>
          </a:p>
          <a:p>
            <a:pPr lvl="1">
              <a:lnSpc>
                <a:spcPct val="100000"/>
              </a:lnSpc>
            </a:pPr>
            <a:r>
              <a:rPr lang="ko-KR" altLang="en-US" dirty="0"/>
              <a:t>현행</a:t>
            </a:r>
            <a:r>
              <a:rPr lang="en-US" altLang="ko-KR" dirty="0"/>
              <a:t>(2012</a:t>
            </a:r>
            <a:r>
              <a:rPr lang="ko-KR" altLang="en-US" dirty="0"/>
              <a:t>년～</a:t>
            </a:r>
            <a:r>
              <a:rPr lang="en-US" altLang="ko-KR" dirty="0"/>
              <a:t>2015</a:t>
            </a:r>
            <a:r>
              <a:rPr lang="ko-KR" altLang="en-US" dirty="0"/>
              <a:t>년</a:t>
            </a:r>
            <a:r>
              <a:rPr lang="en-US" altLang="ko-KR" dirty="0"/>
              <a:t>) </a:t>
            </a:r>
            <a:r>
              <a:rPr lang="ko-KR" altLang="en-US" dirty="0"/>
              <a:t>기준은 온실가스 </a:t>
            </a:r>
            <a:r>
              <a:rPr lang="en-US" altLang="ko-KR" dirty="0"/>
              <a:t>140g/km, </a:t>
            </a:r>
            <a:r>
              <a:rPr lang="ko-KR" altLang="en-US" dirty="0"/>
              <a:t>연비 </a:t>
            </a:r>
            <a:r>
              <a:rPr lang="en-US" altLang="ko-KR" dirty="0"/>
              <a:t>17km/ℓ</a:t>
            </a:r>
            <a:endParaRPr lang="ko-KR" altLang="en-US" dirty="0"/>
          </a:p>
          <a:p>
            <a:pPr lvl="1">
              <a:lnSpc>
                <a:spcPct val="100000"/>
              </a:lnSpc>
            </a:pPr>
            <a:r>
              <a:rPr lang="en-US" altLang="ko-KR" dirty="0"/>
              <a:t>2020</a:t>
            </a:r>
            <a:r>
              <a:rPr lang="ko-KR" altLang="en-US" dirty="0"/>
              <a:t>년까지 자동차 온실가스 기준을 </a:t>
            </a:r>
            <a:r>
              <a:rPr lang="en-US" altLang="ko-KR" dirty="0"/>
              <a:t>97g/km, </a:t>
            </a:r>
            <a:r>
              <a:rPr lang="ko-KR" altLang="en-US" dirty="0"/>
              <a:t>연비 기준을 </a:t>
            </a:r>
            <a:r>
              <a:rPr lang="en-US" altLang="ko-KR" dirty="0"/>
              <a:t>24.3km/ℓ</a:t>
            </a:r>
            <a:r>
              <a:rPr lang="ko-KR" altLang="en-US" dirty="0"/>
              <a:t>로 강화</a:t>
            </a:r>
          </a:p>
          <a:p>
            <a:pPr lvl="2">
              <a:lnSpc>
                <a:spcPct val="100000"/>
              </a:lnSpc>
            </a:pPr>
            <a:r>
              <a:rPr lang="en-US" altLang="ko-KR" dirty="0"/>
              <a:t>2013</a:t>
            </a:r>
            <a:r>
              <a:rPr lang="ko-KR" altLang="en-US" dirty="0"/>
              <a:t>년 판매량 기준 </a:t>
            </a:r>
            <a:r>
              <a:rPr lang="en-US" altLang="ko-KR" dirty="0"/>
              <a:t>4,500</a:t>
            </a:r>
            <a:r>
              <a:rPr lang="ko-KR" altLang="en-US" dirty="0"/>
              <a:t>대 이하인 제작사에 대하여 </a:t>
            </a:r>
            <a:r>
              <a:rPr lang="en-US" altLang="ko-KR" dirty="0"/>
              <a:t>8% </a:t>
            </a:r>
            <a:r>
              <a:rPr lang="ko-KR" altLang="en-US" dirty="0"/>
              <a:t>완화된 기준을 적용할 계획</a:t>
            </a:r>
          </a:p>
          <a:p>
            <a:pPr lvl="2">
              <a:lnSpc>
                <a:spcPct val="100000"/>
              </a:lnSpc>
            </a:pPr>
            <a:r>
              <a:rPr lang="ko-KR" altLang="en-US" dirty="0"/>
              <a:t>온실가스 배출량 </a:t>
            </a:r>
            <a:r>
              <a:rPr lang="en-US" altLang="ko-KR" dirty="0"/>
              <a:t>50g/km </a:t>
            </a:r>
            <a:r>
              <a:rPr lang="ko-KR" altLang="en-US" dirty="0"/>
              <a:t>이하 차량은 </a:t>
            </a:r>
            <a:r>
              <a:rPr lang="en-US" altLang="ko-KR" dirty="0"/>
              <a:t>1.5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 err="1"/>
              <a:t>무배출</a:t>
            </a:r>
            <a:r>
              <a:rPr lang="ko-KR" altLang="en-US" dirty="0"/>
              <a:t> 차량</a:t>
            </a:r>
            <a:r>
              <a:rPr lang="en-US" altLang="ko-KR" dirty="0"/>
              <a:t>(ZEV : Zero Emission Vehicle)</a:t>
            </a:r>
            <a:r>
              <a:rPr lang="ko-KR" altLang="en-US" dirty="0"/>
              <a:t>은 </a:t>
            </a:r>
            <a:r>
              <a:rPr lang="en-US" altLang="ko-KR" dirty="0"/>
              <a:t>2</a:t>
            </a:r>
            <a:r>
              <a:rPr lang="ko-KR" altLang="en-US" dirty="0"/>
              <a:t>대의 판매량을 </a:t>
            </a:r>
            <a:r>
              <a:rPr lang="ko-KR" altLang="en-US" dirty="0" smtClean="0"/>
              <a:t>인정</a:t>
            </a:r>
            <a:endParaRPr lang="en-US" altLang="ko-KR" dirty="0" smtClean="0"/>
          </a:p>
          <a:p>
            <a:pPr lvl="3" latinLnBrk="1">
              <a:lnSpc>
                <a:spcPct val="100000"/>
              </a:lnSpc>
            </a:pPr>
            <a:r>
              <a:rPr lang="ko-KR" altLang="en-US" dirty="0" smtClean="0"/>
              <a:t>미국 </a:t>
            </a:r>
            <a:r>
              <a:rPr lang="en-US" altLang="ko-KR" dirty="0"/>
              <a:t>: </a:t>
            </a:r>
            <a:r>
              <a:rPr lang="ko-KR" altLang="en-US" dirty="0" err="1"/>
              <a:t>무배출차량</a:t>
            </a:r>
            <a:r>
              <a:rPr lang="ko-KR" altLang="en-US" dirty="0"/>
              <a:t> </a:t>
            </a:r>
            <a:r>
              <a:rPr lang="en-US" altLang="ko-KR" dirty="0"/>
              <a:t>1.5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플러그인하이브리드</a:t>
            </a:r>
            <a:r>
              <a:rPr lang="en-US" altLang="ko-KR" dirty="0"/>
              <a:t>/</a:t>
            </a:r>
            <a:r>
              <a:rPr lang="ko-KR" altLang="en-US" dirty="0" err="1"/>
              <a:t>천연가스차</a:t>
            </a:r>
            <a:r>
              <a:rPr lang="ko-KR" altLang="en-US" dirty="0"/>
              <a:t> </a:t>
            </a:r>
            <a:r>
              <a:rPr lang="en-US" altLang="ko-KR" dirty="0"/>
              <a:t>1.3</a:t>
            </a:r>
            <a:r>
              <a:rPr lang="ko-KR" altLang="en-US" dirty="0"/>
              <a:t>대 인정</a:t>
            </a:r>
          </a:p>
          <a:p>
            <a:pPr lvl="3" latinLnBrk="1">
              <a:lnSpc>
                <a:spcPct val="100000"/>
              </a:lnSpc>
            </a:pPr>
            <a:r>
              <a:rPr lang="ko-KR" altLang="en-US" dirty="0" smtClean="0"/>
              <a:t>유럽 </a:t>
            </a:r>
            <a:r>
              <a:rPr lang="en-US" altLang="ko-KR" dirty="0"/>
              <a:t>: 50g/km </a:t>
            </a:r>
            <a:r>
              <a:rPr lang="ko-KR" altLang="en-US" dirty="0"/>
              <a:t>미만 차량 </a:t>
            </a:r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대</a:t>
            </a:r>
            <a:r>
              <a:rPr lang="en-US" altLang="ko-KR" dirty="0"/>
              <a:t>, 21</a:t>
            </a:r>
            <a:r>
              <a:rPr lang="ko-KR" altLang="en-US" dirty="0"/>
              <a:t>년 </a:t>
            </a:r>
            <a:r>
              <a:rPr lang="en-US" altLang="ko-KR" dirty="0"/>
              <a:t>1.67</a:t>
            </a:r>
            <a:r>
              <a:rPr lang="ko-KR" altLang="en-US" dirty="0"/>
              <a:t>대</a:t>
            </a:r>
            <a:r>
              <a:rPr lang="en-US" altLang="ko-KR" dirty="0"/>
              <a:t>, 2022</a:t>
            </a:r>
            <a:r>
              <a:rPr lang="ko-KR" altLang="en-US" dirty="0"/>
              <a:t>년 이후 </a:t>
            </a:r>
            <a:r>
              <a:rPr lang="en-US" altLang="ko-KR" dirty="0"/>
              <a:t>1.33</a:t>
            </a:r>
            <a:r>
              <a:rPr lang="ko-KR" altLang="en-US" dirty="0"/>
              <a:t>대 인정 </a:t>
            </a:r>
            <a:endParaRPr lang="en-US" altLang="ko-KR" dirty="0" smtClean="0"/>
          </a:p>
          <a:p>
            <a:pPr lvl="2" latinLnBrk="1">
              <a:lnSpc>
                <a:spcPct val="100000"/>
              </a:lnSpc>
            </a:pPr>
            <a:r>
              <a:rPr lang="ko-KR" altLang="en-US" dirty="0"/>
              <a:t>수동변속기 차량 </a:t>
            </a:r>
            <a:r>
              <a:rPr lang="en-US" altLang="ko-KR" dirty="0"/>
              <a:t>1</a:t>
            </a:r>
            <a:r>
              <a:rPr lang="ko-KR" altLang="en-US" dirty="0"/>
              <a:t>대 </a:t>
            </a:r>
            <a:r>
              <a:rPr lang="ko-KR" altLang="en-US" dirty="0" err="1"/>
              <a:t>판매시</a:t>
            </a:r>
            <a:r>
              <a:rPr lang="ko-KR" altLang="en-US" dirty="0"/>
              <a:t> </a:t>
            </a:r>
            <a:r>
              <a:rPr lang="en-US" altLang="ko-KR" dirty="0"/>
              <a:t>1.3</a:t>
            </a:r>
            <a:r>
              <a:rPr lang="ko-KR" altLang="en-US" dirty="0" smtClean="0"/>
              <a:t>대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경차는 </a:t>
            </a:r>
            <a:r>
              <a:rPr lang="en-US" altLang="ko-KR" dirty="0" smtClean="0"/>
              <a:t>1.2</a:t>
            </a:r>
            <a:r>
              <a:rPr lang="ko-KR" altLang="en-US" dirty="0" smtClean="0"/>
              <a:t>대의 </a:t>
            </a:r>
            <a:r>
              <a:rPr lang="ko-KR" altLang="en-US" dirty="0"/>
              <a:t>판매량을 인정</a:t>
            </a:r>
          </a:p>
          <a:p>
            <a:pPr lvl="1" latinLnBrk="1">
              <a:lnSpc>
                <a:spcPct val="100000"/>
              </a:lnSpc>
            </a:pPr>
            <a:r>
              <a:rPr lang="en-US" altLang="ko-KR" dirty="0"/>
              <a:t>15</a:t>
            </a:r>
            <a:r>
              <a:rPr lang="ko-KR" altLang="en-US" dirty="0"/>
              <a:t>인승 이하의 승합차와 </a:t>
            </a:r>
            <a:r>
              <a:rPr lang="en-US" altLang="ko-KR" dirty="0"/>
              <a:t>3.5</a:t>
            </a:r>
            <a:r>
              <a:rPr lang="ko-KR" altLang="en-US" dirty="0"/>
              <a:t>톤 미만 화물차도 온실가스</a:t>
            </a:r>
            <a:r>
              <a:rPr lang="en-US" altLang="ko-KR" dirty="0"/>
              <a:t>․</a:t>
            </a:r>
            <a:r>
              <a:rPr lang="ko-KR" altLang="en-US" dirty="0"/>
              <a:t>연비 관리 대상에 추가</a:t>
            </a:r>
          </a:p>
          <a:p>
            <a:pPr lvl="2" latinLnBrk="1">
              <a:lnSpc>
                <a:spcPct val="100000"/>
              </a:lnSpc>
            </a:pPr>
            <a:r>
              <a:rPr lang="ko-KR" altLang="en-US" dirty="0"/>
              <a:t>현재 온실가스 배출량 </a:t>
            </a:r>
            <a:r>
              <a:rPr lang="en-US" altLang="ko-KR" dirty="0"/>
              <a:t>191g/km, </a:t>
            </a:r>
            <a:r>
              <a:rPr lang="ko-KR" altLang="en-US" dirty="0"/>
              <a:t>연비 </a:t>
            </a:r>
            <a:r>
              <a:rPr lang="en-US" altLang="ko-KR" dirty="0"/>
              <a:t>14.1km/ℓ</a:t>
            </a:r>
            <a:r>
              <a:rPr lang="ko-KR" altLang="en-US" dirty="0"/>
              <a:t> 수준의 </a:t>
            </a:r>
            <a:r>
              <a:rPr lang="en-US" altLang="ko-KR" dirty="0"/>
              <a:t>15</a:t>
            </a:r>
            <a:r>
              <a:rPr lang="ko-KR" altLang="en-US" dirty="0"/>
              <a:t>인승 이하 승합차와 화물차 기준을 온실가스 </a:t>
            </a:r>
            <a:r>
              <a:rPr lang="en-US" altLang="ko-KR" dirty="0"/>
              <a:t>166g/km, </a:t>
            </a:r>
            <a:r>
              <a:rPr lang="ko-KR" altLang="en-US" dirty="0"/>
              <a:t>연비 </a:t>
            </a:r>
            <a:r>
              <a:rPr lang="en-US" altLang="ko-KR" dirty="0"/>
              <a:t>15.6km/ℓ</a:t>
            </a:r>
            <a:r>
              <a:rPr lang="ko-KR" altLang="en-US" dirty="0"/>
              <a:t>로 각각 설정하여 </a:t>
            </a:r>
            <a:r>
              <a:rPr lang="ko-KR" altLang="en-US" dirty="0" smtClean="0"/>
              <a:t>관리</a:t>
            </a:r>
            <a:endParaRPr lang="en-US" altLang="ko-KR" dirty="0" smtClean="0"/>
          </a:p>
          <a:p>
            <a:pPr latinLnBrk="1">
              <a:lnSpc>
                <a:spcPct val="100000"/>
              </a:lnSpc>
            </a:pPr>
            <a:r>
              <a:rPr lang="ko-KR" altLang="en-US" dirty="0" smtClean="0"/>
              <a:t>온실가스 </a:t>
            </a:r>
            <a:r>
              <a:rPr lang="ko-KR" altLang="en-US" dirty="0"/>
              <a:t>감축 효과는 </a:t>
            </a:r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ko-KR" altLang="en-US" dirty="0" err="1"/>
              <a:t>온실가스배출전망치</a:t>
            </a:r>
            <a:r>
              <a:rPr lang="en-US" altLang="ko-KR" dirty="0"/>
              <a:t>(BAU) </a:t>
            </a:r>
            <a:r>
              <a:rPr lang="ko-KR" altLang="en-US" dirty="0"/>
              <a:t>대비 </a:t>
            </a:r>
            <a:r>
              <a:rPr lang="en-US" altLang="ko-KR" dirty="0"/>
              <a:t>1,640</a:t>
            </a:r>
            <a:r>
              <a:rPr lang="ko-KR" altLang="en-US" dirty="0"/>
              <a:t>만 톤으로 자동차 분야의 온실가스 감축목표 </a:t>
            </a:r>
            <a:r>
              <a:rPr lang="en-US" altLang="ko-KR" dirty="0"/>
              <a:t>1,780</a:t>
            </a:r>
            <a:r>
              <a:rPr lang="ko-KR" altLang="en-US" dirty="0"/>
              <a:t>만 톤의 </a:t>
            </a:r>
            <a:r>
              <a:rPr lang="en-US" altLang="ko-KR" dirty="0"/>
              <a:t>92%</a:t>
            </a:r>
            <a:r>
              <a:rPr lang="ko-KR" altLang="en-US" dirty="0"/>
              <a:t>를 </a:t>
            </a:r>
            <a:r>
              <a:rPr lang="ko-KR" altLang="en-US" dirty="0" smtClean="0"/>
              <a:t>차지</a:t>
            </a:r>
            <a:r>
              <a:rPr lang="en-US" altLang="ko-KR" dirty="0" smtClean="0"/>
              <a:t> </a:t>
            </a:r>
            <a:endParaRPr lang="ko-KR" altLang="en-US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53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06734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ko-KR" altLang="en-US" b="0" dirty="0" smtClean="0"/>
              <a:t>평균 온실가스</a:t>
            </a:r>
            <a:r>
              <a:rPr lang="ko-KR" altLang="en-US" b="0" dirty="0" smtClean="0">
                <a:sym typeface="Symbol" panose="05050102010706020507" pitchFamily="18" charset="2"/>
              </a:rPr>
              <a:t></a:t>
            </a:r>
            <a:r>
              <a:rPr lang="ko-KR" altLang="en-US" b="0" dirty="0" smtClean="0"/>
              <a:t>연비 제도 </a:t>
            </a:r>
            <a:r>
              <a:rPr lang="en-US" altLang="ko-KR" b="0" dirty="0" smtClean="0"/>
              <a:t>- </a:t>
            </a:r>
            <a:r>
              <a:rPr lang="ko-KR" altLang="en-US" b="0" dirty="0" smtClean="0"/>
              <a:t>모델링</a:t>
            </a:r>
            <a:endParaRPr lang="ko-KR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연비</a:t>
                </a:r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계산식 </a:t>
                </a:r>
                <a:r>
                  <a:rPr lang="en-US" altLang="ko-KR" dirty="0" smtClean="0"/>
                  <a:t>: </a:t>
                </a:r>
                <a:r>
                  <a:rPr lang="ko-KR" altLang="en-US" dirty="0" smtClean="0"/>
                  <a:t>가중조화평균</a:t>
                </a:r>
                <a:r>
                  <a:rPr lang="en-US" altLang="ko-KR" dirty="0" smtClean="0"/>
                  <a:t> 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생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산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대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생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산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대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의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생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산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대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수</m:t>
                        </m:r>
                      </m:num>
                      <m:den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의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생</m:t>
                            </m:r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산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대</m:t>
                            </m:r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수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의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연</m:t>
                            </m:r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비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의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생산대수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의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연비</m:t>
                            </m:r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의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생산대수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의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연비</m:t>
                            </m:r>
                          </m:den>
                        </m:f>
                      </m:den>
                    </m:f>
                  </m:oMath>
                </a14:m>
                <a:endParaRPr lang="ko-KR" altLang="en-US" dirty="0" smtClean="0"/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15,000</m:t>
                            </m:r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,000</m:t>
                            </m:r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17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,000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15,000</m:t>
                                </m:r>
                              </m:den>
                            </m:f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7.5</m:t>
                            </m:r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den>
                            </m:f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10.5</m:t>
                            </m:r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,000</m:t>
                                </m:r>
                              </m:den>
                            </m:f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연간주행거리 </a:t>
                </a:r>
                <a:r>
                  <a:rPr lang="en-US" altLang="ko-KR" dirty="0" smtClean="0"/>
                  <a:t>15,000km</a:t>
                </a:r>
                <a:r>
                  <a:rPr lang="ko-KR" altLang="en-US" dirty="0" smtClean="0"/>
                  <a:t>에 대한 근거 제시</a:t>
                </a:r>
                <a:r>
                  <a:rPr lang="en-US" altLang="ko-KR" dirty="0" smtClean="0"/>
                  <a:t>(</a:t>
                </a:r>
                <a:r>
                  <a:rPr lang="ko-KR" altLang="en-US" dirty="0" smtClean="0"/>
                  <a:t>자가용승용차실태조사</a:t>
                </a:r>
                <a:r>
                  <a:rPr lang="en-US" altLang="ko-KR" dirty="0" smtClean="0"/>
                  <a:t>)</a:t>
                </a:r>
                <a:endParaRPr lang="ko-KR" altLang="en-US" dirty="0"/>
              </a:p>
              <a:p>
                <a:pPr lvl="2"/>
                <a:r>
                  <a:rPr lang="en-US" altLang="ko-KR" dirty="0" smtClean="0"/>
                  <a:t>2013 </a:t>
                </a:r>
                <a:r>
                  <a:rPr lang="ko-KR" altLang="en-US" dirty="0"/>
                  <a:t>자동차 에너지소비효율 </a:t>
                </a:r>
                <a:r>
                  <a:rPr lang="ko-KR" altLang="en-US" dirty="0" err="1" smtClean="0"/>
                  <a:t>분석집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에너지관리공단</a:t>
                </a:r>
                <a:endParaRPr lang="en-US" altLang="ko-KR" dirty="0" smtClean="0"/>
              </a:p>
              <a:p>
                <a:r>
                  <a:rPr lang="ko-KR" altLang="en-US" dirty="0" smtClean="0"/>
                  <a:t>검증</a:t>
                </a:r>
                <a:endParaRPr lang="en-US" altLang="ko-KR" dirty="0" smtClean="0"/>
              </a:p>
              <a:p>
                <a:pPr lvl="2"/>
                <a:r>
                  <a:rPr lang="en-US" altLang="ko-KR" dirty="0" smtClean="0"/>
                  <a:t>LP</a:t>
                </a:r>
                <a:r>
                  <a:rPr lang="ko-KR" altLang="en-US" dirty="0"/>
                  <a:t>에서 최적해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 ‘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US" altLang="ko-KR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연</m:t>
                    </m:r>
                  </m:oMath>
                </a14:m>
                <a:r>
                  <a:rPr lang="ko-KR" altLang="en-US" dirty="0"/>
                  <a:t>간주행거리</a:t>
                </a:r>
                <a:r>
                  <a:rPr lang="en-US" altLang="ko-KR" dirty="0"/>
                  <a:t>=</a:t>
                </a:r>
                <a:r>
                  <a:rPr lang="ko-KR" altLang="en-US" dirty="0"/>
                  <a:t>실제 판매대수</a:t>
                </a:r>
                <a:r>
                  <a:rPr lang="en-US" altLang="ko-KR" dirty="0"/>
                  <a:t>’</a:t>
                </a:r>
                <a:r>
                  <a:rPr lang="ko-KR" altLang="en-US" dirty="0"/>
                  <a:t>에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대한 검증이 필요함</a:t>
                </a:r>
                <a:endParaRPr lang="en-US" altLang="ko-KR" dirty="0"/>
              </a:p>
              <a:p>
                <a:pPr marL="914400" lvl="2" indent="0">
                  <a:buNone/>
                </a:pPr>
                <a:r>
                  <a:rPr lang="en-US" altLang="ko-KR" dirty="0"/>
                  <a:t>    (2011~2014 </a:t>
                </a:r>
                <a:r>
                  <a:rPr lang="ko-KR" altLang="en-US" dirty="0"/>
                  <a:t>기간을 중심으로</a:t>
                </a:r>
                <a:r>
                  <a:rPr lang="en-US" altLang="ko-KR" dirty="0" smtClean="0"/>
                  <a:t>)</a:t>
                </a:r>
                <a:endParaRPr lang="en-US" altLang="ko-KR" dirty="0"/>
              </a:p>
              <a:p>
                <a:pPr lvl="2"/>
                <a:r>
                  <a:rPr lang="ko-KR" altLang="en-US" dirty="0" smtClean="0"/>
                  <a:t>에너지사용량</a:t>
                </a:r>
                <a:r>
                  <a:rPr lang="en-US" altLang="ko-KR" dirty="0" smtClean="0"/>
                  <a:t>(x)</a:t>
                </a:r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= </a:t>
                </a:r>
                <a:r>
                  <a:rPr lang="ko-KR" altLang="en-US" dirty="0" smtClean="0"/>
                  <a:t>운행대수</a:t>
                </a:r>
                <a:r>
                  <a:rPr lang="en-US" altLang="ko-KR" dirty="0" smtClean="0"/>
                  <a:t>(y)* (</a:t>
                </a:r>
                <a:r>
                  <a:rPr lang="ko-KR" altLang="en-US" dirty="0" smtClean="0"/>
                  <a:t>연간주행거리</a:t>
                </a:r>
                <a:r>
                  <a:rPr lang="en-US" altLang="ko-KR" dirty="0" smtClean="0"/>
                  <a:t>(d)/</a:t>
                </a:r>
                <a:r>
                  <a:rPr lang="ko-KR" altLang="en-US" dirty="0" smtClean="0"/>
                  <a:t>연비</a:t>
                </a:r>
                <a:r>
                  <a:rPr lang="en-US" altLang="ko-KR" dirty="0" smtClean="0"/>
                  <a:t>(e))</a:t>
                </a:r>
              </a:p>
              <a:p>
                <a:pPr marL="914400" lvl="2" indent="0">
                  <a:buNone/>
                </a:pPr>
                <a:r>
                  <a:rPr lang="en-US" altLang="ko-KR" dirty="0"/>
                  <a:t> </a:t>
                </a:r>
                <a:r>
                  <a:rPr lang="en-US" altLang="ko-KR" dirty="0" smtClean="0"/>
                  <a:t>     x, y, e</a:t>
                </a:r>
                <a:r>
                  <a:rPr lang="ko-KR" altLang="en-US" dirty="0" smtClean="0"/>
                  <a:t>가 주어졌을 때</a:t>
                </a:r>
                <a:r>
                  <a:rPr lang="en-US" altLang="ko-KR" dirty="0" smtClean="0"/>
                  <a:t>, d</a:t>
                </a:r>
                <a:r>
                  <a:rPr lang="ko-KR" altLang="en-US" dirty="0" smtClean="0"/>
                  <a:t>에 대한 검증 등 다양한 변수에 대한 검증 필요</a:t>
                </a:r>
                <a:endParaRPr lang="en-US" altLang="ko-KR" dirty="0" smtClean="0"/>
              </a:p>
              <a:p>
                <a:r>
                  <a:rPr lang="ko-KR" altLang="en-US" dirty="0" smtClean="0"/>
                  <a:t>제조사별 연비 계산 방안</a:t>
                </a:r>
                <a:endParaRPr lang="en-US" altLang="ko-KR" dirty="0" smtClean="0"/>
              </a:p>
              <a:p>
                <a:pPr lvl="1"/>
                <a:r>
                  <a:rPr lang="ko-KR" altLang="en-US" dirty="0" err="1" smtClean="0"/>
                  <a:t>차량별</a:t>
                </a:r>
                <a:r>
                  <a:rPr lang="ko-KR" altLang="en-US" dirty="0" smtClean="0"/>
                  <a:t> 가중치 반영</a:t>
                </a:r>
                <a:r>
                  <a:rPr lang="en-US" altLang="ko-KR" dirty="0" smtClean="0"/>
                  <a:t>(</a:t>
                </a:r>
                <a:r>
                  <a:rPr lang="ko-KR" altLang="en-US" dirty="0" smtClean="0"/>
                  <a:t>경차의 경우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1.2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ko-KR" altLang="en-US" dirty="0" smtClean="0"/>
                  <a:t>로 교체하면 됨</a:t>
                </a:r>
                <a:r>
                  <a:rPr lang="en-US" altLang="ko-KR" dirty="0" smtClean="0"/>
                  <a:t>)</a:t>
                </a:r>
              </a:p>
              <a:p>
                <a:pPr lvl="1"/>
                <a:r>
                  <a:rPr lang="ko-KR" altLang="en-US" dirty="0" smtClean="0"/>
                  <a:t>기술 </a:t>
                </a:r>
                <a:r>
                  <a:rPr lang="en-US" altLang="ko-KR" dirty="0" smtClean="0"/>
                  <a:t>DB</a:t>
                </a:r>
                <a:r>
                  <a:rPr lang="ko-KR" altLang="en-US" dirty="0" smtClean="0"/>
                  <a:t>에서 </a:t>
                </a:r>
                <a:r>
                  <a:rPr lang="ko-KR" altLang="en-US" dirty="0" err="1" smtClean="0"/>
                  <a:t>기존차를</a:t>
                </a:r>
                <a:r>
                  <a:rPr lang="ko-KR" altLang="en-US" dirty="0" smtClean="0"/>
                  <a:t> 제조사별로 나누는 경우 가능함</a:t>
                </a:r>
                <a:endParaRPr lang="en-US" altLang="ko-KR" dirty="0" smtClean="0"/>
              </a:p>
              <a:p>
                <a:r>
                  <a:rPr lang="ko-KR" altLang="en-US" dirty="0" smtClean="0"/>
                  <a:t>국가 전체 연비 </a:t>
                </a:r>
                <a:r>
                  <a:rPr lang="ko-KR" altLang="en-US" dirty="0" err="1" smtClean="0"/>
                  <a:t>제약식의</a:t>
                </a:r>
                <a:r>
                  <a:rPr lang="ko-KR" altLang="en-US" dirty="0" smtClean="0"/>
                  <a:t> 구성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전체 차량을 대상으로 </a:t>
                </a:r>
                <a:r>
                  <a:rPr lang="ko-KR" altLang="en-US" dirty="0" err="1" smtClean="0"/>
                  <a:t>제약식</a:t>
                </a:r>
                <a:r>
                  <a:rPr lang="ko-KR" altLang="en-US" dirty="0" smtClean="0"/>
                  <a:t> 구성</a:t>
                </a:r>
                <a:endParaRPr lang="en-US" altLang="ko-KR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1" t="-4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54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53388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/>
          <p:cNvSpPr>
            <a:spLocks noGrp="1"/>
          </p:cNvSpPr>
          <p:nvPr>
            <p:ph type="title"/>
          </p:nvPr>
        </p:nvSpPr>
        <p:spPr>
          <a:xfrm>
            <a:off x="704850" y="157163"/>
            <a:ext cx="8496300" cy="569912"/>
          </a:xfrm>
        </p:spPr>
        <p:txBody>
          <a:bodyPr/>
          <a:lstStyle/>
          <a:p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ko-KR" altLang="en-US" b="0" dirty="0" smtClean="0"/>
              <a:t>에너지 비용의 처리</a:t>
            </a:r>
          </a:p>
        </p:txBody>
      </p:sp>
      <p:sp>
        <p:nvSpPr>
          <p:cNvPr id="9219" name="내용 개체 틀 2"/>
          <p:cNvSpPr>
            <a:spLocks noGrp="1"/>
          </p:cNvSpPr>
          <p:nvPr>
            <p:ph idx="1"/>
          </p:nvPr>
        </p:nvSpPr>
        <p:spPr>
          <a:xfrm>
            <a:off x="685800" y="900113"/>
            <a:ext cx="8534400" cy="1397000"/>
          </a:xfrm>
        </p:spPr>
        <p:txBody>
          <a:bodyPr/>
          <a:lstStyle/>
          <a:p>
            <a:r>
              <a:rPr lang="ko-KR" altLang="en-US" dirty="0" smtClean="0"/>
              <a:t>국가모형 </a:t>
            </a:r>
            <a:r>
              <a:rPr lang="ko-KR" altLang="en-US" dirty="0" err="1" smtClean="0"/>
              <a:t>구축시에</a:t>
            </a:r>
            <a:r>
              <a:rPr lang="ko-KR" altLang="en-US" dirty="0" smtClean="0"/>
              <a:t> 세금부분의 처리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국가모형은 최종소비자가</a:t>
            </a:r>
            <a:r>
              <a:rPr lang="en-US" altLang="ko-KR" dirty="0" smtClean="0"/>
              <a:t>(</a:t>
            </a:r>
            <a:r>
              <a:rPr lang="ko-KR" altLang="en-US" dirty="0" smtClean="0"/>
              <a:t>공급가</a:t>
            </a:r>
            <a:r>
              <a:rPr lang="en-US" altLang="ko-KR" dirty="0" smtClean="0"/>
              <a:t>+</a:t>
            </a:r>
            <a:r>
              <a:rPr lang="ko-KR" altLang="en-US" dirty="0" smtClean="0"/>
              <a:t>각종세금</a:t>
            </a:r>
            <a:r>
              <a:rPr lang="en-US" altLang="ko-KR" dirty="0" smtClean="0"/>
              <a:t>)</a:t>
            </a:r>
            <a:r>
              <a:rPr lang="ko-KR" altLang="en-US" dirty="0" smtClean="0"/>
              <a:t>이 아닌 공급가를 가지고 하게 됨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그러나 </a:t>
            </a:r>
            <a:r>
              <a:rPr lang="en-US" altLang="ko-KR" dirty="0" smtClean="0"/>
              <a:t>LP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demand technology</a:t>
            </a:r>
            <a:r>
              <a:rPr lang="ko-KR" altLang="en-US" dirty="0" smtClean="0"/>
              <a:t>의 선택은 최종소비자가격에 의해 결정되어야 함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수송부문이 </a:t>
            </a:r>
            <a:r>
              <a:rPr lang="en-US" altLang="ko-KR" dirty="0" smtClean="0"/>
              <a:t>separable closed problem</a:t>
            </a:r>
            <a:r>
              <a:rPr lang="ko-KR" altLang="en-US" dirty="0" smtClean="0"/>
              <a:t>임에도 불구하고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수송부문 최적해와 국가모형이 다른 해가 나오게 됨</a:t>
            </a:r>
          </a:p>
        </p:txBody>
      </p:sp>
      <p:sp>
        <p:nvSpPr>
          <p:cNvPr id="922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sz="1400" smtClean="0">
                <a:latin typeface="Arial" panose="020B0604020202020204" pitchFamily="34" charset="0"/>
              </a:rPr>
              <a:t> </a:t>
            </a:r>
            <a:fld id="{A1CA27F1-D60F-426C-9031-60E8324D07E7}" type="slidenum">
              <a:rPr lang="en-US" altLang="ko-KR" sz="1400" smtClean="0">
                <a:latin typeface="Arial" panose="020B0604020202020204" pitchFamily="34" charset="0"/>
              </a:rPr>
              <a:pPr/>
              <a:t>55</a:t>
            </a:fld>
            <a:endParaRPr lang="en-US" altLang="ko-KR" sz="1400" smtClean="0">
              <a:latin typeface="Arial" panose="020B0604020202020204" pitchFamily="34" charset="0"/>
            </a:endParaRPr>
          </a:p>
        </p:txBody>
      </p:sp>
      <p:sp>
        <p:nvSpPr>
          <p:cNvPr id="5" name="Line 226"/>
          <p:cNvSpPr>
            <a:spLocks noChangeShapeType="1"/>
          </p:cNvSpPr>
          <p:nvPr/>
        </p:nvSpPr>
        <p:spPr bwMode="auto">
          <a:xfrm>
            <a:off x="4087813" y="3346450"/>
            <a:ext cx="7858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6" name="Line 236"/>
          <p:cNvSpPr>
            <a:spLocks noChangeShapeType="1"/>
          </p:cNvSpPr>
          <p:nvPr/>
        </p:nvSpPr>
        <p:spPr bwMode="auto">
          <a:xfrm>
            <a:off x="4878388" y="3343275"/>
            <a:ext cx="8572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7" name="Text Box 253"/>
          <p:cNvSpPr txBox="1">
            <a:spLocks noChangeArrowheads="1"/>
          </p:cNvSpPr>
          <p:nvPr/>
        </p:nvSpPr>
        <p:spPr bwMode="auto">
          <a:xfrm>
            <a:off x="6513513" y="3062288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smtClean="0">
                <a:solidFill>
                  <a:srgbClr val="000000"/>
                </a:solidFill>
              </a:rPr>
              <a:t>15km</a:t>
            </a:r>
          </a:p>
        </p:txBody>
      </p:sp>
      <p:sp>
        <p:nvSpPr>
          <p:cNvPr id="8" name="Text Box 262"/>
          <p:cNvSpPr txBox="1">
            <a:spLocks noChangeArrowheads="1"/>
          </p:cNvSpPr>
          <p:nvPr/>
        </p:nvSpPr>
        <p:spPr bwMode="auto">
          <a:xfrm>
            <a:off x="5072063" y="3062288"/>
            <a:ext cx="5508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 smtClean="0">
                <a:solidFill>
                  <a:srgbClr val="000000"/>
                </a:solidFill>
              </a:rPr>
              <a:t>1 liter</a:t>
            </a:r>
          </a:p>
        </p:txBody>
      </p:sp>
      <p:sp>
        <p:nvSpPr>
          <p:cNvPr id="9" name="Line 271"/>
          <p:cNvSpPr>
            <a:spLocks noChangeShapeType="1"/>
          </p:cNvSpPr>
          <p:nvPr/>
        </p:nvSpPr>
        <p:spPr bwMode="auto">
          <a:xfrm>
            <a:off x="6577013" y="3333750"/>
            <a:ext cx="7604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5738813" y="3144838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    middle car</a:t>
            </a:r>
          </a:p>
        </p:txBody>
      </p:sp>
      <p:sp>
        <p:nvSpPr>
          <p:cNvPr id="9227" name="TextBox 10"/>
          <p:cNvSpPr txBox="1">
            <a:spLocks noChangeArrowheads="1"/>
          </p:cNvSpPr>
          <p:nvPr/>
        </p:nvSpPr>
        <p:spPr bwMode="auto">
          <a:xfrm>
            <a:off x="5738813" y="3144838"/>
            <a:ext cx="147637" cy="1508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800">
                <a:solidFill>
                  <a:srgbClr val="FF0000"/>
                </a:solidFill>
                <a:ea typeface="굴림" panose="020B0600000101010101" pitchFamily="50" charset="-127"/>
              </a:rPr>
              <a:t>3</a:t>
            </a:r>
            <a:endParaRPr lang="ko-KR" altLang="en-US" sz="800">
              <a:solidFill>
                <a:srgbClr val="FF0000"/>
              </a:solidFill>
              <a:ea typeface="굴림" panose="020B0600000101010101" pitchFamily="50" charset="-127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3249613" y="3144838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dummy</a:t>
            </a:r>
          </a:p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tax</a:t>
            </a:r>
          </a:p>
        </p:txBody>
      </p:sp>
      <p:sp>
        <p:nvSpPr>
          <p:cNvPr id="9229" name="TextBox 12"/>
          <p:cNvSpPr txBox="1">
            <a:spLocks noChangeArrowheads="1"/>
          </p:cNvSpPr>
          <p:nvPr/>
        </p:nvSpPr>
        <p:spPr bwMode="auto">
          <a:xfrm>
            <a:off x="3249613" y="3144838"/>
            <a:ext cx="147637" cy="1508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800">
                <a:solidFill>
                  <a:srgbClr val="FF0000"/>
                </a:solidFill>
                <a:ea typeface="굴림" panose="020B0600000101010101" pitchFamily="50" charset="-127"/>
              </a:rPr>
              <a:t>2</a:t>
            </a:r>
            <a:endParaRPr lang="ko-KR" altLang="en-US" sz="800">
              <a:solidFill>
                <a:srgbClr val="FF0000"/>
              </a:solidFill>
              <a:ea typeface="굴림" panose="020B0600000101010101" pitchFamily="50" charset="-127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1206500" y="3144838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indent="88900"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oil carrier</a:t>
            </a:r>
          </a:p>
        </p:txBody>
      </p:sp>
      <p:sp>
        <p:nvSpPr>
          <p:cNvPr id="9231" name="TextBox 14"/>
          <p:cNvSpPr txBox="1">
            <a:spLocks noChangeArrowheads="1"/>
          </p:cNvSpPr>
          <p:nvPr/>
        </p:nvSpPr>
        <p:spPr bwMode="auto">
          <a:xfrm>
            <a:off x="1206500" y="3144838"/>
            <a:ext cx="146050" cy="1508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800">
                <a:solidFill>
                  <a:srgbClr val="FF0000"/>
                </a:solidFill>
                <a:ea typeface="굴림" panose="020B0600000101010101" pitchFamily="50" charset="-127"/>
              </a:rPr>
              <a:t>1</a:t>
            </a:r>
            <a:endParaRPr lang="ko-KR" altLang="en-US" sz="800">
              <a:solidFill>
                <a:srgbClr val="FF0000"/>
              </a:solidFill>
              <a:ea typeface="굴림" panose="020B0600000101010101" pitchFamily="50" charset="-127"/>
            </a:endParaRPr>
          </a:p>
        </p:txBody>
      </p:sp>
      <p:sp>
        <p:nvSpPr>
          <p:cNvPr id="16" name="Line 243"/>
          <p:cNvSpPr>
            <a:spLocks noChangeShapeType="1"/>
          </p:cNvSpPr>
          <p:nvPr/>
        </p:nvSpPr>
        <p:spPr bwMode="auto">
          <a:xfrm>
            <a:off x="2500313" y="2830513"/>
            <a:ext cx="0" cy="981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7" name="Line 226"/>
          <p:cNvSpPr>
            <a:spLocks noChangeShapeType="1"/>
          </p:cNvSpPr>
          <p:nvPr/>
        </p:nvSpPr>
        <p:spPr bwMode="auto">
          <a:xfrm>
            <a:off x="2506663" y="3346450"/>
            <a:ext cx="742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8" name="Line 243"/>
          <p:cNvSpPr>
            <a:spLocks noChangeShapeType="1"/>
          </p:cNvSpPr>
          <p:nvPr/>
        </p:nvSpPr>
        <p:spPr bwMode="auto">
          <a:xfrm>
            <a:off x="4873625" y="2830513"/>
            <a:ext cx="0" cy="981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9" name="Line 243"/>
          <p:cNvSpPr>
            <a:spLocks noChangeShapeType="1"/>
          </p:cNvSpPr>
          <p:nvPr/>
        </p:nvSpPr>
        <p:spPr bwMode="auto">
          <a:xfrm>
            <a:off x="7326313" y="2830513"/>
            <a:ext cx="0" cy="981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20" name="Text Box 247"/>
          <p:cNvSpPr txBox="1">
            <a:spLocks noChangeArrowheads="1"/>
          </p:cNvSpPr>
          <p:nvPr/>
        </p:nvSpPr>
        <p:spPr bwMode="auto">
          <a:xfrm>
            <a:off x="1076325" y="3594100"/>
            <a:ext cx="1223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 smtClean="0">
                <a:solidFill>
                  <a:srgbClr val="000000"/>
                </a:solidFill>
              </a:rPr>
              <a:t>var. cost=900/liter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 smtClean="0">
                <a:solidFill>
                  <a:srgbClr val="000000"/>
                </a:solidFill>
              </a:rPr>
              <a:t>(</a:t>
            </a:r>
            <a:r>
              <a:rPr lang="ko-KR" altLang="en-US" sz="1000" kern="0" dirty="0" smtClean="0">
                <a:solidFill>
                  <a:srgbClr val="000000"/>
                </a:solidFill>
              </a:rPr>
              <a:t>휘발유 현물가격</a:t>
            </a:r>
            <a:r>
              <a:rPr lang="en-US" altLang="ko-KR" sz="1000" kern="0" dirty="0" smtClean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21" name="Text Box 247"/>
          <p:cNvSpPr txBox="1">
            <a:spLocks noChangeArrowheads="1"/>
          </p:cNvSpPr>
          <p:nvPr/>
        </p:nvSpPr>
        <p:spPr bwMode="auto">
          <a:xfrm>
            <a:off x="3049588" y="3556000"/>
            <a:ext cx="1127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 smtClean="0">
                <a:solidFill>
                  <a:srgbClr val="000000"/>
                </a:solidFill>
              </a:rPr>
              <a:t>var. cost=960/liter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 smtClean="0">
                <a:solidFill>
                  <a:srgbClr val="000000"/>
                </a:solidFill>
              </a:rPr>
              <a:t>(tax/liter)</a:t>
            </a:r>
          </a:p>
        </p:txBody>
      </p:sp>
      <p:sp>
        <p:nvSpPr>
          <p:cNvPr id="22" name="Line 223"/>
          <p:cNvSpPr>
            <a:spLocks noChangeShapeType="1"/>
          </p:cNvSpPr>
          <p:nvPr/>
        </p:nvSpPr>
        <p:spPr bwMode="auto">
          <a:xfrm>
            <a:off x="2060575" y="5280025"/>
            <a:ext cx="466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23" name="Line 236"/>
          <p:cNvSpPr>
            <a:spLocks noChangeShapeType="1"/>
          </p:cNvSpPr>
          <p:nvPr/>
        </p:nvSpPr>
        <p:spPr bwMode="auto">
          <a:xfrm>
            <a:off x="2536825" y="5278438"/>
            <a:ext cx="8572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24" name="Text Box 253"/>
          <p:cNvSpPr txBox="1">
            <a:spLocks noChangeArrowheads="1"/>
          </p:cNvSpPr>
          <p:nvPr/>
        </p:nvSpPr>
        <p:spPr bwMode="auto">
          <a:xfrm>
            <a:off x="4171950" y="4997450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smtClean="0">
                <a:solidFill>
                  <a:srgbClr val="000000"/>
                </a:solidFill>
              </a:rPr>
              <a:t>15km</a:t>
            </a:r>
          </a:p>
        </p:txBody>
      </p:sp>
      <p:sp>
        <p:nvSpPr>
          <p:cNvPr id="25" name="Text Box 262"/>
          <p:cNvSpPr txBox="1">
            <a:spLocks noChangeArrowheads="1"/>
          </p:cNvSpPr>
          <p:nvPr/>
        </p:nvSpPr>
        <p:spPr bwMode="auto">
          <a:xfrm>
            <a:off x="2730500" y="4997450"/>
            <a:ext cx="5508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smtClean="0">
                <a:solidFill>
                  <a:srgbClr val="000000"/>
                </a:solidFill>
              </a:rPr>
              <a:t>1 liter</a:t>
            </a:r>
          </a:p>
        </p:txBody>
      </p:sp>
      <p:sp>
        <p:nvSpPr>
          <p:cNvPr id="26" name="Line 271"/>
          <p:cNvSpPr>
            <a:spLocks noChangeShapeType="1"/>
          </p:cNvSpPr>
          <p:nvPr/>
        </p:nvSpPr>
        <p:spPr bwMode="auto">
          <a:xfrm>
            <a:off x="4235450" y="5268913"/>
            <a:ext cx="7604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3397250" y="5080000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    middle car</a:t>
            </a:r>
          </a:p>
        </p:txBody>
      </p:sp>
      <p:sp>
        <p:nvSpPr>
          <p:cNvPr id="9244" name="TextBox 27"/>
          <p:cNvSpPr txBox="1">
            <a:spLocks noChangeArrowheads="1"/>
          </p:cNvSpPr>
          <p:nvPr/>
        </p:nvSpPr>
        <p:spPr bwMode="auto">
          <a:xfrm>
            <a:off x="3397250" y="5081588"/>
            <a:ext cx="147638" cy="1508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800">
                <a:solidFill>
                  <a:srgbClr val="FF0000"/>
                </a:solidFill>
                <a:ea typeface="굴림" panose="020B0600000101010101" pitchFamily="50" charset="-127"/>
              </a:rPr>
              <a:t>3</a:t>
            </a:r>
            <a:endParaRPr lang="ko-KR" altLang="en-US" sz="800">
              <a:solidFill>
                <a:srgbClr val="FF0000"/>
              </a:solidFill>
              <a:ea typeface="굴림" panose="020B0600000101010101" pitchFamily="50" charset="-127"/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33488" y="5097463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indent="88900"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oil carrier</a:t>
            </a:r>
          </a:p>
        </p:txBody>
      </p:sp>
      <p:sp>
        <p:nvSpPr>
          <p:cNvPr id="9246" name="TextBox 29"/>
          <p:cNvSpPr txBox="1">
            <a:spLocks noChangeArrowheads="1"/>
          </p:cNvSpPr>
          <p:nvPr/>
        </p:nvSpPr>
        <p:spPr bwMode="auto">
          <a:xfrm>
            <a:off x="1233488" y="5092700"/>
            <a:ext cx="147637" cy="150813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ctr" eaLnBrk="1" latinLnBrk="1" hangingPunct="1"/>
            <a:r>
              <a:rPr lang="en-US" altLang="ko-KR" sz="800">
                <a:solidFill>
                  <a:srgbClr val="FF0000"/>
                </a:solidFill>
                <a:ea typeface="굴림" panose="020B0600000101010101" pitchFamily="50" charset="-127"/>
              </a:rPr>
              <a:t>1</a:t>
            </a:r>
            <a:endParaRPr lang="ko-KR" altLang="en-US" sz="800">
              <a:solidFill>
                <a:srgbClr val="FF0000"/>
              </a:solidFill>
              <a:ea typeface="굴림" panose="020B0600000101010101" pitchFamily="50" charset="-127"/>
            </a:endParaRPr>
          </a:p>
        </p:txBody>
      </p:sp>
      <p:sp>
        <p:nvSpPr>
          <p:cNvPr id="31" name="Line 243"/>
          <p:cNvSpPr>
            <a:spLocks noChangeShapeType="1"/>
          </p:cNvSpPr>
          <p:nvPr/>
        </p:nvSpPr>
        <p:spPr bwMode="auto">
          <a:xfrm>
            <a:off x="2527300" y="4764088"/>
            <a:ext cx="0" cy="981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32" name="Line 243"/>
          <p:cNvSpPr>
            <a:spLocks noChangeShapeType="1"/>
          </p:cNvSpPr>
          <p:nvPr/>
        </p:nvSpPr>
        <p:spPr bwMode="auto">
          <a:xfrm>
            <a:off x="4984750" y="4765675"/>
            <a:ext cx="0" cy="981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33" name="Text Box 247"/>
          <p:cNvSpPr txBox="1">
            <a:spLocks noChangeArrowheads="1"/>
          </p:cNvSpPr>
          <p:nvPr/>
        </p:nvSpPr>
        <p:spPr bwMode="auto">
          <a:xfrm>
            <a:off x="1104900" y="5519738"/>
            <a:ext cx="1223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 smtClean="0">
                <a:solidFill>
                  <a:srgbClr val="000000"/>
                </a:solidFill>
              </a:rPr>
              <a:t>var. cost=900/liter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 smtClean="0">
                <a:solidFill>
                  <a:srgbClr val="000000"/>
                </a:solidFill>
              </a:rPr>
              <a:t>(</a:t>
            </a:r>
            <a:r>
              <a:rPr lang="ko-KR" altLang="en-US" sz="1000" kern="0" dirty="0" smtClean="0">
                <a:solidFill>
                  <a:srgbClr val="000000"/>
                </a:solidFill>
              </a:rPr>
              <a:t>휘발유 현물가격</a:t>
            </a:r>
            <a:r>
              <a:rPr lang="en-US" altLang="ko-KR" sz="1000" kern="0" dirty="0" smtClean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4" name="Text Box 262"/>
          <p:cNvSpPr txBox="1">
            <a:spLocks noChangeArrowheads="1"/>
          </p:cNvSpPr>
          <p:nvPr/>
        </p:nvSpPr>
        <p:spPr bwMode="auto">
          <a:xfrm>
            <a:off x="4181475" y="3062288"/>
            <a:ext cx="5508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 smtClean="0">
                <a:solidFill>
                  <a:srgbClr val="000000"/>
                </a:solidFill>
              </a:rPr>
              <a:t>1 liter</a:t>
            </a:r>
          </a:p>
        </p:txBody>
      </p:sp>
      <p:sp>
        <p:nvSpPr>
          <p:cNvPr id="35" name="Text Box 262"/>
          <p:cNvSpPr txBox="1">
            <a:spLocks noChangeArrowheads="1"/>
          </p:cNvSpPr>
          <p:nvPr/>
        </p:nvSpPr>
        <p:spPr bwMode="auto">
          <a:xfrm>
            <a:off x="2641600" y="3062288"/>
            <a:ext cx="5508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 smtClean="0">
                <a:solidFill>
                  <a:srgbClr val="000000"/>
                </a:solidFill>
              </a:rPr>
              <a:t>1 liter</a:t>
            </a:r>
          </a:p>
        </p:txBody>
      </p:sp>
      <p:sp>
        <p:nvSpPr>
          <p:cNvPr id="36" name="Text Box 262"/>
          <p:cNvSpPr txBox="1">
            <a:spLocks noChangeArrowheads="1"/>
          </p:cNvSpPr>
          <p:nvPr/>
        </p:nvSpPr>
        <p:spPr bwMode="auto">
          <a:xfrm>
            <a:off x="1984375" y="3062288"/>
            <a:ext cx="5508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 smtClean="0">
                <a:solidFill>
                  <a:srgbClr val="000000"/>
                </a:solidFill>
              </a:rPr>
              <a:t>1 liter</a:t>
            </a:r>
          </a:p>
        </p:txBody>
      </p:sp>
      <p:sp>
        <p:nvSpPr>
          <p:cNvPr id="37" name="Line 223"/>
          <p:cNvSpPr>
            <a:spLocks noChangeShapeType="1"/>
          </p:cNvSpPr>
          <p:nvPr/>
        </p:nvSpPr>
        <p:spPr bwMode="auto">
          <a:xfrm>
            <a:off x="2035175" y="3346450"/>
            <a:ext cx="466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38" name="Text Box 262"/>
          <p:cNvSpPr txBox="1">
            <a:spLocks noChangeArrowheads="1"/>
          </p:cNvSpPr>
          <p:nvPr/>
        </p:nvSpPr>
        <p:spPr bwMode="auto">
          <a:xfrm>
            <a:off x="2017713" y="4997450"/>
            <a:ext cx="5508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 smtClean="0">
                <a:solidFill>
                  <a:srgbClr val="000000"/>
                </a:solidFill>
              </a:rPr>
              <a:t>1 liter</a:t>
            </a:r>
          </a:p>
        </p:txBody>
      </p:sp>
      <p:sp>
        <p:nvSpPr>
          <p:cNvPr id="39" name="Text Box 247"/>
          <p:cNvSpPr txBox="1">
            <a:spLocks noChangeArrowheads="1"/>
          </p:cNvSpPr>
          <p:nvPr/>
        </p:nvSpPr>
        <p:spPr bwMode="auto">
          <a:xfrm>
            <a:off x="3049588" y="5516563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 smtClean="0">
                <a:solidFill>
                  <a:srgbClr val="000000"/>
                </a:solidFill>
              </a:rPr>
              <a:t>var. cost </a:t>
            </a:r>
            <a:r>
              <a:rPr lang="en-US" altLang="ko-KR" sz="1000" kern="0" dirty="0" smtClean="0">
                <a:solidFill>
                  <a:srgbClr val="000000"/>
                </a:solidFill>
                <a:sym typeface="Wingdings" panose="05000000000000000000" pitchFamily="2" charset="2"/>
              </a:rPr>
              <a:t></a:t>
            </a:r>
            <a:r>
              <a:rPr lang="en-US" altLang="ko-KR" sz="1000" kern="0" dirty="0" smtClean="0">
                <a:solidFill>
                  <a:srgbClr val="000000"/>
                </a:solidFill>
              </a:rPr>
              <a:t> </a:t>
            </a:r>
            <a:r>
              <a:rPr lang="en-US" altLang="ko-KR" sz="1000" kern="0" dirty="0" err="1" smtClean="0">
                <a:solidFill>
                  <a:srgbClr val="000000"/>
                </a:solidFill>
              </a:rPr>
              <a:t>var.cost</a:t>
            </a:r>
            <a:r>
              <a:rPr lang="en-US" altLang="ko-KR" sz="1000" kern="0" dirty="0" smtClean="0">
                <a:solidFill>
                  <a:srgbClr val="000000"/>
                </a:solidFill>
              </a:rPr>
              <a:t> +960/liter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 smtClean="0">
                <a:solidFill>
                  <a:srgbClr val="000000"/>
                </a:solidFill>
              </a:rPr>
              <a:t>(</a:t>
            </a:r>
            <a:r>
              <a:rPr lang="ko-KR" altLang="en-US" sz="1000" kern="0" dirty="0" smtClean="0">
                <a:solidFill>
                  <a:srgbClr val="000000"/>
                </a:solidFill>
              </a:rPr>
              <a:t>기존</a:t>
            </a:r>
            <a:r>
              <a:rPr lang="en-US" altLang="ko-KR" sz="1000" kern="0" dirty="0" smtClean="0">
                <a:solidFill>
                  <a:srgbClr val="000000"/>
                </a:solidFill>
              </a:rPr>
              <a:t> </a:t>
            </a:r>
            <a:r>
              <a:rPr lang="ko-KR" altLang="en-US" sz="1000" kern="0" dirty="0" smtClean="0">
                <a:solidFill>
                  <a:srgbClr val="000000"/>
                </a:solidFill>
              </a:rPr>
              <a:t>변동비</a:t>
            </a:r>
            <a:r>
              <a:rPr lang="en-US" altLang="ko-KR" sz="1000" kern="0" dirty="0" smtClean="0">
                <a:solidFill>
                  <a:srgbClr val="000000"/>
                </a:solidFill>
              </a:rPr>
              <a:t>+tax/liter)</a:t>
            </a:r>
          </a:p>
        </p:txBody>
      </p:sp>
      <p:sp>
        <p:nvSpPr>
          <p:cNvPr id="9256" name="TextBox 39"/>
          <p:cNvSpPr txBox="1">
            <a:spLocks noChangeArrowheads="1"/>
          </p:cNvSpPr>
          <p:nvPr/>
        </p:nvSpPr>
        <p:spPr bwMode="auto">
          <a:xfrm>
            <a:off x="1014413" y="2597150"/>
            <a:ext cx="7112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/>
              <a:t>(</a:t>
            </a:r>
            <a:r>
              <a:rPr lang="ko-KR" altLang="en-US"/>
              <a:t>대안 </a:t>
            </a:r>
            <a:r>
              <a:rPr lang="en-US" altLang="ko-KR"/>
              <a:t>1)</a:t>
            </a:r>
            <a:endParaRPr lang="ko-KR" altLang="en-US"/>
          </a:p>
        </p:txBody>
      </p:sp>
      <p:sp>
        <p:nvSpPr>
          <p:cNvPr id="9257" name="TextBox 40"/>
          <p:cNvSpPr txBox="1">
            <a:spLocks noChangeArrowheads="1"/>
          </p:cNvSpPr>
          <p:nvPr/>
        </p:nvSpPr>
        <p:spPr bwMode="auto">
          <a:xfrm>
            <a:off x="1014413" y="4370388"/>
            <a:ext cx="7112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/>
              <a:t>(</a:t>
            </a:r>
            <a:r>
              <a:rPr lang="ko-KR" altLang="en-US"/>
              <a:t>대안 </a:t>
            </a:r>
            <a:r>
              <a:rPr lang="en-US" altLang="ko-KR"/>
              <a:t>2)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639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/>
          <p:cNvSpPr>
            <a:spLocks noGrp="1"/>
          </p:cNvSpPr>
          <p:nvPr>
            <p:ph type="title"/>
          </p:nvPr>
        </p:nvSpPr>
        <p:spPr>
          <a:xfrm>
            <a:off x="704850" y="157163"/>
            <a:ext cx="8496300" cy="569912"/>
          </a:xfrm>
        </p:spPr>
        <p:txBody>
          <a:bodyPr/>
          <a:lstStyle/>
          <a:p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ko-KR" altLang="en-US" b="0" dirty="0" smtClean="0"/>
              <a:t>모형화</a:t>
            </a:r>
            <a:r>
              <a:rPr lang="en-US" altLang="ko-KR" b="0" dirty="0" smtClean="0"/>
              <a:t> - </a:t>
            </a:r>
            <a:r>
              <a:rPr lang="ko-KR" altLang="en-US" b="0" dirty="0" smtClean="0"/>
              <a:t>효율개선기술</a:t>
            </a:r>
            <a:r>
              <a:rPr lang="en-US" altLang="ko-KR" b="0" dirty="0" smtClean="0"/>
              <a:t>(1)</a:t>
            </a:r>
            <a:endParaRPr lang="ko-KR" altLang="en-US" b="0" dirty="0" smtClean="0"/>
          </a:p>
        </p:txBody>
      </p:sp>
      <p:sp>
        <p:nvSpPr>
          <p:cNvPr id="11267" name="내용 개체 틀 2"/>
          <p:cNvSpPr>
            <a:spLocks noGrp="1"/>
          </p:cNvSpPr>
          <p:nvPr>
            <p:ph idx="1"/>
          </p:nvPr>
        </p:nvSpPr>
        <p:spPr>
          <a:xfrm>
            <a:off x="685800" y="900113"/>
            <a:ext cx="8534400" cy="406400"/>
          </a:xfrm>
        </p:spPr>
        <p:txBody>
          <a:bodyPr/>
          <a:lstStyle/>
          <a:p>
            <a:r>
              <a:rPr lang="en-US" altLang="ko-KR" dirty="0" smtClean="0"/>
              <a:t>MESSAGE</a:t>
            </a:r>
            <a:r>
              <a:rPr lang="ko-KR" altLang="en-US" dirty="0" smtClean="0"/>
              <a:t>의 입력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technology</a:t>
            </a:r>
            <a:r>
              <a:rPr lang="ko-KR" altLang="en-US" dirty="0" smtClean="0"/>
              <a:t>는 실제로는 두 가지로 분리할 수 있음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공장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공정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발전소처럼 자체 효율</a:t>
            </a:r>
            <a:r>
              <a:rPr lang="en-US" altLang="ko-KR" dirty="0" smtClean="0"/>
              <a:t>(</a:t>
            </a:r>
            <a:r>
              <a:rPr lang="ko-KR" altLang="en-US" dirty="0" smtClean="0"/>
              <a:t>생산능력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매년 향상시킬 수 있는 기술</a:t>
            </a:r>
            <a:r>
              <a:rPr lang="en-US" altLang="ko-KR" dirty="0" smtClean="0"/>
              <a:t>(type 1 tech.)</a:t>
            </a:r>
          </a:p>
          <a:p>
            <a:pPr lvl="2"/>
            <a:r>
              <a:rPr lang="ko-KR" altLang="en-US" dirty="0" smtClean="0"/>
              <a:t>차량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에어컨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난방기 등과 같이 생산되고 나면 자체 효율 향상이 </a:t>
            </a:r>
            <a:r>
              <a:rPr lang="ko-KR" altLang="en-US" dirty="0" err="1" smtClean="0"/>
              <a:t>안되는</a:t>
            </a:r>
            <a:r>
              <a:rPr lang="ko-KR" altLang="en-US" dirty="0" smtClean="0"/>
              <a:t> 기술</a:t>
            </a:r>
            <a:r>
              <a:rPr lang="en-US" altLang="ko-KR" dirty="0" smtClean="0"/>
              <a:t>(type 2 tech.)</a:t>
            </a:r>
          </a:p>
          <a:p>
            <a:pPr lvl="1"/>
            <a:r>
              <a:rPr lang="ko-KR" altLang="en-US" dirty="0" smtClean="0"/>
              <a:t>그러나 </a:t>
            </a:r>
            <a:r>
              <a:rPr lang="en-US" altLang="ko-KR" dirty="0" smtClean="0"/>
              <a:t>technology</a:t>
            </a:r>
            <a:r>
              <a:rPr lang="ko-KR" altLang="en-US" dirty="0"/>
              <a:t>의 </a:t>
            </a:r>
            <a:r>
              <a:rPr lang="en-US" altLang="ko-KR" dirty="0"/>
              <a:t>activity</a:t>
            </a:r>
            <a:r>
              <a:rPr lang="ko-KR" altLang="en-US" dirty="0"/>
              <a:t>에 대한 입력 </a:t>
            </a:r>
            <a:r>
              <a:rPr lang="en-US" altLang="ko-KR" dirty="0"/>
              <a:t>interface</a:t>
            </a:r>
            <a:r>
              <a:rPr lang="ko-KR" altLang="en-US" dirty="0"/>
              <a:t>는 </a:t>
            </a:r>
            <a:r>
              <a:rPr lang="en-US" altLang="ko-KR" dirty="0" smtClean="0"/>
              <a:t>(type 1 tech.)</a:t>
            </a:r>
            <a:r>
              <a:rPr lang="ko-KR" altLang="en-US" dirty="0" smtClean="0"/>
              <a:t>만 존재함</a:t>
            </a:r>
          </a:p>
        </p:txBody>
      </p:sp>
      <p:sp>
        <p:nvSpPr>
          <p:cNvPr id="1126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sz="1400" smtClean="0">
                <a:latin typeface="Arial" panose="020B0604020202020204" pitchFamily="34" charset="0"/>
              </a:rPr>
              <a:t> </a:t>
            </a:r>
            <a:fld id="{B263F519-0175-47AB-BD9A-95D380930D1E}" type="slidenum">
              <a:rPr lang="en-US" altLang="ko-KR" sz="1400" smtClean="0">
                <a:latin typeface="Arial" panose="020B0604020202020204" pitchFamily="34" charset="0"/>
              </a:rPr>
              <a:pPr/>
              <a:t>56</a:t>
            </a:fld>
            <a:endParaRPr lang="en-US" altLang="ko-KR" sz="1400" smtClean="0">
              <a:latin typeface="Arial" panose="020B060402020202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043" y="2340342"/>
            <a:ext cx="5347619" cy="3200006"/>
          </a:xfrm>
          <a:prstGeom prst="rect">
            <a:avLst/>
          </a:prstGeom>
        </p:spPr>
      </p:pic>
      <p:sp>
        <p:nvSpPr>
          <p:cNvPr id="10" name="직사각형 18"/>
          <p:cNvSpPr>
            <a:spLocks noChangeArrowheads="1"/>
          </p:cNvSpPr>
          <p:nvPr/>
        </p:nvSpPr>
        <p:spPr bwMode="auto">
          <a:xfrm>
            <a:off x="171450" y="5730245"/>
            <a:ext cx="6299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ko-KR" altLang="en-US" dirty="0"/>
              <a:t> cfoMn........011: 15 foMn.........011 - yfoMn........011 &lt;= 0</a:t>
            </a:r>
          </a:p>
          <a:p>
            <a:r>
              <a:rPr lang="ko-KR" altLang="en-US" dirty="0"/>
              <a:t> cfoMn........012: 16 foMn.........012 - yfoMn........011 - yfoMn........012   &lt;= 0</a:t>
            </a:r>
          </a:p>
          <a:p>
            <a:r>
              <a:rPr lang="ko-KR" altLang="en-US" dirty="0"/>
              <a:t> cfoMn........013: 17 foMn.........013 - yfoMn........011 - yfoMn........012  - yfoMn........013 &lt;= 0</a:t>
            </a:r>
          </a:p>
        </p:txBody>
      </p:sp>
      <p:sp>
        <p:nvSpPr>
          <p:cNvPr id="11" name="직사각형 19"/>
          <p:cNvSpPr>
            <a:spLocks noChangeArrowheads="1"/>
          </p:cNvSpPr>
          <p:nvPr/>
        </p:nvSpPr>
        <p:spPr bwMode="auto">
          <a:xfrm>
            <a:off x="6416675" y="5730245"/>
            <a:ext cx="32131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ko-KR" altLang="en-US"/>
              <a:t> fn...........011: 15 foMn.........011 &gt;= 2000</a:t>
            </a:r>
          </a:p>
          <a:p>
            <a:r>
              <a:rPr lang="ko-KR" altLang="en-US"/>
              <a:t> fn...........012: 16 foMn.........012 &gt;= 2000</a:t>
            </a:r>
          </a:p>
          <a:p>
            <a:r>
              <a:rPr lang="ko-KR" altLang="en-US"/>
              <a:t> fn...........013: 17 foMn.........013 &gt;= 2000</a:t>
            </a:r>
          </a:p>
        </p:txBody>
      </p:sp>
      <p:sp>
        <p:nvSpPr>
          <p:cNvPr id="12" name="직사각형 20"/>
          <p:cNvSpPr>
            <a:spLocks noChangeArrowheads="1"/>
          </p:cNvSpPr>
          <p:nvPr/>
        </p:nvSpPr>
        <p:spPr bwMode="auto">
          <a:xfrm>
            <a:off x="171450" y="5529721"/>
            <a:ext cx="24606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u="sng" dirty="0">
                <a:solidFill>
                  <a:srgbClr val="FF0000"/>
                </a:solidFill>
              </a:rPr>
              <a:t>MESSAGE generated LP constraints</a:t>
            </a:r>
            <a:endParaRPr lang="ko-KR" altLang="en-US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/>
              <p:cNvSpPr/>
              <p:nvPr/>
            </p:nvSpPr>
            <p:spPr>
              <a:xfrm>
                <a:off x="171450" y="4864567"/>
                <a:ext cx="2167132" cy="6345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sSubSup>
                        <m:sSubSupPr>
                          <m:ctrlPr>
                            <a:rPr lang="ko-KR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≤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ko-KR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max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1,</m:t>
                              </m:r>
                              <m:r>
                                <a:rPr lang="en-US" altLang="ko-KR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ko-KR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ko-KR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sub>
                        <m:sup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  <m:e>
                          <m:sSubSup>
                            <m:sSubSupPr>
                              <m:ctrlPr>
                                <a:rPr lang="ko-KR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sup>
                          </m:sSubSup>
                        </m:e>
                      </m:nary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ko-KR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직사각형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" y="4864567"/>
                <a:ext cx="2167132" cy="63453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/>
              <p:cNvSpPr/>
              <p:nvPr/>
            </p:nvSpPr>
            <p:spPr>
              <a:xfrm>
                <a:off x="7426662" y="5017358"/>
                <a:ext cx="1429173" cy="6512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ko-KR" altLang="ko-K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   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ko-KR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e-DE" altLang="ko-KR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de-DE" altLang="ko-KR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ko-K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altLang="ko-KR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de-DE" altLang="ko-KR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  <m:d>
                                    <m:dPr>
                                      <m:ctrlPr>
                                        <a:rPr lang="en-US" altLang="ko-K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𝑘</m:t>
                                      </m:r>
                                    </m:e>
                                  </m:d>
                                </m:sub>
                                <m:sup>
                                  <m:r>
                                    <a:rPr lang="en-US" altLang="ko-K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</m:nary>
                          <m:r>
                            <a:rPr lang="de-DE" altLang="ko-KR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de-DE" altLang="ko-KR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de-DE" altLang="ko-KR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de-DE" altLang="ko-KR" i="1">
                          <a:solidFill>
                            <a:srgbClr val="000000"/>
                          </a:solidFill>
                          <a:latin typeface="Cambria Math"/>
                        </a:rPr>
                        <m:t>≥</m:t>
                      </m:r>
                      <m:sSubSup>
                        <m:sSubSupPr>
                          <m:ctrlPr>
                            <a:rPr lang="ko-KR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altLang="ko-KR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de-DE" altLang="ko-KR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lang="de-DE" altLang="ko-KR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직사각형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662" y="5017358"/>
                <a:ext cx="1429173" cy="65126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184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title"/>
          </p:nvPr>
        </p:nvSpPr>
        <p:spPr>
          <a:xfrm>
            <a:off x="704850" y="157163"/>
            <a:ext cx="8496300" cy="569912"/>
          </a:xfrm>
        </p:spPr>
        <p:txBody>
          <a:bodyPr/>
          <a:lstStyle/>
          <a:p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ko-KR" altLang="en-US" b="0" dirty="0" smtClean="0"/>
              <a:t>모형화</a:t>
            </a:r>
            <a:r>
              <a:rPr lang="en-US" altLang="ko-KR" b="0" dirty="0" smtClean="0"/>
              <a:t> - </a:t>
            </a:r>
            <a:r>
              <a:rPr lang="ko-KR" altLang="en-US" b="0" dirty="0" smtClean="0"/>
              <a:t>효율개선기술</a:t>
            </a:r>
            <a:r>
              <a:rPr lang="en-US" altLang="ko-KR" b="0" dirty="0" smtClean="0"/>
              <a:t>(2)</a:t>
            </a:r>
            <a:endParaRPr lang="ko-KR" altLang="en-US" b="0" dirty="0" smtClean="0"/>
          </a:p>
        </p:txBody>
      </p:sp>
      <p:sp>
        <p:nvSpPr>
          <p:cNvPr id="10243" name="내용 개체 틀 2"/>
          <p:cNvSpPr>
            <a:spLocks noGrp="1"/>
          </p:cNvSpPr>
          <p:nvPr>
            <p:ph idx="1"/>
          </p:nvPr>
        </p:nvSpPr>
        <p:spPr>
          <a:xfrm>
            <a:off x="685800" y="900113"/>
            <a:ext cx="8534400" cy="596900"/>
          </a:xfrm>
        </p:spPr>
        <p:txBody>
          <a:bodyPr/>
          <a:lstStyle/>
          <a:p>
            <a:r>
              <a:rPr lang="en-US" altLang="ko-KR" dirty="0" smtClean="0"/>
              <a:t>(type 2 technology)</a:t>
            </a:r>
            <a:r>
              <a:rPr lang="ko-KR" altLang="en-US" dirty="0" smtClean="0"/>
              <a:t>의 경우</a:t>
            </a:r>
            <a:endParaRPr lang="en-US" altLang="ko-KR" dirty="0" smtClean="0"/>
          </a:p>
          <a:p>
            <a:pPr marL="685800" lvl="3" indent="-285750">
              <a:lnSpc>
                <a:spcPct val="120000"/>
              </a:lnSpc>
              <a:buSzPct val="75000"/>
              <a:buFont typeface="Monotype Sorts" pitchFamily="2" charset="2"/>
              <a:buChar char="q"/>
            </a:pPr>
            <a:r>
              <a:rPr lang="ko-KR" altLang="en-US" dirty="0"/>
              <a:t>차량</a:t>
            </a:r>
            <a:r>
              <a:rPr lang="en-US" altLang="ko-KR" dirty="0"/>
              <a:t>, </a:t>
            </a:r>
            <a:r>
              <a:rPr lang="ko-KR" altLang="en-US" dirty="0"/>
              <a:t>에어컨</a:t>
            </a:r>
            <a:r>
              <a:rPr lang="en-US" altLang="ko-KR" dirty="0"/>
              <a:t>, </a:t>
            </a:r>
            <a:r>
              <a:rPr lang="ko-KR" altLang="en-US" dirty="0"/>
              <a:t>난방기 등과 같이 생산되고 나면 자체 효율 향상이 </a:t>
            </a:r>
            <a:r>
              <a:rPr lang="ko-KR" altLang="en-US" dirty="0" err="1"/>
              <a:t>안되는</a:t>
            </a:r>
            <a:r>
              <a:rPr lang="ko-KR" altLang="en-US" dirty="0"/>
              <a:t> 기술</a:t>
            </a:r>
            <a:r>
              <a:rPr lang="en-US" altLang="ko-KR" dirty="0" smtClean="0"/>
              <a:t>(type 2 technology)</a:t>
            </a:r>
            <a:endParaRPr lang="en-US" altLang="ko-KR" dirty="0"/>
          </a:p>
          <a:p>
            <a:endParaRPr lang="ko-KR" altLang="en-US" dirty="0" smtClean="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sz="1400" dirty="0" smtClean="0">
                <a:latin typeface="Arial" panose="020B0604020202020204" pitchFamily="34" charset="0"/>
              </a:rPr>
              <a:t> </a:t>
            </a:r>
            <a:fld id="{75AA3AC4-6ED4-4DCC-BD1B-1BB8C2A08BBC}" type="slidenum">
              <a:rPr lang="en-US" altLang="ko-KR" sz="1400" smtClean="0">
                <a:latin typeface="Arial" panose="020B0604020202020204" pitchFamily="34" charset="0"/>
              </a:rPr>
              <a:pPr/>
              <a:t>57</a:t>
            </a:fld>
            <a:endParaRPr lang="en-US" altLang="ko-KR" sz="1400" dirty="0" smtClean="0">
              <a:latin typeface="Arial" panose="020B0604020202020204" pitchFamily="34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1065213" y="1851983"/>
          <a:ext cx="7396162" cy="1149701"/>
        </p:xfrm>
        <a:graphic>
          <a:graphicData uri="http://schemas.openxmlformats.org/drawingml/2006/table">
            <a:tbl>
              <a:tblPr/>
              <a:tblGrid>
                <a:gridCol w="1005187"/>
                <a:gridCol w="425281"/>
                <a:gridCol w="426121"/>
                <a:gridCol w="426121"/>
                <a:gridCol w="426121"/>
                <a:gridCol w="426121"/>
                <a:gridCol w="426121"/>
                <a:gridCol w="426121"/>
                <a:gridCol w="426121"/>
                <a:gridCol w="426121"/>
                <a:gridCol w="426121"/>
                <a:gridCol w="426121"/>
                <a:gridCol w="426121"/>
                <a:gridCol w="426121"/>
                <a:gridCol w="426121"/>
                <a:gridCol w="426121"/>
              </a:tblGrid>
              <a:tr h="2903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생산년도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2011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2012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2013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2014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2015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2016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2017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2018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2019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2020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2021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2022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2023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2024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2025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3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2011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15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15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15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15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15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15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15</a:t>
                      </a:r>
                      <a:endParaRPr lang="en-US" sz="800" kern="0" spc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15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15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15</a:t>
                      </a:r>
                      <a:endParaRPr lang="en-US" sz="800" kern="0" spc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3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2012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</a:rPr>
                        <a:t>16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</a:rPr>
                        <a:t>16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16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16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16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16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16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16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16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16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63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2013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800" kern="0" spc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17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17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17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17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17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17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17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17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17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17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91449" marR="91449" marT="45693" marB="45693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332" name="TextBox 5"/>
          <p:cNvSpPr txBox="1">
            <a:spLocks noChangeArrowheads="1"/>
          </p:cNvSpPr>
          <p:nvPr/>
        </p:nvSpPr>
        <p:spPr bwMode="auto">
          <a:xfrm>
            <a:off x="935038" y="1536070"/>
            <a:ext cx="53276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)  </a:t>
            </a:r>
            <a:r>
              <a:rPr lang="ko-KR" altLang="en-US" dirty="0"/>
              <a:t>다음과 같이 수명이 </a:t>
            </a:r>
            <a:r>
              <a:rPr lang="en-US" altLang="ko-KR" dirty="0"/>
              <a:t>10</a:t>
            </a:r>
            <a:r>
              <a:rPr lang="ko-KR" altLang="en-US" dirty="0"/>
              <a:t>년이고</a:t>
            </a:r>
            <a:r>
              <a:rPr lang="en-US" altLang="ko-KR" dirty="0"/>
              <a:t>, </a:t>
            </a:r>
            <a:r>
              <a:rPr lang="ko-KR" altLang="en-US" dirty="0" err="1"/>
              <a:t>생산년도에</a:t>
            </a:r>
            <a:r>
              <a:rPr lang="ko-KR" altLang="en-US" dirty="0"/>
              <a:t> 따라 연비가 향상되는 경우</a:t>
            </a: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/>
          </p:nvPr>
        </p:nvGraphicFramePr>
        <p:xfrm>
          <a:off x="1065213" y="3574985"/>
          <a:ext cx="6484939" cy="1676400"/>
        </p:xfrm>
        <a:graphic>
          <a:graphicData uri="http://schemas.openxmlformats.org/drawingml/2006/table">
            <a:tbl>
              <a:tblPr/>
              <a:tblGrid>
                <a:gridCol w="1830509"/>
                <a:gridCol w="774465"/>
                <a:gridCol w="775993"/>
                <a:gridCol w="775993"/>
                <a:gridCol w="775993"/>
                <a:gridCol w="775993"/>
                <a:gridCol w="775993"/>
              </a:tblGrid>
              <a:tr h="2905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실제 에너지 사용량(</a:t>
                      </a: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type 2)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MESSAGE</a:t>
                      </a: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에너지 사용량</a:t>
                      </a: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(type</a:t>
                      </a:r>
                      <a:r>
                        <a:rPr lang="en-US" altLang="ko-KR" sz="1000" kern="0" spc="0" baseline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1)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5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생산년도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2011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2012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2013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2011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2012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2013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2011(100</a:t>
                      </a: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생산</a:t>
                      </a: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)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100/15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100/</a:t>
                      </a:r>
                      <a:r>
                        <a:rPr lang="en-US" sz="1000" b="1" kern="0" spc="0" dirty="0" smtClean="0">
                          <a:solidFill>
                            <a:srgbClr val="00B05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15</a:t>
                      </a:r>
                      <a:endParaRPr lang="en-US" sz="1000" b="1" kern="0" spc="0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100/</a:t>
                      </a:r>
                      <a:r>
                        <a:rPr lang="en-US" sz="1000" b="1" kern="0" spc="0" dirty="0" smtClean="0">
                          <a:solidFill>
                            <a:srgbClr val="00B05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15</a:t>
                      </a:r>
                      <a:endParaRPr lang="en-US" sz="1000" b="1" kern="0" spc="0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100/15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100/</a:t>
                      </a:r>
                      <a:r>
                        <a:rPr lang="en-US" sz="1000" b="1" kern="0" spc="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16</a:t>
                      </a:r>
                      <a:endParaRPr lang="en-US" sz="1000" b="1" kern="0" spc="0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100/</a:t>
                      </a:r>
                      <a:r>
                        <a:rPr lang="en-US" sz="1000" b="1" kern="0" spc="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17</a:t>
                      </a:r>
                      <a:endParaRPr lang="en-US" sz="1000" b="1" kern="0" spc="0" dirty="0">
                        <a:solidFill>
                          <a:srgbClr val="FF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2012</a:t>
                      </a: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(100</a:t>
                      </a: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생산</a:t>
                      </a: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)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100/16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100/</a:t>
                      </a:r>
                      <a:r>
                        <a:rPr lang="en-US" sz="1000" b="1" kern="0" spc="0" dirty="0" smtClean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16</a:t>
                      </a:r>
                      <a:endParaRPr lang="en-US" sz="1000" b="1" kern="0" spc="0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100/16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100/</a:t>
                      </a:r>
                      <a:r>
                        <a:rPr lang="en-US" sz="1000" b="1" kern="0" spc="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17</a:t>
                      </a:r>
                      <a:endParaRPr lang="en-US" sz="1000" b="1" kern="0" spc="0" dirty="0">
                        <a:solidFill>
                          <a:srgbClr val="FF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2013</a:t>
                      </a: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(100</a:t>
                      </a:r>
                      <a:r>
                        <a:rPr lang="ko-KR" alt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생산</a:t>
                      </a:r>
                      <a:r>
                        <a:rPr lang="en-US" altLang="ko-KR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)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100/17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100/17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1454" marR="91454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5"/>
              <p:cNvSpPr txBox="1">
                <a:spLocks noChangeArrowheads="1"/>
              </p:cNvSpPr>
              <p:nvPr/>
            </p:nvSpPr>
            <p:spPr bwMode="auto">
              <a:xfrm>
                <a:off x="935038" y="3259072"/>
                <a:ext cx="6022995" cy="472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9pPr>
              </a:lstStyle>
              <a:p>
                <a:r>
                  <a:rPr lang="en-US" altLang="ko-KR" dirty="0" smtClean="0"/>
                  <a:t>(</a:t>
                </a:r>
                <a:r>
                  <a:rPr lang="ko-KR" altLang="en-US" dirty="0"/>
                  <a:t>예제</a:t>
                </a:r>
                <a:r>
                  <a:rPr lang="en-US" altLang="ko-KR" dirty="0"/>
                  <a:t>)  </a:t>
                </a:r>
                <a:r>
                  <a:rPr lang="ko-KR" altLang="en-US" dirty="0"/>
                  <a:t>생산량이 매년 </a:t>
                </a:r>
                <a:r>
                  <a:rPr lang="en-US" altLang="ko-KR" dirty="0"/>
                  <a:t>100</a:t>
                </a:r>
                <a:r>
                  <a:rPr lang="ko-KR" altLang="en-US" dirty="0"/>
                  <a:t>대</a:t>
                </a:r>
                <a:r>
                  <a:rPr lang="en-US" altLang="ko-KR" dirty="0"/>
                  <a:t>-km</a:t>
                </a:r>
                <a:r>
                  <a:rPr lang="ko-KR" altLang="en-US" dirty="0"/>
                  <a:t>인 경우의 에너지 </a:t>
                </a:r>
                <a:r>
                  <a:rPr lang="ko-KR" altLang="en-US" dirty="0" smtClean="0"/>
                  <a:t>사용량</a:t>
                </a:r>
                <a:r>
                  <a:rPr lang="en-US" altLang="ko-KR" dirty="0" smtClean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ko-KR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2011</m:t>
                        </m:r>
                      </m:sup>
                    </m:sSubSup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ko-KR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ko-KR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2012</m:t>
                        </m:r>
                      </m:sup>
                    </m:sSubSup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ko-KR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ko-KR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2013</m:t>
                        </m:r>
                      </m:sup>
                    </m:sSubSup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=100</m:t>
                    </m:r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23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5038" y="3259072"/>
                <a:ext cx="6022995" cy="47288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내용 개체 틀 2"/>
              <p:cNvSpPr txBox="1">
                <a:spLocks/>
              </p:cNvSpPr>
              <p:nvPr/>
            </p:nvSpPr>
            <p:spPr bwMode="auto">
              <a:xfrm>
                <a:off x="704850" y="5333846"/>
                <a:ext cx="8534400" cy="482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285750" indent="-285750" algn="l" rt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20000"/>
                  </a:spcAft>
                  <a:buClr>
                    <a:schemeClr val="tx2"/>
                  </a:buClr>
                  <a:buSzPct val="75000"/>
                  <a:buFont typeface="Monotype Sorts" pitchFamily="2" charset="2"/>
                  <a:buChar char="q"/>
                  <a:defRPr kumimoji="1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20000"/>
                  </a:spcAft>
                  <a:buClr>
                    <a:schemeClr val="accent1"/>
                  </a:buClr>
                  <a:buSzPct val="100000"/>
                  <a:buFont typeface="바탕체" pitchFamily="17" charset="-127"/>
                  <a:buChar char="-"/>
                  <a:defRPr kumimoji="1" sz="1600">
                    <a:solidFill>
                      <a:schemeClr val="tx1"/>
                    </a:solidFill>
                    <a:latin typeface="+mn-lt"/>
                    <a:ea typeface="바탕체" pitchFamily="17" charset="-127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20000"/>
                  </a:spcAft>
                  <a:buClr>
                    <a:schemeClr val="tx2"/>
                  </a:buClr>
                  <a:buSzPct val="60000"/>
                  <a:buFont typeface="Monotype Sorts" pitchFamily="2" charset="2"/>
                  <a:buChar char="u"/>
                  <a:defRPr kumimoji="1" sz="1400">
                    <a:solidFill>
                      <a:schemeClr val="tx1"/>
                    </a:solidFill>
                    <a:latin typeface="+mn-lt"/>
                    <a:ea typeface="바탕체" pitchFamily="17" charset="-127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20000"/>
                  </a:spcAft>
                  <a:buSzPct val="100000"/>
                  <a:buFont typeface="바탕체" panose="02030609000101010101" pitchFamily="17" charset="-127"/>
                  <a:buChar char=" "/>
                  <a:defRPr kumimoji="1" sz="1200">
                    <a:solidFill>
                      <a:schemeClr val="tx1"/>
                    </a:solidFill>
                    <a:latin typeface="+mn-lt"/>
                    <a:ea typeface="바탕체" pitchFamily="17" charset="-127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20000"/>
                  </a:spcAft>
                  <a:buSzPct val="100000"/>
                  <a:buFont typeface="바탕체" panose="02030609000101010101" pitchFamily="17" charset="-127"/>
                  <a:buChar char=" "/>
                  <a:defRPr kumimoji="1" sz="1200">
                    <a:solidFill>
                      <a:schemeClr val="tx1"/>
                    </a:solidFill>
                    <a:latin typeface="+mn-lt"/>
                    <a:ea typeface="바탕체" pitchFamily="17" charset="-127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20000"/>
                  </a:spcAft>
                  <a:buSzPct val="100000"/>
                  <a:buFont typeface="바탕체" pitchFamily="17" charset="-127"/>
                  <a:buChar char=" "/>
                  <a:defRPr kumimoji="1" sz="1200">
                    <a:solidFill>
                      <a:schemeClr val="tx1"/>
                    </a:solidFill>
                    <a:latin typeface="+mn-lt"/>
                    <a:ea typeface="바탕체" pitchFamily="17" charset="-127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20000"/>
                  </a:spcAft>
                  <a:buSzPct val="100000"/>
                  <a:buFont typeface="바탕체" pitchFamily="17" charset="-127"/>
                  <a:buChar char=" "/>
                  <a:defRPr kumimoji="1" sz="1200">
                    <a:solidFill>
                      <a:schemeClr val="tx1"/>
                    </a:solidFill>
                    <a:latin typeface="+mn-lt"/>
                    <a:ea typeface="바탕체" pitchFamily="17" charset="-127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20000"/>
                  </a:spcAft>
                  <a:buSzPct val="100000"/>
                  <a:buFont typeface="바탕체" pitchFamily="17" charset="-127"/>
                  <a:buChar char=" "/>
                  <a:defRPr kumimoji="1" sz="1200">
                    <a:solidFill>
                      <a:schemeClr val="tx1"/>
                    </a:solidFill>
                    <a:latin typeface="+mn-lt"/>
                    <a:ea typeface="바탕체" pitchFamily="17" charset="-127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20000"/>
                  </a:spcAft>
                  <a:buSzPct val="100000"/>
                  <a:buFont typeface="바탕체" pitchFamily="17" charset="-127"/>
                  <a:buChar char=" "/>
                  <a:defRPr kumimoji="1" sz="1200">
                    <a:solidFill>
                      <a:schemeClr val="tx1"/>
                    </a:solidFill>
                    <a:latin typeface="+mn-lt"/>
                    <a:ea typeface="바탕체" pitchFamily="17" charset="-127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sz="1800" b="0" kern="0" dirty="0" smtClean="0"/>
                  <a:t>Property 1.</a:t>
                </a:r>
                <a:r>
                  <a:rPr lang="en-US" altLang="ko-KR" sz="1800" kern="0" dirty="0" smtClean="0"/>
                  <a:t> </a:t>
                </a:r>
                <a:r>
                  <a:rPr lang="en-US" altLang="ko-KR" sz="1800" b="0" kern="0" dirty="0" smtClean="0"/>
                  <a:t>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800" b="0" i="1" kern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800" b="0" i="1" kern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8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sz="1800" b="0" i="1" kern="0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r>
                      <a:rPr lang="en-US" altLang="ko-KR" sz="1800" b="0" i="1" kern="0" smtClean="0">
                        <a:latin typeface="Cambria Math" panose="02040503050406030204" pitchFamily="18" charset="0"/>
                      </a:rPr>
                      <m:t>&lt;</m:t>
                    </m:r>
                    <m:sSubSup>
                      <m:sSubSupPr>
                        <m:ctrlPr>
                          <a:rPr lang="en-US" altLang="ko-KR" sz="1800" b="0" i="1" kern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800" b="0" i="1" kern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8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sz="1800" b="0" i="1" kern="0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US" altLang="ko-KR" sz="1800" b="0" i="1" kern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ko-KR" sz="1800" b="0" i="0" kern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altLang="ko-KR" sz="1800" b="0" i="1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800" b="0" i="1" kern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800" b="0" i="1" kern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ko-KR" sz="1800" b="0" i="1" kern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800" b="0" i="1" kern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ko-KR" altLang="en-US" sz="1800" b="0" kern="0" dirty="0" smtClean="0"/>
                  <a:t> </a:t>
                </a:r>
                <a:r>
                  <a:rPr lang="en-US" altLang="ko-KR" sz="1800" b="0" kern="0" dirty="0" smtClean="0"/>
                  <a:t>(</a:t>
                </a:r>
                <a:r>
                  <a:rPr lang="ko-KR" altLang="en-US" sz="1800" b="0" kern="0" dirty="0" smtClean="0"/>
                  <a:t>실제에너지사용량</a:t>
                </a:r>
                <a:r>
                  <a:rPr lang="en-US" altLang="ko-KR" sz="1800" b="0" kern="0" dirty="0" smtClean="0"/>
                  <a:t>)&gt;(MESSAGE </a:t>
                </a:r>
                <a:r>
                  <a:rPr lang="ko-KR" altLang="en-US" sz="1800" b="0" kern="0" dirty="0" smtClean="0"/>
                  <a:t>에너지사용량</a:t>
                </a:r>
                <a:r>
                  <a:rPr lang="en-US" altLang="ko-KR" sz="1800" b="0" kern="0" dirty="0" smtClean="0"/>
                  <a:t>).</a:t>
                </a:r>
                <a:endParaRPr lang="ko-KR" altLang="en-US" sz="1800" b="0" kern="0" dirty="0" smtClean="0"/>
              </a:p>
            </p:txBody>
          </p:sp>
        </mc:Choice>
        <mc:Fallback xmlns="">
          <p:sp>
            <p:nvSpPr>
              <p:cNvPr id="25" name="내용 개체 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4850" y="5333846"/>
                <a:ext cx="8534400" cy="482600"/>
              </a:xfrm>
              <a:prstGeom prst="rect">
                <a:avLst/>
              </a:prstGeom>
              <a:blipFill rotWithShape="0">
                <a:blip r:embed="rId3"/>
                <a:stretch>
                  <a:fillRect l="-643" t="-2532" b="-25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1393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/>
          <p:cNvSpPr>
            <a:spLocks noGrp="1"/>
          </p:cNvSpPr>
          <p:nvPr>
            <p:ph type="title"/>
          </p:nvPr>
        </p:nvSpPr>
        <p:spPr>
          <a:xfrm>
            <a:off x="704850" y="157163"/>
            <a:ext cx="8496300" cy="569912"/>
          </a:xfrm>
        </p:spPr>
        <p:txBody>
          <a:bodyPr/>
          <a:lstStyle/>
          <a:p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ko-KR" altLang="en-US" b="0" dirty="0" smtClean="0"/>
              <a:t>모형화</a:t>
            </a:r>
            <a:r>
              <a:rPr lang="en-US" altLang="ko-KR" b="0" dirty="0" smtClean="0"/>
              <a:t> - </a:t>
            </a:r>
            <a:r>
              <a:rPr lang="ko-KR" altLang="en-US" b="0" dirty="0" smtClean="0"/>
              <a:t>효율개선기술</a:t>
            </a:r>
            <a:r>
              <a:rPr lang="en-US" altLang="ko-KR" b="0" dirty="0" smtClean="0"/>
              <a:t>(3)</a:t>
            </a:r>
            <a:endParaRPr lang="ko-KR" altLang="en-US" b="0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1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761371" y="808602"/>
                <a:ext cx="8534400" cy="2749849"/>
              </a:xfrm>
            </p:spPr>
            <p:txBody>
              <a:bodyPr/>
              <a:lstStyle/>
              <a:p>
                <a:r>
                  <a:rPr lang="en-US" altLang="ko-KR" sz="1600" dirty="0"/>
                  <a:t>W</a:t>
                </a:r>
                <a:r>
                  <a:rPr lang="en-US" altLang="ko-KR" sz="1600" dirty="0" smtClean="0"/>
                  <a:t>orst case analysis : </a:t>
                </a:r>
                <a:r>
                  <a:rPr lang="ko-KR" altLang="en-US" sz="1400" dirty="0" smtClean="0"/>
                  <a:t>차량 수명이 </a:t>
                </a:r>
                <a:r>
                  <a:rPr lang="en-US" altLang="ko-KR" sz="1400" dirty="0" smtClean="0"/>
                  <a:t>10</a:t>
                </a:r>
                <a:r>
                  <a:rPr lang="ko-KR" altLang="en-US" sz="1400" dirty="0" smtClean="0"/>
                  <a:t>년이고</a:t>
                </a:r>
                <a:r>
                  <a:rPr lang="en-US" altLang="ko-KR" sz="1400" dirty="0" smtClean="0"/>
                  <a:t>, </a:t>
                </a:r>
                <a:r>
                  <a:rPr lang="ko-KR" altLang="en-US" sz="1400" dirty="0" smtClean="0"/>
                  <a:t>매년 생산량이 </a:t>
                </a:r>
                <a:r>
                  <a:rPr lang="en-US" altLang="ko-KR" sz="1400" dirty="0" smtClean="0"/>
                  <a:t>D/10</a:t>
                </a:r>
                <a:r>
                  <a:rPr lang="ko-KR" altLang="en-US" sz="1400" dirty="0" smtClean="0"/>
                  <a:t>로 동일한</a:t>
                </a:r>
                <a:r>
                  <a:rPr lang="en-US" altLang="ko-KR" sz="1400" dirty="0" smtClean="0"/>
                  <a:t> </a:t>
                </a:r>
                <a:r>
                  <a:rPr lang="ko-KR" altLang="en-US" sz="1400" dirty="0" smtClean="0"/>
                  <a:t>경우</a:t>
                </a:r>
                <a:endParaRPr lang="en-US" altLang="ko-KR" sz="1400" dirty="0" smtClean="0"/>
              </a:p>
              <a:p>
                <a:endParaRPr lang="en-US" altLang="ko-KR" sz="1400" dirty="0" smtClean="0"/>
              </a:p>
              <a:p>
                <a:pPr lvl="1"/>
                <a:endParaRPr lang="en-US" altLang="ko-KR" sz="1400" dirty="0" smtClean="0"/>
              </a:p>
              <a:p>
                <a:pPr lvl="1"/>
                <a:endParaRPr lang="en-US" altLang="ko-KR" sz="1400" dirty="0" smtClean="0"/>
              </a:p>
              <a:p>
                <a:endParaRPr lang="en-US" altLang="ko-KR" sz="1600" dirty="0" smtClean="0"/>
              </a:p>
              <a:p>
                <a:endParaRPr lang="en-US" altLang="ko-KR" sz="1600" dirty="0"/>
              </a:p>
              <a:p>
                <a:r>
                  <a:rPr lang="ko-KR" altLang="en-US" sz="1600" dirty="0" smtClean="0"/>
                  <a:t>방지하려면 연도별로 모든 기술들을 정의하여야 함</a:t>
                </a:r>
                <a:endParaRPr lang="en-US" altLang="ko-KR" sz="1600" dirty="0" smtClean="0"/>
              </a:p>
              <a:p>
                <a:pPr lvl="1"/>
                <a:r>
                  <a:rPr lang="en-US" altLang="ko-KR" sz="1200" dirty="0" smtClean="0"/>
                  <a:t>ICT</a:t>
                </a:r>
                <a:r>
                  <a:rPr lang="ko-KR" altLang="en-US" sz="1200" dirty="0" smtClean="0"/>
                  <a:t>를 </a:t>
                </a:r>
                <a:r>
                  <a:rPr lang="en-US" altLang="ko-KR" sz="1200" dirty="0" smtClean="0"/>
                  <a:t>ICT2011, ICT2012, ... ,ICT2050</a:t>
                </a:r>
                <a:r>
                  <a:rPr lang="ko-KR" altLang="en-US" sz="1200" dirty="0" smtClean="0"/>
                  <a:t>로 연도별로 나누어야 함</a:t>
                </a:r>
                <a:endParaRPr lang="en-US" altLang="ko-KR" sz="1200" dirty="0" smtClean="0"/>
              </a:p>
              <a:p>
                <a:pPr lvl="1"/>
                <a:r>
                  <a:rPr lang="en-US" altLang="ko-KR" sz="1200" dirty="0" smtClean="0"/>
                  <a:t>EPA 2006 MARKAL Database</a:t>
                </a:r>
                <a:r>
                  <a:rPr lang="ko-KR" altLang="en-US" sz="1200" dirty="0" smtClean="0"/>
                  <a:t>에서는 대부분의 냉난방 및 차량기술들을 나누고 있음</a:t>
                </a:r>
              </a:p>
              <a:p>
                <a:pPr lvl="1"/>
                <a:r>
                  <a:rPr lang="en-US" altLang="ko-KR" sz="1200" b="0" dirty="0" smtClean="0">
                    <a:solidFill>
                      <a:srgbClr val="000000"/>
                    </a:solidFill>
                  </a:rPr>
                  <a:t>(</a:t>
                </a:r>
                <a:r>
                  <a:rPr lang="ko-KR" altLang="en-US" sz="1200" dirty="0" smtClean="0">
                    <a:solidFill>
                      <a:srgbClr val="000000"/>
                    </a:solidFill>
                  </a:rPr>
                  <a:t>기술 </a:t>
                </a:r>
                <a:r>
                  <a:rPr lang="en-US" altLang="ko-KR" sz="1200" dirty="0" smtClean="0">
                    <a:solidFill>
                      <a:srgbClr val="000000"/>
                    </a:solidFill>
                  </a:rPr>
                  <a:t>type 2)</a:t>
                </a:r>
                <a:r>
                  <a:rPr lang="ko-KR" altLang="en-US" sz="1200" dirty="0" smtClean="0">
                    <a:solidFill>
                      <a:srgbClr val="000000"/>
                    </a:solidFill>
                  </a:rPr>
                  <a:t>의 경우 변수의 수가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𝐼𝑇</m:t>
                        </m:r>
                      </m:e>
                    </m:d>
                  </m:oMath>
                </a14:m>
                <a:r>
                  <a:rPr lang="ko-KR" altLang="en-US" sz="1200" dirty="0" smtClean="0"/>
                  <a:t>가</a:t>
                </a:r>
                <a:r>
                  <a:rPr lang="en-US" altLang="ko-KR" sz="1200" dirty="0" smtClean="0"/>
                  <a:t> </a:t>
                </a:r>
                <a:r>
                  <a:rPr lang="ko-KR" altLang="en-US" sz="1200" dirty="0" smtClean="0"/>
                  <a:t>아니고</a:t>
                </a:r>
                <a:r>
                  <a:rPr lang="en-US" altLang="ko-KR" sz="1200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 sz="1200" dirty="0" smtClean="0"/>
                  <a:t>이 됨</a:t>
                </a:r>
                <a:endParaRPr lang="en-US" altLang="ko-KR" sz="1200" dirty="0" smtClean="0"/>
              </a:p>
              <a:p>
                <a:pPr lvl="1"/>
                <a:r>
                  <a:rPr lang="ko-KR" altLang="en-US" sz="1200" dirty="0" smtClean="0"/>
                  <a:t>분석 년도가 </a:t>
                </a:r>
                <a:r>
                  <a:rPr lang="en-US" altLang="ko-KR" sz="1200" dirty="0" smtClean="0"/>
                  <a:t>2011</a:t>
                </a:r>
                <a:r>
                  <a:rPr lang="ko-KR" altLang="en-US" sz="1200" dirty="0" smtClean="0"/>
                  <a:t>년부터 </a:t>
                </a:r>
                <a:r>
                  <a:rPr lang="en-US" altLang="ko-KR" sz="1200" dirty="0" smtClean="0"/>
                  <a:t>2050</a:t>
                </a:r>
                <a:r>
                  <a:rPr lang="ko-KR" altLang="en-US" sz="1200" dirty="0" smtClean="0"/>
                  <a:t>년까지 </a:t>
                </a:r>
                <a:r>
                  <a:rPr lang="en-US" altLang="ko-KR" sz="1200" dirty="0" smtClean="0"/>
                  <a:t>40</a:t>
                </a:r>
                <a:r>
                  <a:rPr lang="ko-KR" altLang="en-US" sz="1200" dirty="0" smtClean="0"/>
                  <a:t>년이고</a:t>
                </a:r>
                <a:r>
                  <a:rPr lang="en-US" altLang="ko-KR" sz="1200" dirty="0" smtClean="0"/>
                  <a:t>, </a:t>
                </a:r>
                <a:r>
                  <a:rPr lang="ko-KR" altLang="en-US" sz="1200" dirty="0" smtClean="0"/>
                  <a:t>차량기술의 수가 </a:t>
                </a:r>
                <a:r>
                  <a:rPr lang="en-US" altLang="ko-KR" sz="1200" dirty="0" smtClean="0"/>
                  <a:t>50</a:t>
                </a:r>
                <a:r>
                  <a:rPr lang="ko-KR" altLang="en-US" sz="1200" dirty="0" smtClean="0"/>
                  <a:t>개가 고려 된다면</a:t>
                </a:r>
                <a:endParaRPr lang="en-US" altLang="ko-KR" sz="1200" dirty="0" smtClean="0"/>
              </a:p>
              <a:p>
                <a:pPr marL="457200" lvl="1" indent="0">
                  <a:buNone/>
                </a:pPr>
                <a:r>
                  <a:rPr lang="en-US" altLang="ko-KR" sz="1200" dirty="0"/>
                  <a:t> </a:t>
                </a:r>
                <a:r>
                  <a:rPr lang="en-US" altLang="ko-KR" sz="1200" dirty="0" smtClean="0"/>
                  <a:t>   </a:t>
                </a:r>
                <a:r>
                  <a:rPr lang="ko-KR" altLang="en-US" sz="1200" dirty="0" smtClean="0"/>
                  <a:t>변수의 수는 </a:t>
                </a:r>
                <a:r>
                  <a:rPr lang="en-US" altLang="ko-KR" sz="1200" dirty="0" smtClean="0"/>
                  <a:t>40</a:t>
                </a:r>
                <a:r>
                  <a:rPr lang="ko-KR" altLang="en-US" sz="1200" dirty="0" smtClean="0">
                    <a:sym typeface="Symbol" panose="05050102010706020507" pitchFamily="18" charset="2"/>
                  </a:rPr>
                  <a:t></a:t>
                </a:r>
                <a:r>
                  <a:rPr lang="en-US" altLang="ko-KR" sz="1200" dirty="0" smtClean="0">
                    <a:sym typeface="Symbol" panose="05050102010706020507" pitchFamily="18" charset="2"/>
                  </a:rPr>
                  <a:t>50</a:t>
                </a:r>
                <a:r>
                  <a:rPr lang="ko-KR" altLang="en-US" sz="1200" dirty="0" smtClean="0">
                    <a:sym typeface="Symbol" panose="05050102010706020507" pitchFamily="18" charset="2"/>
                  </a:rPr>
                  <a:t>이 아니고</a:t>
                </a:r>
                <a:r>
                  <a:rPr lang="en-US" altLang="ko-KR" sz="1200" dirty="0" smtClean="0">
                    <a:sym typeface="Symbol" panose="05050102010706020507" pitchFamily="18" charset="2"/>
                  </a:rPr>
                  <a:t>, 40</a:t>
                </a:r>
                <a:r>
                  <a:rPr lang="ko-KR" altLang="en-US" sz="1200" dirty="0" smtClean="0">
                    <a:sym typeface="Symbol" panose="05050102010706020507" pitchFamily="18" charset="2"/>
                  </a:rPr>
                  <a:t></a:t>
                </a:r>
                <a:r>
                  <a:rPr lang="en-US" altLang="ko-KR" sz="1200" dirty="0" smtClean="0">
                    <a:sym typeface="Symbol" panose="05050102010706020507" pitchFamily="18" charset="2"/>
                  </a:rPr>
                  <a:t>50</a:t>
                </a:r>
                <a:r>
                  <a:rPr lang="ko-KR" altLang="en-US" sz="1200" dirty="0" smtClean="0">
                    <a:sym typeface="Symbol" panose="05050102010706020507" pitchFamily="18" charset="2"/>
                  </a:rPr>
                  <a:t></a:t>
                </a:r>
                <a:r>
                  <a:rPr lang="en-US" altLang="ko-KR" sz="1200" dirty="0" smtClean="0">
                    <a:sym typeface="Symbol" panose="05050102010706020507" pitchFamily="18" charset="2"/>
                  </a:rPr>
                  <a:t>50 </a:t>
                </a:r>
                <a:r>
                  <a:rPr lang="ko-KR" altLang="en-US" sz="1200" dirty="0" smtClean="0">
                    <a:sym typeface="Symbol" panose="05050102010706020507" pitchFamily="18" charset="2"/>
                  </a:rPr>
                  <a:t>이 되게 됨</a:t>
                </a:r>
                <a:endParaRPr lang="ko-KR" altLang="en-US" sz="1200" dirty="0" smtClean="0"/>
              </a:p>
            </p:txBody>
          </p:sp>
        </mc:Choice>
        <mc:Fallback xmlns="">
          <p:sp>
            <p:nvSpPr>
              <p:cNvPr id="12291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1371" y="808602"/>
                <a:ext cx="8534400" cy="2749849"/>
              </a:xfrm>
              <a:blipFill rotWithShape="0">
                <a:blip r:embed="rId2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sz="1400" smtClean="0">
                <a:latin typeface="Arial" panose="020B0604020202020204" pitchFamily="34" charset="0"/>
              </a:rPr>
              <a:t> </a:t>
            </a:r>
            <a:fld id="{5C771FAA-D453-4714-8AD2-2F2B131B8840}" type="slidenum">
              <a:rPr lang="en-US" altLang="ko-KR" sz="1400" smtClean="0">
                <a:latin typeface="Arial" panose="020B0604020202020204" pitchFamily="34" charset="0"/>
              </a:rPr>
              <a:pPr/>
              <a:t>58</a:t>
            </a:fld>
            <a:endParaRPr lang="en-US" altLang="ko-KR" sz="1400" smtClean="0">
              <a:latin typeface="Arial" panose="020B0604020202020204" pitchFamily="34" charset="0"/>
            </a:endParaRPr>
          </a:p>
        </p:txBody>
      </p:sp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704850" y="5314671"/>
            <a:ext cx="8534400" cy="98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tx2"/>
              </a:buClr>
              <a:buSzPct val="75000"/>
              <a:buFont typeface="Monotype Sorts" pitchFamily="2" charset="2"/>
              <a:buChar char="q"/>
              <a:defRPr kumimoji="1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  <a:defRPr kumimoji="1" sz="1600">
                <a:solidFill>
                  <a:schemeClr val="tx1"/>
                </a:solidFill>
                <a:latin typeface="+mn-lt"/>
                <a:ea typeface="바탕체" pitchFamily="17" charset="-127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lr>
                <a:schemeClr val="tx2"/>
              </a:buClr>
              <a:buSzPct val="60000"/>
              <a:buFont typeface="Monotype Sorts" pitchFamily="2" charset="2"/>
              <a:buChar char="u"/>
              <a:defRPr kumimoji="1" sz="1400">
                <a:solidFill>
                  <a:schemeClr val="tx1"/>
                </a:solidFill>
                <a:latin typeface="+mn-lt"/>
                <a:ea typeface="바탕체" pitchFamily="17" charset="-127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 typeface="바탕체" panose="02030609000101010101" pitchFamily="17" charset="-127"/>
              <a:buChar char=" "/>
              <a:defRPr kumimoji="1" sz="1200">
                <a:solidFill>
                  <a:schemeClr val="tx1"/>
                </a:solidFill>
                <a:latin typeface="+mn-lt"/>
                <a:ea typeface="바탕체" pitchFamily="17" charset="-127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 typeface="바탕체" panose="02030609000101010101" pitchFamily="17" charset="-127"/>
              <a:buChar char=" "/>
              <a:defRPr kumimoji="1" sz="1200">
                <a:solidFill>
                  <a:schemeClr val="tx1"/>
                </a:solidFill>
                <a:latin typeface="+mn-lt"/>
                <a:ea typeface="바탕체" pitchFamily="17" charset="-127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 typeface="바탕체" pitchFamily="17" charset="-127"/>
              <a:buChar char=" "/>
              <a:defRPr kumimoji="1" sz="1200">
                <a:solidFill>
                  <a:schemeClr val="tx1"/>
                </a:solidFill>
                <a:latin typeface="+mn-lt"/>
                <a:ea typeface="바탕체" pitchFamily="17" charset="-127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 typeface="바탕체" pitchFamily="17" charset="-127"/>
              <a:buChar char=" "/>
              <a:defRPr kumimoji="1" sz="1200">
                <a:solidFill>
                  <a:schemeClr val="tx1"/>
                </a:solidFill>
                <a:latin typeface="+mn-lt"/>
                <a:ea typeface="바탕체" pitchFamily="17" charset="-127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 typeface="바탕체" pitchFamily="17" charset="-127"/>
              <a:buChar char=" "/>
              <a:defRPr kumimoji="1" sz="1200">
                <a:solidFill>
                  <a:schemeClr val="tx1"/>
                </a:solidFill>
                <a:latin typeface="+mn-lt"/>
                <a:ea typeface="바탕체" pitchFamily="17" charset="-127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 typeface="바탕체" pitchFamily="17" charset="-127"/>
              <a:buChar char=" "/>
              <a:defRPr kumimoji="1" sz="1200">
                <a:solidFill>
                  <a:schemeClr val="tx1"/>
                </a:solidFill>
                <a:latin typeface="+mn-lt"/>
                <a:ea typeface="바탕체" pitchFamily="17" charset="-127"/>
              </a:defRPr>
            </a:lvl9pPr>
          </a:lstStyle>
          <a:p>
            <a:r>
              <a:rPr lang="en-US" altLang="ko-KR" sz="1600" kern="0" dirty="0" smtClean="0"/>
              <a:t>Approximation : LP </a:t>
            </a:r>
            <a:r>
              <a:rPr lang="ko-KR" altLang="en-US" sz="1600" kern="0" dirty="0" smtClean="0"/>
              <a:t>최적해로 부터</a:t>
            </a:r>
            <a:r>
              <a:rPr lang="en-US" altLang="ko-KR" sz="1600" kern="0" dirty="0" smtClean="0"/>
              <a:t>, </a:t>
            </a:r>
            <a:r>
              <a:rPr lang="ko-KR" altLang="en-US" sz="1600" kern="0" dirty="0" smtClean="0"/>
              <a:t>에너지 사용량을 재계산함</a:t>
            </a:r>
            <a:endParaRPr lang="en-US" altLang="ko-KR" sz="1600" kern="0" dirty="0" smtClean="0"/>
          </a:p>
          <a:p>
            <a:r>
              <a:rPr lang="ko-KR" altLang="en-US" sz="1600" kern="0" dirty="0" smtClean="0"/>
              <a:t>왜 </a:t>
            </a:r>
            <a:r>
              <a:rPr lang="en-US" altLang="ko-KR" sz="1600" kern="0" dirty="0" smtClean="0"/>
              <a:t>MESSAGE, MARKAL/TIMES, AIM, </a:t>
            </a:r>
            <a:r>
              <a:rPr lang="en-US" altLang="ko-KR" sz="1600" kern="0" dirty="0" err="1" smtClean="0"/>
              <a:t>OSeMOSYS</a:t>
            </a:r>
            <a:r>
              <a:rPr lang="ko-KR" altLang="en-US" sz="1600" kern="0" dirty="0" smtClean="0"/>
              <a:t>는 이렇게 </a:t>
            </a:r>
            <a:r>
              <a:rPr lang="en-US" altLang="ko-KR" sz="1600" kern="0" dirty="0" smtClean="0"/>
              <a:t>formulation</a:t>
            </a:r>
            <a:r>
              <a:rPr lang="ko-KR" altLang="en-US" sz="1600" kern="0" dirty="0" smtClean="0"/>
              <a:t>되어 있는가</a:t>
            </a:r>
            <a:r>
              <a:rPr lang="en-US" altLang="ko-KR" sz="1600" kern="0" dirty="0" smtClean="0"/>
              <a:t>?</a:t>
            </a:r>
          </a:p>
          <a:p>
            <a:pPr lvl="1"/>
            <a:r>
              <a:rPr lang="ko-KR" altLang="en-US" sz="1200" b="0" kern="0" dirty="0" smtClean="0"/>
              <a:t>에너지 </a:t>
            </a:r>
            <a:r>
              <a:rPr lang="ko-KR" altLang="en-US" sz="1200" b="0" kern="0" dirty="0"/>
              <a:t>모델링에서 출발하였기 </a:t>
            </a:r>
            <a:r>
              <a:rPr lang="ko-KR" altLang="en-US" sz="1200" b="0" kern="0" dirty="0" smtClean="0"/>
              <a:t>때문을 </a:t>
            </a:r>
            <a:r>
              <a:rPr lang="ko-KR" altLang="en-US" sz="1200" kern="0" dirty="0" smtClean="0"/>
              <a:t>보임</a:t>
            </a:r>
            <a:endParaRPr lang="ko-KR" altLang="en-US" kern="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173" y="4013015"/>
            <a:ext cx="3279749" cy="1301654"/>
          </a:xfrm>
          <a:prstGeom prst="rect">
            <a:avLst/>
          </a:prstGeom>
        </p:spPr>
      </p:pic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1423756" y="1181639"/>
          <a:ext cx="5879596" cy="573024"/>
        </p:xfrm>
        <a:graphic>
          <a:graphicData uri="http://schemas.openxmlformats.org/drawingml/2006/table">
            <a:tbl>
              <a:tblPr/>
              <a:tblGrid>
                <a:gridCol w="858465"/>
                <a:gridCol w="454831"/>
                <a:gridCol w="454831"/>
                <a:gridCol w="454831"/>
                <a:gridCol w="454831"/>
                <a:gridCol w="454831"/>
                <a:gridCol w="454831"/>
                <a:gridCol w="454831"/>
                <a:gridCol w="454831"/>
                <a:gridCol w="454831"/>
                <a:gridCol w="454831"/>
                <a:gridCol w="472821"/>
              </a:tblGrid>
              <a:tr h="2002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생산년도</a:t>
                      </a: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s)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2011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2012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2013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2014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2015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2016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2017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2018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2019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2020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2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smtClean="0">
                          <a:solidFill>
                            <a:srgbClr val="000000"/>
                          </a:solidFill>
                          <a:effectLst/>
                          <a:latin typeface="한컴바탕"/>
                        </a:rPr>
                        <a:t>연비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15.5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16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16.5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17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17.5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18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18.5</a:t>
                      </a:r>
                      <a:endParaRPr lang="en-US" sz="800" kern="0" spc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19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19.5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한컴바탕"/>
                          <a:ea typeface="맑은 고딕" panose="020B0503020000020004" pitchFamily="50" charset="-127"/>
                        </a:rPr>
                        <a:t>20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/>
              <p:cNvSpPr/>
              <p:nvPr/>
            </p:nvSpPr>
            <p:spPr>
              <a:xfrm>
                <a:off x="963047" y="1774856"/>
                <a:ext cx="6567999" cy="8173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실제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에너지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사용량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𝑀𝐸𝑆𝑆𝐴𝐺𝐸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에너지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사용량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/10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15.5</m:t>
                              </m:r>
                            </m:den>
                          </m:f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/10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+⋯+</m:t>
                          </m:r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/10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den>
                      </m:f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=1.1342</m:t>
                      </m:r>
                    </m:oMath>
                  </m:oMathPara>
                </a14:m>
                <a:endParaRPr lang="en-US" altLang="ko-KR" sz="1400" dirty="0"/>
              </a:p>
            </p:txBody>
          </p:sp>
        </mc:Choice>
        <mc:Fallback xmlns=""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47" y="1774856"/>
                <a:ext cx="6567999" cy="81734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오른쪽 화살표 1"/>
          <p:cNvSpPr/>
          <p:nvPr/>
        </p:nvSpPr>
        <p:spPr>
          <a:xfrm>
            <a:off x="6342278" y="4348416"/>
            <a:ext cx="592532" cy="4023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222107" y="4411084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TLFCONV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9620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title"/>
          </p:nvPr>
        </p:nvSpPr>
        <p:spPr>
          <a:xfrm>
            <a:off x="704850" y="157163"/>
            <a:ext cx="8496300" cy="569912"/>
          </a:xfrm>
        </p:spPr>
        <p:txBody>
          <a:bodyPr/>
          <a:lstStyle/>
          <a:p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ko-KR" altLang="en-US" b="0" dirty="0" smtClean="0"/>
              <a:t>모형화 </a:t>
            </a:r>
            <a:r>
              <a:rPr lang="en-US" altLang="ko-KR" b="0" dirty="0" smtClean="0"/>
              <a:t>- </a:t>
            </a:r>
            <a:r>
              <a:rPr lang="ko-KR" altLang="en-US" b="0" dirty="0" smtClean="0"/>
              <a:t>효율개선기술</a:t>
            </a:r>
            <a:r>
              <a:rPr lang="en-US" altLang="ko-KR" b="0" dirty="0" smtClean="0"/>
              <a:t>(4)</a:t>
            </a:r>
            <a:endParaRPr lang="ko-KR" altLang="en-US" b="0" dirty="0" smtClean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900113"/>
            <a:ext cx="8534400" cy="357187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(type 2 tech.)</a:t>
            </a:r>
            <a:r>
              <a:rPr lang="ko-KR" altLang="en-US" dirty="0" smtClean="0"/>
              <a:t>를 고려한 </a:t>
            </a:r>
            <a:r>
              <a:rPr lang="en-US" altLang="ko-KR" dirty="0" smtClean="0"/>
              <a:t>formulation</a:t>
            </a:r>
            <a:r>
              <a:rPr lang="ko-KR" altLang="en-US" dirty="0" smtClean="0"/>
              <a:t>의 개선</a:t>
            </a:r>
            <a:endParaRPr lang="en-US" altLang="ko-KR" dirty="0" smtClean="0"/>
          </a:p>
          <a:p>
            <a:pPr marL="0" indent="0">
              <a:buFont typeface="Monotype Sorts" pitchFamily="2" charset="2"/>
              <a:buNone/>
              <a:defRPr/>
            </a:pPr>
            <a:endParaRPr lang="ko-KR" altLang="en-US" dirty="0"/>
          </a:p>
        </p:txBody>
      </p:sp>
      <p:sp>
        <p:nvSpPr>
          <p:cNvPr id="13316" name="TextBox 5"/>
          <p:cNvSpPr txBox="1">
            <a:spLocks noChangeArrowheads="1"/>
          </p:cNvSpPr>
          <p:nvPr/>
        </p:nvSpPr>
        <p:spPr bwMode="auto">
          <a:xfrm>
            <a:off x="935038" y="1282700"/>
            <a:ext cx="396716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dirty="0"/>
              <a:t>(</a:t>
            </a:r>
            <a:r>
              <a:rPr lang="ko-KR" altLang="en-US" dirty="0"/>
              <a:t>주안점 </a:t>
            </a:r>
            <a:r>
              <a:rPr lang="en-US" altLang="ko-KR" dirty="0"/>
              <a:t>1) flow conservation constraint (2-2)</a:t>
            </a:r>
            <a:r>
              <a:rPr lang="ko-KR" altLang="en-US" dirty="0"/>
              <a:t>는 </a:t>
            </a:r>
            <a:r>
              <a:rPr lang="ko-KR" altLang="en-US" dirty="0" err="1"/>
              <a:t>유지하여함</a:t>
            </a:r>
            <a:endParaRPr lang="ko-KR" altLang="en-US" dirty="0"/>
          </a:p>
        </p:txBody>
      </p:sp>
      <p:sp>
        <p:nvSpPr>
          <p:cNvPr id="23" name="직사각형 2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14487" y="1103659"/>
            <a:ext cx="2160335" cy="649665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ko-KR" altLang="en-US">
                <a:noFill/>
              </a:rPr>
              <a:t> </a:t>
            </a:r>
          </a:p>
        </p:txBody>
      </p:sp>
      <p:sp>
        <p:nvSpPr>
          <p:cNvPr id="13322" name="직사각형 27"/>
          <p:cNvSpPr>
            <a:spLocks noChangeArrowheads="1"/>
          </p:cNvSpPr>
          <p:nvPr/>
        </p:nvSpPr>
        <p:spPr bwMode="auto">
          <a:xfrm>
            <a:off x="5121275" y="1290638"/>
            <a:ext cx="493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dirty="0"/>
              <a:t>(2-2)</a:t>
            </a:r>
            <a:endParaRPr lang="ko-KR" altLang="en-US" dirty="0"/>
          </a:p>
        </p:txBody>
      </p:sp>
      <p:sp>
        <p:nvSpPr>
          <p:cNvPr id="13323" name="직사각형 28"/>
          <p:cNvSpPr>
            <a:spLocks noChangeArrowheads="1"/>
          </p:cNvSpPr>
          <p:nvPr/>
        </p:nvSpPr>
        <p:spPr bwMode="auto">
          <a:xfrm>
            <a:off x="1083879" y="3657348"/>
            <a:ext cx="4937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/>
              <a:t>(1-1)</a:t>
            </a:r>
            <a:endParaRPr lang="ko-KR" altLang="en-US"/>
          </a:p>
        </p:txBody>
      </p:sp>
      <p:sp>
        <p:nvSpPr>
          <p:cNvPr id="13324" name="직사각형 29"/>
          <p:cNvSpPr>
            <a:spLocks noChangeArrowheads="1"/>
          </p:cNvSpPr>
          <p:nvPr/>
        </p:nvSpPr>
        <p:spPr bwMode="auto">
          <a:xfrm>
            <a:off x="1083879" y="4638423"/>
            <a:ext cx="49371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/>
              <a:t>(2-1)</a:t>
            </a:r>
            <a:endParaRPr lang="ko-KR" altLang="en-US"/>
          </a:p>
        </p:txBody>
      </p:sp>
      <p:sp>
        <p:nvSpPr>
          <p:cNvPr id="13325" name="직사각형 30"/>
          <p:cNvSpPr>
            <a:spLocks noChangeArrowheads="1"/>
          </p:cNvSpPr>
          <p:nvPr/>
        </p:nvSpPr>
        <p:spPr bwMode="auto">
          <a:xfrm>
            <a:off x="1083879" y="4170110"/>
            <a:ext cx="4937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/>
              <a:t>(1-2)</a:t>
            </a:r>
            <a:endParaRPr lang="ko-KR" altLang="en-US"/>
          </a:p>
        </p:txBody>
      </p:sp>
      <p:sp>
        <p:nvSpPr>
          <p:cNvPr id="13327" name="TextBox 32"/>
          <p:cNvSpPr txBox="1">
            <a:spLocks noChangeArrowheads="1"/>
          </p:cNvSpPr>
          <p:nvPr/>
        </p:nvSpPr>
        <p:spPr bwMode="auto">
          <a:xfrm>
            <a:off x="935038" y="1591546"/>
            <a:ext cx="290335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dirty="0" smtClean="0"/>
              <a:t>(</a:t>
            </a:r>
            <a:r>
              <a:rPr lang="ko-KR" altLang="en-US" dirty="0" smtClean="0"/>
              <a:t>주</a:t>
            </a:r>
            <a:r>
              <a:rPr lang="ko-KR" altLang="en-US" dirty="0"/>
              <a:t>안점 </a:t>
            </a:r>
            <a:r>
              <a:rPr lang="en-US" altLang="ko-KR" dirty="0"/>
              <a:t>2) </a:t>
            </a:r>
            <a:r>
              <a:rPr lang="ko-KR" altLang="en-US" dirty="0"/>
              <a:t>최소한의 변수 및 </a:t>
            </a:r>
            <a:r>
              <a:rPr lang="ko-KR" altLang="en-US" dirty="0" err="1"/>
              <a:t>제약식</a:t>
            </a:r>
            <a:r>
              <a:rPr lang="ko-KR" altLang="en-US" dirty="0"/>
              <a:t> 추가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1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020472" y="2722399"/>
              <a:ext cx="2708831" cy="3447872"/>
            </p:xfrm>
            <a:graphic>
              <a:graphicData uri="http://schemas.openxmlformats.org/drawingml/2006/table">
                <a:tbl>
                  <a:tblPr/>
                  <a:tblGrid>
                    <a:gridCol w="1005187"/>
                    <a:gridCol w="425281"/>
                    <a:gridCol w="426121"/>
                    <a:gridCol w="426121"/>
                    <a:gridCol w="426121"/>
                  </a:tblGrid>
                  <a:tr h="25923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800" kern="0" spc="0" dirty="0" err="1" smtClean="0">
                              <a:solidFill>
                                <a:srgbClr val="000000"/>
                              </a:solidFill>
                              <a:effectLst/>
                              <a:latin typeface="한컴바탕"/>
                            </a:rPr>
                            <a:t>운영년도</a:t>
                          </a: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l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l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l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34412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800" kern="0" spc="0" dirty="0" err="1" smtClean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생산년도</a:t>
                          </a:r>
                          <a:endParaRPr lang="ko-KR" alt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kern="0" spc="0" dirty="0" smtClean="0">
                              <a:solidFill>
                                <a:srgbClr val="000000"/>
                              </a:solidFill>
                              <a:effectLst/>
                              <a:latin typeface="한컴바탕"/>
                              <a:ea typeface="맑은 고딕" panose="020B0503020000020004" pitchFamily="50" charset="-127"/>
                            </a:rPr>
                            <a:t>2011</a:t>
                          </a: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kern="0" spc="0" dirty="0" smtClean="0">
                              <a:solidFill>
                                <a:srgbClr val="000000"/>
                              </a:solidFill>
                              <a:effectLst/>
                              <a:latin typeface="한컴바탕"/>
                              <a:ea typeface="맑은 고딕" panose="020B0503020000020004" pitchFamily="50" charset="-127"/>
                            </a:rPr>
                            <a:t>2012</a:t>
                          </a: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kern="0" spc="0" dirty="0" smtClean="0">
                              <a:solidFill>
                                <a:srgbClr val="000000"/>
                              </a:solidFill>
                              <a:effectLst/>
                              <a:latin typeface="한컴바탕"/>
                              <a:ea typeface="맑은 고딕" panose="020B0503020000020004" pitchFamily="50" charset="-127"/>
                            </a:rPr>
                            <a:t>2013</a:t>
                          </a: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kern="0" spc="0" dirty="0">
                              <a:solidFill>
                                <a:srgbClr val="000000"/>
                              </a:solidFill>
                              <a:effectLst/>
                              <a:latin typeface="한컴바탕"/>
                              <a:ea typeface="맑은 고딕" panose="020B0503020000020004" pitchFamily="50" charset="-127"/>
                            </a:rPr>
                            <a:t>2014</a:t>
                          </a: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474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800" kern="0" spc="0" dirty="0" smtClean="0">
                              <a:solidFill>
                                <a:srgbClr val="FF0000"/>
                              </a:solidFill>
                              <a:effectLst/>
                              <a:latin typeface="한컴바탕"/>
                              <a:ea typeface="맑은 고딕" panose="020B0503020000020004" pitchFamily="50" charset="-127"/>
                            </a:rPr>
                            <a:t>2002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1" lang="en-US" altLang="ko-KR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−8</m:t>
                                      </m:r>
                                    </m:sup>
                                  </m:sSubSup>
                                </m:e>
                              </m:d>
                            </m:oMath>
                          </a14:m>
                          <a:endParaRPr lang="en-US" sz="800" kern="0" spc="0" dirty="0">
                            <a:solidFill>
                              <a:srgbClr val="FF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−8,1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−8,2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−8,3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−8,4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474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kern="0" spc="0" smtClean="0"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FF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800" b="0" i="1" kern="0" spc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474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800" kern="0" spc="0" dirty="0" smtClean="0">
                              <a:solidFill>
                                <a:srgbClr val="FF0000"/>
                              </a:solidFill>
                              <a:effectLst/>
                              <a:latin typeface="한컴바탕"/>
                              <a:ea typeface="맑은 고딕" panose="020B0503020000020004" pitchFamily="50" charset="-127"/>
                            </a:rPr>
                            <a:t>2009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1" lang="en-US" altLang="ko-KR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−1</m:t>
                                      </m:r>
                                    </m:sup>
                                  </m:sSubSup>
                                </m:e>
                              </m:d>
                            </m:oMath>
                          </a14:m>
                          <a:endParaRPr lang="en-US" sz="800" kern="0" spc="0" dirty="0">
                            <a:solidFill>
                              <a:srgbClr val="FF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−1,1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−1,2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−1,3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−1,4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474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800" kern="0" spc="0" dirty="0" smtClean="0">
                              <a:solidFill>
                                <a:srgbClr val="FF0000"/>
                              </a:solidFill>
                              <a:effectLst/>
                              <a:latin typeface="한컴바탕"/>
                              <a:ea typeface="맑은 고딕" panose="020B0503020000020004" pitchFamily="50" charset="-127"/>
                            </a:rPr>
                            <a:t>2010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1" lang="en-US" altLang="ko-KR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FF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0</m:t>
                                      </m:r>
                                    </m:sup>
                                  </m:sSubSup>
                                </m:e>
                              </m:d>
                            </m:oMath>
                          </a14:m>
                          <a:endParaRPr lang="en-US" sz="800" kern="0" spc="0" dirty="0">
                            <a:solidFill>
                              <a:srgbClr val="FF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0,1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0,2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0,3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0,4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474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800" kern="0" spc="0" dirty="0" smtClean="0">
                              <a:solidFill>
                                <a:srgbClr val="000000"/>
                              </a:solidFill>
                              <a:effectLst/>
                              <a:latin typeface="한컴바탕"/>
                              <a:ea typeface="맑은 고딕" panose="020B0503020000020004" pitchFamily="50" charset="-127"/>
                            </a:rPr>
                            <a:t>2011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1" lang="en-US" altLang="ko-KR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1</m:t>
                                      </m:r>
                                    </m:sup>
                                  </m:sSubSup>
                                </m:e>
                              </m:d>
                            </m:oMath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8733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kern="0" spc="0" dirty="0" smtClean="0">
                              <a:solidFill>
                                <a:srgbClr val="000000"/>
                              </a:solidFill>
                              <a:effectLst/>
                              <a:latin typeface="한컴바탕"/>
                              <a:ea typeface="맑은 고딕" panose="020B0503020000020004" pitchFamily="50" charset="-127"/>
                            </a:rPr>
                            <a:t>2012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1" lang="en-US" altLang="ko-KR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oMath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800" kern="0" spc="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　</a:t>
                          </a:r>
                          <a:endParaRPr lang="ko-KR" alt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87330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kern="0" spc="0" dirty="0" smtClean="0">
                              <a:solidFill>
                                <a:srgbClr val="000000"/>
                              </a:solidFill>
                              <a:effectLst/>
                              <a:latin typeface="한컴바탕"/>
                              <a:ea typeface="맑은 고딕" panose="020B0503020000020004" pitchFamily="50" charset="-127"/>
                            </a:rPr>
                            <a:t>2013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kumimoji="1" lang="en-US" altLang="ko-KR" sz="1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kumimoji="1" lang="en-US" altLang="ko-KR" sz="12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3</m:t>
                                      </m:r>
                                    </m:sup>
                                  </m:sSubSup>
                                </m:e>
                              </m:d>
                            </m:oMath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800" kern="0" spc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　</a:t>
                          </a:r>
                          <a:endParaRPr lang="ko-KR" altLang="en-US" sz="800" kern="0" spc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800" kern="0" spc="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　</a:t>
                          </a:r>
                          <a:endParaRPr lang="ko-KR" alt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3,3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3,4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63251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ko-KR" alt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kumimoji="1" lang="en-US" altLang="ko-KR" sz="1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1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020472" y="2722399"/>
              <a:ext cx="2708831" cy="3447872"/>
            </p:xfrm>
            <a:graphic>
              <a:graphicData uri="http://schemas.openxmlformats.org/drawingml/2006/table">
                <a:tbl>
                  <a:tblPr/>
                  <a:tblGrid>
                    <a:gridCol w="1005187"/>
                    <a:gridCol w="425281"/>
                    <a:gridCol w="426121"/>
                    <a:gridCol w="426121"/>
                    <a:gridCol w="426121"/>
                  </a:tblGrid>
                  <a:tr h="28645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ko-KR" alt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800" kern="0" spc="0" dirty="0" err="1" smtClean="0">
                              <a:solidFill>
                                <a:srgbClr val="000000"/>
                              </a:solidFill>
                              <a:effectLst/>
                              <a:latin typeface="한컴바탕"/>
                            </a:rPr>
                            <a:t>운영년도</a:t>
                          </a: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l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l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l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8645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800" kern="0" spc="0" dirty="0" err="1" smtClean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생산년도</a:t>
                          </a:r>
                          <a:endParaRPr lang="ko-KR" alt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kern="0" spc="0" dirty="0" smtClean="0">
                              <a:solidFill>
                                <a:srgbClr val="000000"/>
                              </a:solidFill>
                              <a:effectLst/>
                              <a:latin typeface="한컴바탕"/>
                              <a:ea typeface="맑은 고딕" panose="020B0503020000020004" pitchFamily="50" charset="-127"/>
                            </a:rPr>
                            <a:t>2011</a:t>
                          </a: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kern="0" spc="0" dirty="0" smtClean="0">
                              <a:solidFill>
                                <a:srgbClr val="000000"/>
                              </a:solidFill>
                              <a:effectLst/>
                              <a:latin typeface="한컴바탕"/>
                              <a:ea typeface="맑은 고딕" panose="020B0503020000020004" pitchFamily="50" charset="-127"/>
                            </a:rPr>
                            <a:t>2012</a:t>
                          </a: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kern="0" spc="0" dirty="0" smtClean="0">
                              <a:solidFill>
                                <a:srgbClr val="000000"/>
                              </a:solidFill>
                              <a:effectLst/>
                              <a:latin typeface="한컴바탕"/>
                              <a:ea typeface="맑은 고딕" panose="020B0503020000020004" pitchFamily="50" charset="-127"/>
                            </a:rPr>
                            <a:t>2013</a:t>
                          </a: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fontAlgn="base" latinLnBrk="0">
                            <a:lnSpc>
                              <a:spcPct val="16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800" kern="0" spc="0" dirty="0">
                              <a:solidFill>
                                <a:srgbClr val="000000"/>
                              </a:solidFill>
                              <a:effectLst/>
                              <a:latin typeface="한컴바탕"/>
                              <a:ea typeface="맑은 고딕" panose="020B0503020000020004" pitchFamily="50" charset="-127"/>
                            </a:rPr>
                            <a:t>2014</a:t>
                          </a: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4740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t="-164912" r="-170909" b="-73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35714" t="-164912" r="-302857" b="-73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35714" t="-164912" r="-202857" b="-73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435714" t="-164912" r="-102857" b="-73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35714" t="-164912" r="-2857" b="-731579"/>
                          </a:stretch>
                        </a:blipFill>
                      </a:tcPr>
                    </a:tc>
                  </a:tr>
                  <a:tr h="34740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t="-264912" r="-170909" b="-63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35714" t="-264912" r="-302857" b="-63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35714" t="-264912" r="-202857" b="-63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435714" t="-264912" r="-102857" b="-63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35714" t="-264912" r="-2857" b="-631579"/>
                          </a:stretch>
                        </a:blipFill>
                      </a:tcPr>
                    </a:tc>
                  </a:tr>
                  <a:tr h="34740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t="-358621" r="-170909" b="-52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35714" t="-358621" r="-302857" b="-52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35714" t="-358621" r="-202857" b="-52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435714" t="-358621" r="-102857" b="-52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35714" t="-358621" r="-2857" b="-520690"/>
                          </a:stretch>
                        </a:blipFill>
                      </a:tcPr>
                    </a:tc>
                  </a:tr>
                  <a:tr h="34740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t="-466667" r="-170909" b="-4298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35714" t="-466667" r="-302857" b="-4298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35714" t="-466667" r="-202857" b="-4298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435714" t="-466667" r="-102857" b="-4298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35714" t="-466667" r="-2857" b="-429825"/>
                          </a:stretch>
                        </a:blipFill>
                      </a:tcPr>
                    </a:tc>
                  </a:tr>
                  <a:tr h="34740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t="-566667" r="-170909" b="-3298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35714" t="-566667" r="-302857" b="-3298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35714" t="-566667" r="-202857" b="-3298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435714" t="-566667" r="-102857" b="-3298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35714" t="-566667" r="-2857" b="-329825"/>
                          </a:stretch>
                        </a:blipFill>
                      </a:tcPr>
                    </a:tc>
                  </a:tr>
                  <a:tr h="38733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t="-593750" r="-170909" b="-1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800" kern="0" spc="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　</a:t>
                          </a:r>
                          <a:endParaRPr lang="ko-KR" alt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35714" t="-593750" r="-202857" b="-1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435714" t="-593750" r="-102857" b="-1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35714" t="-593750" r="-2857" b="-193750"/>
                          </a:stretch>
                        </a:blipFill>
                      </a:tcPr>
                    </a:tc>
                  </a:tr>
                  <a:tr h="38733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t="-704762" r="-170909" b="-968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800" kern="0" spc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　</a:t>
                          </a:r>
                          <a:endParaRPr lang="ko-KR" altLang="en-US" sz="800" kern="0" spc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800" kern="0" spc="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　</a:t>
                          </a:r>
                          <a:endParaRPr lang="ko-KR" alt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435714" t="-704762" r="-102857" b="-968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35714" t="-704762" r="-2857" b="-96825"/>
                          </a:stretch>
                        </a:blipFill>
                      </a:tcPr>
                    </a:tc>
                  </a:tr>
                  <a:tr h="363251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800" kern="0" spc="0" dirty="0">
                            <a:solidFill>
                              <a:srgbClr val="000000"/>
                            </a:solidFill>
                            <a:effectLst/>
                            <a:latin typeface="한컴바탕"/>
                          </a:endParaRPr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35714" t="-845000" r="-302857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35714" t="-845000" r="-202857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435714" t="-845000" r="-102857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1449" marR="91449" marT="45693" marB="45693" anchor="ctr">
                        <a:lnL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112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35714" t="-845000" r="-2857" b="-1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/>
              <p:cNvSpPr/>
              <p:nvPr/>
            </p:nvSpPr>
            <p:spPr>
              <a:xfrm>
                <a:off x="1577591" y="3450799"/>
                <a:ext cx="3160289" cy="6333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indent="179705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ko-KR" altLang="ko-K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ko-KR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ko-KR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  <m:sup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  <m:e>
                          <m:sSubSup>
                            <m:sSubSupPr>
                              <m:ctrlPr>
                                <a:rPr lang="ko-KR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altLang="ko-KR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nary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,  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𝑖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∈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𝐼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,  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=1,2,⋯,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ko-KR" altLang="ko-KR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" name="직사각형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591" y="3450799"/>
                <a:ext cx="3160289" cy="633379"/>
              </a:xfrm>
              <a:prstGeom prst="rect">
                <a:avLst/>
              </a:prstGeom>
              <a:blipFill rotWithShape="0">
                <a:blip r:embed="rId4"/>
                <a:stretch>
                  <a:fillRect r="-5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/>
              <p:cNvSpPr/>
              <p:nvPr/>
            </p:nvSpPr>
            <p:spPr>
              <a:xfrm>
                <a:off x="1577591" y="4149639"/>
                <a:ext cx="4442881" cy="3025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179705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bSup>
                      <m:sSubSup>
                        <m:sSubSupPr>
                          <m:ctrlPr>
                            <a:rPr lang="ko-KR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≤</m:t>
                      </m:r>
                      <m:sSubSup>
                        <m:sSubSupPr>
                          <m:ctrlPr>
                            <a:rPr lang="ko-KR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𝑠</m:t>
                          </m:r>
                        </m:sup>
                      </m:sSubSup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, 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=1,2,⋯,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𝑇</m:t>
                      </m:r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𝑠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+1</m:t>
                      </m:r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𝑙</m:t>
                          </m:r>
                        </m:e>
                        <m:sub>
                          <m:r>
                            <a:rPr lang="en-US" altLang="ko-KR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⋯,</m:t>
                      </m:r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, 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𝑖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∈</m:t>
                      </m:r>
                      <m:r>
                        <a:rPr lang="en-US" altLang="ko-KR">
                          <a:solidFill>
                            <a:srgbClr val="000000"/>
                          </a:solidFill>
                          <a:latin typeface="Cambria Math"/>
                        </a:rPr>
                        <m:t>𝐼</m:t>
                      </m:r>
                    </m:oMath>
                  </m:oMathPara>
                </a14:m>
                <a:endParaRPr lang="ko-KR" altLang="ko-KR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직사각형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591" y="4149639"/>
                <a:ext cx="4442881" cy="30251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/>
              <p:cNvSpPr/>
              <p:nvPr/>
            </p:nvSpPr>
            <p:spPr>
              <a:xfrm>
                <a:off x="1547106" y="4509649"/>
                <a:ext cx="3480248" cy="6519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indent="179705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ko-KR" altLang="ko-K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altLang="ko-KR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de-DE" altLang="ko-KR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ko-KR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altLang="ko-KR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ko-KR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ko-KR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ko-KR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ko-KR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ko-KR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en-US" altLang="ko-K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e-DE" altLang="ko-KR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de-DE" altLang="ko-KR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𝑖</m:t>
                                      </m:r>
                                      <m:d>
                                        <m:dPr>
                                          <m:ctrlPr>
                                            <a:rPr lang="en-US" altLang="ko-KR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sub>
                                    <m:sup>
                                      <m:r>
                                        <a:rPr lang="en-US" altLang="ko-KR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p>
                                  </m:sSubSup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ko-KR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altLang="ko-KR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ko-KR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  <m:sup>
                                  <m:r>
                                    <a:rPr lang="en-US" altLang="ko-KR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altLang="ko-KR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  <m:r>
                        <a:rPr lang="de-DE" altLang="ko-KR" i="1">
                          <a:solidFill>
                            <a:srgbClr val="000000"/>
                          </a:solidFill>
                          <a:latin typeface="Cambria Math"/>
                        </a:rPr>
                        <m:t>≥</m:t>
                      </m:r>
                      <m:sSubSup>
                        <m:sSubSupPr>
                          <m:ctrlPr>
                            <a:rPr lang="ko-KR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altLang="ko-KR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de-DE" altLang="ko-KR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lang="de-DE" altLang="ko-KR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</m:sSubSup>
                      <m:r>
                        <a:rPr lang="en-US" altLang="ko-KR" sz="1100">
                          <a:solidFill>
                            <a:srgbClr val="000000"/>
                          </a:solidFill>
                          <a:latin typeface="Cambria Math"/>
                        </a:rPr>
                        <m:t>, </m:t>
                      </m:r>
                      <m:r>
                        <a:rPr lang="en-US" altLang="ko-KR" sz="11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>
                          <a:solidFill>
                            <a:srgbClr val="000000"/>
                          </a:solidFill>
                          <a:latin typeface="Cambria Math"/>
                        </a:rPr>
                        <m:t>𝑘</m:t>
                      </m:r>
                      <m:r>
                        <a:rPr lang="en-US" altLang="ko-KR" sz="1100">
                          <a:solidFill>
                            <a:srgbClr val="000000"/>
                          </a:solidFill>
                          <a:latin typeface="Cambria Math"/>
                        </a:rPr>
                        <m:t>∈</m:t>
                      </m:r>
                      <m:r>
                        <a:rPr lang="en-US" altLang="ko-KR" sz="1100">
                          <a:solidFill>
                            <a:srgbClr val="000000"/>
                          </a:solidFill>
                          <a:latin typeface="Cambria Math"/>
                        </a:rPr>
                        <m:t>𝐾</m:t>
                      </m:r>
                      <m:r>
                        <a:rPr lang="en-US" altLang="ko-KR" sz="1100">
                          <a:solidFill>
                            <a:srgbClr val="000000"/>
                          </a:solidFill>
                          <a:latin typeface="Cambria Math"/>
                        </a:rPr>
                        <m:t>, </m:t>
                      </m:r>
                      <m:r>
                        <a:rPr lang="en-US" altLang="ko-KR" sz="1100">
                          <a:solidFill>
                            <a:srgbClr val="000000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altLang="ko-KR" sz="1100">
                          <a:solidFill>
                            <a:srgbClr val="000000"/>
                          </a:solidFill>
                          <a:latin typeface="Cambria Math"/>
                        </a:rPr>
                        <m:t>=1,2,⋯,</m:t>
                      </m:r>
                      <m:r>
                        <a:rPr lang="en-US" altLang="ko-KR" sz="1100">
                          <a:solidFill>
                            <a:srgbClr val="000000"/>
                          </a:solidFill>
                          <a:latin typeface="Cambria Math"/>
                        </a:rPr>
                        <m:t>𝑇</m:t>
                      </m:r>
                    </m:oMath>
                  </m:oMathPara>
                </a14:m>
                <a:endParaRPr lang="ko-KR" altLang="ko-KR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106" y="4509649"/>
                <a:ext cx="3480248" cy="651973"/>
              </a:xfrm>
              <a:prstGeom prst="rect">
                <a:avLst/>
              </a:prstGeom>
              <a:blipFill rotWithShape="0">
                <a:blip r:embed="rId6"/>
                <a:stretch>
                  <a:fillRect r="-5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/>
              <p:cNvSpPr/>
              <p:nvPr/>
            </p:nvSpPr>
            <p:spPr>
              <a:xfrm>
                <a:off x="924042" y="1875240"/>
                <a:ext cx="6484276" cy="2795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indent="-457200"/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altLang="ko-KR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de-DE" altLang="ko-KR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</m:sup>
                    </m:sSubSup>
                    <m:r>
                      <a:rPr lang="en-US" altLang="ko-KR" b="0" i="1" smtClean="0">
                        <a:latin typeface="Cambria Math"/>
                      </a:rPr>
                      <m:t>,  </m:t>
                    </m:r>
                    <m:r>
                      <a:rPr lang="en-US" altLang="ko-KR" b="0" i="1" smtClean="0">
                        <a:latin typeface="Cambria Math"/>
                      </a:rPr>
                      <m:t>𝑠</m:t>
                    </m:r>
                    <m:r>
                      <a:rPr lang="en-US" altLang="ko-KR" b="0" i="1" smtClean="0">
                        <a:latin typeface="Cambria Math"/>
                      </a:rPr>
                      <m:t>=1−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+1,1−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/>
                      </a:rPr>
                      <m:t>,⋯,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−1,0</m:t>
                    </m:r>
                  </m:oMath>
                </a14:m>
                <a:r>
                  <a:rPr lang="en-US" altLang="ko-KR" b="0" dirty="0" smtClean="0">
                    <a:latin typeface="Cambria Math"/>
                  </a:rPr>
                  <a:t> : </a:t>
                </a:r>
                <a:r>
                  <a:rPr lang="ko-KR" altLang="en-US" dirty="0" smtClean="0">
                    <a:latin typeface="Cambria Math"/>
                  </a:rPr>
                  <a:t>기존 기술의 </a:t>
                </a:r>
                <a:r>
                  <a:rPr lang="en-US" altLang="ko-KR" b="0" dirty="0" smtClean="0">
                    <a:latin typeface="Cambria Math"/>
                  </a:rPr>
                  <a:t>historic capacity</a:t>
                </a:r>
                <a:r>
                  <a:rPr lang="ko-KR" altLang="en-US" b="0" dirty="0" smtClean="0">
                    <a:latin typeface="Cambria Math"/>
                  </a:rPr>
                  <a:t>로 변수가 아닌 </a:t>
                </a:r>
                <a:r>
                  <a:rPr lang="ko-KR" altLang="en-US" b="0" dirty="0" smtClean="0">
                    <a:solidFill>
                      <a:srgbClr val="FF0000"/>
                    </a:solidFill>
                    <a:latin typeface="Cambria Math"/>
                  </a:rPr>
                  <a:t>상수</a:t>
                </a:r>
                <a:r>
                  <a:rPr lang="en-US" altLang="ko-KR" b="0" i="1" dirty="0" smtClean="0">
                    <a:latin typeface="Cambria Math"/>
                  </a:rPr>
                  <a:t> </a:t>
                </a:r>
                <a:r>
                  <a:rPr lang="en-US" altLang="ko-KR" b="0" dirty="0" smtClean="0">
                    <a:latin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이</m:t>
                    </m:r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전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의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</m:oMath>
                </a14:m>
                <a:r>
                  <a:rPr lang="en-US" altLang="ko-KR" b="0" dirty="0" smtClean="0">
                    <a:latin typeface="Cambria Math"/>
                  </a:rPr>
                  <a:t>)</a:t>
                </a:r>
              </a:p>
            </p:txBody>
          </p:sp>
        </mc:Choice>
        <mc:Fallback xmlns="">
          <p:sp>
            <p:nvSpPr>
              <p:cNvPr id="7" name="직사각형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042" y="1875240"/>
                <a:ext cx="6484276" cy="279500"/>
              </a:xfrm>
              <a:prstGeom prst="rect">
                <a:avLst/>
              </a:prstGeom>
              <a:blipFill rotWithShape="0">
                <a:blip r:embed="rId7"/>
                <a:stretch>
                  <a:fillRect t="-4444" b="-1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/>
              <p:cNvSpPr/>
              <p:nvPr/>
            </p:nvSpPr>
            <p:spPr>
              <a:xfrm>
                <a:off x="1116065" y="2966399"/>
                <a:ext cx="3227165" cy="48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indent="-457200"/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altLang="ko-KR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de-DE" altLang="ko-KR" i="1">
                            <a:latin typeface="Cambria Math"/>
                          </a:rPr>
                          <m:t>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US" altLang="ko-KR" b="0" i="1" smtClean="0">
                        <a:latin typeface="Cambria Math"/>
                      </a:rPr>
                      <m:t>, 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1,2,⋯,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/>
                      </a:rPr>
                      <m:t>,⋯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b="0" i="1" dirty="0" smtClean="0">
                    <a:latin typeface="Cambria Math"/>
                  </a:rPr>
                  <a:t>  </a:t>
                </a:r>
              </a:p>
              <a:p>
                <a:pPr lvl="1" indent="-457200"/>
                <a:r>
                  <a:rPr lang="en-US" altLang="ko-KR" b="0" dirty="0" smtClean="0">
                    <a:latin typeface="Cambria Math"/>
                  </a:rPr>
                  <a:t> : </a:t>
                </a:r>
                <a:r>
                  <a:rPr lang="en-US" altLang="ko-KR" b="0" i="1" dirty="0" smtClean="0">
                    <a:latin typeface="Cambria Math"/>
                  </a:rPr>
                  <a:t>s</a:t>
                </a:r>
                <a:r>
                  <a:rPr lang="ko-KR" altLang="en-US" b="0" dirty="0" smtClean="0">
                    <a:latin typeface="Cambria Math"/>
                  </a:rPr>
                  <a:t>년도에 생산된 차량의 </a:t>
                </a:r>
                <a:r>
                  <a:rPr lang="en-US" altLang="ko-KR" b="0" i="1" dirty="0" smtClean="0">
                    <a:latin typeface="Cambria Math"/>
                  </a:rPr>
                  <a:t>t</a:t>
                </a:r>
                <a:r>
                  <a:rPr lang="ko-KR" altLang="en-US" b="0" dirty="0" smtClean="0">
                    <a:latin typeface="Cambria Math"/>
                  </a:rPr>
                  <a:t>년도의 연료사용량</a:t>
                </a:r>
                <a:r>
                  <a:rPr lang="en-US" altLang="ko-KR" b="0" i="1" dirty="0" smtClean="0">
                    <a:latin typeface="Cambria Math"/>
                  </a:rPr>
                  <a:t>  </a:t>
                </a:r>
              </a:p>
            </p:txBody>
          </p:sp>
        </mc:Choice>
        <mc:Fallback xmlns="">
          <p:sp>
            <p:nvSpPr>
              <p:cNvPr id="21" name="직사각형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65" y="2966399"/>
                <a:ext cx="3227165" cy="487185"/>
              </a:xfrm>
              <a:prstGeom prst="rect">
                <a:avLst/>
              </a:prstGeom>
              <a:blipFill rotWithShape="0"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직선 연결선 8"/>
          <p:cNvCxnSpPr/>
          <p:nvPr/>
        </p:nvCxnSpPr>
        <p:spPr>
          <a:xfrm>
            <a:off x="1208740" y="2417988"/>
            <a:ext cx="4080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3108341" y="2302206"/>
            <a:ext cx="2117" cy="231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2622036" y="2302206"/>
            <a:ext cx="2117" cy="231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3594646" y="2302206"/>
            <a:ext cx="2117" cy="231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1437342" y="2302206"/>
            <a:ext cx="2117" cy="231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/>
              <p:cNvSpPr/>
              <p:nvPr/>
            </p:nvSpPr>
            <p:spPr>
              <a:xfrm>
                <a:off x="2923529" y="2533769"/>
                <a:ext cx="389337" cy="288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직사각형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529" y="2533769"/>
                <a:ext cx="389337" cy="288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직선 연결선 35"/>
          <p:cNvCxnSpPr/>
          <p:nvPr/>
        </p:nvCxnSpPr>
        <p:spPr>
          <a:xfrm>
            <a:off x="4150456" y="2293233"/>
            <a:ext cx="2117" cy="231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V="1">
            <a:off x="1437342" y="2207686"/>
            <a:ext cx="1670999" cy="7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직사각형 46"/>
              <p:cNvSpPr/>
              <p:nvPr/>
            </p:nvSpPr>
            <p:spPr>
              <a:xfrm>
                <a:off x="2494103" y="2542744"/>
                <a:ext cx="471090" cy="2866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직사각형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103" y="2542744"/>
                <a:ext cx="471090" cy="28668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직사각형 47"/>
              <p:cNvSpPr/>
              <p:nvPr/>
            </p:nvSpPr>
            <p:spPr>
              <a:xfrm>
                <a:off x="3378560" y="2541726"/>
                <a:ext cx="386068" cy="2866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8" name="직사각형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8560" y="2541726"/>
                <a:ext cx="386068" cy="28668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직사각형 49"/>
              <p:cNvSpPr/>
              <p:nvPr/>
            </p:nvSpPr>
            <p:spPr>
              <a:xfrm>
                <a:off x="1191617" y="2541726"/>
                <a:ext cx="695319" cy="3234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직사각형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617" y="2541726"/>
                <a:ext cx="695319" cy="32342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직사각형 50"/>
              <p:cNvSpPr/>
              <p:nvPr/>
            </p:nvSpPr>
            <p:spPr>
              <a:xfrm>
                <a:off x="3954736" y="2516445"/>
                <a:ext cx="389337" cy="2870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1" name="직사각형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736" y="2516445"/>
                <a:ext cx="389337" cy="287066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직사각형 51"/>
              <p:cNvSpPr/>
              <p:nvPr/>
            </p:nvSpPr>
            <p:spPr>
              <a:xfrm>
                <a:off x="1059880" y="5441114"/>
                <a:ext cx="3439018" cy="461665"/>
              </a:xfrm>
              <a:prstGeom prst="rect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변수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의</m:t>
                      </m:r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는</m:t>
                      </m:r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에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서</m:t>
                      </m:r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로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늘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어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나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고</m:t>
                      </m:r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altLang="ko-KR" b="0" i="1" dirty="0" smtClean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제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약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식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의</m:t>
                      </m:r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는</m:t>
                      </m:r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만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큼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추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가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됨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2" name="직사각형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880" y="5441114"/>
                <a:ext cx="3439018" cy="461665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/>
          <p:cNvSpPr/>
          <p:nvPr/>
        </p:nvSpPr>
        <p:spPr>
          <a:xfrm>
            <a:off x="6395595" y="2376726"/>
            <a:ext cx="19800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(</a:t>
            </a:r>
            <a:r>
              <a:rPr lang="ko-KR" altLang="en-US" dirty="0" smtClean="0"/>
              <a:t>수명이 </a:t>
            </a:r>
            <a:r>
              <a:rPr lang="en-US" altLang="ko-KR" dirty="0" smtClean="0"/>
              <a:t>10</a:t>
            </a:r>
            <a:r>
              <a:rPr lang="ko-KR" altLang="en-US" dirty="0" smtClean="0"/>
              <a:t>년인 경우의 예 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140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>
          <a:xfrm>
            <a:off x="704849" y="157163"/>
            <a:ext cx="8227554" cy="569912"/>
          </a:xfrm>
        </p:spPr>
        <p:txBody>
          <a:bodyPr/>
          <a:lstStyle/>
          <a:p>
            <a:pPr algn="l"/>
            <a:r>
              <a:rPr lang="ko-KR" altLang="en-US" b="0" dirty="0"/>
              <a:t>수송 부문 </a:t>
            </a:r>
            <a:r>
              <a:rPr lang="en-US" altLang="ko-KR" b="0" dirty="0"/>
              <a:t>: </a:t>
            </a:r>
            <a:r>
              <a:rPr lang="en-US" altLang="ko-KR" b="0" dirty="0" smtClean="0"/>
              <a:t>Exact LP</a:t>
            </a:r>
            <a:endParaRPr lang="ko-KR" altLang="en-US" b="0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900113"/>
                <a:ext cx="8534400" cy="520700"/>
              </a:xfrm>
            </p:spPr>
            <p:txBody>
              <a:bodyPr/>
              <a:lstStyle/>
              <a:p>
                <a:r>
                  <a:rPr lang="en-US" altLang="ko-KR" dirty="0" smtClean="0"/>
                  <a:t>An Exact LP formulation for (type 2 technology)</a:t>
                </a:r>
              </a:p>
              <a:p>
                <a:pPr marL="742950" lvl="1" indent="-28575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–"/>
                </a:pPr>
                <a14:m>
                  <m:oMath xmlns:m="http://schemas.openxmlformats.org/officeDocument/2006/math">
                    <m:r>
                      <a:rPr lang="en-US" altLang="ko-KR" sz="1200">
                        <a:solidFill>
                          <a:srgbClr val="000000"/>
                        </a:solidFill>
                        <a:latin typeface="Cambria Math"/>
                      </a:rPr>
                      <m:t>𝑡</m:t>
                    </m:r>
                    <m:r>
                      <a:rPr lang="en-US" altLang="ko-KR" sz="1200">
                        <a:solidFill>
                          <a:srgbClr val="000000"/>
                        </a:solidFill>
                        <a:latin typeface="Cambria Math"/>
                      </a:rPr>
                      <m:t>=1,2,⋯,</m:t>
                    </m:r>
                    <m:r>
                      <a:rPr lang="en-US" altLang="ko-KR" sz="1200">
                        <a:solidFill>
                          <a:srgbClr val="000000"/>
                        </a:solidFill>
                        <a:latin typeface="Cambria Math"/>
                      </a:rPr>
                      <m:t>𝑇</m:t>
                    </m:r>
                    <m:r>
                      <a:rPr lang="en-US" altLang="ko-KR" sz="1200" i="1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a:rPr lang="ko-KR" altLang="en-US" sz="1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에</m:t>
                    </m:r>
                    <m:r>
                      <a:rPr lang="en-US" altLang="ko-KR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대</m:t>
                    </m:r>
                    <m:r>
                      <a:rPr lang="ko-KR" altLang="en-US" sz="12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해</m:t>
                    </m:r>
                    <m:r>
                      <a:rPr lang="en-US" altLang="ko-KR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sz="1200" i="1">
                                <a:latin typeface="Cambria Math"/>
                              </a:rPr>
                              <m:t>,⋯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for</m:t>
                            </m:r>
                            <m: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existing</m:t>
                            </m:r>
                            <m: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tech</m:t>
                            </m:r>
                            <m: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en-US" altLang="ko-KR" sz="1200" i="0">
                                <a:latin typeface="Cambria Math" panose="02040503050406030204" pitchFamily="18" charset="0"/>
                              </a:rPr>
                              <m:t>max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ko-KR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,⋯,</m:t>
                            </m:r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for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  <m: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tech</m:t>
                            </m:r>
                            <m: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ko-KR" sz="1200" i="1" dirty="0" smtClean="0">
                    <a:latin typeface="Cambria Math" panose="02040503050406030204" pitchFamily="18" charset="0"/>
                  </a:rPr>
                  <a:t>  </a:t>
                </a:r>
                <a:r>
                  <a:rPr lang="ko-KR" altLang="en-US" sz="1200" dirty="0" smtClean="0">
                    <a:latin typeface="Cambria Math" panose="02040503050406030204" pitchFamily="18" charset="0"/>
                  </a:rPr>
                  <a:t>로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 </a:t>
                </a:r>
                <a:r>
                  <a:rPr lang="ko-KR" altLang="en-US" sz="1200" dirty="0" smtClean="0">
                    <a:latin typeface="Cambria Math" panose="02040503050406030204" pitchFamily="18" charset="0"/>
                  </a:rPr>
                  <a:t>정의하자</a:t>
                </a:r>
                <a:r>
                  <a:rPr lang="en-US" altLang="ko-KR" sz="1200" dirty="0" smtClean="0">
                    <a:latin typeface="Cambria Math" panose="02040503050406030204" pitchFamily="18" charset="0"/>
                  </a:rPr>
                  <a:t>.</a:t>
                </a:r>
              </a:p>
              <a:p>
                <a:pPr marL="742950" lvl="1" indent="-28575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–"/>
                </a:pPr>
                <a:r>
                  <a:rPr lang="ko-KR" altLang="en-US" sz="1200" dirty="0"/>
                  <a:t>기</a:t>
                </a:r>
                <a:r>
                  <a:rPr lang="ko-KR" altLang="en-US" sz="1200" dirty="0" smtClean="0"/>
                  <a:t>존기술의 경우에 </a:t>
                </a:r>
                <a:r>
                  <a:rPr lang="en-US" altLang="ko-KR" sz="1200" dirty="0" smtClean="0"/>
                  <a:t>historic capacity</a:t>
                </a:r>
                <a:r>
                  <a:rPr lang="ko-KR" altLang="en-US" sz="1200" dirty="0" smtClean="0"/>
                  <a:t>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altLang="ko-KR" sz="12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de-DE" altLang="ko-KR" sz="1200" i="1">
                            <a:latin typeface="Cambria Math"/>
                          </a:rPr>
                          <m:t>𝑠</m:t>
                        </m:r>
                      </m:sup>
                    </m:sSubSup>
                    <m:r>
                      <a:rPr lang="en-US" altLang="ko-KR" sz="1200" b="0" i="1" smtClean="0">
                        <a:latin typeface="Cambria Math"/>
                      </a:rPr>
                      <m:t>,  </m:t>
                    </m:r>
                    <m:r>
                      <a:rPr lang="en-US" altLang="ko-KR" sz="1200" b="0" i="1" smtClean="0">
                        <a:latin typeface="Cambria Math"/>
                      </a:rPr>
                      <m:t>𝑠</m:t>
                    </m:r>
                    <m:r>
                      <a:rPr lang="en-US" altLang="ko-KR" sz="1200" b="0" i="1" smtClean="0">
                        <a:latin typeface="Cambria Math"/>
                      </a:rPr>
                      <m:t>=1−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ko-KR" sz="1200" b="0" i="1" smtClean="0">
                        <a:latin typeface="Cambria Math"/>
                      </a:rPr>
                      <m:t>,1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200" b="0" i="1" smtClean="0">
                        <a:latin typeface="Cambria Math"/>
                      </a:rPr>
                      <m:t>,⋯,−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1,0</m:t>
                    </m:r>
                  </m:oMath>
                </a14:m>
                <a:r>
                  <a:rPr lang="en-US" altLang="ko-KR" sz="1200" b="0" i="1" dirty="0" smtClean="0">
                    <a:latin typeface="Cambria Math"/>
                  </a:rPr>
                  <a:t> </a:t>
                </a:r>
                <a:r>
                  <a:rPr lang="ko-KR" altLang="en-US" sz="1200" b="0" dirty="0" smtClean="0">
                    <a:latin typeface="Cambria Math"/>
                  </a:rPr>
                  <a:t>라</a:t>
                </a:r>
                <a:r>
                  <a:rPr lang="en-US" altLang="ko-KR" sz="1200" b="0" dirty="0" smtClean="0">
                    <a:latin typeface="Cambria Math"/>
                  </a:rPr>
                  <a:t> </a:t>
                </a:r>
                <a:r>
                  <a:rPr lang="ko-KR" altLang="en-US" sz="1200" b="0" dirty="0" smtClean="0">
                    <a:latin typeface="Cambria Math"/>
                  </a:rPr>
                  <a:t>하자</a:t>
                </a:r>
                <a:r>
                  <a:rPr lang="en-US" altLang="ko-KR" sz="1200" b="0" dirty="0" smtClean="0">
                    <a:latin typeface="Cambria Math"/>
                  </a:rPr>
                  <a:t>.</a:t>
                </a:r>
                <a:endParaRPr kumimoji="0"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742950" lvl="1" indent="-28575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–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sz="1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altLang="ko-KR" sz="12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de-DE" altLang="ko-KR" sz="1200" i="1">
                            <a:latin typeface="Cambria Math"/>
                          </a:rPr>
                          <m:t>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US" altLang="ko-KR" sz="1200" b="0" i="1" smtClean="0">
                        <a:latin typeface="Cambria Math"/>
                      </a:rPr>
                      <m:t>, 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200" b="0" i="1" smtClean="0">
                        <a:latin typeface="Cambria Math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1,2,⋯,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∈ 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 b="0" i="1" dirty="0" smtClean="0">
                    <a:latin typeface="Cambria Math"/>
                  </a:rPr>
                  <a:t>  </a:t>
                </a:r>
                <a:r>
                  <a:rPr lang="en-US" altLang="ko-KR" sz="1200" b="0" dirty="0" smtClean="0">
                    <a:latin typeface="Cambria Math"/>
                  </a:rPr>
                  <a:t> : </a:t>
                </a:r>
                <a:r>
                  <a:rPr lang="en-US" altLang="ko-KR" sz="1200" b="0" i="1" dirty="0" smtClean="0">
                    <a:latin typeface="Cambria Math"/>
                  </a:rPr>
                  <a:t>s</a:t>
                </a:r>
                <a:r>
                  <a:rPr lang="ko-KR" altLang="en-US" sz="1200" b="0" dirty="0" smtClean="0">
                    <a:latin typeface="Cambria Math"/>
                  </a:rPr>
                  <a:t>년도에 생산된 차량의 </a:t>
                </a:r>
                <a:r>
                  <a:rPr lang="en-US" altLang="ko-KR" sz="1200" b="0" i="1" dirty="0" smtClean="0">
                    <a:latin typeface="Cambria Math"/>
                  </a:rPr>
                  <a:t>t</a:t>
                </a:r>
                <a:r>
                  <a:rPr lang="ko-KR" altLang="en-US" sz="1200" b="0" dirty="0" smtClean="0">
                    <a:latin typeface="Cambria Math"/>
                  </a:rPr>
                  <a:t>년도의 연료사용량</a:t>
                </a:r>
                <a:endParaRPr lang="en-US" altLang="ko-KR" sz="1200" b="0" dirty="0" smtClean="0">
                  <a:latin typeface="Cambria Math"/>
                </a:endParaRPr>
              </a:p>
              <a:p>
                <a:pPr marL="742950" lvl="1" indent="-28575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–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sSubPr>
                      <m:e>
                        <m:r>
                          <a:rPr kumimoji="0" lang="en-US" altLang="ko-KR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𝑖</m:t>
                        </m:r>
                        <m:r>
                          <a:rPr kumimoji="0" lang="en-US" altLang="ko-KR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∈</m:t>
                        </m:r>
                        <m:r>
                          <a:rPr kumimoji="0" lang="en-US" altLang="ko-KR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𝐼</m:t>
                        </m:r>
                      </m:e>
                      <m:sub>
                        <m:r>
                          <a:rPr kumimoji="0" lang="en-US" altLang="ko-KR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altLang="ko-KR" sz="1200" dirty="0" smtClean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: (type-2 technology) set</a:t>
                </a:r>
                <a:endParaRPr kumimoji="0" lang="en-US" altLang="ko-KR" sz="12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7171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900113"/>
                <a:ext cx="8534400" cy="520700"/>
              </a:xfrm>
              <a:blipFill rotWithShape="0">
                <a:blip r:embed="rId2"/>
                <a:stretch>
                  <a:fillRect l="-71" t="-81176" b="-3388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r>
              <a:rPr lang="en-US" altLang="ko-KR" sz="1400" smtClean="0">
                <a:latin typeface="Arial" panose="020B0604020202020204" pitchFamily="34" charset="0"/>
              </a:rPr>
              <a:t> </a:t>
            </a:r>
            <a:fld id="{78B267A1-60E5-41C1-BEA6-6C1D4EC62576}" type="slidenum">
              <a:rPr lang="en-US" altLang="ko-KR" sz="1400" smtClean="0">
                <a:latin typeface="Arial" panose="020B0604020202020204" pitchFamily="34" charset="0"/>
              </a:rPr>
              <a:pPr/>
              <a:t>60</a:t>
            </a:fld>
            <a:endParaRPr lang="en-US" altLang="ko-KR" sz="1400" smtClean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4" name="TextBox 1"/>
              <p:cNvSpPr txBox="1">
                <a:spLocks noChangeArrowheads="1"/>
              </p:cNvSpPr>
              <p:nvPr/>
            </p:nvSpPr>
            <p:spPr bwMode="auto">
              <a:xfrm>
                <a:off x="1814516" y="5707062"/>
                <a:ext cx="5272084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Times New Roman" panose="02020603050405020304" pitchFamily="18" charset="0"/>
                    <a:ea typeface="돋움" panose="020B0600000101010101" pitchFamily="50" charset="-127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ko-KR" dirty="0" smtClean="0"/>
                  <a:t>(1-1)  energy consumption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 smtClean="0"/>
                  <a:t>(1-2) </a:t>
                </a:r>
                <a:r>
                  <a:rPr lang="en-US" altLang="ko-KR" dirty="0"/>
                  <a:t>new capacity </a:t>
                </a:r>
                <a:r>
                  <a:rPr lang="en-US" altLang="ko-KR" dirty="0" smtClean="0"/>
                  <a:t>installation (historic capacity</a:t>
                </a:r>
                <a:r>
                  <a:rPr lang="ko-KR" altLang="en-US" dirty="0" smtClean="0"/>
                  <a:t>가 없으면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000000"/>
                        </a:solidFill>
                        <a:latin typeface="Cambria Math"/>
                      </a:rPr>
                      <m:t>𝑠</m:t>
                    </m:r>
                    <m:r>
                      <a:rPr lang="en-US" altLang="ko-KR">
                        <a:solidFill>
                          <a:srgbClr val="000000"/>
                        </a:solidFill>
                        <a:latin typeface="Cambria Math"/>
                      </a:rPr>
                      <m:t>=1,2,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⋯,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만 존재</a:t>
                </a:r>
                <a:r>
                  <a:rPr lang="en-US" altLang="ko-KR" dirty="0" smtClean="0"/>
                  <a:t>)</a:t>
                </a:r>
              </a:p>
            </p:txBody>
          </p:sp>
        </mc:Choice>
        <mc:Fallback xmlns="">
          <p:sp>
            <p:nvSpPr>
              <p:cNvPr id="7174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4516" y="5707062"/>
                <a:ext cx="5272084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116" b="-188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내용 개체 틀 4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37212987"/>
                  </p:ext>
                </p:extLst>
              </p:nvPr>
            </p:nvGraphicFramePr>
            <p:xfrm>
              <a:off x="1506087" y="2825756"/>
              <a:ext cx="7426316" cy="265960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926505"/>
                    <a:gridCol w="846387"/>
                    <a:gridCol w="5001491"/>
                    <a:gridCol w="651933"/>
                  </a:tblGrid>
                  <a:tr h="498563"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marL="0" indent="0" algn="l">
                            <a:spcAft>
                              <a:spcPts val="0"/>
                            </a:spcAft>
                          </a:pPr>
                          <a:r>
                            <a:rPr lang="de-DE" sz="1200" dirty="0" smtClean="0">
                              <a:solidFill>
                                <a:srgbClr val="000000"/>
                              </a:solidFill>
                              <a:effectLst/>
                            </a:rPr>
                            <a:t>(Exact LP)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marL="0" indent="0" algn="just">
                            <a:spcAft>
                              <a:spcPts val="0"/>
                            </a:spcAft>
                          </a:pPr>
                          <a:r>
                            <a:rPr lang="de-DE" sz="12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Minimize</a:t>
                          </a:r>
                          <a:endParaRPr lang="ko-KR" sz="1200" b="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indent="179705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ko-KR" sz="120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𝑇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∈</m:t>
                                        </m:r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𝐼</m:t>
                                        </m:r>
                                      </m:sub>
                                      <m:sup/>
                                      <m:e>
                                        <m:d>
                                          <m:dPr>
                                            <m:ctrlPr>
                                              <a:rPr lang="ko-KR" sz="1200" i="1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d>
                                              <m:dPr>
                                                <m:ctrlPr>
                                                  <a:rPr 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Sup>
                                                  <m:sSubSupPr>
                                                    <m:ctrlPr>
                                                      <a:rPr lang="ko-KR" sz="1200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𝐼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𝑡</m:t>
                                                    </m:r>
                                                  </m:sup>
                                                </m:sSubSup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+</m:t>
                                                </m:r>
                                                <m:sSubSup>
                                                  <m:sSubSupPr>
                                                    <m:ctrlPr>
                                                      <a:rPr lang="ko-KR" sz="1200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𝐹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𝑡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d>
                                            <m:sSubSup>
                                              <m:sSubSupPr>
                                                <m:ctrlPr>
                                                  <a:rPr 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𝑡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en-US" sz="120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/>
                                              </a:rPr>
                                              <m:t>+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𝑉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𝑡</m:t>
                                                </m:r>
                                              </m:sup>
                                            </m:sSubSup>
                                            <m:sSubSup>
                                              <m:sSubSupPr>
                                                <m:ctrlPr>
                                                  <a:rPr 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𝑡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effectLst/>
                            </a:rPr>
                            <a:t> </a:t>
                          </a:r>
                          <a:endParaRPr lang="ko-KR" sz="1200" dirty="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/>
                        </a:solidFill>
                      </a:tcPr>
                    </a:tc>
                  </a:tr>
                  <a:tr h="1911157"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  <a:p>
                          <a:pPr marL="0" indent="0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Subjec to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indent="179705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ko-KR" altLang="ko-KR" sz="12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20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20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ko-KR" sz="120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altLang="ko-KR" sz="12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supHide m:val="on"/>
                                    <m:ctrlPr>
                                      <a:rPr lang="ko-KR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ko-KR" sz="120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 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ko-KR" altLang="ko-KR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ko-KR" sz="1200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200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</a:rPr>
                                          <m:t>𝑠</m:t>
                                        </m:r>
                                        <m:r>
                                          <a:rPr lang="en-US" altLang="ko-KR" sz="1200" b="0" i="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p>
                                    </m:sSubSup>
                                  </m:e>
                                </m:nary>
                                <m:r>
                                  <a:rPr lang="en-US" altLang="ko-KR" sz="120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,  </m:t>
                                </m:r>
                                <m:r>
                                  <a:rPr lang="en-US" altLang="ko-KR" sz="120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ko-KR" sz="120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ko-KR" sz="1200" b="0" i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ko-KR" sz="120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altLang="ko-KR" sz="120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altLang="ko-KR" sz="120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=1,2,⋯,</m:t>
                                </m:r>
                                <m:r>
                                  <a:rPr lang="en-US" altLang="ko-KR" sz="120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altLang="ko-KR" sz="1200" dirty="0" smtClean="0">
                            <a:solidFill>
                              <a:srgbClr val="000000"/>
                            </a:solidFill>
                          </a:endParaRPr>
                        </a:p>
                        <a:p>
                          <a:pPr marL="182563" marR="0" indent="179388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20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sz="120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ko-KR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20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altLang="ko-KR" sz="120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≤</m:t>
                                </m:r>
                                <m:sSubSup>
                                  <m:sSubSupPr>
                                    <m:ctrlPr>
                                      <a:rPr lang="ko-KR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20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20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ko-KR" sz="120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𝑠</m:t>
                                    </m:r>
                                  </m:sup>
                                </m:sSubSup>
                                <m:r>
                                  <a:rPr lang="en-US" altLang="ko-KR" sz="120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altLang="ko-KR" sz="12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20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altLang="ko-KR" sz="120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=1,2,⋯,</m:t>
                                </m:r>
                                <m:r>
                                  <a:rPr lang="en-US" altLang="ko-KR" sz="120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𝑇</m:t>
                                </m:r>
                                <m:r>
                                  <a:rPr lang="en-US" altLang="ko-KR" sz="1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2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altLang="ko-KR" sz="120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altLang="ko-KR" sz="12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  </m:t>
                                </m:r>
                                <m:r>
                                  <a:rPr lang="en-US" altLang="ko-KR" sz="120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ko-KR" sz="120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ko-KR" sz="1200" b="0" i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ko-KR" sz="1200" dirty="0">
                            <a:solidFill>
                              <a:srgbClr val="000000"/>
                            </a:solidFill>
                          </a:endParaRPr>
                        </a:p>
                        <a:p>
                          <a:pPr marL="182563" indent="-3175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ko-KR" altLang="ko-KR" sz="12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de-DE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de-DE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b>
                                  <m:sup/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supHide m:val="on"/>
                                        <m:ctrlPr>
                                          <a:rPr lang="ko-KR" altLang="ko-KR" sz="1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altLang="ko-KR" sz="1200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</a:rPr>
                                          <m:t>𝑠</m:t>
                                        </m:r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 </m:t>
                                        </m:r>
                                      </m:sub>
                                      <m:sup/>
                                      <m:e>
                                        <m:sSubSup>
                                          <m:sSubSupPr>
                                            <m:ctrlPr>
                                              <a:rPr lang="ko-KR" altLang="ko-KR" sz="1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de-DE" alt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/>
                                                  </a:rPr>
                                                  <m:t>𝑒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de-DE" alt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  <m:d>
                                                  <m:dPr>
                                                    <m:ctrlPr>
                                                      <a:rPr lang="en-US" altLang="ko-KR" sz="1200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ko-KR" sz="1200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latin typeface="Cambria Math"/>
                                                      </a:rPr>
                                                      <m:t>𝑘</m:t>
                                                    </m:r>
                                                  </m:e>
                                                </m:d>
                                              </m:sub>
                                              <m:sup>
                                                <m:r>
                                                  <a:rPr lang="en-US" alt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en-US" altLang="ko-KR" sz="1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ko-KR" sz="12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ko-KR" sz="1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altLang="ko-KR" sz="12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2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/>
                                              </a:rPr>
                                              <m:t>𝑠</m:t>
                                            </m:r>
                                            <m:r>
                                              <a:rPr lang="en-US" altLang="ko-KR" sz="120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2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p>
                                        </m:sSubSup>
                                      </m:e>
                                    </m:nary>
                                  </m:e>
                                </m:nary>
                                <m:r>
                                  <a:rPr lang="de-DE" altLang="ko-KR" sz="12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≥</m:t>
                                </m:r>
                                <m:sSubSup>
                                  <m:sSubSupPr>
                                    <m:ctrlPr>
                                      <a:rPr lang="ko-KR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de-DE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de-DE" altLang="ko-KR" sz="12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200" b="0" i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𝐾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=1,2,⋯,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  <a:p>
                          <a:pPr indent="179705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    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∈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𝑡</m:t>
                                        </m:r>
                                      </m:sup>
                                    </m:sSubSup>
                                  </m:e>
                                </m:nary>
                                <m:d>
                                  <m:d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𝑗</m:t>
                                    </m:r>
                                  </m:e>
                                </m:d>
                                <m:sSubSup>
                                  <m:sSubSup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≥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∈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𝐶</m:t>
                                    </m:r>
                                    <m:d>
                                      <m:d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𝑡</m:t>
                                        </m:r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e>
                                </m:nary>
                                <m:sSubSup>
                                  <m:sSubSup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 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𝐽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=1,2,⋯,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endParaRPr lang="de-DE" sz="1200" dirty="0" smtClean="0">
                            <a:effectLst/>
                          </a:endParaRP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r>
                            <a:rPr lang="de-DE" sz="1200" dirty="0" smtClean="0">
                              <a:effectLst/>
                            </a:rPr>
                            <a:t>(1-1)</a:t>
                          </a: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endParaRPr lang="de-DE" sz="1200" dirty="0" smtClean="0">
                            <a:effectLst/>
                          </a:endParaRP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r>
                            <a:rPr lang="de-DE" sz="1200" dirty="0" smtClean="0">
                              <a:effectLst/>
                            </a:rPr>
                            <a:t>(1-2)</a:t>
                          </a: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endParaRPr lang="de-DE" sz="1200" dirty="0" smtClean="0">
                            <a:effectLst/>
                          </a:endParaRP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r>
                            <a:rPr lang="de-DE" sz="1200" dirty="0" smtClean="0">
                              <a:effectLst/>
                            </a:rPr>
                            <a:t>(2-1)</a:t>
                          </a: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endParaRPr lang="de-DE" sz="1200" dirty="0" smtClean="0">
                            <a:effectLst/>
                          </a:endParaRP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endParaRPr lang="de-DE" sz="1200" dirty="0" smtClean="0">
                            <a:effectLst/>
                          </a:endParaRP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r>
                            <a:rPr lang="de-DE" sz="1200" dirty="0" smtClean="0">
                              <a:effectLst/>
                            </a:rPr>
                            <a:t>(2-2)</a:t>
                          </a: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effectLst/>
                            </a:rPr>
                            <a:t> </a:t>
                          </a:r>
                          <a:endParaRPr lang="ko-KR" sz="1200" dirty="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>
                            <a:tint val="40000"/>
                          </a:srgbClr>
                        </a:solidFill>
                      </a:tcPr>
                    </a:tc>
                  </a:tr>
                  <a:tr h="218098"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indent="179705"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ko-KR" sz="120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en-US" sz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, </m:t>
                              </m:r>
                              <m:sSubSup>
                                <m:sSubSupPr>
                                  <m:ctrlPr>
                                    <a:rPr lang="ko-KR" sz="12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2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en-US" sz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≥0,   </m:t>
                              </m:r>
                              <m:r>
                                <a:rPr lang="en-US" sz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∈</m:t>
                              </m:r>
                              <m:r>
                                <a:rPr lang="en-US" sz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𝐼</m:t>
                              </m:r>
                              <m:r>
                                <a:rPr lang="en-US" sz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ko-KR" sz="1200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ko-KR" sz="1200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=1,2,⋯,</m:t>
                              </m:r>
                              <m:r>
                                <a:rPr lang="en-US" altLang="ko-KR" sz="1200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ko-KR" sz="1200" dirty="0" smtClean="0">
                              <a:solidFill>
                                <a:srgbClr val="000000"/>
                              </a:solidFill>
                            </a:rPr>
                            <a:t>,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ko-KR" sz="12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2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sz="12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ko-KR" sz="12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2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en-US" altLang="ko-KR" sz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≥0,</m:t>
                              </m:r>
                              <m:r>
                                <a:rPr lang="en-US" altLang="ko-KR" sz="120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ko-KR" sz="120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ko-KR" sz="12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200" b="0" i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120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ko-KR" sz="1200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altLang="ko-KR" sz="1200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=1,2,⋯,</m:t>
                              </m:r>
                              <m:r>
                                <a:rPr lang="en-US" altLang="ko-KR" sz="1200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𝑇</m:t>
                              </m:r>
                              <m:r>
                                <m:rPr>
                                  <m:nor/>
                                </m:rPr>
                                <a:rPr lang="en-US" altLang="ko-KR" sz="1200" dirty="0" smtClean="0">
                                  <a:solidFill>
                                    <a:srgbClr val="000000"/>
                                  </a:solidFill>
                                </a:rPr>
                                <m:t>,</m:t>
                              </m:r>
                              <m:r>
                                <a:rPr lang="en-US" altLang="ko-KR" sz="1200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altLang="ko-KR" sz="12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ko-KR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altLang="ko-KR" sz="1200" dirty="0" smtClean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effectLst/>
                            </a:rPr>
                            <a:t> </a:t>
                          </a:r>
                          <a:endParaRPr lang="ko-KR" sz="1200" dirty="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>
                            <a:tint val="20000"/>
                          </a:srgbClr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내용 개체 틀 4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37212987"/>
                  </p:ext>
                </p:extLst>
              </p:nvPr>
            </p:nvGraphicFramePr>
            <p:xfrm>
              <a:off x="1506087" y="2825756"/>
              <a:ext cx="7426316" cy="265960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926505"/>
                    <a:gridCol w="846387"/>
                    <a:gridCol w="5001491"/>
                    <a:gridCol w="651933"/>
                  </a:tblGrid>
                  <a:tr h="530352"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marL="0" indent="0" algn="l">
                            <a:spcAft>
                              <a:spcPts val="0"/>
                            </a:spcAft>
                          </a:pPr>
                          <a:r>
                            <a:rPr lang="de-DE" sz="1200" dirty="0" smtClean="0">
                              <a:solidFill>
                                <a:srgbClr val="000000"/>
                              </a:solidFill>
                              <a:effectLst/>
                            </a:rPr>
                            <a:t>(Exact LP)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marL="0" indent="0" algn="just">
                            <a:spcAft>
                              <a:spcPts val="0"/>
                            </a:spcAft>
                          </a:pPr>
                          <a:r>
                            <a:rPr lang="de-DE" sz="12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Minimize</a:t>
                          </a:r>
                          <a:endParaRPr lang="ko-KR" sz="1200" b="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35566" t="-13793" r="-13520" b="-416092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effectLst/>
                            </a:rPr>
                            <a:t> </a:t>
                          </a:r>
                          <a:endParaRPr lang="ko-KR" sz="1200" dirty="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/>
                        </a:solidFill>
                      </a:tcPr>
                    </a:tc>
                  </a:tr>
                  <a:tr h="1911157"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  <a:p>
                          <a:pPr marL="0" indent="0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Subjec to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35566" t="-31529" r="-13520" b="-15287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endParaRPr lang="de-DE" sz="1200" dirty="0" smtClean="0">
                            <a:effectLst/>
                          </a:endParaRP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r>
                            <a:rPr lang="de-DE" sz="1200" dirty="0" smtClean="0">
                              <a:effectLst/>
                            </a:rPr>
                            <a:t>(1-1)</a:t>
                          </a: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endParaRPr lang="de-DE" sz="1200" dirty="0" smtClean="0">
                            <a:effectLst/>
                          </a:endParaRP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r>
                            <a:rPr lang="de-DE" sz="1200" dirty="0" smtClean="0">
                              <a:effectLst/>
                            </a:rPr>
                            <a:t>(1-2)</a:t>
                          </a: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endParaRPr lang="de-DE" sz="1200" dirty="0" smtClean="0">
                            <a:effectLst/>
                          </a:endParaRP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r>
                            <a:rPr lang="de-DE" sz="1200" dirty="0" smtClean="0">
                              <a:effectLst/>
                            </a:rPr>
                            <a:t>(2-1)</a:t>
                          </a: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endParaRPr lang="de-DE" sz="1200" dirty="0" smtClean="0">
                            <a:effectLst/>
                          </a:endParaRP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endParaRPr lang="de-DE" sz="1200" dirty="0" smtClean="0">
                            <a:effectLst/>
                          </a:endParaRP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r>
                            <a:rPr lang="de-DE" sz="1200" dirty="0" smtClean="0">
                              <a:effectLst/>
                            </a:rPr>
                            <a:t>(2-2)</a:t>
                          </a:r>
                        </a:p>
                        <a:p>
                          <a:pPr indent="179705" algn="ctr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effectLst/>
                            </a:rPr>
                            <a:t> </a:t>
                          </a:r>
                          <a:endParaRPr lang="ko-KR" sz="1200" dirty="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>
                            <a:tint val="40000"/>
                          </a:srgbClr>
                        </a:solidFill>
                      </a:tcPr>
                    </a:tc>
                  </a:tr>
                  <a:tr h="218098"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35566" t="-1147222" r="-13520" b="-33333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1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effectLst/>
                            </a:rPr>
                            <a:t> </a:t>
                          </a:r>
                          <a:endParaRPr lang="ko-KR" sz="1200" dirty="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4E3F7">
                            <a:tint val="20000"/>
                          </a:srgb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9338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>
                <a:latin typeface="+mn-lt"/>
                <a:ea typeface="+mj-ea"/>
              </a:rPr>
              <a:t>가정</a:t>
            </a:r>
            <a:r>
              <a:rPr lang="en-US" altLang="ko-KR" b="0" dirty="0" smtClean="0">
                <a:latin typeface="+mn-lt"/>
                <a:ea typeface="+mj-ea"/>
              </a:rPr>
              <a:t>,</a:t>
            </a:r>
            <a:r>
              <a:rPr lang="ko-KR" altLang="en-US" b="0" dirty="0" smtClean="0">
                <a:latin typeface="+mn-lt"/>
                <a:ea typeface="+mj-ea"/>
              </a:rPr>
              <a:t>상업 부문 </a:t>
            </a:r>
            <a:r>
              <a:rPr lang="en-US" altLang="ko-KR" b="0" dirty="0" smtClean="0">
                <a:latin typeface="+mn-lt"/>
                <a:ea typeface="+mj-ea"/>
              </a:rPr>
              <a:t>: </a:t>
            </a:r>
            <a:r>
              <a:rPr lang="ko-KR" altLang="en-US" b="0" dirty="0" err="1" smtClean="0">
                <a:latin typeface="+mn-lt"/>
                <a:ea typeface="+mj-ea"/>
              </a:rPr>
              <a:t>배출원</a:t>
            </a:r>
            <a:r>
              <a:rPr lang="en-US" altLang="ko-KR" b="0" dirty="0" smtClean="0">
                <a:latin typeface="+mn-lt"/>
                <a:ea typeface="+mj-ea"/>
              </a:rPr>
              <a:t>, </a:t>
            </a:r>
            <a:r>
              <a:rPr lang="ko-KR" altLang="en-US" b="0" dirty="0" smtClean="0">
                <a:latin typeface="+mn-lt"/>
                <a:ea typeface="+mj-ea"/>
              </a:rPr>
              <a:t>산정항목</a:t>
            </a:r>
            <a:r>
              <a:rPr lang="en-US" altLang="ko-KR" b="0" dirty="0" smtClean="0">
                <a:latin typeface="+mn-lt"/>
                <a:ea typeface="+mj-ea"/>
              </a:rPr>
              <a:t>, </a:t>
            </a:r>
            <a:r>
              <a:rPr lang="ko-KR" altLang="en-US" b="0" dirty="0" smtClean="0">
                <a:latin typeface="+mn-lt"/>
                <a:ea typeface="+mj-ea"/>
              </a:rPr>
              <a:t>감축기술</a:t>
            </a:r>
            <a:endParaRPr lang="ko-KR" altLang="en-US" b="0" dirty="0">
              <a:latin typeface="+mn-lt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61</a:t>
            </a:fld>
            <a:endParaRPr lang="en-US" altLang="ko-KR" dirty="0"/>
          </a:p>
        </p:txBody>
      </p:sp>
      <p:sp>
        <p:nvSpPr>
          <p:cNvPr id="54" name="직사각형 53"/>
          <p:cNvSpPr/>
          <p:nvPr/>
        </p:nvSpPr>
        <p:spPr>
          <a:xfrm>
            <a:off x="747030" y="1700808"/>
            <a:ext cx="1728192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A.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난방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747030" y="2026664"/>
            <a:ext cx="1728192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B.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냉방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747030" y="2361066"/>
            <a:ext cx="1728192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C.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취사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747030" y="2691828"/>
            <a:ext cx="1728192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B.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조명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747030" y="3017684"/>
            <a:ext cx="1728192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D.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전기기타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3180705" y="1702422"/>
            <a:ext cx="1080120" cy="286418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 fontScale="850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가구형태별 면적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180705" y="2041993"/>
            <a:ext cx="1080120" cy="270175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냉방기 대수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180705" y="2378158"/>
            <a:ext cx="1080120" cy="258754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가구수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3180705" y="2708920"/>
            <a:ext cx="1080120" cy="258754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조명기기개수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7092280" y="1916832"/>
            <a:ext cx="1152128" cy="590703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국가고유</a:t>
            </a:r>
            <a:endParaRPr kumimoji="0" lang="en-US" altLang="ko-KR" sz="1200" b="1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배출계수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747030" y="1196752"/>
            <a:ext cx="1728192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산정항목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3180705" y="1196752"/>
            <a:ext cx="1080120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활동량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4592054" y="1196752"/>
            <a:ext cx="2160240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주요감축기술</a:t>
            </a: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정책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7092280" y="1196752"/>
            <a:ext cx="1080120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배출계수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4592054" y="1700808"/>
            <a:ext cx="2160240" cy="18184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tIns="36000" rIns="0" bIns="36000" rtlCol="0" anchor="ctr"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신축건물에너지 효율향상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4592054" y="1926258"/>
            <a:ext cx="2160240" cy="18184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tIns="36000" rIns="0" bIns="36000" rtlCol="0" anchor="ctr"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기존건물에너지 효율향상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4592054" y="2381185"/>
            <a:ext cx="2160240" cy="18184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tIns="36000" rIns="0" bIns="36000" rtlCol="0" anchor="ctr"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고효율 냉방기기 보급확산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4589092" y="2606636"/>
            <a:ext cx="2160240" cy="18184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tIns="36000" rIns="0" bIns="36000" rtlCol="0" anchor="ctr"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고효율 가전기기 보급확산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4592054" y="2152975"/>
            <a:ext cx="2160240" cy="18184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tIns="36000" rIns="0" bIns="36000" rtlCol="0" anchor="ctr"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고효율 보일러 확산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592054" y="2832087"/>
            <a:ext cx="2160240" cy="18184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tIns="36000" rIns="0" bIns="36000" rtlCol="0" anchor="ctr"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조명기기 </a:t>
            </a:r>
            <a:r>
              <a:rPr kumimoji="0" lang="en-US" altLang="ko-KR" sz="9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LED </a:t>
            </a:r>
            <a:r>
              <a:rPr kumimoji="0" lang="ko-KR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교체강화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cxnSp>
        <p:nvCxnSpPr>
          <p:cNvPr id="74" name="꺾인 연결선 73"/>
          <p:cNvCxnSpPr>
            <a:stCxn id="59" idx="1"/>
            <a:endCxn id="54" idx="3"/>
          </p:cNvCxnSpPr>
          <p:nvPr/>
        </p:nvCxnSpPr>
        <p:spPr>
          <a:xfrm rot="10800000">
            <a:off x="2475223" y="1844825"/>
            <a:ext cx="705483" cy="80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75" name="직사각형 74"/>
          <p:cNvSpPr/>
          <p:nvPr/>
        </p:nvSpPr>
        <p:spPr>
          <a:xfrm>
            <a:off x="3172159" y="3039682"/>
            <a:ext cx="1080120" cy="24530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가전기기대수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cxnSp>
        <p:nvCxnSpPr>
          <p:cNvPr id="76" name="꺾인 연결선 75"/>
          <p:cNvCxnSpPr>
            <a:stCxn id="60" idx="1"/>
            <a:endCxn id="55" idx="3"/>
          </p:cNvCxnSpPr>
          <p:nvPr/>
        </p:nvCxnSpPr>
        <p:spPr>
          <a:xfrm rot="10800000">
            <a:off x="2475223" y="2170681"/>
            <a:ext cx="705483" cy="640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77" name="꺾인 연결선 76"/>
          <p:cNvCxnSpPr>
            <a:stCxn id="61" idx="1"/>
            <a:endCxn id="56" idx="3"/>
          </p:cNvCxnSpPr>
          <p:nvPr/>
        </p:nvCxnSpPr>
        <p:spPr>
          <a:xfrm rot="10800000">
            <a:off x="2475223" y="2505083"/>
            <a:ext cx="705483" cy="2453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78" name="꺾인 연결선 77"/>
          <p:cNvCxnSpPr>
            <a:stCxn id="62" idx="1"/>
            <a:endCxn id="57" idx="3"/>
          </p:cNvCxnSpPr>
          <p:nvPr/>
        </p:nvCxnSpPr>
        <p:spPr>
          <a:xfrm rot="10800000">
            <a:off x="2475223" y="2835845"/>
            <a:ext cx="705483" cy="2453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79" name="꺾인 연결선 78"/>
          <p:cNvCxnSpPr>
            <a:stCxn id="75" idx="1"/>
            <a:endCxn id="58" idx="3"/>
          </p:cNvCxnSpPr>
          <p:nvPr/>
        </p:nvCxnSpPr>
        <p:spPr>
          <a:xfrm rot="10800000">
            <a:off x="2475223" y="3161701"/>
            <a:ext cx="696937" cy="633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80" name="직사각형 79"/>
          <p:cNvSpPr/>
          <p:nvPr/>
        </p:nvSpPr>
        <p:spPr>
          <a:xfrm>
            <a:off x="4600281" y="3060033"/>
            <a:ext cx="2160240" cy="18184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tIns="36000" rIns="0" bIns="36000" rtlCol="0" anchor="ctr"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태양열 온수난방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600281" y="3294911"/>
            <a:ext cx="2160240" cy="18184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tIns="36000" rIns="0" bIns="36000" rtlCol="0" anchor="ctr"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그린홈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770173" y="4365104"/>
            <a:ext cx="1728192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A.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난방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770173" y="4690960"/>
            <a:ext cx="1728192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B.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냉방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770173" y="5025362"/>
            <a:ext cx="1728192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C.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취사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770173" y="5356124"/>
            <a:ext cx="1728192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B.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조명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770173" y="5681980"/>
            <a:ext cx="1728192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D.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동력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3203848" y="5014790"/>
            <a:ext cx="1080120" cy="286418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건물면적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7115423" y="4581128"/>
            <a:ext cx="1152128" cy="590703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국가고유</a:t>
            </a:r>
            <a:endParaRPr kumimoji="0" lang="en-US" altLang="ko-KR" sz="1200" b="1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배출계수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4615197" y="4474820"/>
            <a:ext cx="2160240" cy="18184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tIns="36000" rIns="0" bIns="36000" rtlCol="0" anchor="ctr"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신축건물에너지 효율향상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615197" y="4715100"/>
            <a:ext cx="2160240" cy="18184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tIns="36000" rIns="0" bIns="36000" rtlCol="0" anchor="ctr"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기존건물에너지 효율향상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615197" y="5160600"/>
            <a:ext cx="2160240" cy="18184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tIns="36000" rIns="0" bIns="36000" rtlCol="0" anchor="ctr"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고효율 조명기기 보급확산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4612235" y="5386051"/>
            <a:ext cx="2160240" cy="18184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tIns="36000" rIns="0" bIns="36000" rtlCol="0" anchor="ctr"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고효율 사무기기 보급확산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4615197" y="4932390"/>
            <a:ext cx="2160240" cy="18184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tIns="36000" rIns="0" bIns="36000" rtlCol="0" anchor="ctr"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고효율  </a:t>
            </a:r>
            <a:r>
              <a:rPr kumimoji="0" lang="ko-KR" altLang="en-US" sz="9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냉난방기</a:t>
            </a:r>
            <a:r>
              <a:rPr kumimoji="0" lang="ko-KR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보급확산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4615197" y="5611502"/>
            <a:ext cx="2160240" cy="18184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tIns="36000" rIns="0" bIns="36000" rtlCol="0" anchor="ctr"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전동기 효율개선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cxnSp>
        <p:nvCxnSpPr>
          <p:cNvPr id="95" name="꺾인 연결선 94"/>
          <p:cNvCxnSpPr>
            <a:stCxn id="87" idx="1"/>
            <a:endCxn id="82" idx="3"/>
          </p:cNvCxnSpPr>
          <p:nvPr/>
        </p:nvCxnSpPr>
        <p:spPr>
          <a:xfrm rot="10800000">
            <a:off x="2498366" y="4509121"/>
            <a:ext cx="705483" cy="648879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96" name="직사각형 95"/>
          <p:cNvSpPr/>
          <p:nvPr/>
        </p:nvSpPr>
        <p:spPr>
          <a:xfrm>
            <a:off x="4623424" y="5839448"/>
            <a:ext cx="2160240" cy="18184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0" tIns="36000" rIns="0" bIns="36000" rtlCol="0" anchor="ctr">
            <a:normAutofit fontScale="92500" lnSpcReduction="1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신재생</a:t>
            </a:r>
            <a:r>
              <a:rPr kumimoji="0" lang="ko-KR" altLang="en-US" sz="9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에너지 보급</a:t>
            </a:r>
            <a:endParaRPr kumimoji="0" lang="ko-KR" altLang="en-US" sz="9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cxnSp>
        <p:nvCxnSpPr>
          <p:cNvPr id="97" name="꺾인 연결선 96"/>
          <p:cNvCxnSpPr>
            <a:stCxn id="87" idx="1"/>
            <a:endCxn id="83" idx="3"/>
          </p:cNvCxnSpPr>
          <p:nvPr/>
        </p:nvCxnSpPr>
        <p:spPr>
          <a:xfrm rot="10800000">
            <a:off x="2498366" y="4834977"/>
            <a:ext cx="705483" cy="323023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98" name="꺾인 연결선 97"/>
          <p:cNvCxnSpPr>
            <a:stCxn id="87" idx="1"/>
            <a:endCxn id="85" idx="3"/>
          </p:cNvCxnSpPr>
          <p:nvPr/>
        </p:nvCxnSpPr>
        <p:spPr>
          <a:xfrm rot="10800000" flipV="1">
            <a:off x="2498366" y="5157998"/>
            <a:ext cx="705483" cy="34214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99" name="꺾인 연결선 98"/>
          <p:cNvCxnSpPr>
            <a:stCxn id="87" idx="1"/>
            <a:endCxn id="84" idx="3"/>
          </p:cNvCxnSpPr>
          <p:nvPr/>
        </p:nvCxnSpPr>
        <p:spPr>
          <a:xfrm rot="10800000" flipV="1">
            <a:off x="2498366" y="5157998"/>
            <a:ext cx="705483" cy="11379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00" name="꺾인 연결선 99"/>
          <p:cNvCxnSpPr>
            <a:stCxn id="87" idx="1"/>
            <a:endCxn id="86" idx="3"/>
          </p:cNvCxnSpPr>
          <p:nvPr/>
        </p:nvCxnSpPr>
        <p:spPr>
          <a:xfrm rot="10800000" flipV="1">
            <a:off x="2498366" y="5157998"/>
            <a:ext cx="705483" cy="66799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101" name="직사각형 100"/>
          <p:cNvSpPr/>
          <p:nvPr/>
        </p:nvSpPr>
        <p:spPr>
          <a:xfrm>
            <a:off x="395536" y="1619146"/>
            <a:ext cx="216024" cy="1881862"/>
          </a:xfrm>
          <a:prstGeom prst="rect">
            <a:avLst/>
          </a:prstGeom>
          <a:gradFill rotWithShape="1">
            <a:gsLst>
              <a:gs pos="0">
                <a:srgbClr val="9BBB59"/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가정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395536" y="4149080"/>
            <a:ext cx="216024" cy="1881862"/>
          </a:xfrm>
          <a:prstGeom prst="rect">
            <a:avLst/>
          </a:prstGeom>
          <a:gradFill rotWithShape="1">
            <a:gsLst>
              <a:gs pos="0">
                <a:srgbClr val="9BBB59"/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상업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4899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ko-KR" altLang="en-US" b="0" dirty="0" smtClean="0">
                <a:latin typeface="+mn-lt"/>
                <a:ea typeface="+mj-ea"/>
              </a:rPr>
              <a:t>가정상업 부문 </a:t>
            </a:r>
            <a:r>
              <a:rPr lang="en-US" altLang="ko-KR" b="0" dirty="0" smtClean="0">
                <a:latin typeface="+mn-lt"/>
                <a:ea typeface="+mj-ea"/>
              </a:rPr>
              <a:t>:</a:t>
            </a:r>
            <a:r>
              <a:rPr lang="ko-KR" altLang="en-US" b="0" dirty="0" smtClean="0">
                <a:latin typeface="+mn-lt"/>
                <a:ea typeface="+mj-ea"/>
              </a:rPr>
              <a:t> 연구내용 요약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62</a:t>
            </a:fld>
            <a:endParaRPr lang="en-US" altLang="ko-KR" dirty="0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4792930" y="1925791"/>
            <a:ext cx="4248472" cy="4167505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171450" marR="0" lvl="0" indent="-72000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171450" marR="0" lvl="0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건물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(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단열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)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기술 모형화 고려요소</a:t>
            </a:r>
          </a:p>
          <a:p>
            <a:pPr marL="288000" marR="0" lvl="1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단열수명 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: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설치된 주택과 동일</a:t>
            </a:r>
          </a:p>
          <a:p>
            <a:pPr marL="288000" marR="0" lvl="1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냉난방 에너지 사용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: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절감 </a:t>
            </a:r>
            <a:endParaRPr kumimoji="0" lang="en-US" altLang="ko-KR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  <a:p>
            <a:pPr marL="288000" marR="0" lvl="1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냉난방 투자비 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: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감소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/</a:t>
            </a:r>
            <a:r>
              <a:rPr kumimoji="0" lang="ko-KR" alt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변동없음</a:t>
            </a:r>
            <a:endParaRPr kumimoji="0" lang="ko-KR" altLang="en-US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  <a:p>
            <a:pPr marL="288000" marR="0" lvl="1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냉난방 운용비 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: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감소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/</a:t>
            </a:r>
            <a:r>
              <a:rPr kumimoji="0" lang="ko-KR" alt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변동없음</a:t>
            </a:r>
            <a:endParaRPr kumimoji="0" lang="en-US" altLang="ko-KR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  <a:p>
            <a:pPr marL="288000" marR="0" lvl="1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 4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가지 방법 분류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,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비교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및 제안</a:t>
            </a:r>
          </a:p>
          <a:p>
            <a:pPr marL="288000" marR="0" lvl="1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  <a:p>
            <a:pPr marL="288000" marR="0" lvl="1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  <a:p>
            <a:pPr marL="171450" marR="0" lvl="0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신규용량에 대한 </a:t>
            </a:r>
            <a:r>
              <a:rPr kumimoji="0" lang="ko-KR" alt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제약식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  <a:p>
            <a:pPr marL="288000" marR="0" lvl="1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Flow vs. Stock</a:t>
            </a:r>
          </a:p>
          <a:p>
            <a:pPr marL="288000" marR="0" lvl="1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신축건물 효율강화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시나리오 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: Flow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기반 제약식이 가능해야 함</a:t>
            </a:r>
            <a:endParaRPr kumimoji="0" lang="en-US" altLang="ko-KR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  <a:p>
            <a:pPr marL="288000" marR="0" lvl="1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기존 일부 모형 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: stock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기반 </a:t>
            </a:r>
            <a:r>
              <a:rPr kumimoji="0" lang="ko-KR" alt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제약식만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 가능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 </a:t>
            </a:r>
          </a:p>
          <a:p>
            <a:pPr marL="288000" marR="0" lvl="1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  <a:p>
            <a:pPr marL="171450" marR="0" lvl="0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시장 침투 </a:t>
            </a:r>
            <a:r>
              <a:rPr kumimoji="0" lang="ko-KR" altLang="en-US" sz="12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제약식의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 확장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  <a:p>
            <a:pPr marL="288000" marR="0" lvl="1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특정 기술의 너무 빠른 시장확대나 소멸 방지</a:t>
            </a:r>
            <a:endParaRPr kumimoji="0" lang="en-US" altLang="ko-KR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  <a:p>
            <a:pPr marL="288000" marR="0" lvl="1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기존 모형 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: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단일 기술에 대해서만 적용가능</a:t>
            </a:r>
            <a:endParaRPr kumimoji="0" lang="en-US" altLang="ko-KR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  <a:p>
            <a:pPr marL="288000" marR="0" lvl="1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제안 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: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복수 기술에 대해서도 적용 확대</a:t>
            </a:r>
            <a:endParaRPr kumimoji="0" lang="en-US" altLang="ko-KR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  <a:p>
            <a:pPr marL="288000" marR="0" lvl="1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323528" y="4635218"/>
            <a:ext cx="3816424" cy="203414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171450" marR="0" lvl="0" indent="-72000" defTabSz="91440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분석범위 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RES,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기술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DB,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시나리오</a:t>
            </a:r>
            <a:endParaRPr kumimoji="0" lang="en-US" altLang="ko-KR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171450" marR="0" lvl="0" indent="-72000" defTabSz="91440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분석대상 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Korea MESSAGE, UK MARKAL, US MARKAL, Belgium MARKAL, WEU MARKAL</a:t>
            </a:r>
          </a:p>
        </p:txBody>
      </p:sp>
      <p:sp>
        <p:nvSpPr>
          <p:cNvPr id="34" name="모서리가 둥근 직사각형 33"/>
          <p:cNvSpPr/>
          <p:nvPr/>
        </p:nvSpPr>
        <p:spPr>
          <a:xfrm>
            <a:off x="323528" y="1349728"/>
            <a:ext cx="3816424" cy="2583328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171450" marR="0" lvl="0" indent="-72000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171450" marR="0" lvl="0" indent="-72000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171450" marR="0" lvl="0" indent="-72000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171450" marR="0" lvl="0" indent="-72000" defTabSz="91440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171450" marR="0" lvl="0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세부부문 </a:t>
            </a:r>
          </a:p>
          <a:p>
            <a:pPr marL="288000" marR="0" lvl="1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가정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: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난방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,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냉방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,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취사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,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조명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,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전기기타 </a:t>
            </a:r>
          </a:p>
          <a:p>
            <a:pPr marL="288000" marR="0" lvl="1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상업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: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난방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,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냉방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,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취사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,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조명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,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동력</a:t>
            </a:r>
          </a:p>
          <a:p>
            <a:pPr marL="171450" marR="0" lvl="0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공정의 개념 없음 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 end user tech -&gt; 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수요</a:t>
            </a:r>
          </a:p>
          <a:p>
            <a:pPr marL="171450" marR="0" lvl="0" indent="-72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냉난방의 에너지 소비량이 높음</a:t>
            </a:r>
            <a:endParaRPr kumimoji="0" lang="en-US" altLang="ko-KR" sz="12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171450" marR="0" lvl="0" indent="-72000" defTabSz="91440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건축년도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및 가구형태에 따른 에너지효율 차이 반영 </a:t>
            </a:r>
          </a:p>
          <a:p>
            <a:pPr marL="288000" marR="0" lvl="1" indent="-72000" defTabSz="91440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건축년도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신축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기존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가정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상업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</a:t>
            </a:r>
          </a:p>
          <a:p>
            <a:pPr marL="288000" marR="0" lvl="1" indent="-72000" defTabSz="91440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가구형태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아파트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다세대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단독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가정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</a:t>
            </a:r>
          </a:p>
          <a:p>
            <a:pPr marL="171450" marR="0" lvl="0" indent="-72000" defTabSz="91440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건물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단열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기술 고려  </a:t>
            </a:r>
          </a:p>
          <a:p>
            <a:pPr marL="288000" marR="0" lvl="1" indent="-72000" defTabSz="91440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건축이후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단열시공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냉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난방 에너지 절감</a:t>
            </a:r>
          </a:p>
          <a:p>
            <a:pPr marL="288000" marR="0" lvl="1" indent="-72000" defTabSz="91440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건축년도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가구형태에 따라 가격 및 </a:t>
            </a:r>
            <a:r>
              <a:rPr kumimoji="0" lang="ko-KR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절감율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차이</a:t>
            </a:r>
          </a:p>
          <a:p>
            <a:pPr marL="9945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1547664" y="764704"/>
            <a:ext cx="1512168" cy="864096"/>
          </a:xfrm>
          <a:prstGeom prst="round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부문특성</a:t>
            </a:r>
          </a:p>
        </p:txBody>
      </p:sp>
      <p:sp>
        <p:nvSpPr>
          <p:cNvPr id="36" name="모서리가 둥근 직사각형 35"/>
          <p:cNvSpPr/>
          <p:nvPr/>
        </p:nvSpPr>
        <p:spPr>
          <a:xfrm>
            <a:off x="1547664" y="4149080"/>
            <a:ext cx="1512168" cy="864096"/>
          </a:xfrm>
          <a:prstGeom prst="round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국내외 모형화 사례연구</a:t>
            </a:r>
          </a:p>
        </p:txBody>
      </p:sp>
      <p:sp>
        <p:nvSpPr>
          <p:cNvPr id="37" name="모서리가 둥근 직사각형 36"/>
          <p:cNvSpPr/>
          <p:nvPr/>
        </p:nvSpPr>
        <p:spPr>
          <a:xfrm>
            <a:off x="6089074" y="1349728"/>
            <a:ext cx="1512168" cy="864096"/>
          </a:xfrm>
          <a:prstGeom prst="round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모형화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시스템 특성</a:t>
            </a:r>
          </a:p>
        </p:txBody>
      </p:sp>
      <p:sp>
        <p:nvSpPr>
          <p:cNvPr id="38" name="오른쪽으로 구부러진 화살표 37"/>
          <p:cNvSpPr/>
          <p:nvPr/>
        </p:nvSpPr>
        <p:spPr>
          <a:xfrm>
            <a:off x="34184" y="3316794"/>
            <a:ext cx="289344" cy="1551936"/>
          </a:xfrm>
          <a:prstGeom prst="curvedRightArrow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39" name="오른쪽으로 구부러진 화살표 38"/>
          <p:cNvSpPr/>
          <p:nvPr/>
        </p:nvSpPr>
        <p:spPr>
          <a:xfrm rot="10800000">
            <a:off x="4139951" y="3317224"/>
            <a:ext cx="222243" cy="1516734"/>
          </a:xfrm>
          <a:prstGeom prst="curvedRightArrow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40" name="오른쪽 화살표 39"/>
          <p:cNvSpPr/>
          <p:nvPr/>
        </p:nvSpPr>
        <p:spPr>
          <a:xfrm>
            <a:off x="4410892" y="3708487"/>
            <a:ext cx="360040" cy="619726"/>
          </a:xfrm>
          <a:prstGeom prst="rightArrow">
            <a:avLst/>
          </a:prstGeom>
          <a:gradFill rotWithShape="1">
            <a:gsLst>
              <a:gs pos="0">
                <a:srgbClr val="9BBB59">
                  <a:shade val="51000"/>
                  <a:satMod val="130000"/>
                </a:srgbClr>
              </a:gs>
              <a:gs pos="80000">
                <a:srgbClr val="9BBB59">
                  <a:shade val="93000"/>
                  <a:satMod val="130000"/>
                </a:srgbClr>
              </a:gs>
              <a:gs pos="100000">
                <a:srgbClr val="9BBB5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379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ko-KR" altLang="en-US" b="0" dirty="0"/>
              <a:t>가정상업 부문 </a:t>
            </a:r>
            <a:r>
              <a:rPr lang="en-US" altLang="ko-KR" b="0" dirty="0"/>
              <a:t>:</a:t>
            </a:r>
            <a:r>
              <a:rPr lang="ko-KR" altLang="en-US" b="0" dirty="0"/>
              <a:t> </a:t>
            </a:r>
            <a:r>
              <a:rPr lang="ko-KR" altLang="en-US" b="0" dirty="0" smtClean="0">
                <a:latin typeface="+mn-lt"/>
              </a:rPr>
              <a:t>가정부문 국내외 상향식 모형 비교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63</a:t>
            </a:fld>
            <a:endParaRPr lang="en-US" altLang="ko-KR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428498" y="1196755"/>
          <a:ext cx="9029009" cy="4407182"/>
        </p:xfrm>
        <a:graphic>
          <a:graphicData uri="http://schemas.openxmlformats.org/drawingml/2006/table">
            <a:tbl>
              <a:tblPr/>
              <a:tblGrid>
                <a:gridCol w="761197"/>
                <a:gridCol w="1181116"/>
                <a:gridCol w="1181116"/>
                <a:gridCol w="1181116"/>
                <a:gridCol w="1181116"/>
                <a:gridCol w="1181116"/>
                <a:gridCol w="1181116"/>
                <a:gridCol w="1181116"/>
              </a:tblGrid>
              <a:tr h="608261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A1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US MARKAL</a:t>
                      </a:r>
                    </a:p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(EPA 2006/ EPA2013)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A1EB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WEU MARKAL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A1EB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Belgium MARKAL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A1EB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UK </a:t>
                      </a:r>
                    </a:p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MARKAL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A1EB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Korea </a:t>
                      </a:r>
                    </a:p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MARKAL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A1EB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Korea MESSAGE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A1EB"/>
                    </a:solidFill>
                  </a:tcPr>
                </a:tc>
              </a:tr>
              <a:tr h="339739"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가정</a:t>
                      </a:r>
                      <a:endParaRPr lang="en-US" altLang="ko-KR" sz="1200" kern="0" spc="-30" dirty="0" smtClean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단열</a:t>
                      </a:r>
                      <a:endParaRPr lang="en-US" altLang="ko-KR" sz="1200" kern="0" spc="-30" dirty="0" smtClean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효과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난방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X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66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냉방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X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X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X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X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X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X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9739"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상업 단열</a:t>
                      </a:r>
                      <a:endParaRPr lang="en-US" altLang="ko-KR" sz="1200" kern="0" spc="-30" dirty="0" smtClean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효과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난방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X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X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9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냉방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X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X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X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X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추정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9739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건물기술 모형화 방법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 spc="-30" dirty="0" err="1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반영안함</a:t>
                      </a:r>
                      <a:endParaRPr lang="en-US" altLang="ko-KR" sz="1200" kern="0" spc="-30" dirty="0" smtClean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방법 </a:t>
                      </a:r>
                      <a:r>
                        <a:rPr lang="en-US" altLang="ko-KR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방법 </a:t>
                      </a:r>
                      <a:r>
                        <a:rPr lang="en-US" altLang="ko-KR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방법 </a:t>
                      </a:r>
                      <a:r>
                        <a:rPr lang="en-US" altLang="ko-KR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방법 </a:t>
                      </a:r>
                      <a:r>
                        <a:rPr lang="en-US" altLang="ko-KR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방법 </a:t>
                      </a:r>
                      <a:r>
                        <a:rPr lang="en-US" altLang="ko-KR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11875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기술 </a:t>
                      </a:r>
                      <a:r>
                        <a:rPr lang="en-US" altLang="ko-KR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DB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난방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 63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온수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 35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냉방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 53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냉동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냉장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 17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조명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 3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기타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 2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  <a:endParaRPr lang="ko-KR" altLang="en-US" sz="1200" dirty="0"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/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NA</a:t>
                      </a:r>
                      <a:endParaRPr lang="ko-KR" altLang="en-US" sz="1200" dirty="0"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난방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 : 13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  <a:endParaRPr lang="en-US" altLang="ko-KR" sz="1200" dirty="0" smtClean="0">
                        <a:latin typeface="+mj-ea"/>
                        <a:ea typeface="+mj-ea"/>
                      </a:endParaRP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온수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 6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  <a:endParaRPr lang="en-US" altLang="ko-KR" sz="1200" dirty="0" smtClean="0">
                        <a:latin typeface="+mj-ea"/>
                        <a:ea typeface="+mj-ea"/>
                      </a:endParaRP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단열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 6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  <a:endParaRPr lang="ko-KR" altLang="en-US" sz="1200" dirty="0"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난방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온수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:18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냉방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:1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가전기기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취사포함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) : 36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조명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 4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단열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 : 17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난방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 6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  <a:endParaRPr lang="en-US" altLang="ko-KR" sz="1200" dirty="0" smtClean="0">
                        <a:latin typeface="+mj-ea"/>
                        <a:ea typeface="+mj-ea"/>
                      </a:endParaRP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냉방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 13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전기기타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</a:t>
                      </a:r>
                      <a:r>
                        <a:rPr lang="en-US" altLang="ko-KR" sz="1200" baseline="0" dirty="0" smtClean="0">
                          <a:latin typeface="+mj-ea"/>
                          <a:ea typeface="+mj-ea"/>
                        </a:rPr>
                        <a:t>18</a:t>
                      </a:r>
                      <a:r>
                        <a:rPr lang="ko-KR" altLang="en-US" sz="1200" baseline="0" dirty="0" smtClean="0">
                          <a:latin typeface="+mj-ea"/>
                          <a:ea typeface="+mj-ea"/>
                        </a:rPr>
                        <a:t>개</a:t>
                      </a:r>
                      <a:endParaRPr lang="en-US" altLang="ko-KR" sz="1200" dirty="0" smtClean="0">
                        <a:latin typeface="+mj-ea"/>
                        <a:ea typeface="+mj-ea"/>
                      </a:endParaRP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조명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 9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 </a:t>
                      </a: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취사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 4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단열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 : 3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  <a:endParaRPr lang="ko-KR" altLang="en-US" sz="1200" dirty="0"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난방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 6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  <a:endParaRPr lang="en-US" altLang="ko-KR" sz="1200" dirty="0" smtClean="0">
                        <a:latin typeface="+mj-ea"/>
                        <a:ea typeface="+mj-ea"/>
                      </a:endParaRP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냉방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 13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전기기타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</a:t>
                      </a:r>
                      <a:r>
                        <a:rPr lang="en-US" altLang="ko-KR" sz="1200" baseline="0" dirty="0" smtClean="0">
                          <a:latin typeface="+mj-ea"/>
                          <a:ea typeface="+mj-ea"/>
                        </a:rPr>
                        <a:t>18</a:t>
                      </a:r>
                      <a:r>
                        <a:rPr lang="ko-KR" altLang="en-US" sz="1200" baseline="0" dirty="0" smtClean="0">
                          <a:latin typeface="+mj-ea"/>
                          <a:ea typeface="+mj-ea"/>
                        </a:rPr>
                        <a:t>개</a:t>
                      </a:r>
                      <a:endParaRPr lang="en-US" altLang="ko-KR" sz="1200" dirty="0" smtClean="0">
                        <a:latin typeface="+mj-ea"/>
                        <a:ea typeface="+mj-ea"/>
                      </a:endParaRP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조명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 9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 </a:t>
                      </a: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취사 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: 4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</a:p>
                    <a:p>
                      <a:pPr algn="l"/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단열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): 3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개</a:t>
                      </a:r>
                      <a:endParaRPr lang="ko-KR" altLang="en-US" sz="1200" dirty="0"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9739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감축수단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NA</a:t>
                      </a:r>
                      <a:endParaRPr lang="en-US" altLang="ko-KR" sz="1200" kern="0" spc="-30" dirty="0" smtClean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NA</a:t>
                      </a:r>
                      <a:endParaRPr 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NA</a:t>
                      </a:r>
                      <a:endParaRPr 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NA</a:t>
                      </a:r>
                      <a:endParaRPr 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</a:t>
                      </a:r>
                      <a:r>
                        <a:rPr lang="ko-KR" altLang="en-US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</a:t>
                      </a:r>
                      <a:r>
                        <a:rPr lang="ko-KR" altLang="en-US" sz="1200" kern="0" spc="-30" dirty="0" smtClean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</a:t>
                      </a:r>
                      <a:endParaRPr 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0168" marR="70168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60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ko-KR" altLang="en-US" b="0" dirty="0"/>
              <a:t>가정상업 부문 </a:t>
            </a:r>
            <a:r>
              <a:rPr lang="en-US" altLang="ko-KR" b="0" dirty="0"/>
              <a:t>:</a:t>
            </a:r>
            <a:r>
              <a:rPr lang="ko-KR" altLang="en-US" b="0" dirty="0"/>
              <a:t> </a:t>
            </a:r>
            <a:r>
              <a:rPr lang="ko-KR" altLang="en-US" b="0" dirty="0" smtClean="0">
                <a:latin typeface="+mn-lt"/>
              </a:rPr>
              <a:t>건물기술 모형화 방법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86600" y="6230981"/>
            <a:ext cx="2057400" cy="304800"/>
          </a:xfrm>
        </p:spPr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64</a:t>
            </a:fld>
            <a:endParaRPr lang="en-US" altLang="ko-KR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584515" y="1124744"/>
            <a:ext cx="4271700" cy="106542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marL="171450" indent="-72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1" dirty="0" smtClean="0">
                <a:solidFill>
                  <a:prstClr val="black"/>
                </a:solidFill>
              </a:rPr>
              <a:t>건물기술을 별도의 공정으로 분리</a:t>
            </a:r>
          </a:p>
          <a:p>
            <a:pPr marL="171450" indent="-72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1" dirty="0" smtClean="0">
                <a:solidFill>
                  <a:prstClr val="black"/>
                </a:solidFill>
              </a:rPr>
              <a:t>건물기술에 따라 에너지 사용은 절감되지만 다른 비용</a:t>
            </a:r>
            <a:r>
              <a:rPr kumimoji="0" lang="en-US" altLang="ko-KR" b="1" dirty="0" smtClean="0">
                <a:solidFill>
                  <a:prstClr val="black"/>
                </a:solidFill>
              </a:rPr>
              <a:t>(</a:t>
            </a:r>
            <a:r>
              <a:rPr kumimoji="0" lang="ko-KR" altLang="en-US" b="1" dirty="0" smtClean="0">
                <a:solidFill>
                  <a:prstClr val="black"/>
                </a:solidFill>
              </a:rPr>
              <a:t>난방 투자 및 운용비</a:t>
            </a:r>
            <a:r>
              <a:rPr kumimoji="0" lang="en-US" altLang="ko-KR" b="1" dirty="0" smtClean="0">
                <a:solidFill>
                  <a:prstClr val="black"/>
                </a:solidFill>
              </a:rPr>
              <a:t>)</a:t>
            </a:r>
            <a:r>
              <a:rPr kumimoji="0" lang="ko-KR" altLang="en-US" b="1" dirty="0" smtClean="0">
                <a:solidFill>
                  <a:prstClr val="black"/>
                </a:solidFill>
              </a:rPr>
              <a:t>도 같이 줄어드는 효과</a:t>
            </a:r>
            <a:endParaRPr kumimoji="0" lang="en-US" altLang="ko-KR" b="1" dirty="0" smtClean="0">
              <a:solidFill>
                <a:prstClr val="black"/>
              </a:solidFill>
            </a:endParaRPr>
          </a:p>
          <a:p>
            <a:pPr marL="171450" indent="-72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1" dirty="0" smtClean="0">
                <a:solidFill>
                  <a:prstClr val="black"/>
                </a:solidFill>
              </a:rPr>
              <a:t>비교적 단순한 구조</a:t>
            </a:r>
            <a:endParaRPr kumimoji="0" lang="en-US" altLang="ko-KR" b="1" dirty="0" smtClean="0">
              <a:solidFill>
                <a:prstClr val="black"/>
              </a:solidFill>
            </a:endParaRPr>
          </a:p>
          <a:p>
            <a:pPr marL="171450" indent="-72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ko-KR" b="1" dirty="0" smtClean="0">
                <a:solidFill>
                  <a:prstClr val="black"/>
                </a:solidFill>
              </a:rPr>
              <a:t> Korea MESSAGE</a:t>
            </a:r>
            <a:endParaRPr kumimoji="0" lang="ko-KR" altLang="en-US" b="1" dirty="0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16464" y="1164852"/>
            <a:ext cx="500639" cy="8092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400" b="1" dirty="0" smtClean="0">
                <a:solidFill>
                  <a:srgbClr val="1F497D">
                    <a:lumMod val="75000"/>
                  </a:srgbClr>
                </a:solidFill>
              </a:rPr>
              <a:t>방법 </a:t>
            </a:r>
            <a:r>
              <a:rPr kumimoji="0" lang="en-US" altLang="ko-KR" sz="1400" b="1" dirty="0" smtClean="0">
                <a:solidFill>
                  <a:srgbClr val="1F497D">
                    <a:lumMod val="75000"/>
                  </a:srgbClr>
                </a:solidFill>
              </a:rPr>
              <a:t>1</a:t>
            </a:r>
            <a:endParaRPr kumimoji="0" lang="ko-KR" altLang="en-US" sz="1400" b="1" dirty="0">
              <a:solidFill>
                <a:srgbClr val="1F497D">
                  <a:lumMod val="75000"/>
                </a:srgbClr>
              </a:solidFill>
            </a:endParaRPr>
          </a:p>
        </p:txBody>
      </p:sp>
      <p:grpSp>
        <p:nvGrpSpPr>
          <p:cNvPr id="7" name="그룹 37"/>
          <p:cNvGrpSpPr/>
          <p:nvPr/>
        </p:nvGrpSpPr>
        <p:grpSpPr>
          <a:xfrm>
            <a:off x="272481" y="2276872"/>
            <a:ext cx="4568284" cy="886682"/>
            <a:chOff x="954166" y="3190390"/>
            <a:chExt cx="7336592" cy="1000124"/>
          </a:xfrm>
        </p:grpSpPr>
        <p:sp>
          <p:nvSpPr>
            <p:cNvPr id="8" name="Line 4"/>
            <p:cNvSpPr>
              <a:spLocks noChangeShapeType="1"/>
            </p:cNvSpPr>
            <p:nvPr/>
          </p:nvSpPr>
          <p:spPr bwMode="auto">
            <a:xfrm>
              <a:off x="1136730" y="3615839"/>
              <a:ext cx="17463" cy="57467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800" b="1" kern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" name="Line 13"/>
            <p:cNvSpPr>
              <a:spLocks noChangeShapeType="1"/>
            </p:cNvSpPr>
            <p:nvPr/>
          </p:nvSpPr>
          <p:spPr bwMode="auto">
            <a:xfrm>
              <a:off x="3506869" y="3739664"/>
              <a:ext cx="914400" cy="127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800" b="1" kern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0" name="Line 15"/>
            <p:cNvSpPr>
              <a:spLocks noChangeShapeType="1"/>
            </p:cNvSpPr>
            <p:nvPr/>
          </p:nvSpPr>
          <p:spPr bwMode="auto">
            <a:xfrm>
              <a:off x="4408568" y="3568214"/>
              <a:ext cx="17463" cy="6080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800" b="1" kern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2008269" y="3580914"/>
              <a:ext cx="1612900" cy="352425"/>
            </a:xfrm>
            <a:prstGeom prst="rect">
              <a:avLst/>
            </a:prstGeom>
            <a:solidFill>
              <a:srgbClr val="3E7EA6">
                <a:lumMod val="40000"/>
                <a:lumOff val="6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kern="0" dirty="0" smtClean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가스보일러</a:t>
              </a:r>
              <a:endParaRPr kumimoji="0" lang="en-US" altLang="ko-KR" sz="800" b="1" kern="0" dirty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12" name="직선 화살표 연결선 11"/>
            <p:cNvCxnSpPr>
              <a:endCxn id="11" idx="1"/>
            </p:cNvCxnSpPr>
            <p:nvPr/>
          </p:nvCxnSpPr>
          <p:spPr>
            <a:xfrm flipV="1">
              <a:off x="1135144" y="3757127"/>
              <a:ext cx="873125" cy="14287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sp>
          <p:nvSpPr>
            <p:cNvPr id="13" name="TextBox 12"/>
            <p:cNvSpPr txBox="1"/>
            <p:nvPr/>
          </p:nvSpPr>
          <p:spPr>
            <a:xfrm>
              <a:off x="1482806" y="3518998"/>
              <a:ext cx="487076" cy="2430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b="1" kern="0" dirty="0" smtClean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10</a:t>
              </a:r>
              <a:endParaRPr kumimoji="0" lang="ko-KR" altLang="en-US" sz="800" b="1" kern="0" dirty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54166" y="3361833"/>
              <a:ext cx="631242" cy="2430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b="1" kern="0" dirty="0" smtClean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LNG</a:t>
              </a:r>
              <a:endParaRPr kumimoji="0" lang="ko-KR" altLang="en-US" sz="800" b="1" kern="0" dirty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811670" y="3461848"/>
              <a:ext cx="391825" cy="2430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b="1" kern="0" dirty="0" smtClean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1</a:t>
              </a:r>
              <a:endParaRPr kumimoji="0" lang="ko-KR" altLang="en-US" sz="800" b="1" kern="0" dirty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6835857" y="3696801"/>
              <a:ext cx="914400" cy="127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800" b="1" kern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7737556" y="3525351"/>
              <a:ext cx="17463" cy="6080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800" b="1" kern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8" name="Rectangle 7"/>
            <p:cNvSpPr>
              <a:spLocks noChangeArrowheads="1"/>
            </p:cNvSpPr>
            <p:nvPr/>
          </p:nvSpPr>
          <p:spPr bwMode="auto">
            <a:xfrm>
              <a:off x="5295309" y="3538052"/>
              <a:ext cx="1612900" cy="352425"/>
            </a:xfrm>
            <a:prstGeom prst="rect">
              <a:avLst/>
            </a:prstGeom>
            <a:solidFill>
              <a:srgbClr val="3E7EA6">
                <a:lumMod val="40000"/>
                <a:lumOff val="6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kern="0" dirty="0" smtClean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진공단열패널</a:t>
              </a:r>
            </a:p>
          </p:txBody>
        </p:sp>
        <p:cxnSp>
          <p:nvCxnSpPr>
            <p:cNvPr id="19" name="직선 화살표 연결선 18"/>
            <p:cNvCxnSpPr>
              <a:endCxn id="18" idx="1"/>
            </p:cNvCxnSpPr>
            <p:nvPr/>
          </p:nvCxnSpPr>
          <p:spPr>
            <a:xfrm flipV="1">
              <a:off x="4422184" y="3714264"/>
              <a:ext cx="873125" cy="1428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tailEnd type="arrow"/>
            </a:ln>
            <a:effectLst/>
          </p:spPr>
        </p:cxnSp>
        <p:sp>
          <p:nvSpPr>
            <p:cNvPr id="20" name="TextBox 19"/>
            <p:cNvSpPr txBox="1"/>
            <p:nvPr/>
          </p:nvSpPr>
          <p:spPr>
            <a:xfrm>
              <a:off x="4811795" y="3476136"/>
              <a:ext cx="530842" cy="2430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b="1" kern="0" dirty="0" smtClean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0.7</a:t>
              </a:r>
              <a:endParaRPr kumimoji="0" lang="ko-KR" altLang="en-US" sz="800" b="1" kern="0" dirty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140660" y="3418985"/>
              <a:ext cx="391825" cy="2430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b="1" kern="0" dirty="0" smtClean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1</a:t>
              </a:r>
              <a:endParaRPr kumimoji="0" lang="ko-KR" altLang="en-US" sz="800" b="1" kern="0" dirty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868814" y="3190390"/>
              <a:ext cx="1524559" cy="2430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b="1" kern="0" dirty="0" smtClean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Dummy </a:t>
              </a:r>
              <a:r>
                <a:rPr kumimoji="0" lang="ko-KR" altLang="en-US" sz="800" b="1" kern="0" dirty="0" smtClean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아파트</a:t>
              </a:r>
              <a:r>
                <a:rPr kumimoji="0" lang="en-US" altLang="ko-KR" sz="800" b="1" kern="0" dirty="0" smtClean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 </a:t>
              </a:r>
              <a:endParaRPr kumimoji="0" lang="ko-KR" altLang="en-US" sz="800" b="1" kern="0" dirty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440691" y="3190390"/>
              <a:ext cx="850067" cy="2430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kern="0" dirty="0" smtClean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아파트</a:t>
              </a:r>
              <a:r>
                <a:rPr kumimoji="0" lang="en-US" altLang="ko-KR" sz="800" b="1" kern="0" dirty="0" smtClean="0">
                  <a:solidFill>
                    <a:sysClr val="windowText" lastClr="000000"/>
                  </a:solidFill>
                  <a:latin typeface="맑은 고딕"/>
                  <a:ea typeface="맑은 고딕"/>
                </a:rPr>
                <a:t> </a:t>
              </a:r>
              <a:endParaRPr kumimoji="0" lang="ko-KR" altLang="en-US" sz="800" b="1" kern="0" dirty="0">
                <a:solidFill>
                  <a:sysClr val="windowText" lastClr="000000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24" name="타원 23"/>
          <p:cNvSpPr/>
          <p:nvPr/>
        </p:nvSpPr>
        <p:spPr bwMode="auto">
          <a:xfrm>
            <a:off x="9325309" y="4936347"/>
            <a:ext cx="387468" cy="195385"/>
          </a:xfrm>
          <a:prstGeom prst="ellipse">
            <a:avLst/>
          </a:prstGeom>
          <a:solidFill>
            <a:srgbClr val="6E6E6E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kumimoji="0" lang="ko-KR" altLang="en-US" sz="800" b="1" kern="0" smtClean="0">
              <a:solidFill>
                <a:srgbClr val="000000"/>
              </a:solidFill>
              <a:latin typeface="Arial" charset="0"/>
              <a:ea typeface="맑은 고딕"/>
            </a:endParaRPr>
          </a:p>
        </p:txBody>
      </p:sp>
      <p:sp>
        <p:nvSpPr>
          <p:cNvPr id="25" name="타원 24"/>
          <p:cNvSpPr/>
          <p:nvPr/>
        </p:nvSpPr>
        <p:spPr bwMode="auto">
          <a:xfrm>
            <a:off x="7090681" y="5849715"/>
            <a:ext cx="514614" cy="238758"/>
          </a:xfrm>
          <a:prstGeom prst="ellipse">
            <a:avLst/>
          </a:prstGeom>
          <a:solidFill>
            <a:srgbClr val="6E6E6E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kumimoji="0" lang="ko-KR" altLang="en-US" sz="800" b="1" kern="0" smtClean="0">
              <a:solidFill>
                <a:srgbClr val="000000"/>
              </a:solidFill>
              <a:latin typeface="Arial" charset="0"/>
              <a:ea typeface="맑은 고딕"/>
            </a:endParaRPr>
          </a:p>
        </p:txBody>
      </p:sp>
      <p:sp>
        <p:nvSpPr>
          <p:cNvPr id="26" name="Line 13"/>
          <p:cNvSpPr>
            <a:spLocks noChangeShapeType="1"/>
          </p:cNvSpPr>
          <p:nvPr/>
        </p:nvSpPr>
        <p:spPr bwMode="auto">
          <a:xfrm>
            <a:off x="6754551" y="6176385"/>
            <a:ext cx="596579" cy="940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arrow" w="med" len="med"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27" name="Line 4"/>
          <p:cNvSpPr>
            <a:spLocks noChangeShapeType="1"/>
          </p:cNvSpPr>
          <p:nvPr/>
        </p:nvSpPr>
        <p:spPr bwMode="auto">
          <a:xfrm>
            <a:off x="5177459" y="5254336"/>
            <a:ext cx="11393" cy="42539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28" name="Line 13"/>
          <p:cNvSpPr>
            <a:spLocks noChangeShapeType="1"/>
          </p:cNvSpPr>
          <p:nvPr/>
        </p:nvSpPr>
        <p:spPr bwMode="auto">
          <a:xfrm>
            <a:off x="6723798" y="5345996"/>
            <a:ext cx="596579" cy="940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arrow" w="med" len="med"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29" name="Line 15"/>
          <p:cNvSpPr>
            <a:spLocks noChangeShapeType="1"/>
          </p:cNvSpPr>
          <p:nvPr/>
        </p:nvSpPr>
        <p:spPr bwMode="auto">
          <a:xfrm>
            <a:off x="7312092" y="5219083"/>
            <a:ext cx="11393" cy="45007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30" name="Rectangle 7"/>
          <p:cNvSpPr>
            <a:spLocks noChangeArrowheads="1"/>
          </p:cNvSpPr>
          <p:nvPr/>
        </p:nvSpPr>
        <p:spPr bwMode="auto">
          <a:xfrm>
            <a:off x="5746073" y="5228484"/>
            <a:ext cx="1052298" cy="260877"/>
          </a:xfrm>
          <a:prstGeom prst="rect">
            <a:avLst/>
          </a:prstGeom>
          <a:solidFill>
            <a:srgbClr val="3E7EA6">
              <a:lumMod val="40000"/>
              <a:lumOff val="6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가스보일러</a:t>
            </a:r>
            <a:r>
              <a:rPr kumimoji="0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(</a:t>
            </a:r>
            <a:r>
              <a:rPr kumimoji="0" lang="ko-KR" altLang="en-US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에너지</a:t>
            </a:r>
            <a:r>
              <a:rPr kumimoji="0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)</a:t>
            </a:r>
            <a:endParaRPr kumimoji="0" lang="en-US" altLang="ko-KR" sz="800" b="1" kern="0" dirty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cxnSp>
        <p:nvCxnSpPr>
          <p:cNvPr id="31" name="직선 화살표 연결선 30"/>
          <p:cNvCxnSpPr>
            <a:endCxn id="30" idx="1"/>
          </p:cNvCxnSpPr>
          <p:nvPr/>
        </p:nvCxnSpPr>
        <p:spPr>
          <a:xfrm flipV="1">
            <a:off x="5176422" y="5358919"/>
            <a:ext cx="569649" cy="1057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5403247" y="5182648"/>
            <a:ext cx="3032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10</a:t>
            </a:r>
            <a:endParaRPr kumimoji="0" lang="ko-KR" altLang="en-US" sz="800" b="1" kern="0" dirty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58346" y="5066310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LNG</a:t>
            </a:r>
            <a:endParaRPr kumimoji="0" lang="ko-KR" altLang="en-US" sz="800" b="1" kern="0" dirty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22658" y="5140344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1</a:t>
            </a:r>
            <a:endParaRPr kumimoji="0" lang="ko-KR" altLang="en-US" sz="800" b="1" kern="0" dirty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35" name="Line 13"/>
          <p:cNvSpPr>
            <a:spLocks noChangeShapeType="1"/>
          </p:cNvSpPr>
          <p:nvPr/>
        </p:nvSpPr>
        <p:spPr bwMode="auto">
          <a:xfrm>
            <a:off x="8895718" y="5314267"/>
            <a:ext cx="596579" cy="940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arrow" w="med" len="med"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36" name="Line 15"/>
          <p:cNvSpPr>
            <a:spLocks noChangeShapeType="1"/>
          </p:cNvSpPr>
          <p:nvPr/>
        </p:nvSpPr>
        <p:spPr bwMode="auto">
          <a:xfrm>
            <a:off x="9484011" y="5187354"/>
            <a:ext cx="11393" cy="45007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37" name="Rectangle 7"/>
          <p:cNvSpPr>
            <a:spLocks noChangeArrowheads="1"/>
          </p:cNvSpPr>
          <p:nvPr/>
        </p:nvSpPr>
        <p:spPr bwMode="auto">
          <a:xfrm>
            <a:off x="7917991" y="5196755"/>
            <a:ext cx="1052298" cy="260877"/>
          </a:xfrm>
          <a:prstGeom prst="rect">
            <a:avLst/>
          </a:prstGeom>
          <a:solidFill>
            <a:srgbClr val="3E7EA6">
              <a:lumMod val="40000"/>
              <a:lumOff val="6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진공단열패널</a:t>
            </a:r>
            <a:r>
              <a:rPr kumimoji="0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(</a:t>
            </a:r>
            <a:r>
              <a:rPr kumimoji="0" lang="en-US" altLang="ko-KR" sz="800" b="1" kern="0" dirty="0" err="1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Nanogel</a:t>
            </a:r>
            <a:r>
              <a:rPr kumimoji="0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)</a:t>
            </a:r>
            <a:endParaRPr kumimoji="0" lang="ko-KR" altLang="en-US" sz="800" b="1" kern="0" dirty="0" smtClean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cxnSp>
        <p:nvCxnSpPr>
          <p:cNvPr id="38" name="직선 화살표 연결선 37"/>
          <p:cNvCxnSpPr>
            <a:endCxn id="37" idx="1"/>
          </p:cNvCxnSpPr>
          <p:nvPr/>
        </p:nvCxnSpPr>
        <p:spPr>
          <a:xfrm flipV="1">
            <a:off x="7348342" y="5327191"/>
            <a:ext cx="569649" cy="1057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7575166" y="5150920"/>
            <a:ext cx="3305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0.7</a:t>
            </a:r>
            <a:endParaRPr kumimoji="0" lang="ko-KR" altLang="en-US" sz="800" b="1" kern="0" dirty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094578" y="5108616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1</a:t>
            </a:r>
            <a:endParaRPr kumimoji="0" lang="ko-KR" altLang="en-US" sz="800" b="1" kern="0" dirty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959943" y="4939402"/>
            <a:ext cx="9492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Dummy </a:t>
            </a:r>
            <a:r>
              <a:rPr kumimoji="0" lang="ko-KR" altLang="en-US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아파트</a:t>
            </a:r>
            <a:r>
              <a:rPr kumimoji="0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 </a:t>
            </a:r>
            <a:endParaRPr kumimoji="0" lang="ko-KR" altLang="en-US" sz="800" b="1" kern="0" dirty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296480" y="4939402"/>
            <a:ext cx="5293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아파트</a:t>
            </a:r>
            <a:r>
              <a:rPr kumimoji="0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 </a:t>
            </a:r>
            <a:endParaRPr kumimoji="0" lang="ko-KR" altLang="en-US" sz="800" b="1" kern="0" dirty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43" name="Rectangle 7"/>
          <p:cNvSpPr>
            <a:spLocks noChangeArrowheads="1"/>
          </p:cNvSpPr>
          <p:nvPr/>
        </p:nvSpPr>
        <p:spPr bwMode="auto">
          <a:xfrm>
            <a:off x="5752223" y="6051895"/>
            <a:ext cx="1052298" cy="260877"/>
          </a:xfrm>
          <a:prstGeom prst="rect">
            <a:avLst/>
          </a:prstGeom>
          <a:solidFill>
            <a:srgbClr val="3E7EA6">
              <a:lumMod val="40000"/>
              <a:lumOff val="6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가스보일러</a:t>
            </a:r>
            <a:r>
              <a:rPr kumimoji="0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(</a:t>
            </a:r>
            <a:r>
              <a:rPr kumimoji="0" lang="ko-KR" altLang="en-US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비용</a:t>
            </a:r>
            <a:r>
              <a:rPr kumimoji="0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)</a:t>
            </a:r>
            <a:endParaRPr kumimoji="0" lang="en-US" altLang="ko-KR" sz="800" b="1" kern="0" dirty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44" name="Line 15"/>
          <p:cNvSpPr>
            <a:spLocks noChangeShapeType="1"/>
          </p:cNvSpPr>
          <p:nvPr/>
        </p:nvSpPr>
        <p:spPr bwMode="auto">
          <a:xfrm>
            <a:off x="7324393" y="6049473"/>
            <a:ext cx="11393" cy="45007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971861" y="6221943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1</a:t>
            </a:r>
            <a:endParaRPr kumimoji="0" lang="ko-KR" altLang="en-US" sz="800" b="1" kern="0" dirty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46" name="Line 4"/>
          <p:cNvSpPr>
            <a:spLocks noChangeShapeType="1"/>
          </p:cNvSpPr>
          <p:nvPr/>
        </p:nvSpPr>
        <p:spPr bwMode="auto">
          <a:xfrm>
            <a:off x="5189760" y="6056814"/>
            <a:ext cx="11393" cy="42539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b="1" kern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cxnSp>
        <p:nvCxnSpPr>
          <p:cNvPr id="47" name="직선 화살표 연결선 46"/>
          <p:cNvCxnSpPr/>
          <p:nvPr/>
        </p:nvCxnSpPr>
        <p:spPr>
          <a:xfrm flipV="1">
            <a:off x="5188725" y="6161397"/>
            <a:ext cx="569649" cy="10576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7105054" y="5864423"/>
            <a:ext cx="485607" cy="21544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kern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아파트</a:t>
            </a:r>
            <a:r>
              <a:rPr kumimoji="0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 </a:t>
            </a:r>
            <a:endParaRPr kumimoji="0" lang="ko-KR" altLang="en-US" sz="800" b="1" kern="0" dirty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874993" y="5916331"/>
            <a:ext cx="9124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Dummy </a:t>
            </a:r>
            <a:r>
              <a:rPr kumimoji="0" lang="ko-KR" altLang="en-US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에너지</a:t>
            </a:r>
            <a:endParaRPr kumimoji="0" lang="ko-KR" altLang="en-US" sz="800" b="1" kern="0" dirty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90947" y="6187489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kern="0" dirty="0" smtClean="0">
                <a:solidFill>
                  <a:sysClr val="windowText" lastClr="000000"/>
                </a:solidFill>
                <a:latin typeface="맑은 고딕"/>
                <a:ea typeface="맑은 고딕"/>
              </a:rPr>
              <a:t>1</a:t>
            </a:r>
            <a:endParaRPr kumimoji="0" lang="ko-KR" altLang="en-US" sz="800" b="1" kern="0" dirty="0">
              <a:solidFill>
                <a:sysClr val="windowText" lastClr="000000"/>
              </a:solidFill>
              <a:latin typeface="맑은 고딕"/>
              <a:ea typeface="맑은 고딕"/>
            </a:endParaRPr>
          </a:p>
        </p:txBody>
      </p:sp>
      <p:sp>
        <p:nvSpPr>
          <p:cNvPr id="51" name="등호 50"/>
          <p:cNvSpPr/>
          <p:nvPr/>
        </p:nvSpPr>
        <p:spPr bwMode="auto">
          <a:xfrm>
            <a:off x="8400341" y="5822560"/>
            <a:ext cx="301364" cy="216319"/>
          </a:xfrm>
          <a:prstGeom prst="mathEqual">
            <a:avLst/>
          </a:prstGeom>
          <a:solidFill>
            <a:srgbClr val="6E6E6E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kumimoji="0" lang="ko-KR" altLang="en-US" sz="800" b="1" kern="0" smtClean="0">
              <a:solidFill>
                <a:srgbClr val="000000"/>
              </a:solidFill>
              <a:latin typeface="Arial" charset="0"/>
              <a:ea typeface="맑은 고딕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904588" y="5636599"/>
            <a:ext cx="1476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kern="0" dirty="0" smtClean="0">
                <a:solidFill>
                  <a:srgbClr val="FF0000"/>
                </a:solidFill>
                <a:latin typeface="맑은 고딕"/>
                <a:ea typeface="맑은 고딕"/>
              </a:rPr>
              <a:t>연도별 </a:t>
            </a:r>
            <a:r>
              <a:rPr kumimoji="0" lang="en-US" altLang="ko-KR" sz="800" b="1" kern="0" dirty="0" smtClean="0">
                <a:solidFill>
                  <a:srgbClr val="FF0000"/>
                </a:solidFill>
                <a:latin typeface="맑은 고딕"/>
                <a:ea typeface="맑은 고딕"/>
              </a:rPr>
              <a:t>demand</a:t>
            </a:r>
            <a:r>
              <a:rPr kumimoji="0" lang="ko-KR" altLang="en-US" sz="800" b="1" kern="0" dirty="0" smtClean="0">
                <a:solidFill>
                  <a:srgbClr val="FF0000"/>
                </a:solidFill>
                <a:latin typeface="맑은 고딕"/>
                <a:ea typeface="맑은 고딕"/>
              </a:rPr>
              <a:t>를 동일하게</a:t>
            </a:r>
            <a:endParaRPr kumimoji="0" lang="ko-KR" altLang="en-US" sz="800" b="1" kern="0" dirty="0">
              <a:solidFill>
                <a:srgbClr val="FF0000"/>
              </a:solidFill>
              <a:latin typeface="맑은 고딕"/>
              <a:ea typeface="맑은 고딕"/>
            </a:endParaRPr>
          </a:p>
        </p:txBody>
      </p:sp>
      <p:cxnSp>
        <p:nvCxnSpPr>
          <p:cNvPr id="53" name="꺾인 연결선 52"/>
          <p:cNvCxnSpPr>
            <a:stCxn id="42" idx="1"/>
          </p:cNvCxnSpPr>
          <p:nvPr/>
        </p:nvCxnSpPr>
        <p:spPr bwMode="auto">
          <a:xfrm rot="10800000" flipV="1">
            <a:off x="7646280" y="5047124"/>
            <a:ext cx="1650200" cy="928940"/>
          </a:xfrm>
          <a:prstGeom prst="bentConnector3">
            <a:avLst>
              <a:gd name="adj1" fmla="val 50000"/>
            </a:avLst>
          </a:prstGeom>
          <a:solidFill>
            <a:srgbClr val="6E6E6E"/>
          </a:solidFill>
          <a:ln w="12700" cap="flat" cmpd="sng" algn="ctr">
            <a:solidFill>
              <a:srgbClr val="000000"/>
            </a:solidFill>
            <a:prstDash val="solid"/>
            <a:round/>
            <a:headEnd type="arrow"/>
            <a:tailEnd type="arrow"/>
          </a:ln>
          <a:effectLst/>
        </p:spPr>
      </p:cxnSp>
      <p:pic>
        <p:nvPicPr>
          <p:cNvPr id="55" name="_x162859584" descr="EMB000009f4298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059" y="2376711"/>
            <a:ext cx="2744393" cy="1207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_x162861424" descr="EMB000009f4298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425" y="4915368"/>
            <a:ext cx="2940473" cy="149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모서리가 둥근 직사각형 56"/>
          <p:cNvSpPr/>
          <p:nvPr/>
        </p:nvSpPr>
        <p:spPr>
          <a:xfrm>
            <a:off x="578181" y="3849937"/>
            <a:ext cx="4271700" cy="92141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marL="171450" indent="-72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1" dirty="0" smtClean="0">
                <a:solidFill>
                  <a:prstClr val="black"/>
                </a:solidFill>
              </a:rPr>
              <a:t>난방과 </a:t>
            </a:r>
            <a:r>
              <a:rPr kumimoji="0" lang="ko-KR" altLang="en-US" b="1" dirty="0">
                <a:solidFill>
                  <a:prstClr val="black"/>
                </a:solidFill>
              </a:rPr>
              <a:t>건물을 쌍으로 묶어 하나의 기술로 표기</a:t>
            </a:r>
          </a:p>
          <a:p>
            <a:pPr marL="171450" indent="-72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1" dirty="0">
                <a:solidFill>
                  <a:prstClr val="black"/>
                </a:solidFill>
              </a:rPr>
              <a:t>에너지 소비량은 절감</a:t>
            </a:r>
            <a:r>
              <a:rPr kumimoji="0" lang="en-US" altLang="ko-KR" b="1" dirty="0">
                <a:solidFill>
                  <a:prstClr val="black"/>
                </a:solidFill>
              </a:rPr>
              <a:t>, </a:t>
            </a:r>
            <a:r>
              <a:rPr kumimoji="0" lang="ko-KR" altLang="en-US" b="1" dirty="0">
                <a:solidFill>
                  <a:prstClr val="black"/>
                </a:solidFill>
              </a:rPr>
              <a:t>다른 비용은 </a:t>
            </a:r>
            <a:r>
              <a:rPr kumimoji="0" lang="ko-KR" altLang="en-US" b="1" dirty="0" smtClean="0">
                <a:solidFill>
                  <a:prstClr val="black"/>
                </a:solidFill>
              </a:rPr>
              <a:t>조절 </a:t>
            </a:r>
            <a:r>
              <a:rPr kumimoji="0" lang="ko-KR" altLang="en-US" b="1" dirty="0">
                <a:solidFill>
                  <a:prstClr val="black"/>
                </a:solidFill>
              </a:rPr>
              <a:t>가능</a:t>
            </a:r>
            <a:endParaRPr kumimoji="0" lang="en-US" altLang="ko-KR" b="1" dirty="0">
              <a:solidFill>
                <a:prstClr val="black"/>
              </a:solidFill>
            </a:endParaRPr>
          </a:p>
          <a:p>
            <a:pPr marL="171450" indent="-72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ko-KR" b="1" dirty="0">
                <a:solidFill>
                  <a:prstClr val="black"/>
                </a:solidFill>
              </a:rPr>
              <a:t>Technology</a:t>
            </a:r>
            <a:r>
              <a:rPr kumimoji="0" lang="ko-KR" altLang="en-US" b="1" dirty="0">
                <a:solidFill>
                  <a:prstClr val="black"/>
                </a:solidFill>
              </a:rPr>
              <a:t>의 수가 </a:t>
            </a:r>
            <a:r>
              <a:rPr kumimoji="0" lang="ko-KR" altLang="en-US" b="1" dirty="0" smtClean="0">
                <a:solidFill>
                  <a:prstClr val="black"/>
                </a:solidFill>
              </a:rPr>
              <a:t>많아져 복잡한 구조</a:t>
            </a:r>
            <a:endParaRPr kumimoji="0" lang="en-US" altLang="ko-KR" b="1" dirty="0" smtClean="0">
              <a:solidFill>
                <a:prstClr val="black"/>
              </a:solidFill>
            </a:endParaRPr>
          </a:p>
          <a:p>
            <a:pPr marL="171450" indent="-72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ko-KR" b="1" dirty="0">
                <a:solidFill>
                  <a:prstClr val="black"/>
                </a:solidFill>
              </a:rPr>
              <a:t> </a:t>
            </a:r>
            <a:r>
              <a:rPr kumimoji="0" lang="en-US" altLang="ko-KR" b="1" dirty="0" smtClean="0">
                <a:solidFill>
                  <a:prstClr val="black"/>
                </a:solidFill>
              </a:rPr>
              <a:t>WEU MARKAL/Belgium MARKAL</a:t>
            </a:r>
            <a:endParaRPr kumimoji="0" lang="en-US" altLang="ko-KR" b="1" dirty="0">
              <a:solidFill>
                <a:prstClr val="black"/>
              </a:solidFill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110128" y="3890045"/>
            <a:ext cx="500639" cy="8092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400" b="1" dirty="0" smtClean="0">
                <a:solidFill>
                  <a:srgbClr val="1F497D">
                    <a:lumMod val="75000"/>
                  </a:srgbClr>
                </a:solidFill>
              </a:rPr>
              <a:t>방법 </a:t>
            </a:r>
            <a:r>
              <a:rPr kumimoji="0" lang="en-US" altLang="ko-KR" sz="1400" b="1" dirty="0" smtClean="0">
                <a:solidFill>
                  <a:srgbClr val="1F497D">
                    <a:lumMod val="75000"/>
                  </a:srgbClr>
                </a:solidFill>
              </a:rPr>
              <a:t>2</a:t>
            </a:r>
            <a:endParaRPr kumimoji="0" lang="ko-KR" altLang="en-US" sz="1400" b="1" dirty="0">
              <a:solidFill>
                <a:srgbClr val="1F497D">
                  <a:lumMod val="75000"/>
                </a:srgbClr>
              </a:solidFill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5479193" y="1055028"/>
            <a:ext cx="4271700" cy="11374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marL="171450" indent="-72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1" dirty="0">
                <a:solidFill>
                  <a:prstClr val="black"/>
                </a:solidFill>
              </a:rPr>
              <a:t>건물기술에 따라 최종수요가 줄어들 게 됨</a:t>
            </a:r>
            <a:endParaRPr kumimoji="0" lang="en-US" altLang="ko-KR" b="1" dirty="0">
              <a:solidFill>
                <a:prstClr val="black"/>
              </a:solidFill>
            </a:endParaRPr>
          </a:p>
          <a:p>
            <a:pPr marL="171450" indent="-72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1" dirty="0">
                <a:solidFill>
                  <a:prstClr val="black"/>
                </a:solidFill>
              </a:rPr>
              <a:t>건물기술에 따라 에너지 사용은 절감되지만 다른 비용</a:t>
            </a:r>
            <a:r>
              <a:rPr kumimoji="0" lang="en-US" altLang="ko-KR" b="1" dirty="0">
                <a:solidFill>
                  <a:prstClr val="black"/>
                </a:solidFill>
              </a:rPr>
              <a:t>(</a:t>
            </a:r>
            <a:r>
              <a:rPr kumimoji="0" lang="ko-KR" altLang="en-US" b="1" dirty="0">
                <a:solidFill>
                  <a:prstClr val="black"/>
                </a:solidFill>
              </a:rPr>
              <a:t>난방 투자 및 운용비</a:t>
            </a:r>
            <a:r>
              <a:rPr kumimoji="0" lang="en-US" altLang="ko-KR" b="1" dirty="0">
                <a:solidFill>
                  <a:prstClr val="black"/>
                </a:solidFill>
              </a:rPr>
              <a:t>)</a:t>
            </a:r>
            <a:r>
              <a:rPr kumimoji="0" lang="ko-KR" altLang="en-US" b="1" dirty="0">
                <a:solidFill>
                  <a:prstClr val="black"/>
                </a:solidFill>
              </a:rPr>
              <a:t>도 같이 줄어드는 효과</a:t>
            </a:r>
            <a:endParaRPr kumimoji="0" lang="en-US" altLang="ko-KR" b="1" dirty="0">
              <a:solidFill>
                <a:prstClr val="black"/>
              </a:solidFill>
            </a:endParaRPr>
          </a:p>
          <a:p>
            <a:pPr marL="171450" indent="-72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1" dirty="0">
                <a:solidFill>
                  <a:prstClr val="black"/>
                </a:solidFill>
              </a:rPr>
              <a:t>비교적 단순한 </a:t>
            </a:r>
            <a:r>
              <a:rPr kumimoji="0" lang="ko-KR" altLang="en-US" b="1" dirty="0" smtClean="0">
                <a:solidFill>
                  <a:prstClr val="black"/>
                </a:solidFill>
              </a:rPr>
              <a:t>구조</a:t>
            </a:r>
            <a:endParaRPr kumimoji="0" lang="en-US" altLang="ko-KR" b="1" dirty="0" smtClean="0">
              <a:solidFill>
                <a:prstClr val="black"/>
              </a:solidFill>
            </a:endParaRPr>
          </a:p>
          <a:p>
            <a:pPr marL="171450" indent="-72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en-US" altLang="ko-KR" b="1" dirty="0" smtClean="0">
                <a:solidFill>
                  <a:prstClr val="black"/>
                </a:solidFill>
              </a:rPr>
              <a:t>UK MARKAL</a:t>
            </a:r>
            <a:endParaRPr kumimoji="0" lang="en-US" altLang="ko-KR" b="1" dirty="0">
              <a:solidFill>
                <a:prstClr val="black"/>
              </a:solidFill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5011140" y="1095136"/>
            <a:ext cx="500639" cy="8092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400" b="1" dirty="0" smtClean="0">
                <a:solidFill>
                  <a:srgbClr val="1F497D">
                    <a:lumMod val="75000"/>
                  </a:srgbClr>
                </a:solidFill>
              </a:rPr>
              <a:t>방법 </a:t>
            </a:r>
            <a:r>
              <a:rPr kumimoji="0" lang="en-US" altLang="ko-KR" sz="1400" b="1" dirty="0" smtClean="0">
                <a:solidFill>
                  <a:srgbClr val="1F497D">
                    <a:lumMod val="75000"/>
                  </a:srgbClr>
                </a:solidFill>
              </a:rPr>
              <a:t>3</a:t>
            </a:r>
            <a:endParaRPr kumimoji="0" lang="ko-KR" altLang="en-US" sz="1400" b="1" dirty="0">
              <a:solidFill>
                <a:srgbClr val="1F497D">
                  <a:lumMod val="75000"/>
                </a:srgbClr>
              </a:solidFill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5517837" y="3777929"/>
            <a:ext cx="4271700" cy="92141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marL="171450" indent="-72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1" dirty="0" smtClean="0">
                <a:solidFill>
                  <a:prstClr val="black"/>
                </a:solidFill>
              </a:rPr>
              <a:t>에너지용 </a:t>
            </a:r>
            <a:r>
              <a:rPr kumimoji="0" lang="ko-KR" altLang="en-US" b="1" dirty="0">
                <a:solidFill>
                  <a:prstClr val="black"/>
                </a:solidFill>
              </a:rPr>
              <a:t>공정과 비용공정을 분리</a:t>
            </a:r>
            <a:r>
              <a:rPr kumimoji="0" lang="en-US" altLang="ko-KR" b="1" dirty="0">
                <a:solidFill>
                  <a:prstClr val="black"/>
                </a:solidFill>
              </a:rPr>
              <a:t>, </a:t>
            </a:r>
            <a:r>
              <a:rPr kumimoji="0" lang="ko-KR" altLang="en-US" b="1" dirty="0">
                <a:solidFill>
                  <a:prstClr val="black"/>
                </a:solidFill>
              </a:rPr>
              <a:t>제약조건 추가</a:t>
            </a:r>
          </a:p>
          <a:p>
            <a:pPr marL="171450" indent="-72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1" dirty="0">
                <a:solidFill>
                  <a:prstClr val="black"/>
                </a:solidFill>
              </a:rPr>
              <a:t>에너지 소비량은 절감</a:t>
            </a:r>
            <a:r>
              <a:rPr kumimoji="0" lang="en-US" altLang="ko-KR" b="1" dirty="0">
                <a:solidFill>
                  <a:prstClr val="black"/>
                </a:solidFill>
              </a:rPr>
              <a:t>, </a:t>
            </a:r>
            <a:r>
              <a:rPr kumimoji="0" lang="ko-KR" altLang="en-US" b="1" dirty="0">
                <a:solidFill>
                  <a:prstClr val="black"/>
                </a:solidFill>
              </a:rPr>
              <a:t>다른 비용은 조절 </a:t>
            </a:r>
            <a:r>
              <a:rPr kumimoji="0" lang="ko-KR" altLang="en-US" b="1" dirty="0" smtClean="0">
                <a:solidFill>
                  <a:prstClr val="black"/>
                </a:solidFill>
              </a:rPr>
              <a:t>가능</a:t>
            </a:r>
            <a:endParaRPr kumimoji="0" lang="en-US" altLang="ko-KR" b="1" dirty="0" smtClean="0">
              <a:solidFill>
                <a:prstClr val="black"/>
              </a:solidFill>
            </a:endParaRPr>
          </a:p>
          <a:p>
            <a:pPr marL="171450" indent="-72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1" dirty="0" smtClean="0">
                <a:solidFill>
                  <a:prstClr val="black"/>
                </a:solidFill>
              </a:rPr>
              <a:t>기술과 제약식이 많아져 복잡한 구조</a:t>
            </a:r>
            <a:endParaRPr kumimoji="0" lang="en-US" altLang="ko-KR" b="1" dirty="0" smtClean="0">
              <a:solidFill>
                <a:prstClr val="black"/>
              </a:solidFill>
            </a:endParaRPr>
          </a:p>
          <a:p>
            <a:pPr marL="171450" indent="-72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1" dirty="0" smtClean="0">
                <a:solidFill>
                  <a:prstClr val="black"/>
                </a:solidFill>
              </a:rPr>
              <a:t>검증 필요</a:t>
            </a:r>
            <a:endParaRPr kumimoji="0" lang="en-US" altLang="ko-KR" b="1" dirty="0">
              <a:solidFill>
                <a:prstClr val="black"/>
              </a:solidFill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5049786" y="3818037"/>
            <a:ext cx="500639" cy="8092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400" b="1" dirty="0" smtClean="0">
                <a:solidFill>
                  <a:srgbClr val="1F497D">
                    <a:lumMod val="75000"/>
                  </a:srgbClr>
                </a:solidFill>
              </a:rPr>
              <a:t>방법 </a:t>
            </a:r>
            <a:r>
              <a:rPr kumimoji="0" lang="en-US" altLang="ko-KR" sz="1400" b="1" dirty="0">
                <a:solidFill>
                  <a:srgbClr val="1F497D">
                    <a:lumMod val="75000"/>
                  </a:srgbClr>
                </a:solidFill>
              </a:rPr>
              <a:t>4</a:t>
            </a:r>
            <a:endParaRPr kumimoji="0" lang="ko-KR" altLang="en-US" sz="1400" b="1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388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ko-KR" altLang="en-US" b="0" dirty="0"/>
              <a:t>가정상업 부문 </a:t>
            </a:r>
            <a:r>
              <a:rPr lang="en-US" altLang="ko-KR" b="0" dirty="0"/>
              <a:t>:</a:t>
            </a:r>
            <a:r>
              <a:rPr lang="ko-KR" altLang="en-US" b="0" dirty="0"/>
              <a:t> </a:t>
            </a:r>
            <a:r>
              <a:rPr lang="en-US" altLang="ko-KR" sz="2000" b="0" dirty="0" smtClean="0">
                <a:latin typeface="+mn-lt"/>
                <a:ea typeface="+mj-ea"/>
              </a:rPr>
              <a:t>Post-2020 </a:t>
            </a:r>
            <a:r>
              <a:rPr lang="ko-KR" altLang="en-US" sz="2000" b="0" dirty="0" smtClean="0">
                <a:latin typeface="+mn-lt"/>
                <a:ea typeface="+mj-ea"/>
              </a:rPr>
              <a:t>및 통합시스템개발을 위한 제언</a:t>
            </a:r>
            <a:r>
              <a:rPr lang="en-US" altLang="ko-KR" sz="2000" b="0" dirty="0" smtClean="0">
                <a:latin typeface="+mn-lt"/>
                <a:ea typeface="+mj-ea"/>
              </a:rPr>
              <a:t>-1</a:t>
            </a:r>
            <a:endParaRPr lang="ko-KR" altLang="en-US" b="0" dirty="0" smtClean="0">
              <a:latin typeface="+mn-lt"/>
              <a:ea typeface="+mj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단열효과의 구분에 따른 모형화 방법</a:t>
            </a:r>
          </a:p>
          <a:p>
            <a:pPr lvl="1"/>
            <a:r>
              <a:rPr lang="ko-KR" altLang="en-US" u="sng" dirty="0" smtClean="0"/>
              <a:t>단열 시공에 따라 보일러 투자비 및 운용비가 감소하는 경우</a:t>
            </a:r>
            <a:r>
              <a:rPr lang="en-US" altLang="ko-KR" u="sng" dirty="0" smtClean="0"/>
              <a:t>(</a:t>
            </a:r>
            <a:r>
              <a:rPr lang="ko-KR" altLang="en-US" u="sng" dirty="0" smtClean="0"/>
              <a:t>가정 소형 보일러</a:t>
            </a:r>
            <a:r>
              <a:rPr lang="en-US" altLang="ko-KR" u="sng" dirty="0" smtClean="0"/>
              <a:t>)</a:t>
            </a:r>
            <a:r>
              <a:rPr lang="ko-KR" altLang="en-US" u="sng" dirty="0" smtClean="0"/>
              <a:t> </a:t>
            </a:r>
            <a:r>
              <a:rPr lang="en-US" altLang="ko-KR" u="sng" dirty="0" smtClean="0"/>
              <a:t>: </a:t>
            </a:r>
            <a:r>
              <a:rPr lang="ko-KR" altLang="en-US" u="sng" dirty="0" smtClean="0"/>
              <a:t>방법 </a:t>
            </a:r>
            <a:r>
              <a:rPr lang="en-US" altLang="ko-KR" u="sng" dirty="0" smtClean="0"/>
              <a:t>1, </a:t>
            </a:r>
            <a:r>
              <a:rPr lang="ko-KR" altLang="en-US" u="sng" dirty="0" smtClean="0"/>
              <a:t>방법 </a:t>
            </a:r>
            <a:r>
              <a:rPr lang="en-US" altLang="ko-KR" u="sng" dirty="0" smtClean="0"/>
              <a:t>3</a:t>
            </a:r>
          </a:p>
          <a:p>
            <a:pPr lvl="1"/>
            <a:r>
              <a:rPr lang="ko-KR" altLang="en-US" u="sng" dirty="0" smtClean="0"/>
              <a:t>단열 시공에 따라 보일러 투자비 및 운용비가 감소하지 않는 경우 </a:t>
            </a:r>
            <a:r>
              <a:rPr lang="en-US" altLang="ko-KR" u="sng" dirty="0" smtClean="0"/>
              <a:t>(</a:t>
            </a:r>
            <a:r>
              <a:rPr lang="ko-KR" altLang="en-US" u="sng" dirty="0" smtClean="0"/>
              <a:t>집단난방</a:t>
            </a:r>
            <a:r>
              <a:rPr lang="en-US" altLang="ko-KR" u="sng" dirty="0" smtClean="0"/>
              <a:t>, </a:t>
            </a:r>
            <a:r>
              <a:rPr lang="ko-KR" altLang="en-US" u="sng" dirty="0" smtClean="0"/>
              <a:t>대형보일러</a:t>
            </a:r>
            <a:r>
              <a:rPr lang="en-US" altLang="ko-KR" u="sng" dirty="0" smtClean="0"/>
              <a:t>): </a:t>
            </a:r>
            <a:r>
              <a:rPr lang="ko-KR" altLang="en-US" u="sng" dirty="0" smtClean="0"/>
              <a:t>방법 </a:t>
            </a:r>
            <a:r>
              <a:rPr lang="en-US" altLang="ko-KR" u="sng" dirty="0" smtClean="0"/>
              <a:t>2, </a:t>
            </a:r>
            <a:r>
              <a:rPr lang="ko-KR" altLang="en-US" u="sng" dirty="0" smtClean="0"/>
              <a:t>방법 </a:t>
            </a:r>
            <a:r>
              <a:rPr lang="en-US" altLang="ko-KR" u="sng" dirty="0" smtClean="0"/>
              <a:t>4</a:t>
            </a:r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단열효과의 모형화를 위한 통합시스템 기능 제안 </a:t>
            </a:r>
            <a:r>
              <a:rPr lang="en-US" altLang="ko-KR" dirty="0" smtClean="0"/>
              <a:t>(</a:t>
            </a:r>
            <a:r>
              <a:rPr lang="ko-KR" altLang="en-US" dirty="0" smtClean="0"/>
              <a:t>방법 </a:t>
            </a:r>
            <a:r>
              <a:rPr lang="en-US" altLang="ko-KR" dirty="0" smtClean="0"/>
              <a:t>2 </a:t>
            </a:r>
            <a:r>
              <a:rPr lang="ko-KR" altLang="en-US" dirty="0" smtClean="0"/>
              <a:t>사용시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방법</a:t>
            </a:r>
            <a:r>
              <a:rPr lang="en-US" altLang="ko-KR" dirty="0" smtClean="0"/>
              <a:t>2</a:t>
            </a:r>
            <a:r>
              <a:rPr lang="ko-KR" altLang="en-US" dirty="0" smtClean="0"/>
              <a:t>를 사용하면 정확한 모델링을 할 수 있지만 난방기술과 단열기술을 쌍으로 묶어서 새로운 기술을 정의해야 하는 번거로움이 발생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통합시스템에서는 이를 쉽게 구현할 수 있는 기능을 지원해야 함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Umbrella </a:t>
            </a:r>
            <a:r>
              <a:rPr lang="ko-KR" altLang="en-US" dirty="0" smtClean="0"/>
              <a:t>기술 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65</a:t>
            </a:fld>
            <a:endParaRPr lang="en-US" altLang="ko-KR" dirty="0"/>
          </a:p>
        </p:txBody>
      </p:sp>
      <p:pic>
        <p:nvPicPr>
          <p:cNvPr id="1025" name="_x154386824" descr="EMB00002d502ac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9223" y="3866606"/>
            <a:ext cx="2589287" cy="23017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000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ko-KR" altLang="en-US" b="0" dirty="0"/>
              <a:t>가정상업 부문 </a:t>
            </a:r>
            <a:r>
              <a:rPr lang="en-US" altLang="ko-KR" b="0" dirty="0"/>
              <a:t>:</a:t>
            </a:r>
            <a:r>
              <a:rPr lang="ko-KR" altLang="en-US" b="0" dirty="0"/>
              <a:t> </a:t>
            </a:r>
            <a:r>
              <a:rPr lang="en-US" altLang="ko-KR" sz="2000" b="0" dirty="0" smtClean="0">
                <a:latin typeface="+mn-lt"/>
                <a:ea typeface="+mj-ea"/>
              </a:rPr>
              <a:t>Post-2020 </a:t>
            </a:r>
            <a:r>
              <a:rPr lang="ko-KR" altLang="en-US" sz="2000" b="0" dirty="0" smtClean="0">
                <a:latin typeface="+mn-lt"/>
                <a:ea typeface="+mj-ea"/>
              </a:rPr>
              <a:t>및 통합시스템개발을 위한 제언</a:t>
            </a:r>
            <a:r>
              <a:rPr lang="en-US" altLang="ko-KR" sz="2000" b="0" dirty="0" smtClean="0">
                <a:latin typeface="+mn-lt"/>
                <a:ea typeface="+mj-ea"/>
              </a:rPr>
              <a:t>-2</a:t>
            </a:r>
            <a:endParaRPr lang="ko-KR" altLang="en-US" b="0" dirty="0" smtClean="0">
              <a:latin typeface="+mn-lt"/>
              <a:ea typeface="+mj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기술 </a:t>
            </a:r>
            <a:r>
              <a:rPr lang="en-US" altLang="ko-KR" dirty="0" smtClean="0"/>
              <a:t>DB  </a:t>
            </a:r>
          </a:p>
          <a:p>
            <a:pPr lvl="1"/>
            <a:r>
              <a:rPr lang="en-US" altLang="ko-KR" dirty="0" smtClean="0"/>
              <a:t>US MARKAL</a:t>
            </a:r>
            <a:r>
              <a:rPr lang="ko-KR" altLang="en-US" dirty="0" smtClean="0"/>
              <a:t>의 기술 </a:t>
            </a:r>
            <a:r>
              <a:rPr lang="en-US" altLang="ko-KR" dirty="0" smtClean="0"/>
              <a:t>DB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매우 상세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특히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난방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온수 및 냉방과 관련된 기술로 가정부문에서 </a:t>
            </a:r>
            <a:r>
              <a:rPr lang="en-US" altLang="ko-KR" dirty="0" smtClean="0"/>
              <a:t>151</a:t>
            </a:r>
            <a:r>
              <a:rPr lang="ko-KR" altLang="en-US" dirty="0" smtClean="0"/>
              <a:t>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상업부문에서 </a:t>
            </a:r>
            <a:r>
              <a:rPr lang="en-US" altLang="ko-KR" dirty="0" smtClean="0"/>
              <a:t>152</a:t>
            </a:r>
            <a:r>
              <a:rPr lang="ko-KR" altLang="en-US" dirty="0" smtClean="0"/>
              <a:t>개의 수요 기술을 포함</a:t>
            </a:r>
            <a:endParaRPr lang="ko-KR" altLang="en-US" sz="1600" dirty="0" smtClean="0"/>
          </a:p>
          <a:p>
            <a:pPr lvl="1"/>
            <a:r>
              <a:rPr lang="ko-KR" altLang="en-US" dirty="0" err="1" smtClean="0"/>
              <a:t>연료별</a:t>
            </a:r>
            <a:r>
              <a:rPr lang="ko-KR" altLang="en-US" dirty="0" smtClean="0"/>
              <a:t> 대표 기술 및 기술개발에 따른 </a:t>
            </a:r>
            <a:r>
              <a:rPr lang="en-US" altLang="ko-KR" dirty="0" smtClean="0"/>
              <a:t>5</a:t>
            </a:r>
            <a:r>
              <a:rPr lang="ko-KR" altLang="en-US" dirty="0" smtClean="0"/>
              <a:t>년 간격의 신기술을 정의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(</a:t>
            </a:r>
            <a:r>
              <a:rPr lang="ko-KR" altLang="en-US" dirty="0" smtClean="0"/>
              <a:t>예 </a:t>
            </a:r>
            <a:r>
              <a:rPr lang="en-US" altLang="ko-KR" dirty="0" smtClean="0"/>
              <a:t>: LPG </a:t>
            </a:r>
            <a:r>
              <a:rPr lang="ko-KR" altLang="en-US" dirty="0" smtClean="0"/>
              <a:t>난방기로 </a:t>
            </a:r>
            <a:r>
              <a:rPr lang="en-US" altLang="ko-KR" dirty="0" smtClean="0"/>
              <a:t>1995</a:t>
            </a:r>
            <a:r>
              <a:rPr lang="ko-KR" altLang="en-US" dirty="0" smtClean="0"/>
              <a:t>년</a:t>
            </a:r>
            <a:r>
              <a:rPr lang="en-US" altLang="ko-KR" dirty="0" smtClean="0"/>
              <a:t>/2005</a:t>
            </a:r>
            <a:r>
              <a:rPr lang="ko-KR" altLang="en-US" dirty="0" smtClean="0"/>
              <a:t>년</a:t>
            </a:r>
            <a:r>
              <a:rPr lang="en-US" altLang="ko-KR" dirty="0" smtClean="0"/>
              <a:t>/2010</a:t>
            </a:r>
            <a:r>
              <a:rPr lang="ko-KR" altLang="en-US" dirty="0" smtClean="0"/>
              <a:t>년</a:t>
            </a:r>
            <a:r>
              <a:rPr lang="en-US" altLang="ko-KR" dirty="0" smtClean="0"/>
              <a:t>/2020</a:t>
            </a:r>
            <a:r>
              <a:rPr lang="ko-KR" altLang="en-US" dirty="0" smtClean="0"/>
              <a:t>년에 도입되는 </a:t>
            </a:r>
            <a:r>
              <a:rPr lang="en-US" altLang="ko-KR" dirty="0" smtClean="0"/>
              <a:t>4</a:t>
            </a:r>
            <a:r>
              <a:rPr lang="ko-KR" altLang="en-US" dirty="0" smtClean="0"/>
              <a:t>개의 기술을 포함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국내 기술 </a:t>
            </a:r>
            <a:r>
              <a:rPr lang="en-US" altLang="ko-KR" dirty="0" smtClean="0"/>
              <a:t>DB</a:t>
            </a:r>
            <a:r>
              <a:rPr lang="ko-KR" altLang="en-US" dirty="0" smtClean="0"/>
              <a:t>의 경우 상업부문의 냉방기를 제외하고는 연도별로 정의되는 신기술이 없음</a:t>
            </a:r>
            <a:endParaRPr lang="en-US" altLang="ko-KR" dirty="0" smtClean="0"/>
          </a:p>
          <a:p>
            <a:pPr lvl="1"/>
            <a:r>
              <a:rPr lang="ko-KR" altLang="en-US" u="sng" dirty="0" smtClean="0"/>
              <a:t>기술발전에 따른 신기술 정의 필요</a:t>
            </a:r>
            <a:endParaRPr lang="en-US" altLang="ko-KR" u="sng" dirty="0" smtClean="0"/>
          </a:p>
          <a:p>
            <a:pPr lvl="1"/>
            <a:r>
              <a:rPr lang="en-US" altLang="ko-KR" u="sng" dirty="0" smtClean="0"/>
              <a:t>Dominating </a:t>
            </a:r>
            <a:r>
              <a:rPr lang="ko-KR" altLang="en-US" u="sng" dirty="0" smtClean="0"/>
              <a:t>기술 존재 </a:t>
            </a:r>
            <a:endParaRPr lang="en-US" altLang="ko-KR" u="sng" dirty="0" smtClean="0"/>
          </a:p>
          <a:p>
            <a:pPr lvl="1"/>
            <a:r>
              <a:rPr lang="en-US" altLang="ko-KR" dirty="0" smtClean="0"/>
              <a:t>(</a:t>
            </a:r>
            <a:r>
              <a:rPr lang="ko-KR" altLang="en-US" dirty="0" smtClean="0"/>
              <a:t>예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가정 부문 신기술 냉방 기술로 </a:t>
            </a:r>
            <a:r>
              <a:rPr lang="en-US" altLang="ko-KR" dirty="0" smtClean="0"/>
              <a:t>10</a:t>
            </a:r>
            <a:r>
              <a:rPr lang="ko-KR" altLang="en-US" dirty="0" smtClean="0"/>
              <a:t>개가 정의되어 있지만 비용이 저렴하고 효율이 높은 기술이 존재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감축시나리오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국외 사례에서 감축시나리오 언급 없음</a:t>
            </a:r>
            <a:endParaRPr lang="en-US" altLang="ko-KR" dirty="0" smtClean="0"/>
          </a:p>
          <a:p>
            <a:pPr lvl="1"/>
            <a:r>
              <a:rPr lang="ko-KR" altLang="en-US" u="sng" dirty="0" smtClean="0"/>
              <a:t>실현 가능성 검토 필요</a:t>
            </a:r>
            <a:endParaRPr lang="en-US" altLang="ko-KR" u="sng" dirty="0" smtClean="0"/>
          </a:p>
          <a:p>
            <a:pPr lvl="1"/>
            <a:r>
              <a:rPr lang="ko-KR" altLang="en-US" u="sng" dirty="0" smtClean="0"/>
              <a:t>최근 정책이나 기술개발 동향 반영 </a:t>
            </a:r>
            <a:r>
              <a:rPr lang="en-US" altLang="ko-KR" dirty="0" smtClean="0"/>
              <a:t>(</a:t>
            </a:r>
            <a:r>
              <a:rPr lang="ko-KR" altLang="en-US" dirty="0" smtClean="0"/>
              <a:t>예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정부의 건물에너지 </a:t>
            </a:r>
            <a:r>
              <a:rPr lang="ko-KR" altLang="en-US" dirty="0" err="1" smtClean="0"/>
              <a:t>로드맵</a:t>
            </a:r>
            <a:r>
              <a:rPr lang="en-US" altLang="ko-KR" dirty="0" smtClean="0"/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66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0688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ko-KR" altLang="en-US" b="0" dirty="0"/>
              <a:t>가정상업 부문 </a:t>
            </a:r>
            <a:r>
              <a:rPr lang="en-US" altLang="ko-KR" b="0" dirty="0"/>
              <a:t>:</a:t>
            </a:r>
            <a:r>
              <a:rPr lang="ko-KR" altLang="en-US" b="0" dirty="0"/>
              <a:t> </a:t>
            </a:r>
            <a:r>
              <a:rPr lang="en-US" altLang="ko-KR" sz="2000" b="0" dirty="0" smtClean="0">
                <a:latin typeface="+mn-lt"/>
                <a:ea typeface="+mj-ea"/>
              </a:rPr>
              <a:t>Post-2020 </a:t>
            </a:r>
            <a:r>
              <a:rPr lang="ko-KR" altLang="en-US" sz="2000" b="0" dirty="0" smtClean="0">
                <a:latin typeface="+mn-lt"/>
                <a:ea typeface="+mj-ea"/>
              </a:rPr>
              <a:t>및 통합시스템개발을 위한 제언</a:t>
            </a:r>
            <a:r>
              <a:rPr lang="en-US" altLang="ko-KR" sz="2000" b="0" dirty="0" smtClean="0">
                <a:latin typeface="+mn-lt"/>
                <a:ea typeface="+mj-ea"/>
              </a:rPr>
              <a:t>-3</a:t>
            </a:r>
            <a:endParaRPr lang="ko-KR" altLang="en-US" b="0" dirty="0" smtClean="0">
              <a:latin typeface="+mn-lt"/>
              <a:ea typeface="+mj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ko-KR" altLang="en-US" dirty="0" smtClean="0"/>
              <a:t>가정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상업부문 특성을 고려하기 위한 추가 </a:t>
            </a:r>
            <a:r>
              <a:rPr lang="ko-KR" altLang="en-US" dirty="0" err="1" smtClean="0"/>
              <a:t>제약식</a:t>
            </a:r>
            <a:endParaRPr lang="ko-KR" altLang="en-US" dirty="0" smtClean="0"/>
          </a:p>
          <a:p>
            <a:pPr lvl="1"/>
            <a:r>
              <a:rPr lang="ko-KR" altLang="en-US" dirty="0" smtClean="0"/>
              <a:t>신규용량에 대한 </a:t>
            </a:r>
            <a:r>
              <a:rPr lang="ko-KR" altLang="en-US" dirty="0" err="1" smtClean="0"/>
              <a:t>제약식</a:t>
            </a:r>
            <a:r>
              <a:rPr lang="ko-KR" altLang="en-US" dirty="0" smtClean="0"/>
              <a:t> </a:t>
            </a:r>
            <a:r>
              <a:rPr lang="en-US" altLang="ko-KR" dirty="0" smtClean="0"/>
              <a:t>(flow </a:t>
            </a:r>
            <a:r>
              <a:rPr lang="ko-KR" altLang="en-US" dirty="0" smtClean="0"/>
              <a:t>기반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제약식</a:t>
            </a:r>
            <a:r>
              <a:rPr lang="en-US" altLang="ko-KR" dirty="0" smtClean="0"/>
              <a:t>)</a:t>
            </a:r>
          </a:p>
          <a:p>
            <a:pPr lvl="2"/>
            <a:r>
              <a:rPr lang="ko-KR" altLang="en-US" dirty="0" smtClean="0"/>
              <a:t>신축건물 효율향상 시나리오는 당해 년도에 신축되는 건물에 단열이 설치되는 비율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다른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제약식은</a:t>
            </a:r>
            <a:r>
              <a:rPr lang="ko-KR" altLang="en-US" dirty="0" smtClean="0"/>
              <a:t> </a:t>
            </a:r>
            <a:r>
              <a:rPr lang="en-US" altLang="ko-KR" dirty="0" smtClean="0"/>
              <a:t>Stock </a:t>
            </a:r>
            <a:r>
              <a:rPr lang="ko-KR" altLang="en-US" dirty="0" smtClean="0"/>
              <a:t>기반의 제약인데 반하여 신축건물 효율향상 시나리오는 </a:t>
            </a:r>
            <a:r>
              <a:rPr lang="en-US" altLang="ko-KR" dirty="0" smtClean="0"/>
              <a:t>Flow </a:t>
            </a:r>
            <a:r>
              <a:rPr lang="ko-KR" altLang="en-US" dirty="0" smtClean="0"/>
              <a:t>기반 시나리오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일부 모형에서는 </a:t>
            </a:r>
            <a:r>
              <a:rPr lang="en-US" altLang="ko-KR" dirty="0" smtClean="0"/>
              <a:t>stock</a:t>
            </a:r>
            <a:r>
              <a:rPr lang="ko-KR" altLang="en-US" dirty="0" smtClean="0"/>
              <a:t> 기반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제약식만</a:t>
            </a:r>
            <a:r>
              <a:rPr lang="ko-KR" altLang="en-US" dirty="0" smtClean="0"/>
              <a:t> 제공</a:t>
            </a:r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1"/>
            <a:r>
              <a:rPr lang="ko-KR" altLang="en-US" dirty="0" smtClean="0"/>
              <a:t>시장침투 </a:t>
            </a:r>
            <a:r>
              <a:rPr lang="ko-KR" altLang="en-US" dirty="0" err="1" smtClean="0"/>
              <a:t>제약식의</a:t>
            </a:r>
            <a:r>
              <a:rPr lang="ko-KR" altLang="en-US" dirty="0" smtClean="0"/>
              <a:t> 확장 필요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특정 기술의 너무 빠른 시장침투나 소멸을 방지</a:t>
            </a:r>
          </a:p>
          <a:p>
            <a:pPr lvl="2"/>
            <a:r>
              <a:rPr lang="ko-KR" altLang="en-US" dirty="0" smtClean="0"/>
              <a:t>특정 년도의 용량</a:t>
            </a:r>
            <a:r>
              <a:rPr lang="en-US" altLang="ko-KR" dirty="0" smtClean="0"/>
              <a:t>(</a:t>
            </a:r>
            <a:r>
              <a:rPr lang="ko-KR" altLang="en-US" dirty="0" smtClean="0"/>
              <a:t>또는 활동량</a:t>
            </a:r>
            <a:r>
              <a:rPr lang="en-US" altLang="ko-KR" dirty="0" smtClean="0"/>
              <a:t>)</a:t>
            </a:r>
            <a:r>
              <a:rPr lang="ko-KR" altLang="en-US" dirty="0" smtClean="0"/>
              <a:t>의 그 전년도 용량</a:t>
            </a:r>
            <a:r>
              <a:rPr lang="en-US" altLang="ko-KR" dirty="0" smtClean="0"/>
              <a:t>(</a:t>
            </a:r>
            <a:r>
              <a:rPr lang="ko-KR" altLang="en-US" dirty="0" smtClean="0"/>
              <a:t>또는 활동량</a:t>
            </a:r>
            <a:r>
              <a:rPr lang="en-US" altLang="ko-KR" dirty="0" smtClean="0"/>
              <a:t>)</a:t>
            </a:r>
            <a:r>
              <a:rPr lang="ko-KR" altLang="en-US" dirty="0" smtClean="0"/>
              <a:t>대한 선형 관계식으로 표현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여러 개의 기술에 대하여 시장침투 </a:t>
            </a:r>
            <a:r>
              <a:rPr lang="ko-KR" altLang="en-US" dirty="0" err="1" smtClean="0"/>
              <a:t>제약식을</a:t>
            </a:r>
            <a:r>
              <a:rPr lang="ko-KR" altLang="en-US" dirty="0" smtClean="0"/>
              <a:t> 설정할 수 있는 기능 지원 필요</a:t>
            </a:r>
            <a:endParaRPr lang="en-US" altLang="ko-KR" dirty="0" smtClean="0"/>
          </a:p>
          <a:p>
            <a:pPr lvl="2">
              <a:buNone/>
            </a:pPr>
            <a:r>
              <a:rPr lang="en-US" altLang="ko-KR" dirty="0" smtClean="0"/>
              <a:t>(</a:t>
            </a:r>
            <a:r>
              <a:rPr lang="ko-KR" altLang="en-US" dirty="0" smtClean="0"/>
              <a:t>예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가스보일러 및 </a:t>
            </a:r>
            <a:r>
              <a:rPr lang="ko-KR" altLang="en-US" dirty="0" err="1" smtClean="0"/>
              <a:t>콘덴싱</a:t>
            </a:r>
            <a:r>
              <a:rPr lang="ko-KR" altLang="en-US" dirty="0" smtClean="0"/>
              <a:t> 보일러의 시장확대율이 </a:t>
            </a:r>
            <a:r>
              <a:rPr lang="en-US" altLang="ko-KR" dirty="0" smtClean="0"/>
              <a:t>120%</a:t>
            </a:r>
            <a:r>
              <a:rPr lang="ko-KR" altLang="en-US" dirty="0" smtClean="0"/>
              <a:t>를 넘지 못한다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67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8260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+mn-lt"/>
                <a:ea typeface="+mj-ea"/>
              </a:rPr>
              <a:t>농축산</a:t>
            </a:r>
            <a:r>
              <a:rPr lang="ko-KR" altLang="en-US" b="0" dirty="0">
                <a:latin typeface="+mn-lt"/>
                <a:ea typeface="+mj-ea"/>
              </a:rPr>
              <a:t> 부문 </a:t>
            </a:r>
            <a:r>
              <a:rPr lang="en-US" altLang="ko-KR" b="0" dirty="0" smtClean="0">
                <a:latin typeface="+mn-lt"/>
                <a:ea typeface="+mj-ea"/>
              </a:rPr>
              <a:t>: </a:t>
            </a:r>
            <a:r>
              <a:rPr lang="ko-KR" altLang="en-US" b="0" dirty="0" err="1" smtClean="0">
                <a:latin typeface="+mn-lt"/>
                <a:ea typeface="+mj-ea"/>
              </a:rPr>
              <a:t>배출원</a:t>
            </a:r>
            <a:r>
              <a:rPr lang="en-US" altLang="ko-KR" b="0" dirty="0">
                <a:latin typeface="+mn-lt"/>
                <a:ea typeface="+mj-ea"/>
              </a:rPr>
              <a:t>, </a:t>
            </a:r>
            <a:r>
              <a:rPr lang="ko-KR" altLang="en-US" b="0" dirty="0">
                <a:latin typeface="+mn-lt"/>
                <a:ea typeface="+mj-ea"/>
              </a:rPr>
              <a:t>산정방법</a:t>
            </a:r>
            <a:r>
              <a:rPr lang="en-US" altLang="ko-KR" b="0" dirty="0">
                <a:latin typeface="+mn-lt"/>
                <a:ea typeface="+mj-ea"/>
              </a:rPr>
              <a:t>, </a:t>
            </a:r>
            <a:r>
              <a:rPr lang="ko-KR" altLang="en-US" b="0" dirty="0">
                <a:latin typeface="+mn-lt"/>
                <a:ea typeface="+mj-ea"/>
              </a:rPr>
              <a:t>감축기술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68</a:t>
            </a:fld>
            <a:endParaRPr lang="en-US" altLang="ko-K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46" y="1054100"/>
            <a:ext cx="8451668" cy="4915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328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+mn-lt"/>
                <a:ea typeface="+mj-ea"/>
              </a:rPr>
              <a:t>농축산</a:t>
            </a:r>
            <a:r>
              <a:rPr lang="ko-KR" altLang="en-US" b="0" dirty="0">
                <a:latin typeface="+mn-lt"/>
                <a:ea typeface="+mj-ea"/>
              </a:rPr>
              <a:t> 부문 </a:t>
            </a:r>
            <a:r>
              <a:rPr lang="en-US" altLang="ko-KR" b="0" dirty="0" smtClean="0">
                <a:latin typeface="+mn-lt"/>
                <a:ea typeface="+mj-ea"/>
              </a:rPr>
              <a:t>:</a:t>
            </a:r>
            <a:r>
              <a:rPr lang="ko-KR" altLang="en-US" b="0" dirty="0" smtClean="0">
                <a:latin typeface="+mn-lt"/>
                <a:ea typeface="+mj-ea"/>
              </a:rPr>
              <a:t> </a:t>
            </a:r>
            <a:r>
              <a:rPr lang="ko-KR" altLang="en-US" b="0" dirty="0">
                <a:latin typeface="+mn-lt"/>
                <a:ea typeface="+mj-ea"/>
              </a:rPr>
              <a:t>상향식 모형화 방안</a:t>
            </a:r>
            <a:r>
              <a:rPr lang="en-US" altLang="ko-KR" b="0" dirty="0">
                <a:latin typeface="+mn-lt"/>
                <a:ea typeface="+mj-ea"/>
              </a:rPr>
              <a:t>-</a:t>
            </a:r>
            <a:r>
              <a:rPr lang="ko-KR" altLang="en-US" b="0" dirty="0" err="1">
                <a:latin typeface="+mn-lt"/>
                <a:ea typeface="+mj-ea"/>
              </a:rPr>
              <a:t>비에너지</a:t>
            </a:r>
            <a:endParaRPr lang="ko-KR" altLang="en-US" b="0" dirty="0">
              <a:latin typeface="+mn-lt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69</a:t>
            </a:fld>
            <a:endParaRPr lang="en-US" altLang="ko-KR"/>
          </a:p>
        </p:txBody>
      </p:sp>
      <p:sp>
        <p:nvSpPr>
          <p:cNvPr id="5" name="내용 개체 틀 6"/>
          <p:cNvSpPr>
            <a:spLocks noGrp="1"/>
          </p:cNvSpPr>
          <p:nvPr>
            <p:ph idx="1"/>
          </p:nvPr>
        </p:nvSpPr>
        <p:spPr>
          <a:xfrm>
            <a:off x="685800" y="900113"/>
            <a:ext cx="8534400" cy="51958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err="1">
                <a:latin typeface="+mn-lt"/>
                <a:ea typeface="+mn-ea"/>
                <a:cs typeface="Arial" panose="020B0604020202020204" pitchFamily="34" charset="0"/>
              </a:rPr>
              <a:t>비에너지</a:t>
            </a: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 부분의 특성</a:t>
            </a:r>
            <a:endParaRPr lang="en-US" altLang="ko-KR" dirty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국내외에서 제공되는 감축수단이 모형에서 기술로 정의되기 보다는 활동량과 </a:t>
            </a: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배출계수에 영향</a:t>
            </a:r>
            <a:endParaRPr lang="en-US" altLang="ko-KR" dirty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감축수단이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비용 </a:t>
            </a: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보다는 정책적 요소에 의해 결정 </a:t>
            </a:r>
            <a:endParaRPr lang="en-US" altLang="ko-KR" dirty="0" smtClean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하위부분의 활동량 </a:t>
            </a: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및 배출계수에 영향을 미치는 </a:t>
            </a:r>
            <a:r>
              <a:rPr lang="ko-KR" altLang="en-US" dirty="0" err="1">
                <a:latin typeface="+mn-lt"/>
                <a:ea typeface="+mn-ea"/>
                <a:cs typeface="Arial" panose="020B0604020202020204" pitchFamily="34" charset="0"/>
              </a:rPr>
              <a:t>모수</a:t>
            </a: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 간에 상호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관련 및 영향</a:t>
            </a:r>
            <a:endParaRPr lang="en-US" altLang="ko-KR" dirty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상향식모형화 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  </a:t>
            </a: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비용 최적화 보다는 </a:t>
            </a:r>
            <a:r>
              <a:rPr lang="en-US" altLang="ko-KR" dirty="0">
                <a:latin typeface="+mn-lt"/>
                <a:ea typeface="+mn-ea"/>
                <a:cs typeface="Arial" panose="020B0604020202020204" pitchFamily="34" charset="0"/>
              </a:rPr>
              <a:t>BAU </a:t>
            </a: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및 비용 </a:t>
            </a:r>
            <a:r>
              <a:rPr lang="en-US" altLang="ko-KR" dirty="0">
                <a:latin typeface="+mn-lt"/>
                <a:ea typeface="+mn-ea"/>
                <a:cs typeface="Arial" panose="020B0604020202020204" pitchFamily="34" charset="0"/>
              </a:rPr>
              <a:t>Accounting </a:t>
            </a: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중점</a:t>
            </a:r>
            <a:endParaRPr lang="en-US" altLang="ko-KR" dirty="0">
              <a:latin typeface="+mn-lt"/>
              <a:ea typeface="+mn-ea"/>
              <a:cs typeface="Arial" panose="020B0604020202020204" pitchFamily="34" charset="0"/>
            </a:endParaRPr>
          </a:p>
          <a:p>
            <a:pPr marL="285750" lvl="1" indent="-285750">
              <a:lnSpc>
                <a:spcPct val="150000"/>
              </a:lnSpc>
              <a:buClr>
                <a:schemeClr val="tx2"/>
              </a:buClr>
              <a:buSzPct val="75000"/>
              <a:buFont typeface="Monotype Sorts" pitchFamily="2" charset="2"/>
              <a:buChar char="q"/>
            </a:pPr>
            <a:r>
              <a:rPr lang="ko-KR" altLang="en-US" b="1" dirty="0" err="1">
                <a:latin typeface="+mn-lt"/>
                <a:ea typeface="+mn-ea"/>
                <a:cs typeface="Arial" panose="020B0604020202020204" pitchFamily="34" charset="0"/>
              </a:rPr>
              <a:t>벼재배</a:t>
            </a:r>
            <a:r>
              <a:rPr lang="ko-KR" altLang="en-US" b="1" dirty="0">
                <a:latin typeface="+mn-lt"/>
                <a:ea typeface="+mn-ea"/>
                <a:cs typeface="Arial" panose="020B0604020202020204" pitchFamily="34" charset="0"/>
              </a:rPr>
              <a:t> 부분</a:t>
            </a:r>
            <a:r>
              <a:rPr lang="en-US" altLang="ko-KR" b="1" dirty="0">
                <a:latin typeface="+mn-lt"/>
                <a:ea typeface="+mn-ea"/>
                <a:cs typeface="Arial" panose="020B0604020202020204" pitchFamily="34" charset="0"/>
              </a:rPr>
              <a:t>(4C)</a:t>
            </a:r>
          </a:p>
          <a:p>
            <a:pPr lvl="1">
              <a:lnSpc>
                <a:spcPct val="150000"/>
              </a:lnSpc>
            </a:pPr>
            <a:endParaRPr lang="en-US" altLang="ko-KR" dirty="0" smtClean="0"/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4968025" y="3919829"/>
            <a:ext cx="0" cy="208823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" name="직선 연결선 6"/>
          <p:cNvCxnSpPr/>
          <p:nvPr/>
        </p:nvCxnSpPr>
        <p:spPr>
          <a:xfrm>
            <a:off x="7371474" y="3911808"/>
            <a:ext cx="0" cy="208823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8" name="직사각형 7"/>
          <p:cNvSpPr/>
          <p:nvPr/>
        </p:nvSpPr>
        <p:spPr>
          <a:xfrm>
            <a:off x="5667345" y="4079887"/>
            <a:ext cx="1008112" cy="360040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상시담수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&amp;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유기물시용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5667345" y="4583943"/>
            <a:ext cx="1008112" cy="360040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상시담수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&amp;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유기물무시용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5667345" y="5087999"/>
            <a:ext cx="1008112" cy="360040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간단관개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&amp;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유기물시용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5667345" y="5592055"/>
            <a:ext cx="1008112" cy="360040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간단관개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&amp;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유기물무시용</a:t>
            </a:r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4543200" y="4815084"/>
            <a:ext cx="396044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13" name="타원 12"/>
          <p:cNvSpPr/>
          <p:nvPr/>
        </p:nvSpPr>
        <p:spPr>
          <a:xfrm>
            <a:off x="4968025" y="3520028"/>
            <a:ext cx="864096" cy="416006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Market share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cxnSp>
        <p:nvCxnSpPr>
          <p:cNvPr id="14" name="직선 화살표 연결선 13"/>
          <p:cNvCxnSpPr>
            <a:endCxn id="8" idx="1"/>
          </p:cNvCxnSpPr>
          <p:nvPr/>
        </p:nvCxnSpPr>
        <p:spPr>
          <a:xfrm>
            <a:off x="4968025" y="4259907"/>
            <a:ext cx="699320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5" name="직선 화살표 연결선 14"/>
          <p:cNvCxnSpPr/>
          <p:nvPr/>
        </p:nvCxnSpPr>
        <p:spPr>
          <a:xfrm>
            <a:off x="4968025" y="4784814"/>
            <a:ext cx="699320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6" name="직선 화살표 연결선 15"/>
          <p:cNvCxnSpPr/>
          <p:nvPr/>
        </p:nvCxnSpPr>
        <p:spPr>
          <a:xfrm>
            <a:off x="4975647" y="5268019"/>
            <a:ext cx="699320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7" name="직선 화살표 연결선 16"/>
          <p:cNvCxnSpPr/>
          <p:nvPr/>
        </p:nvCxnSpPr>
        <p:spPr>
          <a:xfrm>
            <a:off x="4975647" y="5772075"/>
            <a:ext cx="699320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8" name="직선 연결선 17"/>
          <p:cNvCxnSpPr/>
          <p:nvPr/>
        </p:nvCxnSpPr>
        <p:spPr>
          <a:xfrm>
            <a:off x="7819564" y="3919829"/>
            <a:ext cx="0" cy="208823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9" name="직선 화살표 연결선 18"/>
          <p:cNvCxnSpPr/>
          <p:nvPr/>
        </p:nvCxnSpPr>
        <p:spPr>
          <a:xfrm>
            <a:off x="6675457" y="4171676"/>
            <a:ext cx="699320" cy="0"/>
          </a:xfrm>
          <a:prstGeom prst="straightConnector1">
            <a:avLst/>
          </a:prstGeom>
          <a:noFill/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ysDash"/>
            <a:headEnd type="none" w="med" len="med"/>
            <a:tailEnd type="triangle" w="med" len="med"/>
          </a:ln>
          <a:effectLst/>
        </p:spPr>
      </p:cxnSp>
      <p:cxnSp>
        <p:nvCxnSpPr>
          <p:cNvPr id="20" name="직선 화살표 연결선 19"/>
          <p:cNvCxnSpPr/>
          <p:nvPr/>
        </p:nvCxnSpPr>
        <p:spPr>
          <a:xfrm>
            <a:off x="6667436" y="4671631"/>
            <a:ext cx="699320" cy="0"/>
          </a:xfrm>
          <a:prstGeom prst="straightConnector1">
            <a:avLst/>
          </a:prstGeom>
          <a:noFill/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ysDash"/>
            <a:headEnd type="none" w="med" len="med"/>
            <a:tailEnd type="triangle" w="med" len="med"/>
          </a:ln>
          <a:effectLst/>
        </p:spPr>
      </p:cxnSp>
      <p:cxnSp>
        <p:nvCxnSpPr>
          <p:cNvPr id="21" name="직선 화살표 연결선 20"/>
          <p:cNvCxnSpPr/>
          <p:nvPr/>
        </p:nvCxnSpPr>
        <p:spPr>
          <a:xfrm>
            <a:off x="6675457" y="5179788"/>
            <a:ext cx="699320" cy="0"/>
          </a:xfrm>
          <a:prstGeom prst="straightConnector1">
            <a:avLst/>
          </a:prstGeom>
          <a:noFill/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ysDash"/>
            <a:headEnd type="none" w="med" len="med"/>
            <a:tailEnd type="triangle" w="med" len="med"/>
          </a:ln>
          <a:effectLst/>
        </p:spPr>
      </p:cxnSp>
      <p:cxnSp>
        <p:nvCxnSpPr>
          <p:cNvPr id="22" name="직선 화살표 연결선 21"/>
          <p:cNvCxnSpPr/>
          <p:nvPr/>
        </p:nvCxnSpPr>
        <p:spPr>
          <a:xfrm>
            <a:off x="6667436" y="5680632"/>
            <a:ext cx="699320" cy="0"/>
          </a:xfrm>
          <a:prstGeom prst="straightConnector1">
            <a:avLst/>
          </a:prstGeom>
          <a:noFill/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ysDash"/>
            <a:headEnd type="none" w="med" len="med"/>
            <a:tailEnd type="triangle" w="med" len="med"/>
          </a:ln>
          <a:effectLst/>
        </p:spPr>
      </p:cxnSp>
      <p:cxnSp>
        <p:nvCxnSpPr>
          <p:cNvPr id="23" name="직선 화살표 연결선 22"/>
          <p:cNvCxnSpPr/>
          <p:nvPr/>
        </p:nvCxnSpPr>
        <p:spPr>
          <a:xfrm>
            <a:off x="6672154" y="4368100"/>
            <a:ext cx="1147410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24" name="직선 화살표 연결선 23"/>
          <p:cNvCxnSpPr/>
          <p:nvPr/>
        </p:nvCxnSpPr>
        <p:spPr>
          <a:xfrm>
            <a:off x="6667436" y="4855933"/>
            <a:ext cx="1147410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25" name="직선 화살표 연결선 24"/>
          <p:cNvCxnSpPr/>
          <p:nvPr/>
        </p:nvCxnSpPr>
        <p:spPr>
          <a:xfrm>
            <a:off x="6667436" y="5359989"/>
            <a:ext cx="1147410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26" name="직선 화살표 연결선 25"/>
          <p:cNvCxnSpPr/>
          <p:nvPr/>
        </p:nvCxnSpPr>
        <p:spPr>
          <a:xfrm>
            <a:off x="6667436" y="5864045"/>
            <a:ext cx="1147410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7531532" y="3631797"/>
            <a:ext cx="1008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dirty="0" err="1" smtClean="0">
                <a:solidFill>
                  <a:prstClr val="black"/>
                </a:solidFill>
                <a:latin typeface="맑은 고딕"/>
                <a:ea typeface="맑은 고딕"/>
              </a:rPr>
              <a:t>벼재배면</a:t>
            </a:r>
            <a:r>
              <a:rPr kumimoji="0" lang="ko-KR" altLang="en-US" sz="1000" dirty="0" err="1">
                <a:solidFill>
                  <a:prstClr val="black"/>
                </a:solidFill>
                <a:latin typeface="맑은 고딕"/>
                <a:ea typeface="맑은 고딕"/>
              </a:rPr>
              <a:t>적</a:t>
            </a:r>
            <a:endParaRPr kumimoji="0" lang="ko-KR" altLang="en-US" sz="10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23547" y="3639818"/>
            <a:ext cx="4799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dirty="0" smtClean="0">
                <a:solidFill>
                  <a:prstClr val="black"/>
                </a:solidFill>
                <a:latin typeface="맑은 고딕"/>
                <a:ea typeface="맑은 고딕"/>
              </a:rPr>
              <a:t>메</a:t>
            </a:r>
            <a:r>
              <a:rPr kumimoji="0" lang="ko-KR" altLang="en-US" sz="1000" dirty="0">
                <a:solidFill>
                  <a:prstClr val="black"/>
                </a:solidFill>
                <a:latin typeface="맑은 고딕"/>
                <a:ea typeface="맑은 고딕"/>
              </a:rPr>
              <a:t>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269" y="4067669"/>
            <a:ext cx="3863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간단관개 면적</a:t>
            </a:r>
            <a:r>
              <a:rPr lang="en-US" altLang="ko-KR" sz="1400" dirty="0" smtClean="0"/>
              <a:t>: RES</a:t>
            </a:r>
            <a:r>
              <a:rPr lang="ko-KR" altLang="en-US" sz="1400" dirty="0" smtClean="0"/>
              <a:t>에 기술 반영 가능</a:t>
            </a:r>
            <a:endParaRPr lang="en-US" altLang="ko-KR" sz="1400" dirty="0" smtClean="0"/>
          </a:p>
          <a:p>
            <a:r>
              <a:rPr lang="ko-KR" altLang="en-US" sz="1400" dirty="0" smtClean="0"/>
              <a:t>화학비료 사용 절감</a:t>
            </a:r>
            <a:r>
              <a:rPr lang="en-US" altLang="ko-KR" sz="1400" dirty="0" smtClean="0"/>
              <a:t>: </a:t>
            </a:r>
            <a:r>
              <a:rPr lang="ko-KR" altLang="en-US" sz="1400" dirty="0" err="1" smtClean="0"/>
              <a:t>모수</a:t>
            </a:r>
            <a:r>
              <a:rPr lang="ko-KR" altLang="en-US" sz="1400" dirty="0" smtClean="0"/>
              <a:t> 또는 활동량에 반영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96542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+mn-lt"/>
                <a:ea typeface="+mj-ea"/>
              </a:rPr>
              <a:t>농축산</a:t>
            </a:r>
            <a:r>
              <a:rPr lang="ko-KR" altLang="en-US" b="0" dirty="0">
                <a:latin typeface="+mn-lt"/>
                <a:ea typeface="+mj-ea"/>
              </a:rPr>
              <a:t> 부문 </a:t>
            </a:r>
            <a:r>
              <a:rPr lang="en-US" altLang="ko-KR" b="0" dirty="0" smtClean="0">
                <a:latin typeface="+mn-lt"/>
                <a:ea typeface="+mj-ea"/>
              </a:rPr>
              <a:t>:</a:t>
            </a:r>
            <a:r>
              <a:rPr lang="ko-KR" altLang="en-US" b="0" dirty="0" smtClean="0">
                <a:latin typeface="+mn-lt"/>
                <a:ea typeface="+mj-ea"/>
              </a:rPr>
              <a:t> </a:t>
            </a:r>
            <a:r>
              <a:rPr lang="ko-KR" altLang="en-US" b="0" dirty="0">
                <a:latin typeface="+mn-lt"/>
                <a:ea typeface="+mj-ea"/>
              </a:rPr>
              <a:t>상향식 모형화 방안</a:t>
            </a:r>
            <a:r>
              <a:rPr lang="en-US" altLang="ko-KR" b="0" dirty="0">
                <a:latin typeface="+mn-lt"/>
                <a:ea typeface="+mj-ea"/>
              </a:rPr>
              <a:t>-</a:t>
            </a:r>
            <a:r>
              <a:rPr lang="ko-KR" altLang="en-US" b="0" dirty="0" err="1">
                <a:latin typeface="+mn-lt"/>
                <a:ea typeface="+mj-ea"/>
              </a:rPr>
              <a:t>비에너지</a:t>
            </a:r>
            <a:endParaRPr lang="ko-KR" altLang="en-US" b="0" dirty="0">
              <a:latin typeface="+mn-lt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70</a:t>
            </a:fld>
            <a:endParaRPr lang="en-US" altLang="ko-KR" dirty="0"/>
          </a:p>
        </p:txBody>
      </p:sp>
      <p:sp>
        <p:nvSpPr>
          <p:cNvPr id="5" name="내용 개체 틀 6"/>
          <p:cNvSpPr>
            <a:spLocks noGrp="1"/>
          </p:cNvSpPr>
          <p:nvPr>
            <p:ph idx="1"/>
          </p:nvPr>
        </p:nvSpPr>
        <p:spPr>
          <a:xfrm>
            <a:off x="685799" y="900113"/>
            <a:ext cx="8902337" cy="51958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장내발효</a:t>
            </a:r>
            <a:r>
              <a:rPr lang="en-US" altLang="ko-KR" dirty="0">
                <a:latin typeface="+mn-lt"/>
                <a:ea typeface="+mn-ea"/>
                <a:cs typeface="Arial" panose="020B0604020202020204" pitchFamily="34" charset="0"/>
              </a:rPr>
              <a:t>(4A)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주요</a:t>
            </a:r>
            <a:r>
              <a:rPr lang="en-US" altLang="ko-KR" dirty="0"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감축수단</a:t>
            </a:r>
            <a:r>
              <a:rPr lang="en-US" altLang="ko-KR" dirty="0">
                <a:latin typeface="+mn-lt"/>
                <a:ea typeface="+mn-ea"/>
                <a:cs typeface="Arial" panose="020B0604020202020204" pitchFamily="34" charset="0"/>
              </a:rPr>
              <a:t>:  </a:t>
            </a: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양질조사료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공급</a:t>
            </a:r>
            <a:endParaRPr lang="en-US" altLang="ko-KR" dirty="0" smtClean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가축 별 일반 및 조사료 공급량 자료 없음 </a:t>
            </a:r>
            <a:r>
              <a:rPr lang="en-US" altLang="ko-KR" dirty="0"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전체 양질 조사료 공급량 자료만 이용가능</a:t>
            </a:r>
            <a:endParaRPr lang="en-US" altLang="ko-KR" dirty="0" smtClean="0">
              <a:latin typeface="+mn-lt"/>
              <a:ea typeface="+mn-ea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endParaRPr lang="ko-KR" altLang="en-US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>
            <a:off x="680099" y="2900643"/>
            <a:ext cx="0" cy="208823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40" name="직선 화살표 연결선 39"/>
          <p:cNvCxnSpPr/>
          <p:nvPr/>
        </p:nvCxnSpPr>
        <p:spPr>
          <a:xfrm>
            <a:off x="255274" y="4151491"/>
            <a:ext cx="396044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41" name="직사각형 40"/>
          <p:cNvSpPr/>
          <p:nvPr/>
        </p:nvSpPr>
        <p:spPr>
          <a:xfrm>
            <a:off x="1263386" y="3956700"/>
            <a:ext cx="1008112" cy="360040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가축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Dummy Tech.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cxnSp>
        <p:nvCxnSpPr>
          <p:cNvPr id="42" name="직선 화살표 연결선 41"/>
          <p:cNvCxnSpPr/>
          <p:nvPr/>
        </p:nvCxnSpPr>
        <p:spPr>
          <a:xfrm>
            <a:off x="651318" y="4151492"/>
            <a:ext cx="612068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43" name="직선 연결선 42"/>
          <p:cNvCxnSpPr/>
          <p:nvPr/>
        </p:nvCxnSpPr>
        <p:spPr>
          <a:xfrm>
            <a:off x="2984591" y="2885872"/>
            <a:ext cx="0" cy="208823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44" name="직선 화살표 연결선 43"/>
          <p:cNvCxnSpPr/>
          <p:nvPr/>
        </p:nvCxnSpPr>
        <p:spPr>
          <a:xfrm>
            <a:off x="2271498" y="4047580"/>
            <a:ext cx="699320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2791596" y="2632465"/>
            <a:ext cx="4799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dirty="0" smtClean="0">
                <a:solidFill>
                  <a:prstClr val="black"/>
                </a:solidFill>
                <a:latin typeface="맑은 고딕"/>
                <a:ea typeface="맑은 고딕"/>
              </a:rPr>
              <a:t>메</a:t>
            </a:r>
            <a:r>
              <a:rPr kumimoji="0" lang="ko-KR" altLang="en-US" sz="1000" dirty="0">
                <a:solidFill>
                  <a:prstClr val="black"/>
                </a:solidFill>
                <a:latin typeface="맑은 고딕"/>
                <a:ea typeface="맑은 고딕"/>
              </a:rPr>
              <a:t>탄</a:t>
            </a:r>
          </a:p>
        </p:txBody>
      </p:sp>
      <p:cxnSp>
        <p:nvCxnSpPr>
          <p:cNvPr id="46" name="직선 연결선 45"/>
          <p:cNvCxnSpPr/>
          <p:nvPr/>
        </p:nvCxnSpPr>
        <p:spPr>
          <a:xfrm>
            <a:off x="3311823" y="2860719"/>
            <a:ext cx="0" cy="208823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47" name="직선 화살표 연결선 46"/>
          <p:cNvCxnSpPr/>
          <p:nvPr/>
        </p:nvCxnSpPr>
        <p:spPr>
          <a:xfrm>
            <a:off x="2271498" y="4196787"/>
            <a:ext cx="1040325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3168350" y="2638380"/>
            <a:ext cx="1008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dirty="0" smtClean="0">
                <a:solidFill>
                  <a:prstClr val="black"/>
                </a:solidFill>
                <a:latin typeface="맑은 고딕"/>
                <a:ea typeface="맑은 고딕"/>
              </a:rPr>
              <a:t>사육두수</a:t>
            </a:r>
            <a:endParaRPr kumimoji="0" lang="ko-KR" altLang="en-US" sz="10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4798206" y="2848181"/>
            <a:ext cx="0" cy="208823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0" name="직선 화살표 연결선 49"/>
          <p:cNvCxnSpPr/>
          <p:nvPr/>
        </p:nvCxnSpPr>
        <p:spPr>
          <a:xfrm>
            <a:off x="4373381" y="4099029"/>
            <a:ext cx="396044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51" name="직사각형 50"/>
          <p:cNvSpPr/>
          <p:nvPr/>
        </p:nvSpPr>
        <p:spPr>
          <a:xfrm>
            <a:off x="5381493" y="3904238"/>
            <a:ext cx="1008112" cy="360040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가축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Dummy Tech.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cxnSp>
        <p:nvCxnSpPr>
          <p:cNvPr id="52" name="직선 연결선 51"/>
          <p:cNvCxnSpPr/>
          <p:nvPr/>
        </p:nvCxnSpPr>
        <p:spPr>
          <a:xfrm>
            <a:off x="7095167" y="2848181"/>
            <a:ext cx="0" cy="208823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3" name="직선 화살표 연결선 52"/>
          <p:cNvCxnSpPr/>
          <p:nvPr/>
        </p:nvCxnSpPr>
        <p:spPr>
          <a:xfrm>
            <a:off x="4769425" y="4099030"/>
            <a:ext cx="612068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54" name="직선 연결선 53"/>
          <p:cNvCxnSpPr/>
          <p:nvPr/>
        </p:nvCxnSpPr>
        <p:spPr>
          <a:xfrm>
            <a:off x="8766050" y="2833410"/>
            <a:ext cx="0" cy="208823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5" name="직선 화살표 연결선 54"/>
          <p:cNvCxnSpPr/>
          <p:nvPr/>
        </p:nvCxnSpPr>
        <p:spPr>
          <a:xfrm>
            <a:off x="6389605" y="3995118"/>
            <a:ext cx="699320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6505638" y="2560330"/>
            <a:ext cx="12156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smtClean="0">
                <a:solidFill>
                  <a:prstClr val="black"/>
                </a:solidFill>
                <a:latin typeface="맑은 고딕"/>
                <a:ea typeface="맑은 고딕"/>
              </a:rPr>
              <a:t>사료 섭취 </a:t>
            </a:r>
            <a:r>
              <a:rPr kumimoji="0" lang="ko-KR" altLang="en-US" sz="1000" dirty="0" smtClean="0">
                <a:solidFill>
                  <a:prstClr val="black"/>
                </a:solidFill>
                <a:latin typeface="맑은 고딕"/>
                <a:ea typeface="맑은 고딕"/>
              </a:rPr>
              <a:t>요구량</a:t>
            </a:r>
            <a:endParaRPr kumimoji="0" lang="ko-KR" altLang="en-US" sz="10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7433721" y="3131478"/>
            <a:ext cx="1008112" cy="360040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일반사료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Tech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7433721" y="3583036"/>
            <a:ext cx="1008112" cy="360040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고급사료 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Tech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cxnSp>
        <p:nvCxnSpPr>
          <p:cNvPr id="59" name="직선 화살표 연결선 58"/>
          <p:cNvCxnSpPr>
            <a:endCxn id="57" idx="1"/>
          </p:cNvCxnSpPr>
          <p:nvPr/>
        </p:nvCxnSpPr>
        <p:spPr>
          <a:xfrm>
            <a:off x="7108124" y="3305128"/>
            <a:ext cx="325597" cy="637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60" name="직선 화살표 연결선 59"/>
          <p:cNvCxnSpPr/>
          <p:nvPr/>
        </p:nvCxnSpPr>
        <p:spPr>
          <a:xfrm>
            <a:off x="7118032" y="3756597"/>
            <a:ext cx="325597" cy="637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61" name="직선 화살표 연결선 60"/>
          <p:cNvCxnSpPr/>
          <p:nvPr/>
        </p:nvCxnSpPr>
        <p:spPr>
          <a:xfrm>
            <a:off x="8441833" y="3311498"/>
            <a:ext cx="325597" cy="637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62" name="직선 화살표 연결선 61"/>
          <p:cNvCxnSpPr/>
          <p:nvPr/>
        </p:nvCxnSpPr>
        <p:spPr>
          <a:xfrm>
            <a:off x="8456005" y="3779098"/>
            <a:ext cx="325597" cy="637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63" name="TextBox 62"/>
          <p:cNvSpPr txBox="1"/>
          <p:nvPr/>
        </p:nvSpPr>
        <p:spPr>
          <a:xfrm>
            <a:off x="8573055" y="2580003"/>
            <a:ext cx="4799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dirty="0" smtClean="0">
                <a:solidFill>
                  <a:prstClr val="black"/>
                </a:solidFill>
                <a:latin typeface="맑은 고딕"/>
                <a:ea typeface="맑은 고딕"/>
              </a:rPr>
              <a:t>메</a:t>
            </a:r>
            <a:r>
              <a:rPr kumimoji="0" lang="ko-KR" altLang="en-US" sz="1000" dirty="0">
                <a:solidFill>
                  <a:prstClr val="black"/>
                </a:solidFill>
                <a:latin typeface="맑은 고딕"/>
                <a:ea typeface="맑은 고딕"/>
              </a:rPr>
              <a:t>탄</a:t>
            </a:r>
          </a:p>
        </p:txBody>
      </p:sp>
      <p:cxnSp>
        <p:nvCxnSpPr>
          <p:cNvPr id="64" name="직선 연결선 63"/>
          <p:cNvCxnSpPr/>
          <p:nvPr/>
        </p:nvCxnSpPr>
        <p:spPr>
          <a:xfrm>
            <a:off x="9093282" y="2808257"/>
            <a:ext cx="0" cy="2088232"/>
          </a:xfrm>
          <a:prstGeom prst="lin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65" name="직선 화살표 연결선 64"/>
          <p:cNvCxnSpPr/>
          <p:nvPr/>
        </p:nvCxnSpPr>
        <p:spPr>
          <a:xfrm>
            <a:off x="6389605" y="4144325"/>
            <a:ext cx="2663443" cy="0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66" name="TextBox 65"/>
          <p:cNvSpPr txBox="1"/>
          <p:nvPr/>
        </p:nvSpPr>
        <p:spPr>
          <a:xfrm>
            <a:off x="8949809" y="2585918"/>
            <a:ext cx="1008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dirty="0" smtClean="0">
                <a:solidFill>
                  <a:prstClr val="black"/>
                </a:solidFill>
                <a:latin typeface="맑은 고딕"/>
                <a:ea typeface="맑은 고딕"/>
              </a:rPr>
              <a:t>사육두수</a:t>
            </a:r>
            <a:endParaRPr kumimoji="0" lang="ko-KR" altLang="en-US" sz="10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57351" y="5473340"/>
            <a:ext cx="2354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감축수단이 고려되지 않는 경우</a:t>
            </a:r>
            <a:endParaRPr lang="ko-KR" altLang="en-US"/>
          </a:p>
        </p:txBody>
      </p:sp>
      <p:sp>
        <p:nvSpPr>
          <p:cNvPr id="67" name="TextBox 66"/>
          <p:cNvSpPr txBox="1"/>
          <p:nvPr/>
        </p:nvSpPr>
        <p:spPr>
          <a:xfrm>
            <a:off x="5855632" y="5471665"/>
            <a:ext cx="2354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감축수단이 고려되는 경우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60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+mn-lt"/>
                <a:ea typeface="+mj-ea"/>
              </a:rPr>
              <a:t>농축산</a:t>
            </a:r>
            <a:r>
              <a:rPr lang="ko-KR" altLang="en-US" b="0" dirty="0">
                <a:latin typeface="+mn-lt"/>
                <a:ea typeface="+mj-ea"/>
              </a:rPr>
              <a:t> 부문 </a:t>
            </a:r>
            <a:r>
              <a:rPr lang="en-US" altLang="ko-KR" b="0" dirty="0" smtClean="0">
                <a:latin typeface="+mn-lt"/>
                <a:ea typeface="+mj-ea"/>
              </a:rPr>
              <a:t>:</a:t>
            </a:r>
            <a:r>
              <a:rPr lang="ko-KR" altLang="en-US" b="0" dirty="0" smtClean="0">
                <a:latin typeface="+mn-lt"/>
                <a:ea typeface="+mj-ea"/>
              </a:rPr>
              <a:t> </a:t>
            </a:r>
            <a:r>
              <a:rPr lang="ko-KR" altLang="en-US" b="0" dirty="0">
                <a:latin typeface="+mn-lt"/>
                <a:ea typeface="+mj-ea"/>
              </a:rPr>
              <a:t>상향식 모형화 방안</a:t>
            </a:r>
            <a:r>
              <a:rPr lang="en-US" altLang="ko-KR" b="0" dirty="0">
                <a:latin typeface="+mn-lt"/>
                <a:ea typeface="+mj-ea"/>
              </a:rPr>
              <a:t>-</a:t>
            </a:r>
            <a:r>
              <a:rPr lang="ko-KR" altLang="en-US" b="0" dirty="0" err="1">
                <a:latin typeface="+mn-lt"/>
                <a:ea typeface="+mj-ea"/>
              </a:rPr>
              <a:t>비에너지</a:t>
            </a:r>
            <a:endParaRPr lang="ko-KR" altLang="en-US" b="0" dirty="0">
              <a:latin typeface="+mn-lt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71</a:t>
            </a:fld>
            <a:endParaRPr lang="en-US" altLang="ko-KR" dirty="0"/>
          </a:p>
        </p:txBody>
      </p:sp>
      <p:sp>
        <p:nvSpPr>
          <p:cNvPr id="5" name="내용 개체 틀 6"/>
          <p:cNvSpPr>
            <a:spLocks noGrp="1"/>
          </p:cNvSpPr>
          <p:nvPr>
            <p:ph idx="1"/>
          </p:nvPr>
        </p:nvSpPr>
        <p:spPr>
          <a:xfrm>
            <a:off x="685800" y="900113"/>
            <a:ext cx="8534400" cy="51958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분뇨처리</a:t>
            </a:r>
            <a:r>
              <a:rPr lang="en-US" altLang="ko-KR" dirty="0">
                <a:latin typeface="+mn-lt"/>
                <a:ea typeface="+mn-ea"/>
                <a:cs typeface="Arial" panose="020B0604020202020204" pitchFamily="34" charset="0"/>
              </a:rPr>
              <a:t>(4B)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주요</a:t>
            </a:r>
            <a:r>
              <a:rPr lang="en-US" altLang="ko-KR" dirty="0"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감축수단</a:t>
            </a:r>
            <a:r>
              <a:rPr lang="en-US" altLang="ko-KR" dirty="0">
                <a:latin typeface="+mn-lt"/>
                <a:ea typeface="+mn-ea"/>
                <a:cs typeface="Arial" panose="020B0604020202020204" pitchFamily="34" charset="0"/>
              </a:rPr>
              <a:t>:  </a:t>
            </a: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가축분뇨 자원화 및 에너지화  </a:t>
            </a:r>
            <a:r>
              <a:rPr lang="en-US" altLang="ko-KR" dirty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에너지 부분과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연계</a:t>
            </a:r>
            <a:endParaRPr lang="en-US" altLang="ko-KR" dirty="0" smtClean="0">
              <a:latin typeface="+mn-lt"/>
              <a:ea typeface="+mn-ea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현 감축수단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기술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의 설비 단위 및 효과 단위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설비 대수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, CO2e/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대</a:t>
            </a:r>
            <a:endParaRPr lang="en-US" altLang="ko-KR" dirty="0" smtClean="0">
              <a:latin typeface="+mn-lt"/>
              <a:ea typeface="+mn-ea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개선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가축 별 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발생 분뇨를 자원화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에너지화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 처리 등으로 구분 </a:t>
            </a:r>
            <a:endParaRPr lang="en-US" altLang="ko-KR" dirty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2730143"/>
            <a:ext cx="6889750" cy="1724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4611190"/>
            <a:ext cx="6998970" cy="1658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4503" y="3396350"/>
            <a:ext cx="17112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현 감축수단  반영</a:t>
            </a:r>
            <a:endParaRPr lang="ko-KR" altLang="en-US" dirty="0"/>
          </a:p>
        </p:txBody>
      </p:sp>
      <p:sp>
        <p:nvSpPr>
          <p:cNvPr id="91" name="TextBox 90"/>
          <p:cNvSpPr txBox="1"/>
          <p:nvPr/>
        </p:nvSpPr>
        <p:spPr>
          <a:xfrm>
            <a:off x="104503" y="5367161"/>
            <a:ext cx="17112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개선 대안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854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+mn-lt"/>
                <a:ea typeface="+mj-ea"/>
              </a:rPr>
              <a:t>농축산</a:t>
            </a:r>
            <a:r>
              <a:rPr lang="ko-KR" altLang="en-US" b="0" dirty="0">
                <a:latin typeface="+mn-lt"/>
                <a:ea typeface="+mj-ea"/>
              </a:rPr>
              <a:t> 부문 </a:t>
            </a:r>
            <a:r>
              <a:rPr lang="en-US" altLang="ko-KR" b="0" dirty="0" smtClean="0">
                <a:latin typeface="+mn-lt"/>
                <a:ea typeface="+mj-ea"/>
              </a:rPr>
              <a:t>:</a:t>
            </a:r>
            <a:r>
              <a:rPr lang="ko-KR" altLang="en-US" b="0" dirty="0" smtClean="0">
                <a:latin typeface="+mn-lt"/>
                <a:ea typeface="+mj-ea"/>
              </a:rPr>
              <a:t> </a:t>
            </a:r>
            <a:r>
              <a:rPr lang="ko-KR" altLang="en-US" b="0" dirty="0">
                <a:latin typeface="+mn-lt"/>
                <a:ea typeface="+mj-ea"/>
              </a:rPr>
              <a:t>상향식 모형화 방안</a:t>
            </a:r>
            <a:r>
              <a:rPr lang="en-US" altLang="ko-KR" b="0" dirty="0">
                <a:latin typeface="+mn-lt"/>
                <a:ea typeface="+mj-ea"/>
              </a:rPr>
              <a:t>-</a:t>
            </a:r>
            <a:r>
              <a:rPr lang="ko-KR" altLang="en-US" b="0" dirty="0" err="1">
                <a:latin typeface="+mn-lt"/>
                <a:ea typeface="+mj-ea"/>
              </a:rPr>
              <a:t>비에너지</a:t>
            </a:r>
            <a:endParaRPr lang="ko-KR" altLang="en-US" b="0" dirty="0">
              <a:latin typeface="+mn-lt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72</a:t>
            </a:fld>
            <a:endParaRPr lang="en-US" altLang="ko-KR" dirty="0"/>
          </a:p>
        </p:txBody>
      </p:sp>
      <p:sp>
        <p:nvSpPr>
          <p:cNvPr id="5" name="내용 개체 틀 6"/>
          <p:cNvSpPr>
            <a:spLocks noGrp="1"/>
          </p:cNvSpPr>
          <p:nvPr>
            <p:ph idx="1"/>
          </p:nvPr>
        </p:nvSpPr>
        <p:spPr>
          <a:xfrm>
            <a:off x="685800" y="900113"/>
            <a:ext cx="8534400" cy="51958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농경지토양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</a:rPr>
              <a:t>(4D)</a:t>
            </a:r>
            <a:endParaRPr lang="en-US" altLang="ko-KR" dirty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주요</a:t>
            </a:r>
            <a:r>
              <a:rPr lang="en-US" altLang="ko-KR" dirty="0"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감축수단</a:t>
            </a:r>
            <a:r>
              <a:rPr lang="en-US" altLang="ko-KR" dirty="0">
                <a:latin typeface="+mn-lt"/>
                <a:ea typeface="+mn-ea"/>
                <a:cs typeface="Arial" panose="020B0604020202020204" pitchFamily="34" charset="0"/>
              </a:rPr>
              <a:t>: 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화학비료 절감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가축분뇨 에너지화 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dirty="0" err="1" smtClean="0">
                <a:latin typeface="+mn-lt"/>
                <a:ea typeface="+mn-ea"/>
                <a:cs typeface="Arial" panose="020B0604020202020204" pitchFamily="34" charset="0"/>
              </a:rPr>
              <a:t>작물잔사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  </a:t>
            </a:r>
            <a:r>
              <a:rPr lang="ko-KR" altLang="en-US" dirty="0" err="1" smtClean="0">
                <a:latin typeface="+mn-lt"/>
                <a:ea typeface="+mn-ea"/>
                <a:cs typeface="Arial" panose="020B0604020202020204" pitchFamily="34" charset="0"/>
              </a:rPr>
              <a:t>바이오매스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 이용</a:t>
            </a:r>
            <a:endParaRPr lang="en-US" altLang="ko-KR" dirty="0" smtClean="0">
              <a:latin typeface="+mn-lt"/>
              <a:ea typeface="+mn-ea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화학비료 절감 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활동량에 반영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가축분뇨에너지화 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분뇨처리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(4B)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중 하나에 반영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dirty="0" err="1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작물잔사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 err="1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바이오매스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 (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현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)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미 반영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추후 반영 검토</a:t>
            </a:r>
            <a:endParaRPr lang="en-US" altLang="ko-KR" dirty="0" smtClean="0">
              <a:latin typeface="+mn-lt"/>
              <a:ea typeface="+mn-ea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562" y="2625636"/>
            <a:ext cx="5724525" cy="1554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398" y="4310744"/>
            <a:ext cx="8304212" cy="2009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04503" y="3396350"/>
            <a:ext cx="17112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현 상황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4503" y="5367161"/>
            <a:ext cx="17112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개선 대안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18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+mn-lt"/>
                <a:ea typeface="+mj-ea"/>
              </a:rPr>
              <a:t>농축산</a:t>
            </a:r>
            <a:r>
              <a:rPr lang="ko-KR" altLang="en-US" b="0" dirty="0">
                <a:latin typeface="+mn-lt"/>
                <a:ea typeface="+mj-ea"/>
              </a:rPr>
              <a:t> 부문 </a:t>
            </a:r>
            <a:r>
              <a:rPr lang="en-US" altLang="ko-KR" b="0" dirty="0" smtClean="0">
                <a:latin typeface="+mn-lt"/>
                <a:ea typeface="+mj-ea"/>
              </a:rPr>
              <a:t>:</a:t>
            </a:r>
            <a:r>
              <a:rPr lang="ko-KR" altLang="en-US" b="0" dirty="0" smtClean="0">
                <a:latin typeface="+mn-lt"/>
                <a:ea typeface="+mj-ea"/>
              </a:rPr>
              <a:t> </a:t>
            </a:r>
            <a:r>
              <a:rPr lang="ko-KR" altLang="en-US" b="0" dirty="0">
                <a:latin typeface="+mn-lt"/>
                <a:ea typeface="+mj-ea"/>
              </a:rPr>
              <a:t>상향식 모형화 방안</a:t>
            </a:r>
            <a:r>
              <a:rPr lang="en-US" altLang="ko-KR" b="0" dirty="0" smtClean="0">
                <a:latin typeface="+mn-lt"/>
                <a:ea typeface="+mj-ea"/>
              </a:rPr>
              <a:t>-</a:t>
            </a:r>
            <a:r>
              <a:rPr lang="ko-KR" altLang="en-US" b="0" dirty="0" smtClean="0">
                <a:latin typeface="+mn-lt"/>
                <a:ea typeface="+mj-ea"/>
              </a:rPr>
              <a:t>에너지</a:t>
            </a:r>
            <a:endParaRPr lang="ko-KR" altLang="en-US" b="0" dirty="0">
              <a:latin typeface="+mn-lt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73</a:t>
            </a:fld>
            <a:endParaRPr lang="en-US" altLang="ko-KR" dirty="0"/>
          </a:p>
        </p:txBody>
      </p:sp>
      <p:sp>
        <p:nvSpPr>
          <p:cNvPr id="5" name="내용 개체 틀 6"/>
          <p:cNvSpPr>
            <a:spLocks noGrp="1"/>
          </p:cNvSpPr>
          <p:nvPr>
            <p:ph idx="1"/>
          </p:nvPr>
        </p:nvSpPr>
        <p:spPr>
          <a:xfrm>
            <a:off x="685800" y="900113"/>
            <a:ext cx="8534400" cy="51958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에너지 부분</a:t>
            </a:r>
            <a:endParaRPr lang="en-US" altLang="ko-KR" dirty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에너지원 별 사용량 자료만 이용 가능 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사용용도별 구분되지 않음</a:t>
            </a:r>
            <a:endParaRPr lang="en-US" altLang="ko-KR" dirty="0" smtClean="0">
              <a:latin typeface="+mn-lt"/>
              <a:ea typeface="+mn-ea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lt"/>
                <a:ea typeface="+mn-ea"/>
                <a:cs typeface="Arial" panose="020B0604020202020204" pitchFamily="34" charset="0"/>
              </a:rPr>
              <a:t>주요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사용용도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</a:rPr>
              <a:t>: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농업기계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시설재배 난방용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축사관리 등</a:t>
            </a:r>
            <a:endParaRPr lang="en-US" altLang="ko-KR" dirty="0" smtClean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주요 감축수단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</a:rPr>
              <a:t>: </a:t>
            </a:r>
            <a:r>
              <a:rPr lang="ko-KR" altLang="en-US" dirty="0" err="1" smtClean="0">
                <a:latin typeface="+mn-lt"/>
                <a:ea typeface="+mn-ea"/>
                <a:cs typeface="Arial" panose="020B0604020202020204" pitchFamily="34" charset="0"/>
              </a:rPr>
              <a:t>보온력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 향상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</a:rPr>
              <a:t>, 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에너지효율 향상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dirty="0" err="1" smtClean="0">
                <a:latin typeface="+mn-lt"/>
                <a:ea typeface="+mn-ea"/>
                <a:cs typeface="Arial" panose="020B0604020202020204" pitchFamily="34" charset="0"/>
              </a:rPr>
              <a:t>신재생에너지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  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시설재배와 연관</a:t>
            </a:r>
            <a:endParaRPr lang="en-US" altLang="ko-KR" dirty="0" smtClean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ko-KR" altLang="en-US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66" y="2841173"/>
            <a:ext cx="4738824" cy="257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390" y="2665504"/>
            <a:ext cx="4827361" cy="156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963" y="4578532"/>
            <a:ext cx="4516211" cy="1495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631361" y="5538663"/>
            <a:ext cx="17112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현 상황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467482" y="4232366"/>
            <a:ext cx="3389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개선대안</a:t>
            </a:r>
            <a:r>
              <a:rPr lang="en-US" altLang="ko-KR" dirty="0" smtClean="0"/>
              <a:t>:  </a:t>
            </a:r>
            <a:r>
              <a:rPr lang="ko-KR" altLang="en-US" dirty="0" err="1" smtClean="0"/>
              <a:t>신재생</a:t>
            </a:r>
            <a:r>
              <a:rPr lang="ko-KR" altLang="en-US" dirty="0" smtClean="0"/>
              <a:t> 에너지  반영되지 않는 경우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410874" y="6082956"/>
            <a:ext cx="3389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개선대안</a:t>
            </a:r>
            <a:r>
              <a:rPr lang="en-US" altLang="ko-KR" dirty="0" smtClean="0"/>
              <a:t>:  </a:t>
            </a:r>
            <a:r>
              <a:rPr lang="ko-KR" altLang="en-US" dirty="0" err="1" smtClean="0"/>
              <a:t>신재생</a:t>
            </a:r>
            <a:r>
              <a:rPr lang="ko-KR" altLang="en-US" dirty="0" smtClean="0"/>
              <a:t> 에너지  반영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9536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+mn-lt"/>
                <a:ea typeface="+mj-ea"/>
              </a:rPr>
              <a:t>농축산</a:t>
            </a:r>
            <a:r>
              <a:rPr lang="ko-KR" altLang="en-US" b="0" dirty="0">
                <a:latin typeface="+mn-lt"/>
                <a:ea typeface="+mj-ea"/>
              </a:rPr>
              <a:t> 부문 </a:t>
            </a:r>
            <a:r>
              <a:rPr lang="en-US" altLang="ko-KR" b="0" dirty="0" smtClean="0">
                <a:latin typeface="+mn-lt"/>
                <a:ea typeface="+mj-ea"/>
              </a:rPr>
              <a:t>:</a:t>
            </a:r>
            <a:r>
              <a:rPr lang="ko-KR" altLang="en-US" b="0" dirty="0" smtClean="0">
                <a:latin typeface="+mn-lt"/>
                <a:ea typeface="+mj-ea"/>
              </a:rPr>
              <a:t> </a:t>
            </a:r>
            <a:r>
              <a:rPr lang="ko-KR" altLang="en-US" b="0" dirty="0">
                <a:latin typeface="+mn-lt"/>
                <a:ea typeface="+mj-ea"/>
              </a:rPr>
              <a:t>상향식 모형화 방안</a:t>
            </a:r>
            <a:r>
              <a:rPr lang="en-US" altLang="ko-KR" b="0" dirty="0" smtClean="0">
                <a:latin typeface="+mn-lt"/>
                <a:ea typeface="+mj-ea"/>
              </a:rPr>
              <a:t>-</a:t>
            </a:r>
            <a:r>
              <a:rPr lang="ko-KR" altLang="en-US" b="0" dirty="0" smtClean="0">
                <a:latin typeface="+mn-lt"/>
                <a:ea typeface="+mj-ea"/>
              </a:rPr>
              <a:t>통합  </a:t>
            </a:r>
            <a:r>
              <a:rPr lang="en-US" altLang="ko-KR" b="0" dirty="0" smtClean="0">
                <a:latin typeface="+mn-lt"/>
                <a:ea typeface="+mj-ea"/>
              </a:rPr>
              <a:t>RES</a:t>
            </a:r>
            <a:endParaRPr lang="ko-KR" altLang="en-US" b="0" dirty="0">
              <a:latin typeface="+mn-lt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74</a:t>
            </a:fld>
            <a:endParaRPr lang="en-US" altLang="ko-KR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0158"/>
            <a:ext cx="4466863" cy="4153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633" y="1262492"/>
            <a:ext cx="4885509" cy="4171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631361" y="5538663"/>
            <a:ext cx="17112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현 상황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498770" y="5538662"/>
            <a:ext cx="17112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개선 대안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3535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+mn-lt"/>
                <a:ea typeface="+mj-ea"/>
              </a:rPr>
              <a:t>농축산</a:t>
            </a:r>
            <a:r>
              <a:rPr lang="ko-KR" altLang="en-US" b="0" dirty="0">
                <a:latin typeface="+mn-lt"/>
                <a:ea typeface="+mj-ea"/>
              </a:rPr>
              <a:t> 부문 </a:t>
            </a:r>
            <a:r>
              <a:rPr lang="en-US" altLang="ko-KR" b="0" dirty="0" smtClean="0">
                <a:latin typeface="+mn-lt"/>
                <a:ea typeface="+mj-ea"/>
              </a:rPr>
              <a:t>:</a:t>
            </a:r>
            <a:r>
              <a:rPr lang="ko-KR" altLang="en-US" b="0" dirty="0" smtClean="0">
                <a:latin typeface="+mn-lt"/>
                <a:ea typeface="+mj-ea"/>
              </a:rPr>
              <a:t> 국외 동향</a:t>
            </a:r>
            <a:endParaRPr lang="ko-KR" altLang="en-US" b="0" dirty="0">
              <a:latin typeface="+mn-lt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75</a:t>
            </a:fld>
            <a:endParaRPr lang="en-US" altLang="ko-KR" dirty="0"/>
          </a:p>
        </p:txBody>
      </p:sp>
      <p:sp>
        <p:nvSpPr>
          <p:cNvPr id="8" name="내용 개체 틀 6"/>
          <p:cNvSpPr>
            <a:spLocks noGrp="1"/>
          </p:cNvSpPr>
          <p:nvPr>
            <p:ph idx="1"/>
          </p:nvPr>
        </p:nvSpPr>
        <p:spPr>
          <a:xfrm>
            <a:off x="685800" y="900113"/>
            <a:ext cx="8758646" cy="51958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국외 동향</a:t>
            </a:r>
            <a:endParaRPr lang="en-US" altLang="ko-KR" dirty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EPA MARKAL(2006EPA, EPAUS9R), UK MARKAL 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에너지 부분만 포함</a:t>
            </a:r>
            <a:endParaRPr lang="en-US" altLang="ko-KR" dirty="0" smtClean="0">
              <a:latin typeface="+mn-lt"/>
              <a:ea typeface="+mn-ea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EPA MARKAL: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농업부분을 하나의 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demand sector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로 구분하지 않고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수송 또는 산업의 하위 부분에서 다룸</a:t>
            </a:r>
            <a:endParaRPr lang="en-US" altLang="ko-KR" dirty="0" smtClean="0">
              <a:latin typeface="+mn-lt"/>
              <a:ea typeface="+mn-ea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UK MARKAL: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농업을 독립적인 수요부문으로  취급</a:t>
            </a:r>
            <a:endParaRPr lang="en-US" altLang="ko-KR" dirty="0" smtClean="0">
              <a:latin typeface="+mn-lt"/>
              <a:ea typeface="+mn-ea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endParaRPr lang="en-US" altLang="ko-KR" dirty="0" smtClean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 smtClean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 smtClean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 smtClean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</a:rPr>
              <a:t>EPA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또는 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</a:rPr>
              <a:t>UK MARAKL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에서 농업은 수요부문으로는 축약된 형태로 모형화</a:t>
            </a:r>
            <a:endParaRPr lang="en-US" altLang="ko-KR" dirty="0" smtClean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하지만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dirty="0" err="1" smtClean="0">
                <a:latin typeface="+mn-lt"/>
                <a:ea typeface="+mn-ea"/>
                <a:cs typeface="Arial" panose="020B0604020202020204" pitchFamily="34" charset="0"/>
              </a:rPr>
              <a:t>바이오매스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 공급부문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</a:rPr>
              <a:t>(</a:t>
            </a:r>
            <a:r>
              <a:rPr lang="ko-KR" altLang="en-US" dirty="0" err="1" smtClean="0">
                <a:latin typeface="+mn-lt"/>
                <a:ea typeface="+mn-ea"/>
                <a:cs typeface="Arial" panose="020B0604020202020204" pitchFamily="34" charset="0"/>
              </a:rPr>
              <a:t>바이오매스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 체인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</a:rPr>
              <a:t>)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으로서  구체적인 형태의 모형화 구조</a:t>
            </a:r>
            <a:endParaRPr lang="ko-KR" altLang="en-US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1371599" y="3148144"/>
          <a:ext cx="7876903" cy="1642110"/>
        </p:xfrm>
        <a:graphic>
          <a:graphicData uri="http://schemas.openxmlformats.org/drawingml/2006/table">
            <a:tbl>
              <a:tblPr/>
              <a:tblGrid>
                <a:gridCol w="1620850"/>
                <a:gridCol w="1620850"/>
                <a:gridCol w="1711791"/>
                <a:gridCol w="1711791"/>
                <a:gridCol w="1211621"/>
              </a:tblGrid>
              <a:tr h="26211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구 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sector/sub-sector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end-use tech.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비고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116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EPA MARKAL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2006EPA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수송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/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off-highway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diesel, gasoline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에너지 부분만 모형에 포함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1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EPAUS9R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수송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/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off-highway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diesel, gasoline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621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산업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/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비제조서비스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-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5376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UK MARKAL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농업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바이오폐기물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디젤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전력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석탄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천연가스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92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+mn-lt"/>
                <a:ea typeface="+mj-ea"/>
              </a:rPr>
              <a:t>농축산</a:t>
            </a:r>
            <a:r>
              <a:rPr lang="ko-KR" altLang="en-US" b="0" dirty="0">
                <a:latin typeface="+mn-lt"/>
                <a:ea typeface="+mj-ea"/>
              </a:rPr>
              <a:t> 부문 </a:t>
            </a:r>
            <a:r>
              <a:rPr lang="en-US" altLang="ko-KR" b="0" dirty="0" smtClean="0">
                <a:latin typeface="+mn-lt"/>
                <a:ea typeface="+mj-ea"/>
              </a:rPr>
              <a:t>:</a:t>
            </a:r>
            <a:r>
              <a:rPr lang="ko-KR" altLang="en-US" b="0" dirty="0" smtClean="0">
                <a:latin typeface="+mn-lt"/>
                <a:ea typeface="+mj-ea"/>
              </a:rPr>
              <a:t> 국외 동향</a:t>
            </a:r>
            <a:endParaRPr lang="ko-KR" altLang="en-US" b="0" dirty="0">
              <a:latin typeface="+mn-lt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76</a:t>
            </a:fld>
            <a:endParaRPr lang="en-US" altLang="ko-KR" dirty="0"/>
          </a:p>
        </p:txBody>
      </p:sp>
      <p:sp>
        <p:nvSpPr>
          <p:cNvPr id="8" name="내용 개체 틀 6"/>
          <p:cNvSpPr>
            <a:spLocks noGrp="1"/>
          </p:cNvSpPr>
          <p:nvPr>
            <p:ph idx="1"/>
          </p:nvPr>
        </p:nvSpPr>
        <p:spPr>
          <a:xfrm>
            <a:off x="685800" y="900113"/>
            <a:ext cx="8758646" cy="51958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국외 동향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</a:rPr>
              <a:t>: </a:t>
            </a:r>
            <a:r>
              <a:rPr lang="ko-KR" altLang="en-US" dirty="0" err="1" smtClean="0">
                <a:latin typeface="+mn-lt"/>
                <a:ea typeface="+mn-ea"/>
                <a:cs typeface="Arial" panose="020B0604020202020204" pitchFamily="34" charset="0"/>
              </a:rPr>
              <a:t>바이오매스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 체인</a:t>
            </a:r>
            <a:endParaRPr lang="en-US" altLang="ko-KR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0" y="1318350"/>
            <a:ext cx="6948397" cy="2143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235" y="3644538"/>
            <a:ext cx="6829425" cy="2586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997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+mn-lt"/>
                <a:ea typeface="+mj-ea"/>
              </a:rPr>
              <a:t>농축산</a:t>
            </a:r>
            <a:r>
              <a:rPr lang="ko-KR" altLang="en-US" b="0" dirty="0">
                <a:latin typeface="+mn-lt"/>
                <a:ea typeface="+mj-ea"/>
              </a:rPr>
              <a:t> 부문 </a:t>
            </a:r>
            <a:r>
              <a:rPr lang="en-US" altLang="ko-KR" b="0" dirty="0" smtClean="0">
                <a:latin typeface="+mn-lt"/>
                <a:ea typeface="+mj-ea"/>
              </a:rPr>
              <a:t>:</a:t>
            </a:r>
            <a:r>
              <a:rPr lang="ko-KR" altLang="en-US" b="0" dirty="0" smtClean="0">
                <a:latin typeface="+mn-lt"/>
                <a:ea typeface="+mj-ea"/>
              </a:rPr>
              <a:t> 모형화 및 시스템화 방안</a:t>
            </a:r>
            <a:endParaRPr lang="ko-KR" altLang="en-US" b="0" dirty="0">
              <a:latin typeface="+mn-lt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77</a:t>
            </a:fld>
            <a:endParaRPr lang="en-US" altLang="ko-KR" dirty="0"/>
          </a:p>
        </p:txBody>
      </p:sp>
      <p:sp>
        <p:nvSpPr>
          <p:cNvPr id="8" name="내용 개체 틀 6"/>
          <p:cNvSpPr>
            <a:spLocks noGrp="1"/>
          </p:cNvSpPr>
          <p:nvPr>
            <p:ph idx="1"/>
          </p:nvPr>
        </p:nvSpPr>
        <p:spPr>
          <a:xfrm>
            <a:off x="685800" y="900113"/>
            <a:ext cx="8758646" cy="51958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농업의 에너지부분을 국내 바이오 매스체인의 하부 구조로 모형화  </a:t>
            </a:r>
            <a:endParaRPr lang="en-US" altLang="ko-KR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1" y="1606732"/>
            <a:ext cx="8934993" cy="4624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093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>
                <a:latin typeface="+mn-lt"/>
                <a:ea typeface="+mj-ea"/>
              </a:rPr>
              <a:t>농축산</a:t>
            </a:r>
            <a:r>
              <a:rPr lang="ko-KR" altLang="en-US" b="0" dirty="0">
                <a:latin typeface="+mn-lt"/>
                <a:ea typeface="+mj-ea"/>
              </a:rPr>
              <a:t> 부문 </a:t>
            </a:r>
            <a:r>
              <a:rPr lang="en-US" altLang="ko-KR" b="0" dirty="0" smtClean="0">
                <a:latin typeface="+mn-lt"/>
                <a:ea typeface="+mj-ea"/>
              </a:rPr>
              <a:t>:</a:t>
            </a:r>
            <a:r>
              <a:rPr lang="ko-KR" altLang="en-US" b="0" dirty="0" smtClean="0">
                <a:latin typeface="+mn-lt"/>
                <a:ea typeface="+mj-ea"/>
              </a:rPr>
              <a:t> 모형화 및 시스템화 방안</a:t>
            </a:r>
            <a:endParaRPr lang="ko-KR" altLang="en-US" b="0" dirty="0">
              <a:latin typeface="+mn-lt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78</a:t>
            </a:fld>
            <a:endParaRPr lang="en-US" altLang="ko-KR" dirty="0"/>
          </a:p>
        </p:txBody>
      </p:sp>
      <p:sp>
        <p:nvSpPr>
          <p:cNvPr id="8" name="내용 개체 틀 6"/>
          <p:cNvSpPr>
            <a:spLocks noGrp="1"/>
          </p:cNvSpPr>
          <p:nvPr>
            <p:ph idx="1"/>
          </p:nvPr>
        </p:nvSpPr>
        <p:spPr>
          <a:xfrm>
            <a:off x="685800" y="900113"/>
            <a:ext cx="8758646" cy="51958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농업 </a:t>
            </a:r>
            <a:r>
              <a:rPr lang="ko-KR" altLang="en-US" dirty="0" err="1" smtClean="0">
                <a:latin typeface="+mn-lt"/>
                <a:ea typeface="+mn-ea"/>
                <a:cs typeface="Arial" panose="020B0604020202020204" pitchFamily="34" charset="0"/>
              </a:rPr>
              <a:t>비에너지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</a:rPr>
              <a:t> 부문의 상향식 모형화 방안</a:t>
            </a:r>
            <a:endParaRPr lang="en-US" altLang="ko-KR" dirty="0" smtClean="0">
              <a:latin typeface="+mn-lt"/>
              <a:ea typeface="+mn-ea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방안 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1: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독립적인 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Accounting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모듈로 구축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활동량 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DB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는 </a:t>
            </a:r>
            <a:r>
              <a:rPr lang="ko-KR" altLang="en-US" dirty="0" err="1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바이오매스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 활동량과 연계</a:t>
            </a:r>
            <a:endParaRPr lang="en-US" altLang="ko-KR" dirty="0" smtClean="0">
              <a:latin typeface="+mn-lt"/>
              <a:ea typeface="+mn-ea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방안 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2: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상향식모형에 통합  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활동량과 </a:t>
            </a:r>
            <a:r>
              <a:rPr lang="ko-KR" altLang="en-US" dirty="0" err="1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모수의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 전환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또는 </a:t>
            </a:r>
            <a:r>
              <a:rPr lang="en-US" altLang="ko-KR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calibration)</a:t>
            </a:r>
            <a:r>
              <a:rPr lang="ko-KR" altLang="en-US" dirty="0" smtClean="0">
                <a:latin typeface="+mn-lt"/>
                <a:ea typeface="+mn-ea"/>
                <a:cs typeface="Arial" panose="020B0604020202020204" pitchFamily="34" charset="0"/>
                <a:sym typeface="Wingdings" panose="05000000000000000000" pitchFamily="2" charset="2"/>
              </a:rPr>
              <a:t>모듈 필요</a:t>
            </a:r>
            <a:endParaRPr lang="en-US" altLang="ko-KR" dirty="0">
              <a:latin typeface="+mn-lt"/>
              <a:ea typeface="+mn-ea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751" y="2534190"/>
            <a:ext cx="5264332" cy="3331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508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ko-KR" altLang="en-US" b="0" dirty="0" smtClean="0">
                <a:latin typeface="+mn-lt"/>
                <a:ea typeface="+mj-ea"/>
              </a:rPr>
              <a:t>폐기물 부문 </a:t>
            </a:r>
            <a:r>
              <a:rPr lang="en-US" altLang="ko-KR" b="0" dirty="0" smtClean="0">
                <a:latin typeface="+mn-lt"/>
                <a:ea typeface="+mj-ea"/>
              </a:rPr>
              <a:t>: </a:t>
            </a:r>
            <a:r>
              <a:rPr lang="ko-KR" altLang="en-US" b="0" dirty="0" smtClean="0">
                <a:latin typeface="+mn-lt"/>
                <a:ea typeface="+mj-ea"/>
              </a:rPr>
              <a:t>발생원</a:t>
            </a:r>
            <a:r>
              <a:rPr lang="en-US" altLang="ko-KR" b="0" dirty="0" smtClean="0">
                <a:latin typeface="+mn-lt"/>
                <a:ea typeface="+mj-ea"/>
              </a:rPr>
              <a:t>, </a:t>
            </a:r>
            <a:r>
              <a:rPr lang="ko-KR" altLang="en-US" b="0" dirty="0" err="1" smtClean="0">
                <a:latin typeface="+mn-lt"/>
                <a:ea typeface="+mj-ea"/>
              </a:rPr>
              <a:t>배출원</a:t>
            </a:r>
            <a:r>
              <a:rPr lang="en-US" altLang="ko-KR" b="0" dirty="0" smtClean="0">
                <a:latin typeface="+mn-lt"/>
                <a:ea typeface="+mj-ea"/>
              </a:rPr>
              <a:t>, </a:t>
            </a:r>
            <a:r>
              <a:rPr lang="ko-KR" altLang="en-US" b="0" dirty="0" smtClean="0">
                <a:latin typeface="+mn-lt"/>
                <a:ea typeface="+mj-ea"/>
              </a:rPr>
              <a:t>활동량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79</a:t>
            </a:fld>
            <a:endParaRPr lang="en-US" altLang="ko-KR" dirty="0"/>
          </a:p>
        </p:txBody>
      </p:sp>
      <p:sp>
        <p:nvSpPr>
          <p:cNvPr id="63" name="직사각형 62"/>
          <p:cNvSpPr/>
          <p:nvPr/>
        </p:nvSpPr>
        <p:spPr>
          <a:xfrm>
            <a:off x="809283" y="1700808"/>
            <a:ext cx="1872208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생활폐기물</a:t>
            </a:r>
            <a:endParaRPr kumimoji="0" lang="ko-KR" altLang="en-US" sz="11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809283" y="2026664"/>
            <a:ext cx="1872208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사업장폐기물</a:t>
            </a:r>
            <a:endParaRPr kumimoji="0" lang="ko-KR" altLang="en-US" sz="11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809283" y="2361066"/>
            <a:ext cx="1872208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건설폐기물</a:t>
            </a:r>
            <a:endParaRPr kumimoji="0" lang="ko-KR" altLang="en-US" sz="11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809283" y="2691828"/>
            <a:ext cx="1872208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지정폐기물</a:t>
            </a:r>
            <a:endParaRPr kumimoji="0" lang="ko-KR" altLang="en-US" sz="11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809283" y="3017684"/>
            <a:ext cx="1872208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의료폐기물</a:t>
            </a:r>
            <a:endParaRPr kumimoji="0" lang="ko-KR" altLang="en-US" sz="11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3445764" y="2043608"/>
            <a:ext cx="1170130" cy="286418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A.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매립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3445764" y="2383182"/>
            <a:ext cx="1170130" cy="270175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B.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소각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3445764" y="2719344"/>
            <a:ext cx="1170130" cy="258754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 fontScale="92500"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C.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생물학적 처리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3455022" y="3356992"/>
            <a:ext cx="1170130" cy="258754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 lnSpcReduction="10000"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D. </a:t>
            </a:r>
            <a:r>
              <a:rPr kumimoji="0" lang="ko-KR" altLang="en-US" sz="11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하폐수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처리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7683303" y="1700808"/>
            <a:ext cx="1248139" cy="360040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 fontScale="92500" lnSpcReduction="20000"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100" b="1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IPCC</a:t>
            </a:r>
          </a:p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100" b="1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배출계수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809283" y="1196752"/>
            <a:ext cx="1872208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폐기물 발생원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3445764" y="1196752"/>
            <a:ext cx="1170130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처리</a:t>
            </a: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</a:t>
            </a:r>
            <a:r>
              <a:rPr kumimoji="0" lang="ko-KR" altLang="en-US" sz="11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배출원</a:t>
            </a: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</a:t>
            </a:r>
            <a:endParaRPr kumimoji="0" lang="ko-KR" altLang="en-US" sz="11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5464502" y="1194748"/>
            <a:ext cx="1360706" cy="292040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활동량</a:t>
            </a:r>
            <a:endParaRPr kumimoji="0" lang="ko-KR" altLang="en-US" sz="11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7683303" y="1196752"/>
            <a:ext cx="1170130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배출계수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5464502" y="1699542"/>
            <a:ext cx="1360706" cy="266419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성상별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ko-KR" altLang="en-US" sz="11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매립량</a:t>
            </a:r>
            <a:endParaRPr kumimoji="0" lang="ko-KR" altLang="en-US" sz="11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5464502" y="2131593"/>
            <a:ext cx="1360706" cy="266419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성상별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ko-KR" altLang="en-US" sz="11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소각량</a:t>
            </a:r>
            <a:endParaRPr kumimoji="0" lang="ko-KR" altLang="en-US" sz="11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5464502" y="3009141"/>
            <a:ext cx="1360706" cy="266419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인구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5461293" y="3378608"/>
            <a:ext cx="1360706" cy="266419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산업폐수발생량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5464502" y="2543291"/>
            <a:ext cx="1360706" cy="309646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생물학적 처리량</a:t>
            </a:r>
          </a:p>
        </p:txBody>
      </p:sp>
      <p:cxnSp>
        <p:nvCxnSpPr>
          <p:cNvPr id="82" name="꺾인 연결선 81"/>
          <p:cNvCxnSpPr>
            <a:stCxn id="68" idx="1"/>
            <a:endCxn id="63" idx="3"/>
          </p:cNvCxnSpPr>
          <p:nvPr/>
        </p:nvCxnSpPr>
        <p:spPr>
          <a:xfrm rot="10800000">
            <a:off x="2681493" y="1844828"/>
            <a:ext cx="764273" cy="341993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83" name="꺾인 연결선 82"/>
          <p:cNvCxnSpPr>
            <a:stCxn id="68" idx="1"/>
            <a:endCxn id="64" idx="3"/>
          </p:cNvCxnSpPr>
          <p:nvPr/>
        </p:nvCxnSpPr>
        <p:spPr>
          <a:xfrm rot="10800000">
            <a:off x="2681493" y="2170684"/>
            <a:ext cx="764273" cy="1613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84" name="꺾인 연결선 83"/>
          <p:cNvCxnSpPr>
            <a:stCxn id="68" idx="1"/>
            <a:endCxn id="65" idx="3"/>
          </p:cNvCxnSpPr>
          <p:nvPr/>
        </p:nvCxnSpPr>
        <p:spPr>
          <a:xfrm rot="10800000" flipV="1">
            <a:off x="2681493" y="2186819"/>
            <a:ext cx="764273" cy="318265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85" name="꺾인 연결선 84"/>
          <p:cNvCxnSpPr>
            <a:stCxn id="71" idx="1"/>
          </p:cNvCxnSpPr>
          <p:nvPr/>
        </p:nvCxnSpPr>
        <p:spPr>
          <a:xfrm rot="10800000">
            <a:off x="2690752" y="3483920"/>
            <a:ext cx="764273" cy="2453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87" name="꺾인 연결선 86"/>
          <p:cNvCxnSpPr>
            <a:stCxn id="68" idx="1"/>
            <a:endCxn id="66" idx="3"/>
          </p:cNvCxnSpPr>
          <p:nvPr/>
        </p:nvCxnSpPr>
        <p:spPr>
          <a:xfrm rot="10800000" flipV="1">
            <a:off x="2681493" y="2186819"/>
            <a:ext cx="764273" cy="64902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88" name="꺾인 연결선 87"/>
          <p:cNvCxnSpPr>
            <a:stCxn id="68" idx="1"/>
            <a:endCxn id="67" idx="3"/>
          </p:cNvCxnSpPr>
          <p:nvPr/>
        </p:nvCxnSpPr>
        <p:spPr>
          <a:xfrm rot="10800000" flipV="1">
            <a:off x="2681493" y="2186819"/>
            <a:ext cx="764273" cy="974883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89" name="직선 연결선 88"/>
          <p:cNvCxnSpPr>
            <a:stCxn id="69" idx="1"/>
            <a:endCxn id="65" idx="3"/>
          </p:cNvCxnSpPr>
          <p:nvPr/>
        </p:nvCxnSpPr>
        <p:spPr>
          <a:xfrm flipH="1" flipV="1">
            <a:off x="2681492" y="2505085"/>
            <a:ext cx="764273" cy="13185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0" name="직선 화살표 연결선 89"/>
          <p:cNvCxnSpPr>
            <a:stCxn id="70" idx="1"/>
            <a:endCxn id="66" idx="3"/>
          </p:cNvCxnSpPr>
          <p:nvPr/>
        </p:nvCxnSpPr>
        <p:spPr>
          <a:xfrm flipH="1" flipV="1">
            <a:off x="2681492" y="2835847"/>
            <a:ext cx="764273" cy="12877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91" name="직사각형 90"/>
          <p:cNvSpPr/>
          <p:nvPr/>
        </p:nvSpPr>
        <p:spPr>
          <a:xfrm>
            <a:off x="791595" y="3387884"/>
            <a:ext cx="1872208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하폐수</a:t>
            </a:r>
            <a:endParaRPr kumimoji="0" lang="ko-KR" altLang="en-US" sz="11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5461902" y="3789043"/>
            <a:ext cx="1360706" cy="266419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하수관련 활동량</a:t>
            </a:r>
            <a:endParaRPr kumimoji="0" lang="ko-KR" altLang="en-US" sz="11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3" name="오른쪽 중괄호 92"/>
          <p:cNvSpPr/>
          <p:nvPr/>
        </p:nvSpPr>
        <p:spPr>
          <a:xfrm>
            <a:off x="6903218" y="1700808"/>
            <a:ext cx="312035" cy="648072"/>
          </a:xfrm>
          <a:prstGeom prst="rightBrac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7683303" y="2204864"/>
            <a:ext cx="1248139" cy="360040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국가고유</a:t>
            </a:r>
            <a:endParaRPr kumimoji="0" lang="en-US" altLang="ko-KR" sz="1000" b="1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배출계수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7683303" y="3140968"/>
            <a:ext cx="1248139" cy="360040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algn="ctr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1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국가고유</a:t>
            </a:r>
            <a:endParaRPr kumimoji="0" lang="en-US" altLang="ko-KR" sz="1000" b="1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  <a:p>
            <a:pPr algn="ctr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b="1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배출계수</a:t>
            </a:r>
          </a:p>
        </p:txBody>
      </p:sp>
      <p:sp>
        <p:nvSpPr>
          <p:cNvPr id="96" name="오른쪽 중괄호 95"/>
          <p:cNvSpPr/>
          <p:nvPr/>
        </p:nvSpPr>
        <p:spPr>
          <a:xfrm>
            <a:off x="6903218" y="2564904"/>
            <a:ext cx="312035" cy="1440160"/>
          </a:xfrm>
          <a:prstGeom prst="rightBrac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cxnSp>
        <p:nvCxnSpPr>
          <p:cNvPr id="99" name="꺾인 연결선 98"/>
          <p:cNvCxnSpPr>
            <a:stCxn id="77" idx="1"/>
            <a:endCxn id="68" idx="3"/>
          </p:cNvCxnSpPr>
          <p:nvPr/>
        </p:nvCxnSpPr>
        <p:spPr>
          <a:xfrm rot="10800000" flipV="1">
            <a:off x="4615896" y="1832754"/>
            <a:ext cx="848609" cy="354065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00" name="꺾인 연결선 99"/>
          <p:cNvCxnSpPr>
            <a:stCxn id="78" idx="1"/>
            <a:endCxn id="69" idx="3"/>
          </p:cNvCxnSpPr>
          <p:nvPr/>
        </p:nvCxnSpPr>
        <p:spPr>
          <a:xfrm rot="10800000" flipV="1">
            <a:off x="4615896" y="2264802"/>
            <a:ext cx="848609" cy="25346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01" name="꺾인 연결선 100"/>
          <p:cNvCxnSpPr>
            <a:stCxn id="81" idx="1"/>
            <a:endCxn id="70" idx="3"/>
          </p:cNvCxnSpPr>
          <p:nvPr/>
        </p:nvCxnSpPr>
        <p:spPr>
          <a:xfrm rot="10800000" flipV="1">
            <a:off x="4615896" y="2698116"/>
            <a:ext cx="848609" cy="15060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02" name="꺾인 연결선 101"/>
          <p:cNvCxnSpPr>
            <a:stCxn id="79" idx="1"/>
            <a:endCxn id="71" idx="3"/>
          </p:cNvCxnSpPr>
          <p:nvPr/>
        </p:nvCxnSpPr>
        <p:spPr>
          <a:xfrm rot="10800000" flipV="1">
            <a:off x="4625155" y="3142350"/>
            <a:ext cx="839350" cy="34402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03" name="꺾인 연결선 102"/>
          <p:cNvCxnSpPr>
            <a:stCxn id="80" idx="1"/>
            <a:endCxn id="71" idx="3"/>
          </p:cNvCxnSpPr>
          <p:nvPr/>
        </p:nvCxnSpPr>
        <p:spPr>
          <a:xfrm rot="10800000">
            <a:off x="4625153" y="3486369"/>
            <a:ext cx="836142" cy="2544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04" name="꺾인 연결선 103"/>
          <p:cNvCxnSpPr>
            <a:stCxn id="92" idx="1"/>
            <a:endCxn id="71" idx="3"/>
          </p:cNvCxnSpPr>
          <p:nvPr/>
        </p:nvCxnSpPr>
        <p:spPr>
          <a:xfrm rot="10800000">
            <a:off x="4625155" y="3486370"/>
            <a:ext cx="836750" cy="43588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105" name="직사각형 104"/>
          <p:cNvSpPr/>
          <p:nvPr/>
        </p:nvSpPr>
        <p:spPr>
          <a:xfrm>
            <a:off x="3470835" y="4221088"/>
            <a:ext cx="1170130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에너지발생원</a:t>
            </a:r>
          </a:p>
        </p:txBody>
      </p:sp>
      <p:sp>
        <p:nvSpPr>
          <p:cNvPr id="106" name="직사각형 105"/>
          <p:cNvSpPr/>
          <p:nvPr/>
        </p:nvSpPr>
        <p:spPr>
          <a:xfrm>
            <a:off x="3470835" y="4745613"/>
            <a:ext cx="1170130" cy="286418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lIns="36000" rIns="36000" rtlCol="0" anchor="ctr">
            <a:normAutofit fontScale="70000" lnSpcReduction="20000"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A.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매립가스 에너지화</a:t>
            </a:r>
          </a:p>
        </p:txBody>
      </p:sp>
      <p:sp>
        <p:nvSpPr>
          <p:cNvPr id="107" name="직사각형 106"/>
          <p:cNvSpPr/>
          <p:nvPr/>
        </p:nvSpPr>
        <p:spPr>
          <a:xfrm>
            <a:off x="3470835" y="5113468"/>
            <a:ext cx="1170130" cy="270175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 fontScale="92500"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B</a:t>
            </a:r>
            <a:r>
              <a:rPr kumimoji="0" lang="en-US" altLang="ko-KR" sz="1100" b="1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.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소각여열회수</a:t>
            </a:r>
          </a:p>
        </p:txBody>
      </p:sp>
      <p:sp>
        <p:nvSpPr>
          <p:cNvPr id="108" name="직사각형 107"/>
          <p:cNvSpPr/>
          <p:nvPr/>
        </p:nvSpPr>
        <p:spPr>
          <a:xfrm>
            <a:off x="3470835" y="5445227"/>
            <a:ext cx="1170130" cy="270175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C. RDF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생산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5499061" y="4753428"/>
            <a:ext cx="1360706" cy="266419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매립가스회수량</a:t>
            </a:r>
            <a:endParaRPr kumimoji="0" lang="ko-KR" altLang="en-US" sz="11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cxnSp>
        <p:nvCxnSpPr>
          <p:cNvPr id="110" name="꺾인 연결선 109"/>
          <p:cNvCxnSpPr>
            <a:stCxn id="109" idx="1"/>
            <a:endCxn id="106" idx="3"/>
          </p:cNvCxnSpPr>
          <p:nvPr/>
        </p:nvCxnSpPr>
        <p:spPr>
          <a:xfrm rot="10800000" flipV="1">
            <a:off x="4640967" y="4886637"/>
            <a:ext cx="858095" cy="218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11" name="꺾인 연결선 110"/>
          <p:cNvCxnSpPr>
            <a:stCxn id="109" idx="1"/>
            <a:endCxn id="68" idx="3"/>
          </p:cNvCxnSpPr>
          <p:nvPr/>
        </p:nvCxnSpPr>
        <p:spPr>
          <a:xfrm rot="10800000">
            <a:off x="4615896" y="2186817"/>
            <a:ext cx="883167" cy="2699818"/>
          </a:xfrm>
          <a:prstGeom prst="bentConnector3">
            <a:avLst>
              <a:gd name="adj1" fmla="val 31499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12" name="꺾인 연결선 111"/>
          <p:cNvCxnSpPr>
            <a:stCxn id="78" idx="1"/>
            <a:endCxn id="107" idx="3"/>
          </p:cNvCxnSpPr>
          <p:nvPr/>
        </p:nvCxnSpPr>
        <p:spPr>
          <a:xfrm rot="10800000" flipV="1">
            <a:off x="4640965" y="2264799"/>
            <a:ext cx="823537" cy="2983753"/>
          </a:xfrm>
          <a:prstGeom prst="bentConnector3">
            <a:avLst>
              <a:gd name="adj1" fmla="val 14038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113" name="직사각형 112"/>
          <p:cNvSpPr/>
          <p:nvPr/>
        </p:nvSpPr>
        <p:spPr>
          <a:xfrm>
            <a:off x="7683303" y="4725144"/>
            <a:ext cx="1248139" cy="360040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algn="ctr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IPCC GL</a:t>
            </a:r>
            <a:endParaRPr kumimoji="0" lang="ko-KR" altLang="en-US" sz="1000" b="1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7449277" y="4221088"/>
            <a:ext cx="1638182" cy="288032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성상별에너지함유량</a:t>
            </a:r>
            <a:endParaRPr kumimoji="0" lang="ko-KR" altLang="en-US" sz="11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5499061" y="5116227"/>
            <a:ext cx="1360706" cy="266419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여열회수 비율</a:t>
            </a:r>
          </a:p>
        </p:txBody>
      </p:sp>
      <p:cxnSp>
        <p:nvCxnSpPr>
          <p:cNvPr id="116" name="꺾인 연결선 115"/>
          <p:cNvCxnSpPr>
            <a:stCxn id="115" idx="1"/>
            <a:endCxn id="107" idx="3"/>
          </p:cNvCxnSpPr>
          <p:nvPr/>
        </p:nvCxnSpPr>
        <p:spPr>
          <a:xfrm rot="10800000">
            <a:off x="4640967" y="5248557"/>
            <a:ext cx="858095" cy="88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117" name="직사각형 116"/>
          <p:cNvSpPr/>
          <p:nvPr/>
        </p:nvSpPr>
        <p:spPr>
          <a:xfrm>
            <a:off x="5499061" y="5445227"/>
            <a:ext cx="1360706" cy="266419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RDF </a:t>
            </a:r>
            <a:r>
              <a:rPr kumimoji="0" lang="ko-KR" alt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생산량</a:t>
            </a:r>
          </a:p>
        </p:txBody>
      </p:sp>
      <p:cxnSp>
        <p:nvCxnSpPr>
          <p:cNvPr id="118" name="꺾인 연결선 117"/>
          <p:cNvCxnSpPr>
            <a:stCxn id="117" idx="1"/>
            <a:endCxn id="108" idx="3"/>
          </p:cNvCxnSpPr>
          <p:nvPr/>
        </p:nvCxnSpPr>
        <p:spPr>
          <a:xfrm rot="10800000" flipV="1">
            <a:off x="4640967" y="5578434"/>
            <a:ext cx="858095" cy="187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119" name="직사각형 118"/>
          <p:cNvSpPr/>
          <p:nvPr/>
        </p:nvSpPr>
        <p:spPr>
          <a:xfrm>
            <a:off x="7683303" y="5157192"/>
            <a:ext cx="1248139" cy="504056"/>
          </a:xfrm>
          <a:prstGeom prst="rect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>
            <a:normAutofit/>
          </a:bodyPr>
          <a:lstStyle/>
          <a:p>
            <a:pPr marL="0" marR="0" lvl="0" indent="0" algn="ctr" defTabSz="914400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국가고유</a:t>
            </a:r>
            <a:endParaRPr kumimoji="0" lang="en-US" altLang="ko-KR" sz="1000" b="1" kern="0" dirty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20" name="오른쪽 중괄호 119"/>
          <p:cNvSpPr/>
          <p:nvPr/>
        </p:nvSpPr>
        <p:spPr>
          <a:xfrm>
            <a:off x="6903218" y="5085184"/>
            <a:ext cx="312035" cy="648072"/>
          </a:xfrm>
          <a:prstGeom prst="rightBrac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21" name="모서리가 둥근 직사각형 120"/>
          <p:cNvSpPr/>
          <p:nvPr/>
        </p:nvSpPr>
        <p:spPr>
          <a:xfrm>
            <a:off x="287383" y="979714"/>
            <a:ext cx="9392194" cy="31612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/>
          <p:cNvSpPr/>
          <p:nvPr/>
        </p:nvSpPr>
        <p:spPr>
          <a:xfrm>
            <a:off x="339633" y="809897"/>
            <a:ext cx="2573383" cy="339634"/>
          </a:xfrm>
          <a:prstGeom prst="rect">
            <a:avLst/>
          </a:prstGeom>
          <a:gradFill rotWithShape="1">
            <a:gsLst>
              <a:gs pos="0">
                <a:srgbClr val="9BBB59"/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폐기물</a:t>
            </a:r>
            <a:r>
              <a:rPr kumimoji="0" lang="en-US" altLang="ko-KR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</a:t>
            </a:r>
            <a:r>
              <a:rPr kumimoji="0" lang="ko-KR" altLang="en-US" sz="18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비에너지</a:t>
            </a:r>
            <a:endParaRPr kumimoji="0" lang="ko-KR" altLang="en-US" sz="18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300445" y="4167050"/>
            <a:ext cx="9392194" cy="211618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직사각형 121"/>
          <p:cNvSpPr/>
          <p:nvPr/>
        </p:nvSpPr>
        <p:spPr>
          <a:xfrm>
            <a:off x="300447" y="5904414"/>
            <a:ext cx="1698171" cy="378822"/>
          </a:xfrm>
          <a:prstGeom prst="rect">
            <a:avLst/>
          </a:prstGeom>
          <a:gradFill rotWithShape="1">
            <a:gsLst>
              <a:gs pos="0">
                <a:srgbClr val="9BBB59"/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에너지</a:t>
            </a:r>
          </a:p>
        </p:txBody>
      </p:sp>
    </p:spTree>
    <p:extLst>
      <p:ext uri="{BB962C8B-B14F-4D97-AF65-F5344CB8AC3E}">
        <p14:creationId xmlns:p14="http://schemas.microsoft.com/office/powerpoint/2010/main" val="240612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ko-KR" altLang="en-US" dirty="0" smtClean="0">
                <a:latin typeface="+mn-lt"/>
                <a:ea typeface="+mj-ea"/>
              </a:rPr>
              <a:t>폐기물 부문 </a:t>
            </a:r>
            <a:r>
              <a:rPr lang="en-US" altLang="ko-KR" dirty="0" smtClean="0">
                <a:latin typeface="+mn-lt"/>
                <a:ea typeface="+mj-ea"/>
              </a:rPr>
              <a:t>:</a:t>
            </a:r>
            <a:r>
              <a:rPr lang="ko-KR" altLang="en-US" dirty="0" smtClean="0">
                <a:latin typeface="+mn-lt"/>
                <a:ea typeface="+mj-ea"/>
              </a:rPr>
              <a:t> 요약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80</a:t>
            </a:fld>
            <a:endParaRPr lang="en-US" altLang="ko-KR" dirty="0"/>
          </a:p>
        </p:txBody>
      </p:sp>
      <p:sp>
        <p:nvSpPr>
          <p:cNvPr id="95" name="모서리가 둥근 직사각형 94"/>
          <p:cNvSpPr/>
          <p:nvPr/>
        </p:nvSpPr>
        <p:spPr>
          <a:xfrm>
            <a:off x="5238174" y="1959418"/>
            <a:ext cx="4602511" cy="3161212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171450" marR="0" lvl="0" indent="-72000" defTabSz="914400" eaLnBrk="1" fontAlgn="auto" latinLnBrk="1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171450" marR="0" lvl="1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독립된 모형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/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모듈로 구성을 검토</a:t>
            </a:r>
            <a:endParaRPr kumimoji="0" lang="en-US" altLang="ko-KR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  <a:p>
            <a:pPr marL="288000" marR="0" lvl="1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비에너지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 배출이 대부분을 차지하여 다른 부문과는 완전히 성격이 다름 </a:t>
            </a:r>
          </a:p>
          <a:p>
            <a:pPr marL="288000" marR="0" lvl="1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수요 종류 과다</a:t>
            </a:r>
          </a:p>
          <a:p>
            <a:pPr marL="288000" marR="0" lvl="1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FOD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를 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MESSAGE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로 모형화하기에는 너무 복잡</a:t>
            </a:r>
          </a:p>
          <a:p>
            <a:pPr marL="288000" marR="0" lvl="1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  <a:p>
            <a:pPr marL="171450" marR="0" lvl="1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FOD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를 구현하기 위해서는 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output delay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기능 필요</a:t>
            </a:r>
          </a:p>
          <a:p>
            <a:pPr marL="288000" marR="0" lvl="1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MESSAGE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에서는 </a:t>
            </a:r>
            <a:r>
              <a:rPr kumimoji="0" lang="en-US" altLang="ko-KR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alags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 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  <a:sym typeface="Wingdings" panose="05000000000000000000" pitchFamily="2" charset="2"/>
              </a:rPr>
              <a:t>명령</a:t>
            </a:r>
            <a:endParaRPr kumimoji="0" lang="en-US" altLang="ko-KR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  <a:p>
            <a:pPr marL="288000" marR="0" lvl="1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b="1" kern="0" dirty="0" smtClean="0">
              <a:solidFill>
                <a:prstClr val="black"/>
              </a:solidFill>
              <a:latin typeface="맑은 고딕"/>
              <a:ea typeface="맑은 고딕"/>
              <a:sym typeface="Wingdings" panose="05000000000000000000" pitchFamily="2" charset="2"/>
            </a:endParaRPr>
          </a:p>
          <a:p>
            <a:pPr marL="171450" marR="0" lvl="1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b="1" kern="0" dirty="0" smtClean="0">
                <a:solidFill>
                  <a:prstClr val="black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감축 수단의 모형화 방안 제시 </a:t>
            </a:r>
            <a:endParaRPr kumimoji="0" lang="en-US" altLang="ko-KR" b="1" kern="0" dirty="0" smtClean="0">
              <a:solidFill>
                <a:prstClr val="black"/>
              </a:solidFill>
              <a:latin typeface="맑은 고딕"/>
              <a:ea typeface="맑은 고딕"/>
              <a:sym typeface="Wingdings" panose="05000000000000000000" pitchFamily="2" charset="2"/>
            </a:endParaRPr>
          </a:p>
          <a:p>
            <a:pPr marL="288000" marR="0" lvl="1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  <a:p>
            <a:pPr marL="288000" marR="0" lvl="1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  <a:sym typeface="Wingdings" panose="05000000000000000000" pitchFamily="2" charset="2"/>
            </a:endParaRPr>
          </a:p>
          <a:p>
            <a:pPr marL="171450" marR="0" lvl="1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b="1" kern="0" dirty="0" smtClean="0">
                <a:solidFill>
                  <a:prstClr val="black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폐기물 부문과 에너지 부문의 영역 구분 방법 제시</a:t>
            </a:r>
            <a:endParaRPr kumimoji="0" lang="en-US" altLang="ko-KR" b="1" kern="0" dirty="0" smtClean="0">
              <a:solidFill>
                <a:prstClr val="black"/>
              </a:solidFill>
              <a:latin typeface="맑은 고딕"/>
              <a:ea typeface="맑은 고딕"/>
              <a:sym typeface="Wingdings" panose="05000000000000000000" pitchFamily="2" charset="2"/>
            </a:endParaRPr>
          </a:p>
          <a:p>
            <a:pPr marL="288000" lvl="1" indent="-72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1" kern="0" dirty="0" smtClean="0">
                <a:solidFill>
                  <a:prstClr val="black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폐기물의 에너지화</a:t>
            </a:r>
            <a:endParaRPr kumimoji="0" lang="en-US" altLang="ko-KR" b="1" kern="0" dirty="0" smtClean="0">
              <a:solidFill>
                <a:prstClr val="black"/>
              </a:solidFill>
              <a:latin typeface="맑은 고딕"/>
              <a:ea typeface="맑은 고딕"/>
              <a:sym typeface="Wingdings" panose="05000000000000000000" pitchFamily="2" charset="2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350490" y="4184383"/>
            <a:ext cx="4134459" cy="220335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171450" marR="0" lvl="0" indent="-72000" defTabSz="914400" eaLnBrk="1" fontAlgn="auto" latinLnBrk="1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171450" marR="0" lvl="0" indent="-72000" defTabSz="91440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통계자료 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생활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(1986</a:t>
            </a:r>
            <a:r>
              <a:rPr kumimoji="0" lang="ko-KR" alt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년이후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),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사업장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(1979</a:t>
            </a:r>
            <a:r>
              <a:rPr kumimoji="0" lang="ko-KR" alt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년이후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),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건설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(1996</a:t>
            </a:r>
            <a:r>
              <a:rPr kumimoji="0" lang="ko-KR" alt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년이후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),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지정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(1995</a:t>
            </a:r>
            <a:r>
              <a:rPr kumimoji="0" lang="ko-KR" alt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년이후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),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의료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(2000</a:t>
            </a:r>
            <a:r>
              <a:rPr kumimoji="0" lang="ko-KR" alt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년이후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</a:t>
            </a:r>
          </a:p>
          <a:p>
            <a:pPr marL="171450" marR="0" lvl="0" indent="-72000" defTabSz="91440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성상구분이 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IPCC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와는 다름</a:t>
            </a:r>
          </a:p>
          <a:p>
            <a:pPr marL="171450" marR="0" lvl="0" indent="-72000" defTabSz="91440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국가보고서 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매립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소각에 대표 배출계수 사용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성상구분 없음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)</a:t>
            </a:r>
          </a:p>
          <a:p>
            <a:pPr marL="288000" marR="0" lvl="1" indent="-72000" defTabSz="91440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분해가능유기탄소비율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(DOC),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반응상수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(k),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화석탄소함량 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(FCF)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등</a:t>
            </a:r>
          </a:p>
          <a:p>
            <a:pPr marL="288000" marR="0" lvl="1" indent="-72000" defTabSz="91440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배출량 산정 오류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감축정책의 효과 왜곡</a:t>
            </a:r>
            <a:endParaRPr kumimoji="0" lang="en-US" altLang="ko-KR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171450" indent="-7200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ko-KR" altLang="en-US" b="1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국가보고서 </a:t>
            </a:r>
            <a:r>
              <a:rPr kumimoji="0" lang="en-US" altLang="ko-KR" b="1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: </a:t>
            </a:r>
            <a:r>
              <a:rPr kumimoji="0" lang="ko-KR" altLang="en-US" b="1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소각에 의한 여열 회수를 폐기물 부문에 포함</a:t>
            </a:r>
            <a:endParaRPr kumimoji="0" lang="ko-KR" altLang="en-US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7" name="모서리가 둥근 직사각형 96"/>
          <p:cNvSpPr/>
          <p:nvPr/>
        </p:nvSpPr>
        <p:spPr>
          <a:xfrm>
            <a:off x="350490" y="1120649"/>
            <a:ext cx="4134459" cy="2175918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marL="171450" marR="0" lvl="0" indent="-72000" defTabSz="914400" eaLnBrk="1" fontAlgn="auto" latinLnBrk="1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171450" marR="0" lvl="0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비에너지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배출</a:t>
            </a:r>
          </a:p>
          <a:p>
            <a:pPr marL="171450" marR="0" lvl="0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폐기물원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생활폐기물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사업장폐기물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지정폐기물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의료폐기물</a:t>
            </a:r>
          </a:p>
          <a:p>
            <a:pPr marL="171450" marR="0" lvl="0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폐기물 처리 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매립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소각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생물학적 처리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하폐수</a:t>
            </a:r>
            <a:endParaRPr kumimoji="0" lang="ko-KR" altLang="en-US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  <a:p>
            <a:pPr marL="171450" marR="0" lvl="0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매립에 따른 배출량 산정 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FOD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가 기본 </a:t>
            </a:r>
          </a:p>
          <a:p>
            <a:pPr marL="171450" marR="0" lvl="0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매립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소각 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 </a:t>
            </a:r>
            <a:r>
              <a:rPr kumimoji="0" lang="ko-KR" altLang="en-US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성상별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배출계수</a:t>
            </a:r>
          </a:p>
          <a:p>
            <a:pPr marL="171450" marR="0" lvl="0" indent="-7200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폐기물 처리에 따른 에너지 발생 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: </a:t>
            </a:r>
            <a:r>
              <a:rPr kumimoji="0" lang="ko-KR" altLang="en-US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에너지 부문에 포함 </a:t>
            </a:r>
            <a:r>
              <a:rPr kumimoji="0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(IPCC GL)</a:t>
            </a:r>
          </a:p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 </a:t>
            </a:r>
            <a:endParaRPr kumimoji="0" lang="ko-KR" altLang="en-US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98" name="모서리가 둥근 직사각형 97"/>
          <p:cNvSpPr/>
          <p:nvPr/>
        </p:nvSpPr>
        <p:spPr>
          <a:xfrm>
            <a:off x="1519882" y="822955"/>
            <a:ext cx="1638182" cy="564015"/>
          </a:xfrm>
          <a:prstGeom prst="round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400" b="1" kern="0" dirty="0" smtClean="0">
                <a:solidFill>
                  <a:srgbClr val="1F497D">
                    <a:lumMod val="75000"/>
                  </a:srgbClr>
                </a:solidFill>
                <a:latin typeface="맑은 고딕"/>
                <a:ea typeface="맑은 고딕"/>
              </a:rPr>
              <a:t>부문특성</a:t>
            </a:r>
          </a:p>
        </p:txBody>
      </p:sp>
      <p:sp>
        <p:nvSpPr>
          <p:cNvPr id="99" name="모서리가 둥근 직사각형 98"/>
          <p:cNvSpPr/>
          <p:nvPr/>
        </p:nvSpPr>
        <p:spPr>
          <a:xfrm>
            <a:off x="1676636" y="3740837"/>
            <a:ext cx="1638182" cy="564015"/>
          </a:xfrm>
          <a:prstGeom prst="round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kern="0" dirty="0" smtClean="0">
                <a:solidFill>
                  <a:srgbClr val="1F497D">
                    <a:lumMod val="75000"/>
                  </a:srgbClr>
                </a:solidFill>
                <a:latin typeface="맑은 고딕"/>
                <a:ea typeface="맑은 고딕"/>
              </a:rPr>
              <a:t>국내특성</a:t>
            </a:r>
          </a:p>
        </p:txBody>
      </p:sp>
      <p:sp>
        <p:nvSpPr>
          <p:cNvPr id="100" name="모서리가 둥근 직사각형 99"/>
          <p:cNvSpPr/>
          <p:nvPr/>
        </p:nvSpPr>
        <p:spPr>
          <a:xfrm>
            <a:off x="6707645" y="1588361"/>
            <a:ext cx="1638182" cy="583024"/>
          </a:xfrm>
          <a:prstGeom prst="round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400" b="1" kern="0" dirty="0" smtClean="0">
                <a:solidFill>
                  <a:srgbClr val="1F497D">
                    <a:lumMod val="75000"/>
                  </a:srgbClr>
                </a:solidFill>
                <a:latin typeface="맑은 고딕"/>
                <a:ea typeface="맑은 고딕"/>
              </a:rPr>
              <a:t>모형화</a:t>
            </a:r>
            <a:r>
              <a:rPr kumimoji="0" lang="en-US" altLang="ko-KR" sz="1400" b="1" kern="0" dirty="0" smtClean="0">
                <a:solidFill>
                  <a:srgbClr val="1F497D">
                    <a:lumMod val="75000"/>
                  </a:srgbClr>
                </a:solidFill>
                <a:latin typeface="맑은 고딕"/>
                <a:ea typeface="맑은 고딕"/>
              </a:rPr>
              <a:t>/</a:t>
            </a:r>
            <a:r>
              <a:rPr kumimoji="0" lang="ko-KR" altLang="en-US" sz="1400" b="1" kern="0" dirty="0" smtClean="0">
                <a:solidFill>
                  <a:srgbClr val="1F497D">
                    <a:lumMod val="75000"/>
                  </a:srgbClr>
                </a:solidFill>
                <a:latin typeface="맑은 고딕"/>
                <a:ea typeface="맑은 고딕"/>
              </a:rPr>
              <a:t>시스템 특성</a:t>
            </a:r>
          </a:p>
        </p:txBody>
      </p:sp>
      <p:sp>
        <p:nvSpPr>
          <p:cNvPr id="101" name="오른쪽으로 구부러진 화살표 100"/>
          <p:cNvSpPr/>
          <p:nvPr/>
        </p:nvSpPr>
        <p:spPr>
          <a:xfrm>
            <a:off x="37033" y="2649935"/>
            <a:ext cx="313456" cy="1551936"/>
          </a:xfrm>
          <a:prstGeom prst="curvedRightArrow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02" name="오른쪽으로 구부러진 화살표 101"/>
          <p:cNvSpPr/>
          <p:nvPr/>
        </p:nvSpPr>
        <p:spPr>
          <a:xfrm rot="10800000">
            <a:off x="4484949" y="2866389"/>
            <a:ext cx="240763" cy="1516734"/>
          </a:xfrm>
          <a:prstGeom prst="curvedRightArrow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103" name="오른쪽 화살표 102"/>
          <p:cNvSpPr/>
          <p:nvPr/>
        </p:nvSpPr>
        <p:spPr>
          <a:xfrm>
            <a:off x="4778468" y="3257652"/>
            <a:ext cx="390043" cy="619726"/>
          </a:xfrm>
          <a:prstGeom prst="rightArrow">
            <a:avLst/>
          </a:prstGeom>
          <a:gradFill rotWithShape="1">
            <a:gsLst>
              <a:gs pos="0">
                <a:srgbClr val="9BBB59">
                  <a:shade val="51000"/>
                  <a:satMod val="130000"/>
                </a:srgbClr>
              </a:gs>
              <a:gs pos="80000">
                <a:srgbClr val="9BBB59">
                  <a:shade val="93000"/>
                  <a:satMod val="130000"/>
                </a:srgbClr>
              </a:gs>
              <a:gs pos="100000">
                <a:srgbClr val="9BBB5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03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폐기물 부문 </a:t>
            </a:r>
            <a:r>
              <a:rPr lang="en-US" altLang="ko-KR" b="0" dirty="0" smtClean="0"/>
              <a:t>:</a:t>
            </a:r>
            <a:r>
              <a:rPr lang="ko-KR" altLang="en-US" b="0" dirty="0" smtClean="0"/>
              <a:t> 상향식 모형화 방안</a:t>
            </a:r>
            <a:r>
              <a:rPr lang="en-US" altLang="ko-KR" b="0" dirty="0" smtClean="0"/>
              <a:t>-1</a:t>
            </a:r>
            <a:endParaRPr lang="ko-KR" altLang="en-US" b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소각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81</a:t>
            </a:fld>
            <a:endParaRPr lang="en-US" altLang="ko-KR" dirty="0"/>
          </a:p>
        </p:txBody>
      </p:sp>
      <p:pic>
        <p:nvPicPr>
          <p:cNvPr id="25601" name="_x154384344" descr="EMB00002d502ac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6651" y="1946365"/>
            <a:ext cx="2457805" cy="2834640"/>
          </a:xfrm>
          <a:prstGeom prst="rect">
            <a:avLst/>
          </a:prstGeom>
          <a:noFill/>
        </p:spPr>
      </p:pic>
      <p:pic>
        <p:nvPicPr>
          <p:cNvPr id="25603" name="_x154385864" descr="EMB00002d502ac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02628" y="2050869"/>
            <a:ext cx="3125964" cy="2821578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718457" y="5016137"/>
            <a:ext cx="30492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소각 </a:t>
            </a:r>
            <a:r>
              <a:rPr lang="en-US" altLang="ko-KR" dirty="0" smtClean="0"/>
              <a:t>RES : </a:t>
            </a:r>
            <a:r>
              <a:rPr lang="ko-KR" altLang="en-US" dirty="0" smtClean="0"/>
              <a:t>감축수단이 반영되지 않은 경우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663440" y="5029201"/>
            <a:ext cx="3459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소각 </a:t>
            </a:r>
            <a:r>
              <a:rPr lang="en-US" altLang="ko-KR" dirty="0" smtClean="0"/>
              <a:t>RES : </a:t>
            </a:r>
            <a:r>
              <a:rPr lang="ko-KR" altLang="en-US" dirty="0" smtClean="0"/>
              <a:t>감축수단이 반영되지 않은 경우</a:t>
            </a:r>
            <a:r>
              <a:rPr lang="en-US" altLang="ko-KR" dirty="0" smtClean="0"/>
              <a:t>(</a:t>
            </a:r>
            <a:r>
              <a:rPr lang="ko-KR" altLang="en-US" dirty="0" smtClean="0"/>
              <a:t>제안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060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폐기물 부문 </a:t>
            </a:r>
            <a:r>
              <a:rPr lang="en-US" altLang="ko-KR" b="0" dirty="0" smtClean="0"/>
              <a:t>:</a:t>
            </a:r>
            <a:r>
              <a:rPr lang="ko-KR" altLang="en-US" b="0" dirty="0" smtClean="0"/>
              <a:t> 상향식 모형화 방안</a:t>
            </a:r>
            <a:r>
              <a:rPr lang="en-US" altLang="ko-KR" b="0" dirty="0" smtClean="0"/>
              <a:t>-2</a:t>
            </a:r>
            <a:endParaRPr lang="ko-KR" altLang="en-US" b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매립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82</a:t>
            </a:fld>
            <a:endParaRPr lang="en-US" altLang="ko-KR" dirty="0"/>
          </a:p>
        </p:txBody>
      </p:sp>
      <p:pic>
        <p:nvPicPr>
          <p:cNvPr id="28675" name="_x105328096" descr="EMB00002d502ad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58538"/>
            <a:ext cx="4715691" cy="2878952"/>
          </a:xfrm>
          <a:prstGeom prst="rect">
            <a:avLst/>
          </a:prstGeom>
          <a:noFill/>
        </p:spPr>
      </p:pic>
      <p:pic>
        <p:nvPicPr>
          <p:cNvPr id="28673" name="_x154384584" descr="EMB00002d502ad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85063" y="3306912"/>
            <a:ext cx="5320937" cy="2974373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796834" y="4389120"/>
            <a:ext cx="30492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매립 </a:t>
            </a:r>
            <a:r>
              <a:rPr lang="en-US" altLang="ko-KR" dirty="0" smtClean="0"/>
              <a:t>RES : </a:t>
            </a:r>
            <a:r>
              <a:rPr lang="ko-KR" altLang="en-US" dirty="0" smtClean="0"/>
              <a:t>감축수단이 반영되지 않은 경우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60720" y="2756262"/>
            <a:ext cx="29594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매립 </a:t>
            </a:r>
            <a:r>
              <a:rPr lang="en-US" altLang="ko-KR" dirty="0" smtClean="0"/>
              <a:t>RES : </a:t>
            </a:r>
            <a:r>
              <a:rPr lang="ko-KR" altLang="en-US" dirty="0" smtClean="0"/>
              <a:t>감축수단이 반영된 경우</a:t>
            </a:r>
            <a:r>
              <a:rPr lang="en-US" altLang="ko-KR" dirty="0" smtClean="0"/>
              <a:t>(</a:t>
            </a:r>
            <a:r>
              <a:rPr lang="ko-KR" altLang="en-US" dirty="0" smtClean="0"/>
              <a:t>제안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753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폐기물 부문 </a:t>
            </a:r>
            <a:r>
              <a:rPr lang="en-US" altLang="ko-KR" b="0" dirty="0" smtClean="0"/>
              <a:t>:</a:t>
            </a:r>
            <a:r>
              <a:rPr lang="ko-KR" altLang="en-US" b="0" dirty="0" smtClean="0"/>
              <a:t> 상향식 모형화 방안</a:t>
            </a:r>
            <a:r>
              <a:rPr lang="en-US" altLang="ko-KR" b="0" dirty="0" smtClean="0"/>
              <a:t>-3</a:t>
            </a:r>
            <a:endParaRPr lang="ko-KR" altLang="en-US" b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생물학적 처리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하폐수</a:t>
            </a:r>
            <a:r>
              <a:rPr lang="ko-KR" altLang="en-US" dirty="0" smtClean="0"/>
              <a:t> 처리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83</a:t>
            </a:fld>
            <a:endParaRPr lang="en-US" altLang="ko-KR" dirty="0"/>
          </a:p>
        </p:txBody>
      </p:sp>
      <p:sp>
        <p:nvSpPr>
          <p:cNvPr id="11" name="TextBox 10"/>
          <p:cNvSpPr txBox="1"/>
          <p:nvPr/>
        </p:nvSpPr>
        <p:spPr>
          <a:xfrm>
            <a:off x="1463047" y="4336868"/>
            <a:ext cx="1505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생물학적 처리  </a:t>
            </a:r>
            <a:r>
              <a:rPr lang="en-US" altLang="ko-KR" dirty="0" smtClean="0"/>
              <a:t>RES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675131" y="5225141"/>
            <a:ext cx="13516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하폐수</a:t>
            </a:r>
            <a:r>
              <a:rPr lang="ko-KR" altLang="en-US" dirty="0" smtClean="0"/>
              <a:t> 처리  </a:t>
            </a:r>
            <a:r>
              <a:rPr lang="en-US" altLang="ko-KR" dirty="0" smtClean="0"/>
              <a:t>RES</a:t>
            </a:r>
            <a:endParaRPr lang="ko-KR" altLang="en-US" dirty="0"/>
          </a:p>
        </p:txBody>
      </p:sp>
      <p:pic>
        <p:nvPicPr>
          <p:cNvPr id="32769" name="_x168280448" descr="EMB00002d502ad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" y="2129246"/>
            <a:ext cx="3077281" cy="1894114"/>
          </a:xfrm>
          <a:prstGeom prst="rect">
            <a:avLst/>
          </a:prstGeom>
          <a:noFill/>
        </p:spPr>
      </p:pic>
      <p:pic>
        <p:nvPicPr>
          <p:cNvPr id="32771" name="_x169316384" descr="EMB00002d502ad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42262" y="1267097"/>
            <a:ext cx="4323398" cy="378822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9719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폐기물 부문 </a:t>
            </a:r>
            <a:r>
              <a:rPr lang="en-US" altLang="ko-KR" b="0" dirty="0"/>
              <a:t>:</a:t>
            </a:r>
            <a:r>
              <a:rPr lang="ko-KR" altLang="en-US" b="0" dirty="0"/>
              <a:t> </a:t>
            </a:r>
            <a:r>
              <a:rPr lang="ko-KR" altLang="en-US" b="0" dirty="0" smtClean="0"/>
              <a:t>국내 특성과 시스템화 방안</a:t>
            </a:r>
            <a:r>
              <a:rPr lang="en-US" altLang="ko-KR" b="0" dirty="0" smtClean="0"/>
              <a:t>-1</a:t>
            </a:r>
            <a:endParaRPr lang="ko-KR" altLang="en-US" b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국가 온실가스 </a:t>
            </a:r>
            <a:r>
              <a:rPr lang="ko-KR" altLang="en-US" dirty="0" err="1" smtClean="0"/>
              <a:t>인벤토리</a:t>
            </a:r>
            <a:r>
              <a:rPr lang="ko-KR" altLang="en-US" dirty="0" smtClean="0"/>
              <a:t> 산정의 특성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소각 및 매립에 의한 온실가스 배출량 </a:t>
            </a:r>
            <a:r>
              <a:rPr lang="ko-KR" altLang="en-US" dirty="0" err="1" smtClean="0"/>
              <a:t>산정시</a:t>
            </a:r>
            <a:r>
              <a:rPr lang="ko-KR" altLang="en-US" dirty="0" smtClean="0"/>
              <a:t> 성상을 구별하지 않음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온실가스 배출량 산정에 오류가 발생할 가능성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생활폐기물 </a:t>
            </a:r>
            <a:r>
              <a:rPr lang="en-US" altLang="ko-KR" dirty="0" smtClean="0"/>
              <a:t>DOC </a:t>
            </a:r>
            <a:r>
              <a:rPr lang="ko-KR" altLang="en-US" dirty="0" smtClean="0"/>
              <a:t>비교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소각에 따른 온실가스 배출량 </a:t>
            </a:r>
            <a:r>
              <a:rPr lang="ko-KR" altLang="en-US" dirty="0" err="1" smtClean="0"/>
              <a:t>산정시</a:t>
            </a:r>
            <a:r>
              <a:rPr lang="ko-KR" altLang="en-US" dirty="0" smtClean="0"/>
              <a:t> 여열회수 시설이 있는 소각시설에서 발생한 온실가스는 제외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배출되는 온실가스 량과 소각여열 회수에 의한 온실가스 </a:t>
            </a:r>
            <a:r>
              <a:rPr lang="ko-KR" altLang="en-US" dirty="0" err="1" smtClean="0"/>
              <a:t>감축량이</a:t>
            </a:r>
            <a:r>
              <a:rPr lang="ko-KR" altLang="en-US" dirty="0" smtClean="0"/>
              <a:t> 같다는 것을 전제</a:t>
            </a:r>
            <a:endParaRPr lang="en-US" altLang="ko-KR" dirty="0" smtClean="0"/>
          </a:p>
          <a:p>
            <a:pPr lvl="2">
              <a:buNone/>
            </a:pPr>
            <a:r>
              <a:rPr lang="en-US" altLang="ko-KR" dirty="0" smtClean="0">
                <a:sym typeface="Wingdings" pitchFamily="2" charset="2"/>
              </a:rPr>
              <a:t> </a:t>
            </a:r>
            <a:r>
              <a:rPr lang="ko-KR" altLang="en-US" dirty="0" smtClean="0"/>
              <a:t>실제로 소각여열회수에 의한 </a:t>
            </a:r>
            <a:r>
              <a:rPr lang="ko-KR" altLang="en-US" dirty="0" err="1" smtClean="0"/>
              <a:t>감축량이</a:t>
            </a:r>
            <a:r>
              <a:rPr lang="ko-KR" altLang="en-US" dirty="0" smtClean="0"/>
              <a:t> 훨씬 적음</a:t>
            </a:r>
          </a:p>
          <a:p>
            <a:pPr lvl="2"/>
            <a:r>
              <a:rPr lang="en-US" altLang="ko-KR" dirty="0" err="1" smtClean="0"/>
              <a:t>폐기물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부문에서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생산되는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에너지</a:t>
            </a:r>
            <a:r>
              <a:rPr lang="ko-KR" altLang="en-US" dirty="0" smtClean="0"/>
              <a:t>를 폐기물 부문에 포함시킨다는 것을 의미</a:t>
            </a:r>
            <a:endParaRPr lang="en-US" altLang="ko-KR" dirty="0" smtClean="0"/>
          </a:p>
          <a:p>
            <a:pPr lvl="2">
              <a:buNone/>
            </a:pPr>
            <a:r>
              <a:rPr lang="en-US" altLang="ko-KR" dirty="0" smtClean="0">
                <a:sym typeface="Wingdings" pitchFamily="2" charset="2"/>
              </a:rPr>
              <a:t></a:t>
            </a:r>
            <a:r>
              <a:rPr lang="en-US" altLang="ko-KR" dirty="0" smtClean="0"/>
              <a:t>IPCC </a:t>
            </a:r>
            <a:r>
              <a:rPr lang="en-US" altLang="ko-KR" dirty="0" err="1" smtClean="0"/>
              <a:t>GL에서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폐기물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부문에서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생산되는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에너지는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에너지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부문에서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포함시킬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것을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권고</a:t>
            </a:r>
            <a:endParaRPr lang="en-US" altLang="ko-KR" dirty="0" smtClean="0"/>
          </a:p>
          <a:p>
            <a:pPr lvl="2"/>
            <a:endParaRPr lang="en-US" altLang="ko-KR" dirty="0" smtClean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84</a:t>
            </a:fld>
            <a:endParaRPr lang="en-US" altLang="ko-KR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6262098" y="1659306"/>
          <a:ext cx="3143158" cy="2747772"/>
        </p:xfrm>
        <a:graphic>
          <a:graphicData uri="http://schemas.openxmlformats.org/drawingml/2006/table">
            <a:tbl>
              <a:tblPr/>
              <a:tblGrid>
                <a:gridCol w="979220"/>
                <a:gridCol w="1081969"/>
                <a:gridCol w="1081969"/>
              </a:tblGrid>
              <a:tr h="48182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30" dirty="0">
                          <a:solidFill>
                            <a:srgbClr val="000000"/>
                          </a:solidFill>
                          <a:ea typeface="-윤명조120"/>
                        </a:rPr>
                        <a:t>년도</a:t>
                      </a:r>
                      <a:endParaRPr lang="ko-KR" altLang="en-US" sz="1050" kern="0" spc="-3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30">
                          <a:solidFill>
                            <a:srgbClr val="000000"/>
                          </a:solidFill>
                          <a:latin typeface="-윤명조120"/>
                        </a:rPr>
                        <a:t>DOC </a:t>
                      </a:r>
                      <a:r>
                        <a:rPr lang="ko-KR" altLang="en-US" sz="1050" kern="0" spc="-30">
                          <a:solidFill>
                            <a:srgbClr val="000000"/>
                          </a:solidFill>
                          <a:ea typeface="-윤명조120"/>
                        </a:rPr>
                        <a:t>가중평균</a:t>
                      </a:r>
                      <a:endParaRPr lang="ko-KR" altLang="en-US" sz="1050" kern="0" spc="-3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30">
                          <a:solidFill>
                            <a:srgbClr val="000000"/>
                          </a:solidFill>
                          <a:ea typeface="-윤명조120"/>
                        </a:rPr>
                        <a:t>국가온실가스 인벤토리 </a:t>
                      </a:r>
                      <a:r>
                        <a:rPr lang="en-US" altLang="ko-KR" sz="1050" kern="0" spc="-30">
                          <a:solidFill>
                            <a:srgbClr val="000000"/>
                          </a:solidFill>
                          <a:latin typeface="-윤명조120"/>
                        </a:rPr>
                        <a:t>DOC</a:t>
                      </a:r>
                      <a:endParaRPr lang="ko-KR" altLang="en-US" sz="1050" kern="0" spc="-3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894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30">
                          <a:solidFill>
                            <a:srgbClr val="000000"/>
                          </a:solidFill>
                          <a:latin typeface="-윤명조120"/>
                        </a:rPr>
                        <a:t>2010</a:t>
                      </a:r>
                      <a:r>
                        <a:rPr lang="ko-KR" altLang="en-US" sz="1050" kern="0" spc="-30">
                          <a:solidFill>
                            <a:srgbClr val="000000"/>
                          </a:solidFill>
                          <a:ea typeface="-윤명조120"/>
                        </a:rPr>
                        <a:t>년</a:t>
                      </a:r>
                      <a:endParaRPr lang="ko-KR" altLang="en-US" sz="1050" kern="0" spc="-3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30">
                          <a:solidFill>
                            <a:srgbClr val="000000"/>
                          </a:solidFill>
                          <a:latin typeface="-윤명조120"/>
                        </a:rPr>
                        <a:t>0.057 </a:t>
                      </a:r>
                      <a:endParaRPr lang="en-US" sz="1050" kern="0" spc="-3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30">
                          <a:solidFill>
                            <a:srgbClr val="000000"/>
                          </a:solidFill>
                          <a:latin typeface="-윤명조120"/>
                        </a:rPr>
                        <a:t>0.09</a:t>
                      </a:r>
                      <a:endParaRPr lang="en-US" sz="1050" kern="0" spc="-3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894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30">
                          <a:solidFill>
                            <a:srgbClr val="000000"/>
                          </a:solidFill>
                          <a:latin typeface="-윤명조120"/>
                        </a:rPr>
                        <a:t>2009</a:t>
                      </a:r>
                      <a:r>
                        <a:rPr lang="ko-KR" altLang="en-US" sz="1050" kern="0" spc="-30">
                          <a:solidFill>
                            <a:srgbClr val="000000"/>
                          </a:solidFill>
                          <a:ea typeface="-윤명조120"/>
                        </a:rPr>
                        <a:t>년</a:t>
                      </a:r>
                      <a:endParaRPr lang="ko-KR" altLang="en-US" sz="1050" kern="0" spc="-3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30">
                          <a:solidFill>
                            <a:srgbClr val="000000"/>
                          </a:solidFill>
                          <a:latin typeface="-윤명조120"/>
                        </a:rPr>
                        <a:t>0.059 </a:t>
                      </a:r>
                      <a:endParaRPr lang="en-US" sz="1050" kern="0" spc="-3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94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30">
                          <a:solidFill>
                            <a:srgbClr val="000000"/>
                          </a:solidFill>
                          <a:latin typeface="-윤명조120"/>
                        </a:rPr>
                        <a:t>2008</a:t>
                      </a:r>
                      <a:r>
                        <a:rPr lang="ko-KR" altLang="en-US" sz="1050" kern="0" spc="-30">
                          <a:solidFill>
                            <a:srgbClr val="000000"/>
                          </a:solidFill>
                          <a:ea typeface="-윤명조120"/>
                        </a:rPr>
                        <a:t>년</a:t>
                      </a:r>
                      <a:endParaRPr lang="ko-KR" altLang="en-US" sz="1050" kern="0" spc="-3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30">
                          <a:solidFill>
                            <a:srgbClr val="000000"/>
                          </a:solidFill>
                          <a:latin typeface="-윤명조120"/>
                        </a:rPr>
                        <a:t>0.069 </a:t>
                      </a:r>
                      <a:endParaRPr lang="en-US" sz="1050" kern="0" spc="-3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94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30">
                          <a:solidFill>
                            <a:srgbClr val="000000"/>
                          </a:solidFill>
                          <a:latin typeface="-윤명조120"/>
                        </a:rPr>
                        <a:t>2007</a:t>
                      </a:r>
                      <a:r>
                        <a:rPr lang="ko-KR" altLang="en-US" sz="1050" kern="0" spc="-30">
                          <a:solidFill>
                            <a:srgbClr val="000000"/>
                          </a:solidFill>
                          <a:ea typeface="-윤명조120"/>
                        </a:rPr>
                        <a:t>년</a:t>
                      </a:r>
                      <a:endParaRPr lang="ko-KR" altLang="en-US" sz="1050" kern="0" spc="-3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30">
                          <a:solidFill>
                            <a:srgbClr val="000000"/>
                          </a:solidFill>
                          <a:latin typeface="-윤명조120"/>
                        </a:rPr>
                        <a:t>0.083 </a:t>
                      </a:r>
                      <a:endParaRPr lang="en-US" sz="1050" kern="0" spc="-3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94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30">
                          <a:solidFill>
                            <a:srgbClr val="000000"/>
                          </a:solidFill>
                          <a:latin typeface="-윤명조120"/>
                        </a:rPr>
                        <a:t>2006</a:t>
                      </a:r>
                      <a:r>
                        <a:rPr lang="ko-KR" altLang="en-US" sz="1050" kern="0" spc="-30">
                          <a:solidFill>
                            <a:srgbClr val="000000"/>
                          </a:solidFill>
                          <a:ea typeface="-윤명조120"/>
                        </a:rPr>
                        <a:t>년</a:t>
                      </a:r>
                      <a:endParaRPr lang="ko-KR" altLang="en-US" sz="1050" kern="0" spc="-3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30">
                          <a:solidFill>
                            <a:srgbClr val="000000"/>
                          </a:solidFill>
                          <a:latin typeface="-윤명조120"/>
                        </a:rPr>
                        <a:t>0.116 </a:t>
                      </a:r>
                      <a:endParaRPr lang="en-US" sz="1050" kern="0" spc="-3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94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30" dirty="0">
                          <a:solidFill>
                            <a:srgbClr val="000000"/>
                          </a:solidFill>
                          <a:latin typeface="-윤명조120"/>
                        </a:rPr>
                        <a:t>2005</a:t>
                      </a:r>
                      <a:r>
                        <a:rPr lang="ko-KR" altLang="en-US" sz="1050" kern="0" spc="-30" dirty="0">
                          <a:solidFill>
                            <a:srgbClr val="000000"/>
                          </a:solidFill>
                          <a:ea typeface="-윤명조120"/>
                        </a:rPr>
                        <a:t>년</a:t>
                      </a:r>
                      <a:endParaRPr lang="ko-KR" altLang="en-US" sz="1050" kern="0" spc="-3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30">
                          <a:solidFill>
                            <a:srgbClr val="000000"/>
                          </a:solidFill>
                          <a:latin typeface="-윤명조120"/>
                        </a:rPr>
                        <a:t>0.094 </a:t>
                      </a:r>
                      <a:endParaRPr lang="en-US" sz="1050" kern="0" spc="-3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94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30">
                          <a:solidFill>
                            <a:srgbClr val="000000"/>
                          </a:solidFill>
                          <a:latin typeface="-윤명조120"/>
                        </a:rPr>
                        <a:t>2004</a:t>
                      </a:r>
                      <a:r>
                        <a:rPr lang="ko-KR" altLang="en-US" sz="1050" kern="0" spc="-30">
                          <a:solidFill>
                            <a:srgbClr val="000000"/>
                          </a:solidFill>
                          <a:ea typeface="-윤명조120"/>
                        </a:rPr>
                        <a:t>년</a:t>
                      </a:r>
                      <a:endParaRPr lang="ko-KR" altLang="en-US" sz="1050" kern="0" spc="-3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30" dirty="0">
                          <a:solidFill>
                            <a:srgbClr val="000000"/>
                          </a:solidFill>
                          <a:latin typeface="-윤명조120"/>
                        </a:rPr>
                        <a:t>0.099 </a:t>
                      </a:r>
                      <a:endParaRPr lang="en-US" sz="1050" kern="0" spc="-3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42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폐기물 부문 </a:t>
            </a:r>
            <a:r>
              <a:rPr lang="en-US" altLang="ko-KR" b="0" dirty="0" smtClean="0"/>
              <a:t>: </a:t>
            </a:r>
            <a:r>
              <a:rPr lang="ko-KR" altLang="en-US" b="0" dirty="0" smtClean="0"/>
              <a:t>국내 특성과 시스템화 방안</a:t>
            </a:r>
            <a:r>
              <a:rPr lang="en-US" altLang="ko-KR" b="0" dirty="0" smtClean="0"/>
              <a:t>-2</a:t>
            </a:r>
            <a:endParaRPr lang="ko-KR" altLang="en-US" b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2737" y="900113"/>
            <a:ext cx="8534400" cy="5195887"/>
          </a:xfrm>
        </p:spPr>
        <p:txBody>
          <a:bodyPr/>
          <a:lstStyle/>
          <a:p>
            <a:r>
              <a:rPr lang="ko-KR" altLang="en-US" dirty="0" smtClean="0"/>
              <a:t>폐기물 부문의 주요 감축수단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감축수단 분류</a:t>
            </a:r>
            <a:r>
              <a:rPr lang="en-US" altLang="ko-KR" dirty="0" smtClean="0"/>
              <a:t>: </a:t>
            </a:r>
            <a:r>
              <a:rPr lang="ko-KR" altLang="en-US" dirty="0" smtClean="0"/>
              <a:t>폐기물 발생량 축소</a:t>
            </a:r>
            <a:r>
              <a:rPr lang="en-US" altLang="ko-KR" dirty="0" smtClean="0"/>
              <a:t>, </a:t>
            </a:r>
            <a:r>
              <a:rPr lang="ko-KR" altLang="en-US" dirty="0" smtClean="0"/>
              <a:t>폐기물 처리량 축소</a:t>
            </a:r>
            <a:r>
              <a:rPr lang="en-US" altLang="ko-KR" dirty="0" smtClean="0"/>
              <a:t>, </a:t>
            </a:r>
            <a:r>
              <a:rPr lang="ko-KR" altLang="en-US" dirty="0" smtClean="0"/>
              <a:t>부산물 에너지화</a:t>
            </a:r>
            <a:endParaRPr lang="en-US" altLang="ko-KR" dirty="0" smtClean="0"/>
          </a:p>
          <a:p>
            <a:pPr lvl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85</a:t>
            </a:fld>
            <a:endParaRPr lang="en-US" altLang="ko-KR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537166"/>
              </p:ext>
            </p:extLst>
          </p:nvPr>
        </p:nvGraphicFramePr>
        <p:xfrm>
          <a:off x="1658982" y="1811847"/>
          <a:ext cx="6358476" cy="4235046"/>
        </p:xfrm>
        <a:graphic>
          <a:graphicData uri="http://schemas.openxmlformats.org/drawingml/2006/table">
            <a:tbl>
              <a:tblPr/>
              <a:tblGrid>
                <a:gridCol w="1189650"/>
                <a:gridCol w="1169140"/>
                <a:gridCol w="2778049"/>
                <a:gridCol w="1221637"/>
              </a:tblGrid>
              <a:tr h="27969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a typeface="-윤명조120"/>
                        </a:rPr>
                        <a:t>구분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5F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a typeface="-윤명조120"/>
                        </a:rPr>
                        <a:t>감축수단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a typeface="-윤명조120"/>
                        </a:rPr>
                        <a:t>출처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5F3"/>
                    </a:solidFill>
                  </a:tcPr>
                </a:tc>
              </a:tr>
              <a:tr h="279690">
                <a:tc rowSpan="9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a typeface="-윤명조120"/>
                        </a:rPr>
                        <a:t>폐기물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a typeface="-윤명조120"/>
                        </a:rPr>
                        <a:t>소각 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a typeface="-윤명조120"/>
                        </a:rPr>
                        <a:t>생활폐기물 억제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a typeface="-윤명조120"/>
                        </a:rPr>
                        <a:t>국가온실가스 감축을 위한 로드맵</a:t>
                      </a:r>
                      <a:r>
                        <a:rPr lang="en-US" altLang="ko-KR" sz="1400" kern="0" spc="-30">
                          <a:solidFill>
                            <a:srgbClr val="000000"/>
                          </a:solidFill>
                          <a:latin typeface="-윤명조120"/>
                        </a:rPr>
                        <a:t>(2014)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3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a typeface="-윤명조120"/>
                        </a:rPr>
                        <a:t>폐목재 재활용 활성화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96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a typeface="-윤명조120"/>
                        </a:rPr>
                        <a:t>소각여열 회수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96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a typeface="-윤명조120"/>
                        </a:rPr>
                        <a:t>매립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a typeface="-윤명조120"/>
                        </a:rPr>
                        <a:t>생활폐기물 억제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873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a typeface="-윤명조120"/>
                        </a:rPr>
                        <a:t>매립가스 회수 및 발전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873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a typeface="-윤명조120"/>
                        </a:rPr>
                        <a:t>가연성 폐기물의 에너지화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873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a typeface="-윤명조120"/>
                        </a:rPr>
                        <a:t>폐목재 재활용 활성화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220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a typeface="-윤명조120"/>
                        </a:rPr>
                        <a:t>생물학적 처리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96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a typeface="-윤명조120"/>
                        </a:rPr>
                        <a:t>하폐수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8739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a typeface="-윤명조120"/>
                        </a:rPr>
                        <a:t>폐기물 외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 err="1">
                          <a:solidFill>
                            <a:srgbClr val="000000"/>
                          </a:solidFill>
                          <a:ea typeface="-윤명조120"/>
                        </a:rPr>
                        <a:t>유기성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a typeface="-윤명조120"/>
                        </a:rPr>
                        <a:t> 폐기물의 에너지화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</a:endParaRPr>
                    </a:p>
                  </a:txBody>
                  <a:tcPr marL="62445" marR="62445" marT="17264" marB="1726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1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_x105328096" descr="EMB00002d502ad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1589" y="2390501"/>
            <a:ext cx="5368834" cy="3916091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폐기물 부문 </a:t>
            </a:r>
            <a:r>
              <a:rPr lang="en-US" altLang="ko-KR" b="0" dirty="0" smtClean="0"/>
              <a:t>: </a:t>
            </a:r>
            <a:r>
              <a:rPr lang="ko-KR" altLang="en-US" b="0" dirty="0" smtClean="0"/>
              <a:t>국내 특성과 시스템화 방안</a:t>
            </a:r>
            <a:r>
              <a:rPr lang="en-US" altLang="ko-KR" b="0" dirty="0" smtClean="0"/>
              <a:t>-3</a:t>
            </a:r>
            <a:endParaRPr lang="ko-KR" altLang="en-US" b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2737" y="900113"/>
            <a:ext cx="8534400" cy="5195887"/>
          </a:xfrm>
        </p:spPr>
        <p:txBody>
          <a:bodyPr/>
          <a:lstStyle/>
          <a:p>
            <a:r>
              <a:rPr lang="ko-KR" altLang="en-US" dirty="0" smtClean="0"/>
              <a:t>폐기물 부문의 감축수단 </a:t>
            </a:r>
            <a:r>
              <a:rPr lang="en-US" altLang="ko-KR" dirty="0" smtClean="0"/>
              <a:t>(</a:t>
            </a:r>
            <a:r>
              <a:rPr lang="ko-KR" altLang="en-US" dirty="0" smtClean="0"/>
              <a:t>부산물 에너지화 </a:t>
            </a:r>
            <a:r>
              <a:rPr lang="en-US" altLang="ko-KR" dirty="0" smtClean="0"/>
              <a:t>)</a:t>
            </a:r>
            <a:r>
              <a:rPr lang="ko-KR" altLang="en-US" dirty="0" smtClean="0"/>
              <a:t>모형화 방안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부산물 에너지화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여열회수</a:t>
            </a:r>
            <a:r>
              <a:rPr lang="en-US" altLang="ko-KR" dirty="0" smtClean="0"/>
              <a:t>, RDF </a:t>
            </a:r>
            <a:r>
              <a:rPr lang="ko-KR" altLang="en-US" dirty="0" smtClean="0"/>
              <a:t>생산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유기성</a:t>
            </a:r>
            <a:r>
              <a:rPr lang="ko-KR" altLang="en-US" dirty="0" smtClean="0"/>
              <a:t> 폐기물의 에너지화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폐기물 </a:t>
            </a:r>
            <a:r>
              <a:rPr lang="ko-KR" altLang="en-US" dirty="0" err="1" smtClean="0"/>
              <a:t>부문와</a:t>
            </a:r>
            <a:r>
              <a:rPr lang="ko-KR" altLang="en-US" dirty="0" smtClean="0"/>
              <a:t> 에너지 부문의 영역 구분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예</a:t>
            </a:r>
            <a:r>
              <a:rPr lang="en-US" altLang="ko-KR" dirty="0" smtClean="0"/>
              <a:t>: RDF(</a:t>
            </a:r>
            <a:r>
              <a:rPr lang="ko-KR" altLang="en-US" dirty="0" smtClean="0"/>
              <a:t>가연성 폐기물 고형연료</a:t>
            </a:r>
            <a:r>
              <a:rPr lang="en-US" altLang="ko-KR" dirty="0" smtClean="0"/>
              <a:t>) </a:t>
            </a:r>
            <a:r>
              <a:rPr lang="ko-KR" altLang="en-US" dirty="0" smtClean="0"/>
              <a:t>생산</a:t>
            </a:r>
            <a:endParaRPr lang="en-US" altLang="ko-KR" dirty="0" smtClean="0"/>
          </a:p>
          <a:p>
            <a:pPr lvl="2">
              <a:buNone/>
            </a:pPr>
            <a:r>
              <a:rPr lang="ko-KR" altLang="en-US" dirty="0" smtClean="0"/>
              <a:t>폐기물 부문 </a:t>
            </a:r>
            <a:r>
              <a:rPr lang="en-US" altLang="ko-KR" dirty="0" smtClean="0"/>
              <a:t>: RDF </a:t>
            </a:r>
            <a:r>
              <a:rPr lang="ko-KR" altLang="en-US" dirty="0" smtClean="0"/>
              <a:t>생산비용</a:t>
            </a:r>
            <a:r>
              <a:rPr lang="en-US" altLang="ko-KR" dirty="0" smtClean="0"/>
              <a:t>, RDF </a:t>
            </a:r>
            <a:r>
              <a:rPr lang="ko-KR" altLang="en-US" dirty="0" smtClean="0"/>
              <a:t>판매수익</a:t>
            </a:r>
            <a:endParaRPr lang="en-US" altLang="ko-KR" dirty="0" smtClean="0"/>
          </a:p>
          <a:p>
            <a:pPr lvl="2">
              <a:buNone/>
            </a:pPr>
            <a:r>
              <a:rPr lang="ko-KR" altLang="en-US" dirty="0" smtClean="0"/>
              <a:t>에너지 부문 </a:t>
            </a:r>
            <a:r>
              <a:rPr lang="en-US" altLang="ko-KR" dirty="0" smtClean="0"/>
              <a:t>: RDF</a:t>
            </a:r>
            <a:r>
              <a:rPr lang="ko-KR" altLang="en-US" dirty="0" smtClean="0"/>
              <a:t>구매비용</a:t>
            </a:r>
            <a:r>
              <a:rPr lang="en-US" altLang="ko-KR" dirty="0" smtClean="0"/>
              <a:t>, RDF </a:t>
            </a:r>
            <a:r>
              <a:rPr lang="ko-KR" altLang="en-US" dirty="0" smtClean="0"/>
              <a:t>발전 에너지량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10BC9EA9-20E1-4F6E-B7F3-56489D00F9DC}" type="slidenum">
              <a:rPr lang="en-US" altLang="ko-KR" smtClean="0"/>
              <a:pPr>
                <a:defRPr/>
              </a:pPr>
              <a:t>86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46142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87</a:t>
            </a:fld>
            <a:endParaRPr lang="en-US" altLang="ko-KR"/>
          </a:p>
        </p:txBody>
      </p:sp>
      <p:sp>
        <p:nvSpPr>
          <p:cNvPr id="6" name="제목 4"/>
          <p:cNvSpPr txBox="1">
            <a:spLocks/>
          </p:cNvSpPr>
          <p:nvPr/>
        </p:nvSpPr>
        <p:spPr bwMode="auto">
          <a:xfrm>
            <a:off x="689610" y="727023"/>
            <a:ext cx="6753225" cy="1143000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</p:spPr>
        <p:txBody>
          <a:bodyPr vert="horz" wrap="square" lIns="19800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kumimoji="0" lang="en-US" altLang="ko-KR" kern="0" dirty="0">
                <a:solidFill>
                  <a:srgbClr val="FFFFFF"/>
                </a:solidFill>
              </a:rPr>
              <a:t>4</a:t>
            </a:r>
            <a:r>
              <a:rPr kumimoji="0" lang="en-US" altLang="ko-KR" kern="0" dirty="0" smtClean="0">
                <a:solidFill>
                  <a:srgbClr val="FFFFFF"/>
                </a:solidFill>
              </a:rPr>
              <a:t>. </a:t>
            </a:r>
            <a:r>
              <a:rPr kumimoji="0" lang="en-US" altLang="ko-KR" kern="0" dirty="0">
                <a:solidFill>
                  <a:srgbClr val="FFFFFF"/>
                </a:solidFill>
              </a:rPr>
              <a:t>2</a:t>
            </a:r>
            <a:r>
              <a:rPr kumimoji="0" lang="ko-KR" altLang="en-US" kern="0" dirty="0" smtClean="0">
                <a:solidFill>
                  <a:srgbClr val="FFFFFF"/>
                </a:solidFill>
              </a:rPr>
              <a:t>차년도 </a:t>
            </a:r>
            <a:r>
              <a:rPr kumimoji="0" lang="ko-KR" altLang="en-US" kern="0" dirty="0">
                <a:solidFill>
                  <a:srgbClr val="FFFFFF"/>
                </a:solidFill>
              </a:rPr>
              <a:t>연구 내용 및 </a:t>
            </a:r>
            <a:r>
              <a:rPr kumimoji="0" lang="ko-KR" altLang="en-US" kern="0" dirty="0" smtClean="0">
                <a:solidFill>
                  <a:srgbClr val="FFFFFF"/>
                </a:solidFill>
              </a:rPr>
              <a:t>목표</a:t>
            </a:r>
            <a:endParaRPr kumimoji="0" lang="ko-KR" altLang="en-US" sz="3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255570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연구목표 및 내용 </a:t>
            </a:r>
            <a:r>
              <a:rPr lang="en-US" altLang="ko-KR" b="0" dirty="0" smtClean="0"/>
              <a:t>: 1</a:t>
            </a:r>
            <a:r>
              <a:rPr lang="ko-KR" altLang="en-US" b="0" dirty="0" smtClean="0"/>
              <a:t>단계</a:t>
            </a:r>
            <a:endParaRPr lang="ko-KR" altLang="en-US" b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88</a:t>
            </a:fld>
            <a:endParaRPr lang="en-US" altLang="ko-KR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1568141" y="2388628"/>
            <a:ext cx="925818" cy="504056"/>
          </a:xfrm>
          <a:prstGeom prst="roundRect">
            <a:avLst/>
          </a:prstGeom>
          <a:solidFill>
            <a:srgbClr val="0067AF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국내외 현황분석</a:t>
            </a:r>
          </a:p>
        </p:txBody>
      </p:sp>
      <p:sp>
        <p:nvSpPr>
          <p:cNvPr id="26" name="모서리가 둥근 직사각형 25"/>
          <p:cNvSpPr/>
          <p:nvPr/>
        </p:nvSpPr>
        <p:spPr>
          <a:xfrm>
            <a:off x="2581800" y="3510410"/>
            <a:ext cx="1641395" cy="435972"/>
          </a:xfrm>
          <a:prstGeom prst="roundRect">
            <a:avLst/>
          </a:prstGeom>
          <a:solidFill>
            <a:srgbClr val="0067AF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시스템 요구 사항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수리 기반 및 이론분석</a:t>
            </a:r>
          </a:p>
        </p:txBody>
      </p:sp>
      <p:sp>
        <p:nvSpPr>
          <p:cNvPr id="27" name="모서리가 둥근 직사각형 26"/>
          <p:cNvSpPr/>
          <p:nvPr/>
        </p:nvSpPr>
        <p:spPr>
          <a:xfrm>
            <a:off x="2724996" y="2405592"/>
            <a:ext cx="1080120" cy="487092"/>
          </a:xfrm>
          <a:prstGeom prst="roundRect">
            <a:avLst>
              <a:gd name="adj" fmla="val 18293"/>
            </a:avLst>
          </a:prstGeom>
          <a:solidFill>
            <a:srgbClr val="0067AF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MESSAGE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시스템 분석</a:t>
            </a:r>
          </a:p>
        </p:txBody>
      </p:sp>
      <p:sp>
        <p:nvSpPr>
          <p:cNvPr id="28" name="모서리가 둥근 직사각형 27"/>
          <p:cNvSpPr/>
          <p:nvPr/>
        </p:nvSpPr>
        <p:spPr>
          <a:xfrm>
            <a:off x="1375644" y="1942088"/>
            <a:ext cx="4057598" cy="1068190"/>
          </a:xfrm>
          <a:prstGeom prst="round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25105" y="1959316"/>
            <a:ext cx="4358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defRPr/>
            </a:pPr>
            <a:r>
              <a:rPr kumimoji="0" lang="ko-KR" altLang="en-US" b="1" kern="0" dirty="0">
                <a:solidFill>
                  <a:prstClr val="black"/>
                </a:solidFill>
                <a:latin typeface="맑은 고딕"/>
                <a:ea typeface="맑은 고딕"/>
              </a:rPr>
              <a:t>한국형 상향식 </a:t>
            </a:r>
            <a:r>
              <a:rPr kumimoji="0" lang="en-US" altLang="ko-KR" b="1" kern="0" dirty="0">
                <a:solidFill>
                  <a:prstClr val="black"/>
                </a:solidFill>
                <a:latin typeface="맑은 고딕"/>
                <a:ea typeface="맑은 고딕"/>
              </a:rPr>
              <a:t>S/W </a:t>
            </a:r>
            <a:r>
              <a:rPr kumimoji="0" lang="ko-KR" altLang="en-US" b="1" kern="0" dirty="0">
                <a:solidFill>
                  <a:prstClr val="black"/>
                </a:solidFill>
                <a:latin typeface="맑은 고딕"/>
                <a:ea typeface="맑은 고딕"/>
              </a:rPr>
              <a:t>시스템 </a:t>
            </a:r>
            <a:r>
              <a:rPr kumimoji="0" lang="ko-KR" altLang="en-US" b="1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개발을 </a:t>
            </a:r>
            <a:r>
              <a:rPr kumimoji="0" lang="ko-KR" altLang="en-US" b="1" kern="0" dirty="0">
                <a:solidFill>
                  <a:prstClr val="black"/>
                </a:solidFill>
                <a:latin typeface="맑은 고딕"/>
                <a:ea typeface="맑은 고딕"/>
              </a:rPr>
              <a:t>위한 </a:t>
            </a:r>
            <a:endParaRPr kumimoji="0" lang="en-US" altLang="ko-KR" b="1" kern="0" dirty="0" smtClean="0">
              <a:solidFill>
                <a:prstClr val="black"/>
              </a:solidFill>
              <a:latin typeface="맑은 고딕"/>
              <a:ea typeface="맑은 고딕"/>
            </a:endParaRPr>
          </a:p>
          <a:p>
            <a:pPr algn="ctr" eaLnBrk="1" hangingPunct="1">
              <a:defRPr/>
            </a:pPr>
            <a:r>
              <a:rPr kumimoji="0" lang="en-US" altLang="ko-KR" b="1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MESSAGE </a:t>
            </a:r>
            <a:r>
              <a:rPr kumimoji="0" lang="ko-KR" altLang="en-US" b="1" kern="0" dirty="0">
                <a:solidFill>
                  <a:prstClr val="black"/>
                </a:solidFill>
                <a:latin typeface="맑은 고딕"/>
                <a:ea typeface="맑은 고딕"/>
              </a:rPr>
              <a:t>모형 고도화</a:t>
            </a:r>
          </a:p>
        </p:txBody>
      </p:sp>
      <p:sp>
        <p:nvSpPr>
          <p:cNvPr id="30" name="모서리가 둥근 직사각형 29"/>
          <p:cNvSpPr/>
          <p:nvPr/>
        </p:nvSpPr>
        <p:spPr>
          <a:xfrm>
            <a:off x="4021140" y="2397110"/>
            <a:ext cx="1080120" cy="487092"/>
          </a:xfrm>
          <a:prstGeom prst="roundRect">
            <a:avLst>
              <a:gd name="adj" fmla="val 18293"/>
            </a:avLst>
          </a:prstGeom>
          <a:solidFill>
            <a:srgbClr val="0067AF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수리적 기반 구축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7180" y="2005482"/>
            <a:ext cx="24047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defRPr/>
            </a:pPr>
            <a:r>
              <a:rPr kumimoji="0" lang="ko-KR" altLang="en-US" b="1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부문별 특성 조사 및 분석</a:t>
            </a:r>
            <a:endParaRPr kumimoji="0" lang="ko-KR" altLang="en-US" b="1" kern="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690229" y="1942088"/>
            <a:ext cx="3405218" cy="1066037"/>
          </a:xfrm>
          <a:prstGeom prst="round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cxnSp>
        <p:nvCxnSpPr>
          <p:cNvPr id="33" name="직선 화살표 연결선 32"/>
          <p:cNvCxnSpPr>
            <a:stCxn id="32" idx="1"/>
            <a:endCxn id="28" idx="3"/>
          </p:cNvCxnSpPr>
          <p:nvPr/>
        </p:nvCxnSpPr>
        <p:spPr bwMode="auto">
          <a:xfrm flipH="1">
            <a:off x="5433242" y="2475107"/>
            <a:ext cx="256987" cy="1076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34" name="모서리가 둥근 직사각형 33"/>
          <p:cNvSpPr/>
          <p:nvPr/>
        </p:nvSpPr>
        <p:spPr>
          <a:xfrm>
            <a:off x="5878856" y="2405592"/>
            <a:ext cx="925818" cy="504056"/>
          </a:xfrm>
          <a:prstGeom prst="roundRect">
            <a:avLst/>
          </a:prstGeom>
          <a:solidFill>
            <a:srgbClr val="0067AF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가정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상업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수송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농축산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폐기물</a:t>
            </a:r>
          </a:p>
        </p:txBody>
      </p:sp>
      <p:sp>
        <p:nvSpPr>
          <p:cNvPr id="35" name="모서리가 둥근 직사각형 34"/>
          <p:cNvSpPr/>
          <p:nvPr/>
        </p:nvSpPr>
        <p:spPr>
          <a:xfrm>
            <a:off x="6962650" y="2405592"/>
            <a:ext cx="925818" cy="504056"/>
          </a:xfrm>
          <a:prstGeom prst="roundRect">
            <a:avLst/>
          </a:prstGeom>
          <a:solidFill>
            <a:srgbClr val="0067AF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전환부문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171450" marR="0" lvl="0" indent="-17145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전력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171450" marR="0" lvl="0" indent="-17145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정유</a:t>
            </a:r>
          </a:p>
        </p:txBody>
      </p:sp>
      <p:sp>
        <p:nvSpPr>
          <p:cNvPr id="36" name="모서리가 둥근 직사각형 35"/>
          <p:cNvSpPr/>
          <p:nvPr/>
        </p:nvSpPr>
        <p:spPr>
          <a:xfrm>
            <a:off x="8033858" y="2405592"/>
            <a:ext cx="925818" cy="504056"/>
          </a:xfrm>
          <a:prstGeom prst="roundRect">
            <a:avLst/>
          </a:prstGeom>
          <a:solidFill>
            <a:srgbClr val="0067AF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상향식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모형구축</a:t>
            </a:r>
          </a:p>
        </p:txBody>
      </p:sp>
      <p:sp>
        <p:nvSpPr>
          <p:cNvPr id="37" name="모서리가 둥근 직사각형 36"/>
          <p:cNvSpPr/>
          <p:nvPr/>
        </p:nvSpPr>
        <p:spPr>
          <a:xfrm>
            <a:off x="6565075" y="3514334"/>
            <a:ext cx="1656184" cy="432048"/>
          </a:xfrm>
          <a:prstGeom prst="roundRect">
            <a:avLst/>
          </a:prstGeom>
          <a:solidFill>
            <a:srgbClr val="0067AF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국내 부문별 특성 분석 부문별 고도화</a:t>
            </a:r>
          </a:p>
        </p:txBody>
      </p:sp>
      <p:sp>
        <p:nvSpPr>
          <p:cNvPr id="38" name="모서리가 둥근 직사각형 37"/>
          <p:cNvSpPr/>
          <p:nvPr/>
        </p:nvSpPr>
        <p:spPr>
          <a:xfrm>
            <a:off x="4087002" y="4188828"/>
            <a:ext cx="2393820" cy="576064"/>
          </a:xfrm>
          <a:prstGeom prst="roundRect">
            <a:avLst/>
          </a:prstGeom>
          <a:solidFill>
            <a:srgbClr val="0067AF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(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한국형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)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부문별 특성 추출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업그레이드된 시스템 요구사항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최신 수리적 기법 반영</a:t>
            </a:r>
          </a:p>
        </p:txBody>
      </p:sp>
      <p:cxnSp>
        <p:nvCxnSpPr>
          <p:cNvPr id="39" name="꺾인 연결선 38"/>
          <p:cNvCxnSpPr>
            <a:stCxn id="26" idx="2"/>
            <a:endCxn id="38" idx="1"/>
          </p:cNvCxnSpPr>
          <p:nvPr/>
        </p:nvCxnSpPr>
        <p:spPr bwMode="auto">
          <a:xfrm rot="16200000" flipH="1">
            <a:off x="3479511" y="3869369"/>
            <a:ext cx="530478" cy="684504"/>
          </a:xfrm>
          <a:prstGeom prst="bentConnector2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40" name="꺾인 연결선 39"/>
          <p:cNvCxnSpPr>
            <a:stCxn id="37" idx="2"/>
            <a:endCxn id="38" idx="3"/>
          </p:cNvCxnSpPr>
          <p:nvPr/>
        </p:nvCxnSpPr>
        <p:spPr bwMode="auto">
          <a:xfrm rot="5400000">
            <a:off x="6671756" y="3755449"/>
            <a:ext cx="530478" cy="912345"/>
          </a:xfrm>
          <a:prstGeom prst="bentConnector2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41" name="직선 화살표 연결선 40"/>
          <p:cNvCxnSpPr>
            <a:stCxn id="28" idx="2"/>
            <a:endCxn id="26" idx="0"/>
          </p:cNvCxnSpPr>
          <p:nvPr/>
        </p:nvCxnSpPr>
        <p:spPr bwMode="auto">
          <a:xfrm flipH="1">
            <a:off x="3402498" y="3010278"/>
            <a:ext cx="1945" cy="500132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42" name="직선 화살표 연결선 41"/>
          <p:cNvCxnSpPr>
            <a:stCxn id="32" idx="2"/>
            <a:endCxn id="37" idx="0"/>
          </p:cNvCxnSpPr>
          <p:nvPr/>
        </p:nvCxnSpPr>
        <p:spPr bwMode="auto">
          <a:xfrm>
            <a:off x="7392838" y="3008125"/>
            <a:ext cx="329" cy="506209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43" name="왼쪽 중괄호 42"/>
          <p:cNvSpPr/>
          <p:nvPr/>
        </p:nvSpPr>
        <p:spPr bwMode="auto">
          <a:xfrm>
            <a:off x="785600" y="2657620"/>
            <a:ext cx="533400" cy="2107272"/>
          </a:xfrm>
          <a:prstGeom prst="leftBrace">
            <a:avLst/>
          </a:prstGeom>
          <a:noFill/>
          <a:ln w="25400" cap="flat" cmpd="sng" algn="ctr">
            <a:solidFill>
              <a:srgbClr val="183883"/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0" cap="none" spc="0" normalizeH="0" baseline="0" noProof="0" smtClean="0">
              <a:ln>
                <a:noFill/>
              </a:ln>
              <a:solidFill>
                <a:srgbClr val="183883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51931" y="3540284"/>
            <a:ext cx="576064" cy="360039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1</a:t>
            </a:r>
            <a:r>
              <a:rPr kumimoji="0" lang="ko-KR" altLang="en-US" sz="1000" kern="0" dirty="0" smtClean="0">
                <a:solidFill>
                  <a:prstClr val="white"/>
                </a:solidFill>
                <a:latin typeface="맑은 고딕"/>
                <a:ea typeface="맑은 고딕"/>
              </a:rPr>
              <a:t>단계</a:t>
            </a:r>
          </a:p>
        </p:txBody>
      </p:sp>
    </p:spTree>
    <p:extLst>
      <p:ext uri="{BB962C8B-B14F-4D97-AF65-F5344CB8AC3E}">
        <p14:creationId xmlns:p14="http://schemas.microsoft.com/office/powerpoint/2010/main" val="51995057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lnSpc>
                <a:spcPct val="120000"/>
              </a:lnSpc>
              <a:spcAft>
                <a:spcPct val="20000"/>
              </a:spcAft>
              <a:buClr>
                <a:schemeClr val="tx2"/>
              </a:buClr>
              <a:buSzPct val="75000"/>
              <a:buFont typeface="Monotype Sorts" pitchFamily="2" charset="2"/>
              <a:buChar char="q"/>
              <a:defRPr kumimoji="1" b="1">
                <a:solidFill>
                  <a:schemeClr val="tx1"/>
                </a:solidFill>
                <a:latin typeface="Trebuchet MS" panose="020B0603020202020204" pitchFamily="34" charset="0"/>
                <a:ea typeface="돋움체" panose="020B0609000101010101" pitchFamily="49" charset="-127"/>
              </a:defRPr>
            </a:lvl1pPr>
            <a:lvl2pPr marL="742950" indent="-285750" defTabSz="762000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anose="02030609000101010101" pitchFamily="17" charset="-127"/>
              <a:buChar char="-"/>
              <a:defRPr kumimoji="1" sz="1600">
                <a:solidFill>
                  <a:schemeClr val="tx1"/>
                </a:solidFill>
                <a:latin typeface="Trebuchet MS" panose="020B0603020202020204" pitchFamily="34" charset="0"/>
                <a:ea typeface="바탕체" panose="02030609000101010101" pitchFamily="17" charset="-127"/>
              </a:defRPr>
            </a:lvl2pPr>
            <a:lvl3pPr marL="1143000" indent="-228600" defTabSz="762000">
              <a:lnSpc>
                <a:spcPct val="90000"/>
              </a:lnSpc>
              <a:spcAft>
                <a:spcPct val="20000"/>
              </a:spcAft>
              <a:buClr>
                <a:schemeClr val="tx2"/>
              </a:buClr>
              <a:buSzPct val="60000"/>
              <a:buFont typeface="Monotype Sorts" pitchFamily="2" charset="2"/>
              <a:buChar char="u"/>
              <a:defRPr kumimoji="1" sz="1400">
                <a:solidFill>
                  <a:schemeClr val="tx1"/>
                </a:solidFill>
                <a:latin typeface="Trebuchet MS" panose="020B0603020202020204" pitchFamily="34" charset="0"/>
                <a:ea typeface="바탕체" panose="02030609000101010101" pitchFamily="17" charset="-127"/>
              </a:defRPr>
            </a:lvl3pPr>
            <a:lvl4pPr marL="1600200" indent="-228600" defTabSz="762000">
              <a:lnSpc>
                <a:spcPct val="90000"/>
              </a:lnSpc>
              <a:spcAft>
                <a:spcPct val="20000"/>
              </a:spcAft>
              <a:buSzPct val="100000"/>
              <a:buFont typeface="바탕체" panose="02030609000101010101" pitchFamily="17" charset="-127"/>
              <a:buChar char=" "/>
              <a:defRPr kumimoji="1" sz="1200">
                <a:solidFill>
                  <a:schemeClr val="tx1"/>
                </a:solidFill>
                <a:latin typeface="Trebuchet MS" panose="020B0603020202020204" pitchFamily="34" charset="0"/>
                <a:ea typeface="바탕체" panose="02030609000101010101" pitchFamily="17" charset="-127"/>
              </a:defRPr>
            </a:lvl4pPr>
            <a:lvl5pPr marL="2057400" indent="-228600" defTabSz="762000">
              <a:lnSpc>
                <a:spcPct val="90000"/>
              </a:lnSpc>
              <a:spcAft>
                <a:spcPct val="20000"/>
              </a:spcAft>
              <a:buSzPct val="100000"/>
              <a:buFont typeface="바탕체" panose="02030609000101010101" pitchFamily="17" charset="-127"/>
              <a:buChar char=" "/>
              <a:defRPr kumimoji="1" sz="1200">
                <a:solidFill>
                  <a:schemeClr val="tx1"/>
                </a:solidFill>
                <a:latin typeface="Trebuchet MS" panose="020B0603020202020204" pitchFamily="34" charset="0"/>
                <a:ea typeface="바탕체" panose="02030609000101010101" pitchFamily="17" charset="-127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 typeface="바탕체" panose="02030609000101010101" pitchFamily="17" charset="-127"/>
              <a:buChar char=" "/>
              <a:defRPr kumimoji="1" sz="1200">
                <a:solidFill>
                  <a:schemeClr val="tx1"/>
                </a:solidFill>
                <a:latin typeface="Trebuchet MS" panose="020B0603020202020204" pitchFamily="34" charset="0"/>
                <a:ea typeface="바탕체" panose="02030609000101010101" pitchFamily="17" charset="-127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 typeface="바탕체" panose="02030609000101010101" pitchFamily="17" charset="-127"/>
              <a:buChar char=" "/>
              <a:defRPr kumimoji="1" sz="1200">
                <a:solidFill>
                  <a:schemeClr val="tx1"/>
                </a:solidFill>
                <a:latin typeface="Trebuchet MS" panose="020B0603020202020204" pitchFamily="34" charset="0"/>
                <a:ea typeface="바탕체" panose="02030609000101010101" pitchFamily="17" charset="-127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 typeface="바탕체" panose="02030609000101010101" pitchFamily="17" charset="-127"/>
              <a:buChar char=" "/>
              <a:defRPr kumimoji="1" sz="1200">
                <a:solidFill>
                  <a:schemeClr val="tx1"/>
                </a:solidFill>
                <a:latin typeface="Trebuchet MS" panose="020B0603020202020204" pitchFamily="34" charset="0"/>
                <a:ea typeface="바탕체" panose="02030609000101010101" pitchFamily="17" charset="-127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SzPct val="100000"/>
              <a:buFont typeface="바탕체" panose="02030609000101010101" pitchFamily="17" charset="-127"/>
              <a:buChar char=" "/>
              <a:defRPr kumimoji="1" sz="1200">
                <a:solidFill>
                  <a:schemeClr val="tx1"/>
                </a:solidFill>
                <a:latin typeface="Trebuchet MS" panose="020B0603020202020204" pitchFamily="34" charset="0"/>
                <a:ea typeface="바탕체" panose="02030609000101010101" pitchFamily="17" charset="-127"/>
              </a:defRPr>
            </a:lvl9pPr>
          </a:lstStyle>
          <a:p>
            <a:pPr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en-US" altLang="ko-KR" b="0" smtClean="0">
                <a:latin typeface="Arial" panose="020B0604020202020204" pitchFamily="34" charset="0"/>
                <a:ea typeface="돋움" panose="020B0600000101010101" pitchFamily="50" charset="-127"/>
              </a:rPr>
              <a:t> </a:t>
            </a:r>
            <a:fld id="{088AE24D-52FD-4BA0-B696-9AD58D03AABC}" type="slidenum">
              <a:rPr lang="en-US" altLang="ko-KR" b="0" smtClean="0">
                <a:latin typeface="Arial" panose="020B0604020202020204" pitchFamily="34" charset="0"/>
                <a:ea typeface="돋움" panose="020B0600000101010101" pitchFamily="50" charset="-127"/>
              </a:rPr>
              <a:pPr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t>89</a:t>
            </a:fld>
            <a:endParaRPr lang="en-US" altLang="ko-KR" b="0" smtClean="0">
              <a:latin typeface="Arial" panose="020B0604020202020204" pitchFamily="34" charset="0"/>
              <a:ea typeface="돋움" panose="020B0600000101010101" pitchFamily="50" charset="-127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704850" y="157163"/>
            <a:ext cx="8496300" cy="569912"/>
          </a:xfrm>
        </p:spPr>
        <p:txBody>
          <a:bodyPr/>
          <a:lstStyle/>
          <a:p>
            <a:pPr algn="l"/>
            <a:r>
              <a:rPr lang="en-US" altLang="ko-KR" b="0" dirty="0"/>
              <a:t>2</a:t>
            </a:r>
            <a:r>
              <a:rPr lang="ko-KR" altLang="en-US" b="0" dirty="0" smtClean="0"/>
              <a:t>차년도 연구개발의 목표 및 내용</a:t>
            </a:r>
            <a:endParaRPr lang="en-US" altLang="ko-KR" b="0" dirty="0" smtClean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109399"/>
              </p:ext>
            </p:extLst>
          </p:nvPr>
        </p:nvGraphicFramePr>
        <p:xfrm>
          <a:off x="1121305" y="1484313"/>
          <a:ext cx="7164387" cy="3774658"/>
        </p:xfrm>
        <a:graphic>
          <a:graphicData uri="http://schemas.openxmlformats.org/drawingml/2006/table">
            <a:tbl>
              <a:tblPr/>
              <a:tblGrid>
                <a:gridCol w="1860794"/>
                <a:gridCol w="5303593"/>
              </a:tblGrid>
              <a:tr h="2989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연구개발의 목표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0619" marR="60619" marT="16757" marB="1675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연구개발의 내용 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0619" marR="60619" marT="16757" marB="1675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</a:tr>
              <a:tr h="96837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한국형 </a:t>
                      </a:r>
                      <a:r>
                        <a:rPr lang="ko-KR" altLang="en-US" sz="11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상향식 </a:t>
                      </a:r>
                      <a:r>
                        <a:rPr lang="en-US" altLang="ko-KR" sz="11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S/W </a:t>
                      </a:r>
                      <a:r>
                        <a:rPr lang="ko-KR" altLang="en-US" sz="11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시스템 개발을 위한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수리적  기반</a:t>
                      </a:r>
                      <a:endParaRPr lang="ko-KR" altLang="en-US" sz="1100" kern="0" spc="-15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  <a:cs typeface="+mn-cs"/>
                      </a:endParaRPr>
                    </a:p>
                  </a:txBody>
                  <a:tcPr marL="60619" marR="60619" marT="16757" marB="1675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9540" marR="0" indent="-1295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-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전력부문 </a:t>
                      </a: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load region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에 대한 수리적 특성 분석</a:t>
                      </a:r>
                    </a:p>
                    <a:p>
                      <a:pPr marL="129540" marR="0" indent="-1295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- load region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을 포함하는 수리적 모형화</a:t>
                      </a:r>
                    </a:p>
                    <a:p>
                      <a:pPr marL="129540" marR="0" indent="-1295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- </a:t>
                      </a:r>
                      <a:r>
                        <a:rPr lang="en-US" altLang="ko-KR" sz="1100" kern="0" spc="-150" dirty="0" err="1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ReEDS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의 수리적 특성 분석</a:t>
                      </a:r>
                    </a:p>
                    <a:p>
                      <a:pPr marL="129540" marR="0" indent="-1295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-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최적해 및 </a:t>
                      </a:r>
                      <a:r>
                        <a:rPr lang="ko-KR" altLang="en-US" sz="1100" kern="0" spc="-150" dirty="0" err="1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제약식의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 특성 분석</a:t>
                      </a:r>
                      <a:endParaRPr lang="ko-KR" altLang="en-US" sz="1100" kern="0" spc="-150" dirty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</a:txBody>
                  <a:tcPr marL="60619" marR="60619" marT="16757" marB="1675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8266"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256000" algn="l"/>
                        </a:tabLst>
                        <a:defRPr/>
                      </a:pP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부문별 </a:t>
                      </a:r>
                      <a:r>
                        <a:rPr lang="ko-KR" altLang="en-US" sz="1100" kern="0" spc="-1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특성 조사 및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분석</a:t>
                      </a:r>
                      <a:endParaRPr lang="en-US" altLang="ko-KR" sz="1100" kern="0" spc="-150" dirty="0" smtClean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  <a:cs typeface="+mn-cs"/>
                      </a:endParaRPr>
                    </a:p>
                    <a:p>
                      <a:pPr marL="0" marR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256000" algn="l"/>
                        </a:tabLst>
                        <a:defRPr/>
                      </a:pP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(</a:t>
                      </a:r>
                      <a:r>
                        <a:rPr lang="ko-KR" altLang="en-US" sz="1100" kern="0" spc="-170" dirty="0" smtClean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전환부문</a:t>
                      </a:r>
                      <a:r>
                        <a:rPr lang="en-US" altLang="ko-KR" sz="1100" kern="0" spc="-120" dirty="0" smtClean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(</a:t>
                      </a:r>
                      <a:r>
                        <a:rPr lang="ko-KR" altLang="en-US" sz="1100" kern="0" spc="-170" dirty="0" smtClean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전력</a:t>
                      </a:r>
                      <a:r>
                        <a:rPr lang="en-US" altLang="ko-KR" sz="1100" kern="0" spc="-120" dirty="0" smtClean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) </a:t>
                      </a:r>
                      <a:r>
                        <a:rPr lang="ko-KR" altLang="en-US" sz="1100" kern="0" spc="-170" dirty="0" smtClean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분석</a:t>
                      </a:r>
                      <a:r>
                        <a:rPr lang="en-US" altLang="ko-KR" sz="1100" kern="0" spc="-120" dirty="0" smtClean="0">
                          <a:solidFill>
                            <a:srgbClr val="000000"/>
                          </a:solidFill>
                          <a:effectLst/>
                          <a:latin typeface="HY중고딕" panose="02030600000101010101" pitchFamily="18" charset="-127"/>
                          <a:ea typeface="HY중고딕" panose="02030600000101010101" pitchFamily="18" charset="-127"/>
                        </a:rPr>
                        <a:t>)</a:t>
                      </a:r>
                      <a:endParaRPr lang="ko-KR" altLang="en-US" sz="1100" kern="0" spc="-120" dirty="0" smtClean="0">
                        <a:solidFill>
                          <a:srgbClr val="000000"/>
                        </a:solidFill>
                        <a:effectLst/>
                        <a:latin typeface="HY중고딕" panose="02030600000101010101" pitchFamily="18" charset="-127"/>
                      </a:endParaRPr>
                    </a:p>
                    <a:p>
                      <a:pPr marL="0" marR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endParaRPr lang="ko-KR" altLang="en-US" sz="1100" kern="0" spc="-15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  <a:cs typeface="+mn-cs"/>
                      </a:endParaRPr>
                    </a:p>
                  </a:txBody>
                  <a:tcPr marL="60619" marR="60619" marT="16757" marB="1675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0050" marR="0" indent="-40005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-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국내외 전력부문 기존 상향식 연구 분석</a:t>
                      </a: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(Korea MESSAGE, TIMES, EPA MARKAL, UK MARKAL)</a:t>
                      </a:r>
                      <a:endParaRPr lang="ko-KR" altLang="en-US" sz="1100" kern="0" spc="-150" dirty="0" smtClean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  <a:p>
                      <a:pPr marL="400050" marR="0" indent="-40005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-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국내 전력부문 수요 및 공급기술 환경 분석 </a:t>
                      </a:r>
                    </a:p>
                    <a:p>
                      <a:pPr marL="400050" marR="0" indent="-40005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-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전력부문 고유 특성 분석 </a:t>
                      </a:r>
                    </a:p>
                    <a:p>
                      <a:pPr marL="400050" marR="0" indent="-40005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-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전력부문 상향식 모형을 위한 상향식 시스템 요구 기능 도출</a:t>
                      </a:r>
                    </a:p>
                  </a:txBody>
                  <a:tcPr marL="60619" marR="60619" marT="16757" marB="1675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3347"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  <a:cs typeface="+mn-cs"/>
                        </a:rPr>
                        <a:t>시스템개발 및 차년도 계획</a:t>
                      </a:r>
                      <a:endParaRPr lang="ko-KR" altLang="en-US" sz="1100" kern="0" spc="-150" dirty="0">
                        <a:solidFill>
                          <a:srgbClr val="000000"/>
                        </a:solidFill>
                        <a:effectLst/>
                        <a:latin typeface="휴먼명조"/>
                        <a:ea typeface="휴먼명조"/>
                        <a:cs typeface="+mn-cs"/>
                      </a:endParaRPr>
                    </a:p>
                  </a:txBody>
                  <a:tcPr marL="60619" marR="60619" marT="16757" marB="1675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9540" marR="0" indent="-1295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-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상향식 시스템 설계 및 분석을 위한 기본 연구진행</a:t>
                      </a:r>
                    </a:p>
                    <a:p>
                      <a:pPr marL="129540" marR="0" indent="-1295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- XML/JSON/CSV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등의 파일구조에 대한 연구</a:t>
                      </a:r>
                    </a:p>
                    <a:p>
                      <a:pPr marL="129540" marR="0" indent="-1295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- RES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를 위한 </a:t>
                      </a: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DOM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에 대한 연구</a:t>
                      </a:r>
                    </a:p>
                    <a:p>
                      <a:pPr marL="129540" marR="0" indent="-1295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- RES Viewer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구현</a:t>
                      </a:r>
                    </a:p>
                    <a:p>
                      <a:pPr marL="129540" marR="0" indent="-1295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- LP Viewer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구현</a:t>
                      </a:r>
                    </a:p>
                    <a:p>
                      <a:pPr marL="129540" marR="0" indent="-1295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- Output Viewer 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구현</a:t>
                      </a:r>
                    </a:p>
                    <a:p>
                      <a:pPr marL="129540" marR="0" indent="-1295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altLang="ko-KR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- </a:t>
                      </a:r>
                      <a:r>
                        <a:rPr lang="ko-KR" altLang="en-US" sz="1100" kern="0" spc="-150" dirty="0" err="1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프로토타입</a:t>
                      </a:r>
                      <a:r>
                        <a:rPr lang="ko-KR" altLang="en-US" sz="1100" kern="0" spc="-150" dirty="0" smtClean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  <a:cs typeface="+mn-cs"/>
                        </a:rPr>
                        <a:t> 방법론 개발 및 기능 테스트</a:t>
                      </a:r>
                      <a:endParaRPr lang="ko-KR" altLang="en-US" sz="1100" kern="0" spc="-150" dirty="0">
                        <a:solidFill>
                          <a:srgbClr val="000000"/>
                        </a:solidFill>
                        <a:effectLst/>
                        <a:latin typeface="HCI Poppy"/>
                        <a:ea typeface="휴먼명조"/>
                        <a:cs typeface="+mn-cs"/>
                      </a:endParaRPr>
                    </a:p>
                  </a:txBody>
                  <a:tcPr marL="60619" marR="60619" marT="16757" marB="1675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44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>
                <a:latin typeface="+mn-lt"/>
              </a:rPr>
              <a:t>수리적 기반 </a:t>
            </a:r>
            <a:r>
              <a:rPr lang="en-US" altLang="ko-KR" b="0" dirty="0" smtClean="0">
                <a:latin typeface="+mn-lt"/>
              </a:rPr>
              <a:t>: Load region in MESSAGE</a:t>
            </a:r>
            <a:endParaRPr lang="ko-KR" altLang="en-US" b="0" dirty="0">
              <a:latin typeface="+mn-lt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ko-KR" b="0" dirty="0" smtClean="0">
                <a:latin typeface="+mn-lt"/>
                <a:ea typeface="+mj-ea"/>
              </a:rPr>
              <a:t>Load region</a:t>
            </a:r>
          </a:p>
          <a:p>
            <a:pPr lvl="1"/>
            <a:r>
              <a:rPr lang="en-US" altLang="ko-KR" sz="1100" dirty="0"/>
              <a:t>The MESSAGE calculates the load curves from the definition </a:t>
            </a:r>
            <a:r>
              <a:rPr lang="en-US" altLang="ko-KR" sz="1100" dirty="0" smtClean="0"/>
              <a:t>of these </a:t>
            </a:r>
            <a:r>
              <a:rPr lang="en-US" altLang="ko-KR" sz="1100" dirty="0"/>
              <a:t>load regions and distribution of the annual demand in these regions. Inclusion of load curves improves the representation of power requirements and the utilization/building of different types of power </a:t>
            </a:r>
            <a:r>
              <a:rPr lang="en-US" altLang="ko-KR" sz="1100" dirty="0" smtClean="0"/>
              <a:t>plants.</a:t>
            </a:r>
          </a:p>
          <a:p>
            <a:pPr lvl="1"/>
            <a:r>
              <a:rPr lang="en-US" altLang="ko-KR" sz="1100" dirty="0"/>
              <a:t>The distribution could be by seasons </a:t>
            </a:r>
            <a:r>
              <a:rPr lang="en-US" altLang="ko-KR" sz="1100" dirty="0" smtClean="0"/>
              <a:t>and </a:t>
            </a:r>
            <a:r>
              <a:rPr lang="en-US" altLang="ko-KR" sz="1100" dirty="0" smtClean="0">
                <a:ea typeface="바탕체" pitchFamily="17" charset="-127"/>
              </a:rPr>
              <a:t>within </a:t>
            </a:r>
            <a:r>
              <a:rPr lang="en-US" altLang="ko-KR" sz="1100" dirty="0">
                <a:ea typeface="바탕체" pitchFamily="17" charset="-127"/>
              </a:rPr>
              <a:t>seasons by types of days and within a type of day by hours. This </a:t>
            </a:r>
            <a:r>
              <a:rPr lang="en-US" altLang="ko-KR" sz="1100" dirty="0" smtClean="0">
                <a:ea typeface="바탕체" pitchFamily="17" charset="-127"/>
              </a:rPr>
              <a:t>distribution </a:t>
            </a:r>
            <a:r>
              <a:rPr lang="en-US" altLang="ko-KR" sz="1100" dirty="0">
                <a:ea typeface="바탕체" pitchFamily="17" charset="-127"/>
              </a:rPr>
              <a:t>is referred to </a:t>
            </a:r>
            <a:r>
              <a:rPr lang="en-US" altLang="ko-KR" sz="1100" dirty="0" smtClean="0">
                <a:ea typeface="바탕체" pitchFamily="17" charset="-127"/>
              </a:rPr>
              <a:t>as </a:t>
            </a:r>
            <a:r>
              <a:rPr lang="en-US" altLang="ko-KR" sz="1100" dirty="0" smtClean="0">
                <a:solidFill>
                  <a:srgbClr val="00B050"/>
                </a:solidFill>
                <a:ea typeface="바탕체" pitchFamily="17" charset="-127"/>
              </a:rPr>
              <a:t>load </a:t>
            </a:r>
            <a:r>
              <a:rPr lang="en-US" altLang="ko-KR" sz="1100" dirty="0">
                <a:solidFill>
                  <a:srgbClr val="00B050"/>
                </a:solidFill>
                <a:ea typeface="바탕체" pitchFamily="17" charset="-127"/>
              </a:rPr>
              <a:t>regions</a:t>
            </a:r>
            <a:r>
              <a:rPr lang="en-US" altLang="ko-KR" sz="1100" dirty="0">
                <a:ea typeface="바탕체" pitchFamily="17" charset="-127"/>
              </a:rPr>
              <a:t> while energy demand fluctuation over the load regions, is termed as </a:t>
            </a:r>
            <a:r>
              <a:rPr lang="en-US" altLang="ko-KR" sz="1100" dirty="0">
                <a:solidFill>
                  <a:srgbClr val="00B050"/>
                </a:solidFill>
              </a:rPr>
              <a:t>load curve</a:t>
            </a:r>
            <a:r>
              <a:rPr lang="en-US" altLang="ko-KR" sz="1100" dirty="0" smtClean="0">
                <a:ea typeface="바탕체" pitchFamily="17" charset="-127"/>
              </a:rPr>
              <a:t>.</a:t>
            </a:r>
            <a:endParaRPr lang="ko-KR" altLang="en-US" sz="1100" dirty="0">
              <a:ea typeface="바탕체" pitchFamily="17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+mn-lt"/>
                <a:ea typeface="+mj-ea"/>
              </a:rPr>
              <a:t> </a:t>
            </a:r>
            <a:fld id="{10BC9EA9-20E1-4F6E-B7F3-56489D00F9DC}" type="slidenum">
              <a:rPr lang="en-US" altLang="ko-KR" smtClean="0">
                <a:latin typeface="+mn-lt"/>
                <a:ea typeface="+mj-ea"/>
              </a:rPr>
              <a:pPr>
                <a:defRPr/>
              </a:pPr>
              <a:t>90</a:t>
            </a:fld>
            <a:endParaRPr lang="en-US" altLang="ko-KR" dirty="0">
              <a:latin typeface="+mn-lt"/>
              <a:ea typeface="+mj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150" y="2369071"/>
            <a:ext cx="5748849" cy="310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84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수리적 기반 </a:t>
            </a:r>
            <a:r>
              <a:rPr lang="en-US" altLang="ko-KR" b="0" dirty="0" smtClean="0"/>
              <a:t>: EIA monthly capacity factor</a:t>
            </a:r>
            <a:endParaRPr lang="ko-KR" altLang="en-US" b="0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09" y="2057660"/>
            <a:ext cx="4753591" cy="2372662"/>
          </a:xfr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91</a:t>
            </a:fld>
            <a:endParaRPr lang="en-US" altLang="ko-KR"/>
          </a:p>
        </p:txBody>
      </p:sp>
      <p:sp>
        <p:nvSpPr>
          <p:cNvPr id="6" name="직사각형 5"/>
          <p:cNvSpPr/>
          <p:nvPr/>
        </p:nvSpPr>
        <p:spPr>
          <a:xfrm>
            <a:off x="848947" y="1013708"/>
            <a:ext cx="36110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http://www.eia.gov/todayinenergy/detail.cfm?id=14611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848947" y="1290707"/>
            <a:ext cx="71023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Capacity factor is </a:t>
            </a:r>
            <a:r>
              <a:rPr lang="en-US" altLang="ko-KR" dirty="0"/>
              <a:t>the ratio of a fleet's actual generation to its maximum potential generation. </a:t>
            </a:r>
            <a:endParaRPr lang="en-US" altLang="ko-KR" dirty="0" smtClean="0"/>
          </a:p>
          <a:p>
            <a:r>
              <a:rPr lang="en-US" altLang="ko-KR" dirty="0" smtClean="0"/>
              <a:t>(The </a:t>
            </a:r>
            <a:r>
              <a:rPr lang="en-US" altLang="ko-KR" dirty="0"/>
              <a:t>ratio of a unit’s actual output to its maximum possible output at its rated capacity is called capacity factor</a:t>
            </a:r>
            <a:r>
              <a:rPr lang="en-US" altLang="ko-KR" dirty="0" smtClean="0"/>
              <a:t>.)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2057660"/>
            <a:ext cx="4765742" cy="2374597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1818883" y="4629763"/>
            <a:ext cx="17823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i="1" dirty="0" smtClean="0"/>
              <a:t>blog.enerdynamics.com</a:t>
            </a:r>
          </a:p>
          <a:p>
            <a:r>
              <a:rPr lang="en-US" altLang="ko-KR" dirty="0" smtClean="0"/>
              <a:t>Coal/62</a:t>
            </a:r>
            <a:r>
              <a:rPr lang="en-US" altLang="ko-KR" dirty="0"/>
              <a:t>%</a:t>
            </a:r>
            <a:br>
              <a:rPr lang="en-US" altLang="ko-KR" dirty="0"/>
            </a:br>
            <a:r>
              <a:rPr lang="en-US" altLang="ko-KR" dirty="0"/>
              <a:t>Petroleum/7%</a:t>
            </a:r>
            <a:br>
              <a:rPr lang="en-US" altLang="ko-KR" dirty="0"/>
            </a:br>
            <a:r>
              <a:rPr lang="en-US" altLang="ko-KR" dirty="0"/>
              <a:t>Natural Gas/24%</a:t>
            </a:r>
            <a:br>
              <a:rPr lang="en-US" altLang="ko-KR" dirty="0"/>
            </a:br>
            <a:r>
              <a:rPr lang="en-US" altLang="ko-KR" dirty="0"/>
              <a:t>Nuclear/86%</a:t>
            </a:r>
            <a:br>
              <a:rPr lang="en-US" altLang="ko-KR" dirty="0"/>
            </a:br>
            <a:r>
              <a:rPr lang="en-US" altLang="ko-KR" dirty="0"/>
              <a:t>Hydro/38%</a:t>
            </a:r>
            <a:br>
              <a:rPr lang="en-US" altLang="ko-KR" dirty="0"/>
            </a:br>
            <a:r>
              <a:rPr lang="en-US" altLang="ko-KR" dirty="0"/>
              <a:t>Wind/27%</a:t>
            </a:r>
            <a:br>
              <a:rPr lang="en-US" altLang="ko-KR" dirty="0"/>
            </a:br>
            <a:r>
              <a:rPr lang="en-US" altLang="ko-KR" dirty="0"/>
              <a:t>Solar/15%</a:t>
            </a:r>
            <a:br>
              <a:rPr lang="en-US" altLang="ko-KR" dirty="0"/>
            </a:br>
            <a:r>
              <a:rPr lang="en-US" altLang="ko-KR" dirty="0"/>
              <a:t>Geothermal/58%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904473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수리적 기반 </a:t>
            </a:r>
            <a:r>
              <a:rPr lang="en-US" altLang="ko-KR" b="0" dirty="0" smtClean="0"/>
              <a:t>: MESSAGE example - 2 Load Regions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92</a:t>
            </a:fld>
            <a:endParaRPr lang="en-US" altLang="ko-KR"/>
          </a:p>
        </p:txBody>
      </p:sp>
      <p:sp>
        <p:nvSpPr>
          <p:cNvPr id="31" name="직사각형 30"/>
          <p:cNvSpPr/>
          <p:nvPr/>
        </p:nvSpPr>
        <p:spPr>
          <a:xfrm>
            <a:off x="5213297" y="3185404"/>
            <a:ext cx="4083169" cy="1015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latinLnBrk="1" hangingPunct="1"/>
            <a:r>
              <a:rPr lang="en-US" altLang="ko-KR" dirty="0" err="1" smtClean="0">
                <a:solidFill>
                  <a:srgbClr val="000000"/>
                </a:solidFill>
                <a:ea typeface="굴림" panose="020B0600000101010101" pitchFamily="50" charset="-127"/>
              </a:rPr>
              <a:t>loadcurve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의 의미</a:t>
            </a:r>
            <a:endParaRPr lang="en-US" altLang="ko-KR" dirty="0" smtClean="0">
              <a:solidFill>
                <a:srgbClr val="000000"/>
              </a:solidFill>
              <a:ea typeface="굴림" panose="020B0600000101010101" pitchFamily="50" charset="-127"/>
            </a:endParaRPr>
          </a:p>
          <a:p>
            <a:pPr marL="171450" indent="-171450" eaLnBrk="1" latinLnBrk="1" hangingPunct="1">
              <a:buFontTx/>
              <a:buChar char="-"/>
            </a:pP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season1(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연중 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0.5808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기간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) : 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발전용량의 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70%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가동이 필요</a:t>
            </a:r>
            <a:endParaRPr lang="en-US" altLang="ko-KR" dirty="0" smtClean="0">
              <a:solidFill>
                <a:srgbClr val="000000"/>
              </a:solidFill>
              <a:ea typeface="굴림" panose="020B0600000101010101" pitchFamily="50" charset="-127"/>
            </a:endParaRPr>
          </a:p>
          <a:p>
            <a:pPr eaLnBrk="1" latinLnBrk="1" hangingPunct="1"/>
            <a:r>
              <a:rPr lang="en-US" altLang="ko-KR" dirty="0">
                <a:solidFill>
                  <a:srgbClr val="000000"/>
                </a:solidFill>
                <a:ea typeface="굴림" panose="020B0600000101010101" pitchFamily="50" charset="-127"/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                                                  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실제는 연간연료의 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70% 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사용</a:t>
            </a:r>
            <a:endParaRPr lang="en-US" altLang="ko-KR" dirty="0" smtClean="0">
              <a:solidFill>
                <a:srgbClr val="000000"/>
              </a:solidFill>
              <a:ea typeface="굴림" panose="020B0600000101010101" pitchFamily="50" charset="-127"/>
            </a:endParaRPr>
          </a:p>
          <a:p>
            <a:pPr marL="171450" indent="-171450" eaLnBrk="1" latinLnBrk="1" hangingPunct="1">
              <a:buFontTx/>
              <a:buChar char="-"/>
            </a:pP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season2(</a:t>
            </a:r>
            <a:r>
              <a:rPr lang="ko-KR" altLang="en-US" dirty="0">
                <a:solidFill>
                  <a:srgbClr val="000000"/>
                </a:solidFill>
                <a:ea typeface="굴림" panose="020B0600000101010101" pitchFamily="50" charset="-127"/>
              </a:rPr>
              <a:t>연중 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0.4191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기간</a:t>
            </a:r>
            <a:r>
              <a:rPr lang="en-US" altLang="ko-KR" dirty="0">
                <a:solidFill>
                  <a:srgbClr val="000000"/>
                </a:solidFill>
                <a:ea typeface="굴림" panose="020B0600000101010101" pitchFamily="50" charset="-127"/>
              </a:rPr>
              <a:t>) : 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발전용량의 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30</a:t>
            </a:r>
            <a:r>
              <a:rPr lang="en-US" altLang="ko-KR" dirty="0">
                <a:solidFill>
                  <a:srgbClr val="000000"/>
                </a:solidFill>
                <a:ea typeface="굴림" panose="020B0600000101010101" pitchFamily="50" charset="-127"/>
              </a:rPr>
              <a:t>%</a:t>
            </a:r>
            <a:r>
              <a:rPr lang="ko-KR" altLang="en-US" dirty="0">
                <a:solidFill>
                  <a:srgbClr val="000000"/>
                </a:solidFill>
                <a:ea typeface="굴림" panose="020B0600000101010101" pitchFamily="50" charset="-127"/>
              </a:rPr>
              <a:t>가동이 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필요</a:t>
            </a:r>
            <a:endParaRPr lang="en-US" altLang="ko-KR" dirty="0" smtClean="0">
              <a:solidFill>
                <a:srgbClr val="000000"/>
              </a:solidFill>
              <a:ea typeface="굴림" panose="020B0600000101010101" pitchFamily="50" charset="-127"/>
            </a:endParaRPr>
          </a:p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                                                   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실제는 연간연료의 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30</a:t>
            </a:r>
            <a:r>
              <a:rPr lang="en-US" altLang="ko-KR" dirty="0">
                <a:solidFill>
                  <a:srgbClr val="000000"/>
                </a:solidFill>
                <a:ea typeface="굴림" panose="020B0600000101010101" pitchFamily="50" charset="-127"/>
              </a:rPr>
              <a:t>% </a:t>
            </a:r>
            <a:r>
              <a:rPr lang="ko-KR" altLang="en-US" dirty="0">
                <a:solidFill>
                  <a:srgbClr val="000000"/>
                </a:solidFill>
                <a:ea typeface="굴림" panose="020B0600000101010101" pitchFamily="50" charset="-127"/>
              </a:rPr>
              <a:t>사용</a:t>
            </a:r>
            <a:endParaRPr lang="en-US" altLang="ko-KR" dirty="0" smtClean="0">
              <a:solidFill>
                <a:srgbClr val="000000"/>
              </a:solidFill>
              <a:ea typeface="굴림" panose="020B0600000101010101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213297" y="4325666"/>
            <a:ext cx="2302233" cy="64633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capacity factor = length/</a:t>
            </a:r>
            <a:r>
              <a:rPr lang="en-US" altLang="ko-KR" dirty="0" err="1" smtClean="0">
                <a:solidFill>
                  <a:srgbClr val="000000"/>
                </a:solidFill>
                <a:ea typeface="굴림" panose="020B0600000101010101" pitchFamily="50" charset="-127"/>
              </a:rPr>
              <a:t>loadcurve</a:t>
            </a:r>
            <a:endParaRPr lang="en-US" altLang="ko-KR" dirty="0" smtClean="0">
              <a:solidFill>
                <a:srgbClr val="000000"/>
              </a:solidFill>
              <a:ea typeface="굴림" panose="020B0600000101010101" pitchFamily="50" charset="-127"/>
            </a:endParaRPr>
          </a:p>
          <a:p>
            <a:pPr eaLnBrk="1" latinLnBrk="1" hangingPunct="1"/>
            <a:r>
              <a:rPr lang="en-US" altLang="ko-KR" dirty="0">
                <a:solidFill>
                  <a:srgbClr val="000000"/>
                </a:solidFill>
                <a:ea typeface="굴림" panose="020B0600000101010101" pitchFamily="50" charset="-127"/>
              </a:rPr>
              <a:t>capacity factor = </a:t>
            </a:r>
            <a:r>
              <a:rPr lang="en-US" altLang="ko-KR" dirty="0">
                <a:solidFill>
                  <a:srgbClr val="FF0000"/>
                </a:solidFill>
                <a:ea typeface="굴림" panose="020B0600000101010101" pitchFamily="50" charset="-127"/>
              </a:rPr>
              <a:t>0.82974</a:t>
            </a:r>
          </a:p>
          <a:p>
            <a:pPr eaLnBrk="1" latinLnBrk="1" hangingPunct="1"/>
            <a:r>
              <a:rPr lang="en-US" altLang="ko-KR" dirty="0">
                <a:solidFill>
                  <a:srgbClr val="000000"/>
                </a:solidFill>
                <a:ea typeface="굴림" panose="020B0600000101010101" pitchFamily="50" charset="-127"/>
              </a:rPr>
              <a:t>=min{</a:t>
            </a:r>
            <a:r>
              <a:rPr lang="en-US" altLang="ko-KR" dirty="0">
                <a:solidFill>
                  <a:srgbClr val="FF0000"/>
                </a:solidFill>
                <a:ea typeface="굴림" panose="020B0600000101010101" pitchFamily="50" charset="-127"/>
              </a:rPr>
              <a:t>0.58/0.7</a:t>
            </a:r>
            <a:r>
              <a:rPr lang="en-US" altLang="ko-KR" dirty="0">
                <a:solidFill>
                  <a:srgbClr val="000000"/>
                </a:solidFill>
                <a:ea typeface="굴림" panose="020B0600000101010101" pitchFamily="50" charset="-127"/>
              </a:rPr>
              <a:t>,0.419/0.3}</a:t>
            </a:r>
            <a:endParaRPr lang="ko-KR" altLang="en-US" dirty="0">
              <a:solidFill>
                <a:srgbClr val="000000"/>
              </a:solidFill>
              <a:ea typeface="굴림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567" y="773645"/>
            <a:ext cx="3213433" cy="218407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1" y="771320"/>
            <a:ext cx="3965624" cy="2215733"/>
          </a:xfrm>
          <a:prstGeom prst="rect">
            <a:avLst/>
          </a:prstGeom>
        </p:spPr>
      </p:pic>
      <p:sp>
        <p:nvSpPr>
          <p:cNvPr id="38" name="직사각형 37"/>
          <p:cNvSpPr/>
          <p:nvPr/>
        </p:nvSpPr>
        <p:spPr>
          <a:xfrm>
            <a:off x="5213297" y="5154103"/>
            <a:ext cx="4288790" cy="83099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900113" indent="-900113" eaLnBrk="1" latinLnBrk="1" hangingPunct="1"/>
            <a:r>
              <a:rPr lang="en-US" altLang="ko-KR" b="1" dirty="0" smtClean="0">
                <a:solidFill>
                  <a:srgbClr val="000000"/>
                </a:solidFill>
                <a:ea typeface="굴림" panose="020B0600000101010101" pitchFamily="50" charset="-127"/>
              </a:rPr>
              <a:t>Capacity Factor Assumption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 : Capacity factor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는 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Load Region 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및 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Region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별 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Load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에 의해서 결정됨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. </a:t>
            </a:r>
          </a:p>
          <a:p>
            <a:pPr eaLnBrk="1" latinLnBrk="1" hangingPunct="1"/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즉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 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실제적인 발전소의 통상적인 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capacity factor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와는 무관함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.</a:t>
            </a:r>
          </a:p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(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발전설비의 실제 운용과는 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independent </a:t>
            </a:r>
            <a:r>
              <a:rPr lang="ko-KR" altLang="en-US" dirty="0" smtClean="0">
                <a:solidFill>
                  <a:srgbClr val="000000"/>
                </a:solidFill>
                <a:ea typeface="굴림" panose="020B0600000101010101" pitchFamily="50" charset="-127"/>
              </a:rPr>
              <a:t>함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)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70278" y="3188758"/>
            <a:ext cx="4679912" cy="3108572"/>
            <a:chOff x="170278" y="3188758"/>
            <a:chExt cx="4679912" cy="3108572"/>
          </a:xfrm>
        </p:grpSpPr>
        <p:sp>
          <p:nvSpPr>
            <p:cNvPr id="22" name="직사각형 21"/>
            <p:cNvSpPr/>
            <p:nvPr/>
          </p:nvSpPr>
          <p:spPr>
            <a:xfrm>
              <a:off x="881442" y="4163657"/>
              <a:ext cx="1661474" cy="1700608"/>
            </a:xfrm>
            <a:prstGeom prst="rect">
              <a:avLst/>
            </a:prstGeom>
            <a:solidFill>
              <a:srgbClr val="BBE0E3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880495" y="4163657"/>
              <a:ext cx="1661474" cy="434051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solidFill>
                <a:srgbClr val="92D05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굴림"/>
                  <a:ea typeface="굴림"/>
                </a:rPr>
                <a:t>overload</a:t>
              </a:r>
              <a:endPara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879344" y="3589596"/>
              <a:ext cx="2884515" cy="2274669"/>
            </a:xfrm>
            <a:prstGeom prst="rect">
              <a:avLst/>
            </a:prstGeom>
            <a:noFill/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2542917" y="5028648"/>
              <a:ext cx="1220942" cy="835617"/>
            </a:xfrm>
            <a:prstGeom prst="rect">
              <a:avLst/>
            </a:prstGeom>
            <a:solidFill>
              <a:srgbClr val="BBE0E3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2536654" y="5864263"/>
              <a:ext cx="1220943" cy="4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headEnd type="triangle" w="med" len="med"/>
              <a:tailEnd type="triangle" w="med" len="med"/>
            </a:ln>
            <a:effectLst/>
          </p:spPr>
        </p:cxnSp>
        <p:cxnSp>
          <p:nvCxnSpPr>
            <p:cNvPr id="27" name="직선 연결선 26"/>
            <p:cNvCxnSpPr/>
            <p:nvPr/>
          </p:nvCxnSpPr>
          <p:spPr>
            <a:xfrm flipV="1">
              <a:off x="883540" y="5864263"/>
              <a:ext cx="1659377" cy="3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headEnd type="triangle" w="med" len="med"/>
              <a:tailEnd type="triangle" w="med" len="med"/>
            </a:ln>
            <a:effectLst/>
          </p:spPr>
        </p:cxnSp>
        <p:sp>
          <p:nvSpPr>
            <p:cNvPr id="28" name="Text Box 8"/>
            <p:cNvSpPr txBox="1">
              <a:spLocks noChangeArrowheads="1"/>
            </p:cNvSpPr>
            <p:nvPr/>
          </p:nvSpPr>
          <p:spPr bwMode="auto">
            <a:xfrm>
              <a:off x="3730973" y="3485095"/>
              <a:ext cx="26161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50" charset="-127"/>
                </a:rPr>
                <a:t>1</a:t>
              </a: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70278" y="4468462"/>
              <a:ext cx="76174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latinLnBrk="1" hangingPunct="1"/>
              <a:r>
                <a:rPr lang="en-US" altLang="ko-KR" dirty="0">
                  <a:solidFill>
                    <a:srgbClr val="000000"/>
                  </a:solidFill>
                  <a:ea typeface="굴림" panose="020B0600000101010101" pitchFamily="50" charset="-127"/>
                </a:rPr>
                <a:t>0.580822</a:t>
              </a:r>
              <a:endParaRPr lang="ko-KR" altLang="en-US" dirty="0">
                <a:solidFill>
                  <a:srgbClr val="000000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526735" y="4034599"/>
              <a:ext cx="3770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latinLnBrk="1" hangingPunct="1"/>
              <a:r>
                <a:rPr lang="en-US" altLang="ko-KR" dirty="0" smtClean="0">
                  <a:solidFill>
                    <a:srgbClr val="000000"/>
                  </a:solidFill>
                  <a:ea typeface="굴림" panose="020B0600000101010101" pitchFamily="50" charset="-127"/>
                </a:rPr>
                <a:t>0.7</a:t>
              </a:r>
              <a:endParaRPr lang="ko-KR" altLang="en-US" dirty="0">
                <a:solidFill>
                  <a:srgbClr val="000000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627681" y="5858748"/>
              <a:ext cx="1120820" cy="438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 latinLnBrk="1" hangingPunct="1"/>
              <a:r>
                <a:rPr lang="en-US" altLang="ko-KR" dirty="0" smtClean="0">
                  <a:solidFill>
                    <a:srgbClr val="000000"/>
                  </a:solidFill>
                  <a:ea typeface="굴림" panose="020B0600000101010101" pitchFamily="50" charset="-127"/>
                </a:rPr>
                <a:t>0.419178</a:t>
              </a:r>
            </a:p>
            <a:p>
              <a:pPr algn="ctr" eaLnBrk="1" latinLnBrk="1" hangingPunct="1"/>
              <a:r>
                <a:rPr lang="en-US" altLang="ko-KR" sz="1050" dirty="0">
                  <a:solidFill>
                    <a:srgbClr val="000000"/>
                  </a:solidFill>
                  <a:ea typeface="굴림" panose="020B0600000101010101" pitchFamily="50" charset="-127"/>
                </a:rPr>
                <a:t>(</a:t>
              </a:r>
              <a:r>
                <a:rPr lang="en-US" altLang="ko-KR" sz="1050" dirty="0" smtClean="0">
                  <a:solidFill>
                    <a:srgbClr val="000000"/>
                  </a:solidFill>
                  <a:ea typeface="굴림" panose="020B0600000101010101" pitchFamily="50" charset="-127"/>
                </a:rPr>
                <a:t>2012.8.1~12.31)</a:t>
              </a:r>
              <a:endParaRPr lang="ko-KR" altLang="en-US" sz="1050" dirty="0">
                <a:solidFill>
                  <a:srgbClr val="000000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715025" y="5163200"/>
              <a:ext cx="37702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latinLnBrk="1" hangingPunct="1"/>
              <a:r>
                <a:rPr lang="en-US" altLang="ko-KR" dirty="0" smtClean="0">
                  <a:solidFill>
                    <a:srgbClr val="000000"/>
                  </a:solidFill>
                  <a:ea typeface="굴림" panose="020B0600000101010101" pitchFamily="50" charset="-127"/>
                </a:rPr>
                <a:t>0.3</a:t>
              </a:r>
              <a:endParaRPr lang="ko-KR" altLang="en-US" dirty="0">
                <a:solidFill>
                  <a:srgbClr val="000000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179538" y="5858748"/>
              <a:ext cx="1053494" cy="438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 latinLnBrk="1" hangingPunct="1"/>
              <a:r>
                <a:rPr lang="en-US" altLang="ko-KR" dirty="0" smtClean="0">
                  <a:solidFill>
                    <a:srgbClr val="000000"/>
                  </a:solidFill>
                  <a:ea typeface="굴림" panose="020B0600000101010101" pitchFamily="50" charset="-127"/>
                </a:rPr>
                <a:t>0.580822</a:t>
              </a:r>
            </a:p>
            <a:p>
              <a:pPr algn="ctr" eaLnBrk="1" latinLnBrk="1" hangingPunct="1"/>
              <a:r>
                <a:rPr lang="en-US" altLang="ko-KR" sz="1050" dirty="0" smtClean="0">
                  <a:solidFill>
                    <a:srgbClr val="000000"/>
                  </a:solidFill>
                  <a:ea typeface="굴림" panose="020B0600000101010101" pitchFamily="50" charset="-127"/>
                </a:rPr>
                <a:t>(2012.1.1~7.31)</a:t>
              </a:r>
              <a:endParaRPr lang="ko-KR" altLang="en-US" sz="1050" dirty="0">
                <a:solidFill>
                  <a:srgbClr val="000000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3730973" y="5691767"/>
              <a:ext cx="111921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dirty="0" smtClean="0">
                  <a:solidFill>
                    <a:srgbClr val="000000"/>
                  </a:solidFill>
                  <a:ea typeface="굴림" panose="020B0600000101010101" pitchFamily="50" charset="-127"/>
                </a:rPr>
                <a:t>Length(region)</a:t>
              </a:r>
              <a:endParaRPr kumimoji="0" lang="ko-KR" altLang="en-US" sz="1800" dirty="0">
                <a:solidFill>
                  <a:srgbClr val="000000"/>
                </a:solidFill>
                <a:latin typeface="굴림"/>
                <a:ea typeface="굴림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551152" y="3340183"/>
              <a:ext cx="50206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dirty="0" smtClean="0">
                  <a:solidFill>
                    <a:srgbClr val="000000"/>
                  </a:solidFill>
                  <a:ea typeface="굴림" panose="020B0600000101010101" pitchFamily="50" charset="-127"/>
                </a:rPr>
                <a:t>Load</a:t>
              </a:r>
              <a:endParaRPr kumimoji="0" lang="ko-KR" altLang="en-US" sz="1800" dirty="0">
                <a:solidFill>
                  <a:srgbClr val="000000"/>
                </a:solidFill>
                <a:latin typeface="굴림"/>
                <a:ea typeface="굴림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857981" y="3188758"/>
              <a:ext cx="84510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dirty="0" err="1" smtClean="0">
                  <a:solidFill>
                    <a:srgbClr val="000000"/>
                  </a:solidFill>
                  <a:ea typeface="굴림" panose="020B0600000101010101" pitchFamily="50" charset="-127"/>
                </a:rPr>
                <a:t>Loadcurve</a:t>
              </a:r>
              <a:endParaRPr kumimoji="0" lang="ko-KR" altLang="en-US" sz="1800" dirty="0">
                <a:solidFill>
                  <a:srgbClr val="000000"/>
                </a:solidFill>
                <a:latin typeface="굴림"/>
                <a:ea typeface="굴림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2543863" y="5016257"/>
              <a:ext cx="1220943" cy="301529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solidFill>
                <a:srgbClr val="92D05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kern="0" dirty="0" err="1" smtClean="0">
                  <a:solidFill>
                    <a:srgbClr val="00B050"/>
                  </a:solidFill>
                  <a:latin typeface="굴림"/>
                  <a:ea typeface="굴림"/>
                </a:rPr>
                <a:t>underload</a:t>
              </a:r>
              <a:endParaRPr kumimoji="0" lang="ko-KR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726357" y="4881679"/>
              <a:ext cx="76174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latinLnBrk="1" hangingPunct="1"/>
              <a:r>
                <a:rPr lang="en-US" altLang="ko-KR" dirty="0">
                  <a:solidFill>
                    <a:srgbClr val="000000"/>
                  </a:solidFill>
                  <a:ea typeface="굴림" panose="020B0600000101010101" pitchFamily="50" charset="-127"/>
                </a:rPr>
                <a:t>0.419178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6097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수리적 기반 </a:t>
            </a:r>
            <a:r>
              <a:rPr lang="en-US" altLang="ko-KR" b="0" dirty="0"/>
              <a:t>: MESSAGE example - 2 Load Regions</a:t>
            </a:r>
            <a:endParaRPr lang="ko-KR" altLang="en-US" dirty="0"/>
          </a:p>
        </p:txBody>
      </p:sp>
      <p:sp>
        <p:nvSpPr>
          <p:cNvPr id="48" name="Rectangle 7"/>
          <p:cNvSpPr>
            <a:spLocks noChangeArrowheads="1"/>
          </p:cNvSpPr>
          <p:nvPr/>
        </p:nvSpPr>
        <p:spPr bwMode="auto">
          <a:xfrm>
            <a:off x="1405584" y="2127925"/>
            <a:ext cx="828675" cy="342900"/>
          </a:xfrm>
          <a:prstGeom prst="rect">
            <a:avLst/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Coal_Imp</a:t>
            </a: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(a)</a:t>
            </a:r>
          </a:p>
        </p:txBody>
      </p:sp>
      <p:sp>
        <p:nvSpPr>
          <p:cNvPr id="49" name="Text Box 8"/>
          <p:cNvSpPr txBox="1">
            <a:spLocks noChangeArrowheads="1"/>
          </p:cNvSpPr>
          <p:nvPr/>
        </p:nvSpPr>
        <p:spPr bwMode="auto">
          <a:xfrm>
            <a:off x="2418842" y="852613"/>
            <a:ext cx="8611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Primary(p)</a:t>
            </a:r>
          </a:p>
        </p:txBody>
      </p:sp>
      <p:sp>
        <p:nvSpPr>
          <p:cNvPr id="50" name="Line 125"/>
          <p:cNvSpPr>
            <a:spLocks noChangeShapeType="1"/>
          </p:cNvSpPr>
          <p:nvPr/>
        </p:nvSpPr>
        <p:spPr bwMode="auto">
          <a:xfrm>
            <a:off x="2234259" y="2299375"/>
            <a:ext cx="61129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굴림"/>
            </a:endParaRPr>
          </a:p>
        </p:txBody>
      </p:sp>
      <p:sp>
        <p:nvSpPr>
          <p:cNvPr id="51" name="Text Box 136"/>
          <p:cNvSpPr txBox="1">
            <a:spLocks noChangeArrowheads="1"/>
          </p:cNvSpPr>
          <p:nvPr/>
        </p:nvSpPr>
        <p:spPr bwMode="auto">
          <a:xfrm>
            <a:off x="2562348" y="1073284"/>
            <a:ext cx="5238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oil(o)</a:t>
            </a:r>
          </a:p>
        </p:txBody>
      </p:sp>
      <p:sp>
        <p:nvSpPr>
          <p:cNvPr id="52" name="Line 5"/>
          <p:cNvSpPr>
            <a:spLocks noChangeShapeType="1"/>
          </p:cNvSpPr>
          <p:nvPr/>
        </p:nvSpPr>
        <p:spPr bwMode="auto">
          <a:xfrm flipH="1">
            <a:off x="2832723" y="1349471"/>
            <a:ext cx="3282" cy="17709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굴림"/>
            </a:endParaRPr>
          </a:p>
        </p:txBody>
      </p:sp>
      <p:sp>
        <p:nvSpPr>
          <p:cNvPr id="54" name="Rectangle 7"/>
          <p:cNvSpPr>
            <a:spLocks noChangeArrowheads="1"/>
          </p:cNvSpPr>
          <p:nvPr/>
        </p:nvSpPr>
        <p:spPr bwMode="auto">
          <a:xfrm>
            <a:off x="3834180" y="1900730"/>
            <a:ext cx="828675" cy="752587"/>
          </a:xfrm>
          <a:prstGeom prst="rect">
            <a:avLst/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Coal_PP</a:t>
            </a:r>
            <a:endParaRPr kumimoji="1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(a)</a:t>
            </a:r>
          </a:p>
        </p:txBody>
      </p:sp>
      <p:sp>
        <p:nvSpPr>
          <p:cNvPr id="55" name="Text Box 8"/>
          <p:cNvSpPr txBox="1">
            <a:spLocks noChangeArrowheads="1"/>
          </p:cNvSpPr>
          <p:nvPr/>
        </p:nvSpPr>
        <p:spPr bwMode="auto">
          <a:xfrm>
            <a:off x="5153167" y="806408"/>
            <a:ext cx="99738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Secondary(s)</a:t>
            </a:r>
          </a:p>
        </p:txBody>
      </p:sp>
      <p:sp>
        <p:nvSpPr>
          <p:cNvPr id="57" name="Text Box 136"/>
          <p:cNvSpPr txBox="1">
            <a:spLocks noChangeArrowheads="1"/>
          </p:cNvSpPr>
          <p:nvPr/>
        </p:nvSpPr>
        <p:spPr bwMode="auto">
          <a:xfrm>
            <a:off x="5142229" y="1017041"/>
            <a:ext cx="10839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Electricity(</a:t>
            </a:r>
            <a:r>
              <a:rPr kumimoji="1" lang="en-US" altLang="ko-KR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e,l</a:t>
            </a: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58" name="Line 5"/>
          <p:cNvSpPr>
            <a:spLocks noChangeShapeType="1"/>
          </p:cNvSpPr>
          <p:nvPr/>
        </p:nvSpPr>
        <p:spPr bwMode="auto">
          <a:xfrm flipH="1">
            <a:off x="5669291" y="1354644"/>
            <a:ext cx="11706" cy="174964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latinLnBrk="1" hangingPunct="1"/>
            <a:endParaRPr lang="ko-KR" altLang="en-US" smtClean="0">
              <a:solidFill>
                <a:srgbClr val="000000"/>
              </a:solidFill>
              <a:ea typeface="굴림"/>
            </a:endParaRPr>
          </a:p>
        </p:txBody>
      </p:sp>
      <p:sp>
        <p:nvSpPr>
          <p:cNvPr id="59" name="Line 125"/>
          <p:cNvSpPr>
            <a:spLocks noChangeShapeType="1"/>
          </p:cNvSpPr>
          <p:nvPr/>
        </p:nvSpPr>
        <p:spPr bwMode="auto">
          <a:xfrm>
            <a:off x="2835474" y="2072181"/>
            <a:ext cx="100643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굴림"/>
            </a:endParaRPr>
          </a:p>
        </p:txBody>
      </p:sp>
      <p:sp>
        <p:nvSpPr>
          <p:cNvPr id="60" name="Rectangle 7"/>
          <p:cNvSpPr>
            <a:spLocks noChangeArrowheads="1"/>
          </p:cNvSpPr>
          <p:nvPr/>
        </p:nvSpPr>
        <p:spPr bwMode="auto">
          <a:xfrm>
            <a:off x="6697868" y="1865830"/>
            <a:ext cx="828675" cy="752587"/>
          </a:xfrm>
          <a:prstGeom prst="rect">
            <a:avLst/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Elec_TD</a:t>
            </a:r>
            <a:endParaRPr kumimoji="1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50" charset="-127"/>
            </a:endParaRP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(a)</a:t>
            </a:r>
          </a:p>
        </p:txBody>
      </p:sp>
      <p:sp>
        <p:nvSpPr>
          <p:cNvPr id="61" name="Text Box 8"/>
          <p:cNvSpPr txBox="1">
            <a:spLocks noChangeArrowheads="1"/>
          </p:cNvSpPr>
          <p:nvPr/>
        </p:nvSpPr>
        <p:spPr bwMode="auto">
          <a:xfrm>
            <a:off x="8225615" y="812736"/>
            <a:ext cx="65594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Final(f)</a:t>
            </a:r>
          </a:p>
        </p:txBody>
      </p:sp>
      <p:sp>
        <p:nvSpPr>
          <p:cNvPr id="63" name="Text Box 136"/>
          <p:cNvSpPr txBox="1">
            <a:spLocks noChangeArrowheads="1"/>
          </p:cNvSpPr>
          <p:nvPr/>
        </p:nvSpPr>
        <p:spPr bwMode="auto">
          <a:xfrm>
            <a:off x="8011614" y="1039997"/>
            <a:ext cx="10839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Electricity(</a:t>
            </a:r>
            <a:r>
              <a:rPr kumimoji="1" lang="en-US" altLang="ko-KR" sz="12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e,l</a:t>
            </a: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)</a:t>
            </a:r>
          </a:p>
        </p:txBody>
      </p:sp>
      <p:sp>
        <p:nvSpPr>
          <p:cNvPr id="64" name="Line 5"/>
          <p:cNvSpPr>
            <a:spLocks noChangeShapeType="1"/>
          </p:cNvSpPr>
          <p:nvPr/>
        </p:nvSpPr>
        <p:spPr bwMode="auto">
          <a:xfrm flipH="1">
            <a:off x="8532978" y="1540491"/>
            <a:ext cx="723" cy="145848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latinLnBrk="1" hangingPunct="1"/>
            <a:endParaRPr lang="ko-KR" altLang="en-US" smtClean="0">
              <a:solidFill>
                <a:srgbClr val="000000"/>
              </a:solidFill>
              <a:ea typeface="굴림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2253288" y="2015475"/>
                <a:ext cx="55220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0"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0"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𝑎𝑜</m:t>
                      </m:r>
                    </m:oMath>
                  </m:oMathPara>
                </a14:m>
                <a:endParaRPr kumimoji="0" lang="ko-KR" altLang="en-US" dirty="0">
                  <a:solidFill>
                    <a:srgbClr val="000000"/>
                  </a:solidFill>
                  <a:latin typeface="굴림"/>
                  <a:ea typeface="굴림"/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288" y="2015475"/>
                <a:ext cx="552202" cy="276999"/>
              </a:xfrm>
              <a:prstGeom prst="rect">
                <a:avLst/>
              </a:prstGeom>
              <a:blipFill rotWithShape="0">
                <a:blip r:embed="rId2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3928168" y="1595488"/>
                <a:ext cx="5535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𝑠𝑜𝑎𝑒</m:t>
                      </m:r>
                    </m:oMath>
                  </m:oMathPara>
                </a14:m>
                <a:endParaRPr kumimoji="0" lang="ko-KR" altLang="en-US" dirty="0">
                  <a:solidFill>
                    <a:srgbClr val="000000"/>
                  </a:solidFill>
                  <a:latin typeface="굴림"/>
                  <a:ea typeface="굴림"/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168" y="1595488"/>
                <a:ext cx="553549" cy="27699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830621" y="1591250"/>
                <a:ext cx="64973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0"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𝑓𝑒𝑎𝑒</m:t>
                      </m:r>
                    </m:oMath>
                  </m:oMathPara>
                </a14:m>
                <a:endParaRPr kumimoji="0" lang="ko-KR" altLang="en-US" dirty="0">
                  <a:solidFill>
                    <a:srgbClr val="000000"/>
                  </a:solidFill>
                  <a:latin typeface="굴림"/>
                  <a:ea typeface="굴림"/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621" y="1591250"/>
                <a:ext cx="649730" cy="276999"/>
              </a:xfrm>
              <a:prstGeom prst="rect">
                <a:avLst/>
              </a:prstGeom>
              <a:blipFill rotWithShape="0"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/>
          <p:cNvGrpSpPr/>
          <p:nvPr/>
        </p:nvGrpSpPr>
        <p:grpSpPr>
          <a:xfrm>
            <a:off x="8796430" y="805550"/>
            <a:ext cx="809439" cy="276999"/>
            <a:chOff x="8139773" y="3259996"/>
            <a:chExt cx="809439" cy="276999"/>
          </a:xfrm>
        </p:grpSpPr>
        <p:pic>
          <p:nvPicPr>
            <p:cNvPr id="69" name="_x419053856" descr="EMB0000328441c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20612" y="3288164"/>
              <a:ext cx="228600" cy="2206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0" name="Text Box 8"/>
            <p:cNvSpPr txBox="1">
              <a:spLocks noChangeArrowheads="1"/>
            </p:cNvSpPr>
            <p:nvPr/>
          </p:nvSpPr>
          <p:spPr bwMode="auto">
            <a:xfrm>
              <a:off x="8139773" y="3259996"/>
              <a:ext cx="60305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50" charset="-127"/>
                </a:rPr>
                <a:t>hasldr</a:t>
              </a:r>
              <a:endParaRPr kumimoji="1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</p:grpSp>
      <p:sp>
        <p:nvSpPr>
          <p:cNvPr id="71" name="Text Box 136"/>
          <p:cNvSpPr txBox="1">
            <a:spLocks noChangeArrowheads="1"/>
          </p:cNvSpPr>
          <p:nvPr/>
        </p:nvSpPr>
        <p:spPr bwMode="auto">
          <a:xfrm>
            <a:off x="2355445" y="2256372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</a:p>
        </p:txBody>
      </p:sp>
      <p:sp>
        <p:nvSpPr>
          <p:cNvPr id="72" name="Text Box 136"/>
          <p:cNvSpPr txBox="1">
            <a:spLocks noChangeArrowheads="1"/>
          </p:cNvSpPr>
          <p:nvPr/>
        </p:nvSpPr>
        <p:spPr bwMode="auto">
          <a:xfrm>
            <a:off x="3174546" y="2015475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</a:p>
        </p:txBody>
      </p:sp>
      <p:sp>
        <p:nvSpPr>
          <p:cNvPr id="79" name="Text Box 136"/>
          <p:cNvSpPr txBox="1">
            <a:spLocks noChangeArrowheads="1"/>
          </p:cNvSpPr>
          <p:nvPr/>
        </p:nvSpPr>
        <p:spPr bwMode="auto">
          <a:xfrm>
            <a:off x="8268896" y="1267259"/>
            <a:ext cx="5693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10000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6021182" y="827303"/>
            <a:ext cx="809439" cy="276999"/>
            <a:chOff x="4910262" y="3259996"/>
            <a:chExt cx="809439" cy="276999"/>
          </a:xfrm>
        </p:grpSpPr>
        <p:pic>
          <p:nvPicPr>
            <p:cNvPr id="80" name="_x419053856" descr="EMB0000328441c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1101" y="3288164"/>
              <a:ext cx="228600" cy="2206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1" name="Text Box 8"/>
            <p:cNvSpPr txBox="1">
              <a:spLocks noChangeArrowheads="1"/>
            </p:cNvSpPr>
            <p:nvPr/>
          </p:nvSpPr>
          <p:spPr bwMode="auto">
            <a:xfrm>
              <a:off x="4910262" y="3259996"/>
              <a:ext cx="60305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50" charset="-127"/>
                </a:rPr>
                <a:t>hasldr</a:t>
              </a:r>
              <a:endParaRPr kumimoji="1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</p:grpSp>
      <p:sp>
        <p:nvSpPr>
          <p:cNvPr id="86" name="Text Box 8"/>
          <p:cNvSpPr txBox="1">
            <a:spLocks noChangeArrowheads="1"/>
          </p:cNvSpPr>
          <p:nvPr/>
        </p:nvSpPr>
        <p:spPr bwMode="auto">
          <a:xfrm>
            <a:off x="1384998" y="2437874"/>
            <a:ext cx="82105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kern="0" dirty="0" err="1">
                <a:solidFill>
                  <a:srgbClr val="000000"/>
                </a:solidFill>
              </a:rPr>
              <a:t>vom</a:t>
            </a:r>
            <a:r>
              <a:rPr lang="en-US" altLang="ko-KR" sz="800" kern="0" dirty="0">
                <a:solidFill>
                  <a:srgbClr val="000000"/>
                </a:solidFill>
              </a:rPr>
              <a:t> </a:t>
            </a:r>
            <a:r>
              <a:rPr lang="en-US" altLang="ko-KR" sz="800" kern="0" dirty="0" err="1">
                <a:solidFill>
                  <a:srgbClr val="000000"/>
                </a:solidFill>
              </a:rPr>
              <a:t>ts</a:t>
            </a:r>
            <a:r>
              <a:rPr lang="en-US" altLang="ko-KR" sz="800" kern="0" dirty="0">
                <a:solidFill>
                  <a:srgbClr val="000000"/>
                </a:solidFill>
              </a:rPr>
              <a:t> 110 248</a:t>
            </a:r>
          </a:p>
        </p:txBody>
      </p:sp>
      <p:sp>
        <p:nvSpPr>
          <p:cNvPr id="78" name="Text Box 136"/>
          <p:cNvSpPr txBox="1">
            <a:spLocks noChangeArrowheads="1"/>
          </p:cNvSpPr>
          <p:nvPr/>
        </p:nvSpPr>
        <p:spPr bwMode="auto">
          <a:xfrm>
            <a:off x="3174546" y="2491575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2863980" y="1819717"/>
                <a:ext cx="8699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𝑠𝑜𝑎𝑒</m:t>
                      </m:r>
                      <m:r>
                        <a:rPr kumimoji="0"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kumimoji="0"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𝑎𝑎𝑎</m:t>
                      </m:r>
                    </m:oMath>
                  </m:oMathPara>
                </a14:m>
                <a:endParaRPr kumimoji="0" lang="ko-KR" altLang="en-US" dirty="0">
                  <a:solidFill>
                    <a:srgbClr val="000000"/>
                  </a:solidFill>
                  <a:latin typeface="굴림"/>
                  <a:ea typeface="굴림"/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980" y="1819717"/>
                <a:ext cx="869918" cy="27699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2867988" y="2240982"/>
                <a:ext cx="8619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𝑠𝑜𝑎𝑒</m:t>
                      </m:r>
                      <m:r>
                        <a:rPr kumimoji="0"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kumimoji="0"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𝑒𝑎𝑎</m:t>
                      </m:r>
                    </m:oMath>
                  </m:oMathPara>
                </a14:m>
                <a:endParaRPr kumimoji="0" lang="ko-KR" altLang="en-US" dirty="0">
                  <a:solidFill>
                    <a:srgbClr val="000000"/>
                  </a:solidFill>
                  <a:latin typeface="굴림"/>
                  <a:ea typeface="굴림"/>
                </a:endParaRP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988" y="2240982"/>
                <a:ext cx="861903" cy="27699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Line 125"/>
          <p:cNvSpPr>
            <a:spLocks noChangeShapeType="1"/>
          </p:cNvSpPr>
          <p:nvPr/>
        </p:nvSpPr>
        <p:spPr bwMode="auto">
          <a:xfrm>
            <a:off x="2827744" y="2496658"/>
            <a:ext cx="100643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굴림"/>
            </a:endParaRPr>
          </a:p>
        </p:txBody>
      </p:sp>
      <p:sp>
        <p:nvSpPr>
          <p:cNvPr id="88" name="Line 125"/>
          <p:cNvSpPr>
            <a:spLocks noChangeShapeType="1"/>
          </p:cNvSpPr>
          <p:nvPr/>
        </p:nvSpPr>
        <p:spPr bwMode="auto">
          <a:xfrm>
            <a:off x="4667581" y="2476805"/>
            <a:ext cx="100643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굴림"/>
            </a:endParaRPr>
          </a:p>
        </p:txBody>
      </p:sp>
      <p:sp>
        <p:nvSpPr>
          <p:cNvPr id="89" name="Line 125"/>
          <p:cNvSpPr>
            <a:spLocks noChangeShapeType="1"/>
          </p:cNvSpPr>
          <p:nvPr/>
        </p:nvSpPr>
        <p:spPr bwMode="auto">
          <a:xfrm>
            <a:off x="5694957" y="2010805"/>
            <a:ext cx="100643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굴림"/>
            </a:endParaRPr>
          </a:p>
        </p:txBody>
      </p:sp>
      <p:sp>
        <p:nvSpPr>
          <p:cNvPr id="90" name="Line 125"/>
          <p:cNvSpPr>
            <a:spLocks noChangeShapeType="1"/>
          </p:cNvSpPr>
          <p:nvPr/>
        </p:nvSpPr>
        <p:spPr bwMode="auto">
          <a:xfrm>
            <a:off x="4669835" y="2013162"/>
            <a:ext cx="100643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굴림"/>
            </a:endParaRPr>
          </a:p>
        </p:txBody>
      </p:sp>
      <p:sp>
        <p:nvSpPr>
          <p:cNvPr id="99" name="Line 125"/>
          <p:cNvSpPr>
            <a:spLocks noChangeShapeType="1"/>
          </p:cNvSpPr>
          <p:nvPr/>
        </p:nvSpPr>
        <p:spPr bwMode="auto">
          <a:xfrm>
            <a:off x="5691432" y="2482438"/>
            <a:ext cx="100643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굴림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5859434" y="1761298"/>
                <a:ext cx="7651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0.7</m:t>
                      </m:r>
                      <m:r>
                        <a:rPr kumimoji="0"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𝑓𝑒𝑎𝑒</m:t>
                      </m:r>
                    </m:oMath>
                  </m:oMathPara>
                </a14:m>
                <a:endParaRPr kumimoji="0" lang="ko-KR" altLang="en-US" dirty="0">
                  <a:solidFill>
                    <a:srgbClr val="000000"/>
                  </a:solidFill>
                  <a:latin typeface="굴림"/>
                  <a:ea typeface="굴림"/>
                </a:endParaRPr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434" y="1761298"/>
                <a:ext cx="765146" cy="276999"/>
              </a:xfrm>
              <a:prstGeom prst="rect">
                <a:avLst/>
              </a:prstGeom>
              <a:blipFill rotWithShape="0">
                <a:blip r:embed="rId8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5843607" y="2235366"/>
                <a:ext cx="7651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0.3</m:t>
                      </m:r>
                      <m:r>
                        <a:rPr kumimoji="0"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𝑓𝑒𝑎𝑒</m:t>
                      </m:r>
                    </m:oMath>
                  </m:oMathPara>
                </a14:m>
                <a:endParaRPr kumimoji="0" lang="ko-KR" altLang="en-US" dirty="0">
                  <a:solidFill>
                    <a:srgbClr val="000000"/>
                  </a:solidFill>
                  <a:latin typeface="굴림"/>
                  <a:ea typeface="굴림"/>
                </a:endParaRPr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607" y="2235366"/>
                <a:ext cx="765146" cy="276999"/>
              </a:xfrm>
              <a:prstGeom prst="rect">
                <a:avLst/>
              </a:prstGeom>
              <a:blipFill rotWithShape="0">
                <a:blip r:embed="rId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 Box 136"/>
          <p:cNvSpPr txBox="1">
            <a:spLocks noChangeArrowheads="1"/>
          </p:cNvSpPr>
          <p:nvPr/>
        </p:nvSpPr>
        <p:spPr bwMode="auto">
          <a:xfrm>
            <a:off x="5016081" y="1954349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</a:p>
        </p:txBody>
      </p:sp>
      <p:sp>
        <p:nvSpPr>
          <p:cNvPr id="104" name="Text Box 136"/>
          <p:cNvSpPr txBox="1">
            <a:spLocks noChangeArrowheads="1"/>
          </p:cNvSpPr>
          <p:nvPr/>
        </p:nvSpPr>
        <p:spPr bwMode="auto">
          <a:xfrm>
            <a:off x="5016081" y="2430449"/>
            <a:ext cx="24878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4705515" y="1758591"/>
                <a:ext cx="86991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𝑠𝑜𝑎𝑒</m:t>
                      </m:r>
                      <m:r>
                        <a:rPr kumimoji="0"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kumimoji="0"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𝑎𝑎𝑎</m:t>
                      </m:r>
                    </m:oMath>
                  </m:oMathPara>
                </a14:m>
                <a:endParaRPr kumimoji="0" lang="ko-KR" altLang="en-US" dirty="0">
                  <a:solidFill>
                    <a:srgbClr val="000000"/>
                  </a:solidFill>
                  <a:latin typeface="굴림"/>
                  <a:ea typeface="굴림"/>
                </a:endParaRPr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515" y="1758591"/>
                <a:ext cx="869918" cy="276999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4709523" y="2228716"/>
                <a:ext cx="8619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𝑠𝑜𝑎𝑒</m:t>
                      </m:r>
                      <m:r>
                        <a:rPr kumimoji="0"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kumimoji="0"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𝑒𝑎𝑎</m:t>
                      </m:r>
                    </m:oMath>
                  </m:oMathPara>
                </a14:m>
                <a:endParaRPr kumimoji="0" lang="ko-KR" altLang="en-US" dirty="0">
                  <a:solidFill>
                    <a:srgbClr val="000000"/>
                  </a:solidFill>
                  <a:latin typeface="굴림"/>
                  <a:ea typeface="굴림"/>
                </a:endParaRPr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523" y="2228716"/>
                <a:ext cx="861903" cy="276999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Line 125"/>
          <p:cNvSpPr>
            <a:spLocks noChangeShapeType="1"/>
          </p:cNvSpPr>
          <p:nvPr/>
        </p:nvSpPr>
        <p:spPr bwMode="auto">
          <a:xfrm>
            <a:off x="7526543" y="2221183"/>
            <a:ext cx="1006436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굴림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7681800" y="1943419"/>
                <a:ext cx="7651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kumimoji="0"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𝑓𝑒𝑎𝑒</m:t>
                      </m:r>
                    </m:oMath>
                  </m:oMathPara>
                </a14:m>
                <a:endParaRPr kumimoji="0" lang="ko-KR" altLang="en-US" dirty="0">
                  <a:solidFill>
                    <a:srgbClr val="000000"/>
                  </a:solidFill>
                  <a:latin typeface="굴림"/>
                  <a:ea typeface="굴림"/>
                </a:endParaRPr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1800" y="1943419"/>
                <a:ext cx="765146" cy="276999"/>
              </a:xfrm>
              <a:prstGeom prst="rect">
                <a:avLst/>
              </a:prstGeom>
              <a:blipFill rotWithShape="0">
                <a:blip r:embed="rId12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직사각형 149"/>
          <p:cNvSpPr/>
          <p:nvPr/>
        </p:nvSpPr>
        <p:spPr>
          <a:xfrm>
            <a:off x="437748" y="5762476"/>
            <a:ext cx="19356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capacity factor = </a:t>
            </a:r>
            <a:r>
              <a:rPr lang="en-US" altLang="ko-KR" dirty="0" smtClean="0">
                <a:solidFill>
                  <a:srgbClr val="FF0000"/>
                </a:solidFill>
                <a:ea typeface="굴림" panose="020B0600000101010101" pitchFamily="50" charset="-127"/>
              </a:rPr>
              <a:t>0.82974</a:t>
            </a:r>
            <a:endParaRPr lang="en-US" altLang="ko-KR" dirty="0">
              <a:solidFill>
                <a:srgbClr val="FF0000"/>
              </a:solidFill>
              <a:ea typeface="굴림" panose="020B0600000101010101" pitchFamily="50" charset="-127"/>
            </a:endParaRPr>
          </a:p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= min{</a:t>
            </a:r>
            <a:r>
              <a:rPr lang="en-US" altLang="ko-KR" dirty="0" smtClean="0">
                <a:solidFill>
                  <a:srgbClr val="FF0000"/>
                </a:solidFill>
                <a:ea typeface="굴림" panose="020B0600000101010101" pitchFamily="50" charset="-127"/>
              </a:rPr>
              <a:t>0.58/0.7</a:t>
            </a:r>
            <a:r>
              <a:rPr lang="en-US" altLang="ko-KR" dirty="0" smtClean="0">
                <a:solidFill>
                  <a:srgbClr val="000000"/>
                </a:solidFill>
                <a:ea typeface="굴림" panose="020B0600000101010101" pitchFamily="50" charset="-127"/>
              </a:rPr>
              <a:t>,0.419/0.3}</a:t>
            </a:r>
          </a:p>
        </p:txBody>
      </p:sp>
      <p:grpSp>
        <p:nvGrpSpPr>
          <p:cNvPr id="151" name="그룹 150"/>
          <p:cNvGrpSpPr/>
          <p:nvPr/>
        </p:nvGrpSpPr>
        <p:grpSpPr>
          <a:xfrm>
            <a:off x="-17578" y="3955947"/>
            <a:ext cx="2846829" cy="1757148"/>
            <a:chOff x="6690388" y="3549986"/>
            <a:chExt cx="2846829" cy="1757148"/>
          </a:xfrm>
        </p:grpSpPr>
        <p:sp>
          <p:nvSpPr>
            <p:cNvPr id="152" name="직사각형 151"/>
            <p:cNvSpPr/>
            <p:nvPr/>
          </p:nvSpPr>
          <p:spPr>
            <a:xfrm>
              <a:off x="7177175" y="4116685"/>
              <a:ext cx="883314" cy="854667"/>
            </a:xfrm>
            <a:prstGeom prst="rect">
              <a:avLst/>
            </a:prstGeom>
            <a:solidFill>
              <a:srgbClr val="BBE0E3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153" name="직사각형 152"/>
            <p:cNvSpPr/>
            <p:nvPr/>
          </p:nvSpPr>
          <p:spPr>
            <a:xfrm>
              <a:off x="7176671" y="4116685"/>
              <a:ext cx="883314" cy="218139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solidFill>
                <a:srgbClr val="92D05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굴림"/>
                  <a:ea typeface="굴림"/>
                </a:rPr>
                <a:t>overload</a:t>
              </a:r>
              <a:endPara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154" name="직사각형 153"/>
            <p:cNvSpPr/>
            <p:nvPr/>
          </p:nvSpPr>
          <p:spPr>
            <a:xfrm>
              <a:off x="7176059" y="3828181"/>
              <a:ext cx="1533538" cy="1143171"/>
            </a:xfrm>
            <a:prstGeom prst="rect">
              <a:avLst/>
            </a:prstGeom>
            <a:noFill/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155" name="직사각형 154"/>
            <p:cNvSpPr/>
            <p:nvPr/>
          </p:nvSpPr>
          <p:spPr>
            <a:xfrm>
              <a:off x="8060490" y="4551400"/>
              <a:ext cx="649108" cy="419953"/>
            </a:xfrm>
            <a:prstGeom prst="rect">
              <a:avLst/>
            </a:prstGeom>
            <a:solidFill>
              <a:srgbClr val="BBE0E3"/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cxnSp>
          <p:nvCxnSpPr>
            <p:cNvPr id="156" name="직선 연결선 155"/>
            <p:cNvCxnSpPr/>
            <p:nvPr/>
          </p:nvCxnSpPr>
          <p:spPr>
            <a:xfrm>
              <a:off x="8057160" y="4971351"/>
              <a:ext cx="649108" cy="2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headEnd type="triangle" w="med" len="med"/>
              <a:tailEnd type="triangle" w="med" len="med"/>
            </a:ln>
            <a:effectLst/>
          </p:spPr>
        </p:cxnSp>
        <p:cxnSp>
          <p:nvCxnSpPr>
            <p:cNvPr id="157" name="직선 연결선 156"/>
            <p:cNvCxnSpPr/>
            <p:nvPr/>
          </p:nvCxnSpPr>
          <p:spPr>
            <a:xfrm flipV="1">
              <a:off x="7178290" y="4971351"/>
              <a:ext cx="882200" cy="2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headEnd type="triangle" w="med" len="med"/>
              <a:tailEnd type="triangle" w="med" len="med"/>
            </a:ln>
            <a:effectLst/>
          </p:spPr>
        </p:cxnSp>
        <p:sp>
          <p:nvSpPr>
            <p:cNvPr id="158" name="직사각형 157"/>
            <p:cNvSpPr/>
            <p:nvPr/>
          </p:nvSpPr>
          <p:spPr>
            <a:xfrm>
              <a:off x="6690388" y="4231505"/>
              <a:ext cx="569387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latinLnBrk="1" hangingPunct="1"/>
              <a:r>
                <a:rPr lang="en-US" altLang="ko-KR" sz="800" dirty="0">
                  <a:solidFill>
                    <a:srgbClr val="000000"/>
                  </a:solidFill>
                  <a:ea typeface="굴림" panose="020B0600000101010101" pitchFamily="50" charset="-127"/>
                </a:rPr>
                <a:t>0.580822</a:t>
              </a:r>
              <a:endParaRPr lang="ko-KR" altLang="en-US" sz="800" dirty="0">
                <a:solidFill>
                  <a:srgbClr val="000000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59" name="직사각형 158"/>
            <p:cNvSpPr/>
            <p:nvPr/>
          </p:nvSpPr>
          <p:spPr>
            <a:xfrm>
              <a:off x="6892685" y="4051825"/>
              <a:ext cx="31290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latinLnBrk="1" hangingPunct="1"/>
              <a:r>
                <a:rPr lang="en-US" altLang="ko-KR" sz="800" b="1" dirty="0" smtClean="0">
                  <a:solidFill>
                    <a:srgbClr val="FF00FF"/>
                  </a:solidFill>
                  <a:ea typeface="굴림" panose="020B0600000101010101" pitchFamily="50" charset="-127"/>
                </a:rPr>
                <a:t>0.7</a:t>
              </a:r>
              <a:endParaRPr lang="ko-KR" altLang="en-US" sz="800" b="1" dirty="0">
                <a:solidFill>
                  <a:srgbClr val="FF00FF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60" name="직사각형 159"/>
            <p:cNvSpPr/>
            <p:nvPr/>
          </p:nvSpPr>
          <p:spPr>
            <a:xfrm>
              <a:off x="7954492" y="4968580"/>
              <a:ext cx="89800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 latinLnBrk="1" hangingPunct="1"/>
              <a:r>
                <a:rPr lang="en-US" altLang="ko-KR" sz="800" b="1" dirty="0" smtClean="0">
                  <a:solidFill>
                    <a:srgbClr val="00B050"/>
                  </a:solidFill>
                  <a:ea typeface="굴림" panose="020B0600000101010101" pitchFamily="50" charset="-127"/>
                </a:rPr>
                <a:t>0.419178</a:t>
              </a:r>
            </a:p>
            <a:p>
              <a:pPr algn="ctr" eaLnBrk="1" latinLnBrk="1" hangingPunct="1"/>
              <a:r>
                <a:rPr lang="en-US" altLang="ko-KR" sz="800" dirty="0">
                  <a:solidFill>
                    <a:srgbClr val="000000"/>
                  </a:solidFill>
                  <a:ea typeface="굴림" panose="020B0600000101010101" pitchFamily="50" charset="-127"/>
                </a:rPr>
                <a:t>(</a:t>
              </a:r>
              <a:r>
                <a:rPr lang="en-US" altLang="ko-KR" sz="800" dirty="0" smtClean="0">
                  <a:solidFill>
                    <a:srgbClr val="000000"/>
                  </a:solidFill>
                  <a:ea typeface="굴림" panose="020B0600000101010101" pitchFamily="50" charset="-127"/>
                </a:rPr>
                <a:t>2012.8.1~12.31)</a:t>
              </a:r>
              <a:endParaRPr lang="ko-KR" altLang="en-US" sz="800" dirty="0">
                <a:solidFill>
                  <a:srgbClr val="000000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8683635" y="4619021"/>
              <a:ext cx="31290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latinLnBrk="1" hangingPunct="1"/>
              <a:r>
                <a:rPr lang="en-US" altLang="ko-KR" sz="800" b="1" dirty="0" smtClean="0">
                  <a:solidFill>
                    <a:srgbClr val="FF00FF"/>
                  </a:solidFill>
                  <a:ea typeface="굴림" panose="020B0600000101010101" pitchFamily="50" charset="-127"/>
                </a:rPr>
                <a:t>0.3</a:t>
              </a:r>
              <a:endParaRPr lang="ko-KR" altLang="en-US" sz="800" b="1" dirty="0">
                <a:solidFill>
                  <a:srgbClr val="FF00FF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7192345" y="4968580"/>
              <a:ext cx="84670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 latinLnBrk="1" hangingPunct="1"/>
              <a:r>
                <a:rPr lang="en-US" altLang="ko-KR" sz="800" b="1" dirty="0" smtClean="0">
                  <a:solidFill>
                    <a:srgbClr val="00B050"/>
                  </a:solidFill>
                  <a:ea typeface="굴림" panose="020B0600000101010101" pitchFamily="50" charset="-127"/>
                </a:rPr>
                <a:t>0.580822</a:t>
              </a:r>
            </a:p>
            <a:p>
              <a:pPr algn="ctr" eaLnBrk="1" latinLnBrk="1" hangingPunct="1"/>
              <a:r>
                <a:rPr lang="en-US" altLang="ko-KR" sz="800" dirty="0" smtClean="0">
                  <a:solidFill>
                    <a:srgbClr val="000000"/>
                  </a:solidFill>
                  <a:ea typeface="굴림" panose="020B0600000101010101" pitchFamily="50" charset="-127"/>
                </a:rPr>
                <a:t>(2012.1.1~7.31)</a:t>
              </a:r>
              <a:endParaRPr lang="ko-KR" altLang="en-US" sz="800" dirty="0">
                <a:solidFill>
                  <a:srgbClr val="000000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8692114" y="4884661"/>
              <a:ext cx="845103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800" b="1" dirty="0" smtClean="0">
                  <a:solidFill>
                    <a:srgbClr val="00B050"/>
                  </a:solidFill>
                  <a:ea typeface="굴림" panose="020B0600000101010101" pitchFamily="50" charset="-127"/>
                </a:rPr>
                <a:t>Length(region)</a:t>
              </a:r>
              <a:endParaRPr kumimoji="0" lang="ko-KR" altLang="en-US" sz="800" b="1" dirty="0">
                <a:solidFill>
                  <a:srgbClr val="00B050"/>
                </a:solidFill>
                <a:latin typeface="굴림"/>
                <a:ea typeface="굴림"/>
              </a:endParaRPr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6914873" y="3664326"/>
              <a:ext cx="413896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800" b="1" dirty="0" smtClean="0">
                  <a:solidFill>
                    <a:srgbClr val="FF00FF"/>
                  </a:solidFill>
                  <a:ea typeface="굴림" panose="020B0600000101010101" pitchFamily="50" charset="-127"/>
                </a:rPr>
                <a:t>Load</a:t>
              </a:r>
              <a:endParaRPr kumimoji="0" lang="ko-KR" altLang="en-US" sz="800" b="1" dirty="0">
                <a:solidFill>
                  <a:srgbClr val="FF00FF"/>
                </a:solidFill>
                <a:latin typeface="굴림"/>
                <a:ea typeface="굴림"/>
              </a:endParaRP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7551528" y="3549986"/>
              <a:ext cx="73609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1000" dirty="0" err="1" smtClean="0">
                  <a:solidFill>
                    <a:srgbClr val="000000"/>
                  </a:solidFill>
                  <a:ea typeface="굴림" panose="020B0600000101010101" pitchFamily="50" charset="-127"/>
                </a:rPr>
                <a:t>Loadcurve</a:t>
              </a:r>
              <a:endParaRPr kumimoji="0" lang="ko-KR" altLang="en-US" sz="1000" dirty="0">
                <a:solidFill>
                  <a:srgbClr val="000000"/>
                </a:solidFill>
                <a:latin typeface="굴림"/>
                <a:ea typeface="굴림"/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8060993" y="4545173"/>
              <a:ext cx="649108" cy="151538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solidFill>
                <a:srgbClr val="92D05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kern="0" dirty="0" err="1" smtClean="0">
                  <a:solidFill>
                    <a:srgbClr val="00B050"/>
                  </a:solidFill>
                  <a:latin typeface="굴림"/>
                  <a:ea typeface="굴림"/>
                </a:rPr>
                <a:t>underload</a:t>
              </a:r>
              <a:endParaRPr kumimoji="0" lang="ko-KR" alt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굴림"/>
                <a:ea typeface="굴림"/>
              </a:endParaRP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8682821" y="4462279"/>
              <a:ext cx="569387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latinLnBrk="1" hangingPunct="1"/>
              <a:r>
                <a:rPr lang="en-US" altLang="ko-KR" sz="800" dirty="0">
                  <a:solidFill>
                    <a:srgbClr val="000000"/>
                  </a:solidFill>
                  <a:ea typeface="굴림" panose="020B0600000101010101" pitchFamily="50" charset="-127"/>
                </a:rPr>
                <a:t>0.419178</a:t>
              </a:r>
            </a:p>
          </p:txBody>
        </p:sp>
      </p:grpSp>
      <p:sp>
        <p:nvSpPr>
          <p:cNvPr id="168" name="Text Box 8"/>
          <p:cNvSpPr txBox="1">
            <a:spLocks noChangeArrowheads="1"/>
          </p:cNvSpPr>
          <p:nvPr/>
        </p:nvSpPr>
        <p:spPr bwMode="auto">
          <a:xfrm>
            <a:off x="6766595" y="2648962"/>
            <a:ext cx="6912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inv</a:t>
            </a:r>
            <a:r>
              <a:rPr kumimoji="1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 c 1000</a:t>
            </a:r>
          </a:p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fom</a:t>
            </a:r>
            <a:r>
              <a:rPr kumimoji="1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 c 10</a:t>
            </a:r>
          </a:p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hc</a:t>
            </a:r>
            <a:r>
              <a:rPr kumimoji="1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 1995 600</a:t>
            </a:r>
          </a:p>
        </p:txBody>
      </p:sp>
      <p:sp>
        <p:nvSpPr>
          <p:cNvPr id="169" name="Text Box 8"/>
          <p:cNvSpPr txBox="1">
            <a:spLocks noChangeArrowheads="1"/>
          </p:cNvSpPr>
          <p:nvPr/>
        </p:nvSpPr>
        <p:spPr bwMode="auto">
          <a:xfrm>
            <a:off x="3940914" y="2642620"/>
            <a:ext cx="6912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inv</a:t>
            </a:r>
            <a:r>
              <a:rPr kumimoji="1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 c 1000</a:t>
            </a:r>
          </a:p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fom</a:t>
            </a:r>
            <a:r>
              <a:rPr kumimoji="1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 c 10</a:t>
            </a:r>
          </a:p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hc</a:t>
            </a:r>
            <a:r>
              <a:rPr kumimoji="1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50" charset="-127"/>
              </a:rPr>
              <a:t> 1995 600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4329834" y="3128711"/>
                <a:ext cx="238078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dirty="0" smtClean="0"/>
                  <a:t>(b2-1) </a:t>
                </a:r>
                <a:r>
                  <a:rPr lang="ko-KR" altLang="en-US" dirty="0" smtClean="0"/>
                  <a:t>soae</a:t>
                </a:r>
                <a:r>
                  <a:rPr lang="en-US" altLang="ko-KR" dirty="0" smtClean="0"/>
                  <a:t>_</a:t>
                </a:r>
                <a:r>
                  <a:rPr lang="ko-KR" altLang="en-US" dirty="0" smtClean="0"/>
                  <a:t>aaa002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≥ </m:t>
                    </m:r>
                  </m:oMath>
                </a14:m>
                <a:r>
                  <a:rPr lang="ko-KR" altLang="en-US" dirty="0">
                    <a:solidFill>
                      <a:srgbClr val="FF00FF"/>
                    </a:solidFill>
                  </a:rPr>
                  <a:t>0.7</a:t>
                </a:r>
                <a:r>
                  <a:rPr lang="ko-KR" altLang="en-US" dirty="0"/>
                  <a:t> feae</a:t>
                </a:r>
                <a:r>
                  <a:rPr lang="en-US" altLang="ko-KR" dirty="0"/>
                  <a:t>_</a:t>
                </a:r>
                <a:r>
                  <a:rPr lang="ko-KR" altLang="en-US" dirty="0"/>
                  <a:t>002</a:t>
                </a:r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834" y="3128711"/>
                <a:ext cx="2380780" cy="276999"/>
              </a:xfrm>
              <a:prstGeom prst="rect">
                <a:avLst/>
              </a:prstGeom>
              <a:blipFill rotWithShape="0">
                <a:blip r:embed="rId1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/>
              <p:cNvSpPr/>
              <p:nvPr/>
            </p:nvSpPr>
            <p:spPr>
              <a:xfrm>
                <a:off x="4329833" y="3378866"/>
                <a:ext cx="242406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dirty="0" smtClean="0"/>
                  <a:t>(b2-2) </a:t>
                </a:r>
                <a:r>
                  <a:rPr lang="ko-KR" altLang="en-US" dirty="0" smtClean="0"/>
                  <a:t>soae</a:t>
                </a:r>
                <a:r>
                  <a:rPr lang="en-US" altLang="ko-KR" dirty="0" smtClean="0"/>
                  <a:t>_</a:t>
                </a:r>
                <a:r>
                  <a:rPr lang="ko-KR" altLang="en-US" dirty="0" smtClean="0"/>
                  <a:t>eaa002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ko-KR" altLang="en-US" dirty="0">
                    <a:solidFill>
                      <a:srgbClr val="FF00FF"/>
                    </a:solidFill>
                  </a:rPr>
                  <a:t>0.3</a:t>
                </a:r>
                <a:r>
                  <a:rPr lang="ko-KR" altLang="en-US" dirty="0"/>
                  <a:t> feae</a:t>
                </a:r>
                <a:r>
                  <a:rPr lang="en-US" altLang="ko-KR" dirty="0"/>
                  <a:t>_</a:t>
                </a:r>
                <a:r>
                  <a:rPr lang="ko-KR" altLang="en-US" dirty="0"/>
                  <a:t>002</a:t>
                </a:r>
              </a:p>
            </p:txBody>
          </p:sp>
        </mc:Choice>
        <mc:Fallback xmlns="">
          <p:sp>
            <p:nvSpPr>
              <p:cNvPr id="12" name="직사각형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833" y="3378866"/>
                <a:ext cx="2424062" cy="276999"/>
              </a:xfrm>
              <a:prstGeom prst="rect">
                <a:avLst/>
              </a:prstGeom>
              <a:blipFill rotWithShape="0">
                <a:blip r:embed="rId14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직사각형 169"/>
              <p:cNvSpPr/>
              <p:nvPr/>
            </p:nvSpPr>
            <p:spPr>
              <a:xfrm>
                <a:off x="3010341" y="4031471"/>
                <a:ext cx="590007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dirty="0" smtClean="0"/>
                  <a:t>(c1-1) </a:t>
                </a:r>
                <a:r>
                  <a:rPr lang="ko-KR" altLang="en-US" dirty="0" smtClean="0"/>
                  <a:t>soae</a:t>
                </a:r>
                <a:r>
                  <a:rPr lang="en-US" altLang="ko-KR" dirty="0" smtClean="0"/>
                  <a:t>_</a:t>
                </a:r>
                <a:r>
                  <a:rPr lang="ko-KR" altLang="en-US" dirty="0" smtClean="0"/>
                  <a:t>aaa002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b="1" dirty="0" smtClean="0">
                    <a:solidFill>
                      <a:srgbClr val="00B050"/>
                    </a:solidFill>
                  </a:rPr>
                  <a:t>0.5808</a:t>
                </a:r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ysoae</a:t>
                </a:r>
                <a:r>
                  <a:rPr lang="en-US" altLang="ko-KR" dirty="0"/>
                  <a:t>_</a:t>
                </a:r>
                <a:r>
                  <a:rPr lang="ko-KR" altLang="en-US" dirty="0" smtClean="0"/>
                  <a:t>002    </a:t>
                </a:r>
                <a:r>
                  <a:rPr lang="en-US" altLang="ko-KR" dirty="0" smtClean="0"/>
                  <a:t>:  </a:t>
                </a:r>
                <a:r>
                  <a:rPr lang="en-US" altLang="ko-KR" dirty="0" err="1" smtClean="0"/>
                  <a:t>Coal_PP</a:t>
                </a:r>
                <a:r>
                  <a:rPr lang="en-US" altLang="ko-KR" dirty="0" smtClean="0"/>
                  <a:t>  </a:t>
                </a:r>
                <a:r>
                  <a:rPr lang="en-US" altLang="ko-KR" dirty="0" smtClean="0">
                    <a:solidFill>
                      <a:srgbClr val="00B050"/>
                    </a:solidFill>
                  </a:rPr>
                  <a:t>season1</a:t>
                </a:r>
                <a:r>
                  <a:rPr lang="ko-KR" altLang="en-US" dirty="0" smtClean="0"/>
                  <a:t> 기간의 </a:t>
                </a:r>
                <a:r>
                  <a:rPr lang="en-US" altLang="ko-KR" dirty="0" smtClean="0"/>
                  <a:t>capacity constraint</a:t>
                </a:r>
              </a:p>
              <a:p>
                <a:r>
                  <a:rPr lang="en-US" altLang="ko-KR" dirty="0" smtClean="0"/>
                  <a:t>                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ko-KR" altLang="en-US" dirty="0"/>
                  <a:t>1.7217 soae</a:t>
                </a:r>
                <a:r>
                  <a:rPr lang="en-US" altLang="ko-KR" dirty="0"/>
                  <a:t>_</a:t>
                </a:r>
                <a:r>
                  <a:rPr lang="ko-KR" altLang="en-US" dirty="0"/>
                  <a:t>aaa002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ko-KR" altLang="en-US" dirty="0"/>
                  <a:t> ysoae</a:t>
                </a:r>
                <a:r>
                  <a:rPr lang="en-US" altLang="ko-KR" dirty="0"/>
                  <a:t>_</a:t>
                </a:r>
                <a:r>
                  <a:rPr lang="ko-KR" altLang="en-US" dirty="0" smtClean="0"/>
                  <a:t>002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70" name="직사각형 1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341" y="4031471"/>
                <a:ext cx="5900077" cy="461665"/>
              </a:xfrm>
              <a:prstGeom prst="rect">
                <a:avLst/>
              </a:prstGeom>
              <a:blipFill rotWithShape="0">
                <a:blip r:embed="rId15"/>
                <a:stretch>
                  <a:fillRect l="-103" t="-1316" b="-9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직사각형 170"/>
              <p:cNvSpPr/>
              <p:nvPr/>
            </p:nvSpPr>
            <p:spPr>
              <a:xfrm>
                <a:off x="3038293" y="4445738"/>
                <a:ext cx="583275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dirty="0" smtClean="0"/>
                  <a:t>(c1-2) </a:t>
                </a:r>
                <a:r>
                  <a:rPr lang="ko-KR" altLang="en-US" dirty="0" smtClean="0"/>
                  <a:t>soae</a:t>
                </a:r>
                <a:r>
                  <a:rPr lang="en-US" altLang="ko-KR" dirty="0" smtClean="0"/>
                  <a:t>_e</a:t>
                </a:r>
                <a:r>
                  <a:rPr lang="ko-KR" altLang="en-US" dirty="0" smtClean="0"/>
                  <a:t>aa002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ko-KR" altLang="en-US" dirty="0"/>
                  <a:t> </a:t>
                </a:r>
                <a:r>
                  <a:rPr lang="en-US" altLang="ko-KR" b="1" dirty="0" smtClean="0">
                    <a:solidFill>
                      <a:srgbClr val="00B050"/>
                    </a:solidFill>
                  </a:rPr>
                  <a:t>0.4191</a:t>
                </a:r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ysoae</a:t>
                </a:r>
                <a:r>
                  <a:rPr lang="en-US" altLang="ko-KR" dirty="0"/>
                  <a:t>_</a:t>
                </a:r>
                <a:r>
                  <a:rPr lang="ko-KR" altLang="en-US" dirty="0" smtClean="0"/>
                  <a:t>002  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  </a:t>
                </a:r>
                <a:r>
                  <a:rPr lang="en-US" altLang="ko-KR" dirty="0" err="1"/>
                  <a:t>Coal_PP</a:t>
                </a:r>
                <a:r>
                  <a:rPr lang="en-US" altLang="ko-KR" dirty="0"/>
                  <a:t>  </a:t>
                </a:r>
                <a:r>
                  <a:rPr lang="en-US" altLang="ko-KR" dirty="0" smtClean="0">
                    <a:solidFill>
                      <a:srgbClr val="00B050"/>
                    </a:solidFill>
                  </a:rPr>
                  <a:t>season2</a:t>
                </a:r>
                <a:r>
                  <a:rPr lang="ko-KR" altLang="en-US" dirty="0" smtClean="0"/>
                  <a:t> </a:t>
                </a:r>
                <a:r>
                  <a:rPr lang="ko-KR" altLang="en-US" dirty="0"/>
                  <a:t>기간의 </a:t>
                </a:r>
                <a:r>
                  <a:rPr lang="en-US" altLang="ko-KR" dirty="0"/>
                  <a:t>capacity </a:t>
                </a:r>
                <a:r>
                  <a:rPr lang="en-US" altLang="ko-KR" dirty="0" smtClean="0"/>
                  <a:t>constraint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  </m:t>
                    </m:r>
                  </m:oMath>
                </a14:m>
                <a:r>
                  <a:rPr lang="ko-KR" altLang="en-US" dirty="0"/>
                  <a:t>2.38562 soae</a:t>
                </a:r>
                <a:r>
                  <a:rPr lang="en-US" altLang="ko-KR" dirty="0"/>
                  <a:t>_e</a:t>
                </a:r>
                <a:r>
                  <a:rPr lang="ko-KR" altLang="en-US" dirty="0"/>
                  <a:t>aa002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ko-KR" altLang="en-US" dirty="0"/>
                  <a:t> ysoae</a:t>
                </a:r>
                <a:r>
                  <a:rPr lang="en-US" altLang="ko-KR" dirty="0"/>
                  <a:t>_</a:t>
                </a:r>
                <a:r>
                  <a:rPr lang="ko-KR" altLang="en-US" dirty="0" smtClean="0"/>
                  <a:t>002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71" name="직사각형 1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293" y="4445738"/>
                <a:ext cx="5832751" cy="461665"/>
              </a:xfrm>
              <a:prstGeom prst="rect">
                <a:avLst/>
              </a:prstGeom>
              <a:blipFill rotWithShape="0">
                <a:blip r:embed="rId16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/>
              <p:cNvSpPr/>
              <p:nvPr/>
            </p:nvSpPr>
            <p:spPr>
              <a:xfrm>
                <a:off x="3038293" y="4930419"/>
                <a:ext cx="6983757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dirty="0" smtClean="0"/>
                  <a:t>(c2) </a:t>
                </a:r>
                <a:r>
                  <a:rPr lang="ko-KR" altLang="en-US" dirty="0" smtClean="0"/>
                  <a:t>0.8 feae</a:t>
                </a:r>
                <a:r>
                  <a:rPr lang="en-US" altLang="ko-KR" dirty="0" smtClean="0"/>
                  <a:t>_</a:t>
                </a:r>
                <a:r>
                  <a:rPr lang="ko-KR" altLang="en-US" dirty="0" smtClean="0"/>
                  <a:t>002 </a:t>
                </a:r>
                <a:r>
                  <a:rPr lang="ko-KR" altLang="en-US" dirty="0"/>
                  <a:t>-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0.829746</a:t>
                </a:r>
                <a:r>
                  <a:rPr lang="ko-KR" altLang="en-US" dirty="0"/>
                  <a:t> </a:t>
                </a:r>
                <a:r>
                  <a:rPr lang="ko-KR" altLang="en-US" dirty="0" smtClean="0"/>
                  <a:t>yfeae</a:t>
                </a:r>
                <a:r>
                  <a:rPr lang="en-US" altLang="ko-KR" dirty="0" smtClean="0"/>
                  <a:t>_</a:t>
                </a:r>
                <a:r>
                  <a:rPr lang="ko-KR" altLang="en-US" dirty="0" smtClean="0"/>
                  <a:t>002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ko-KR" altLang="en-US" dirty="0"/>
                  <a:t> 497.847 </a:t>
                </a:r>
                <a:r>
                  <a:rPr lang="en-US" altLang="ko-KR" dirty="0"/>
                  <a:t>(600*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 0.829746</a:t>
                </a:r>
                <a:r>
                  <a:rPr lang="en-US" altLang="ko-KR" dirty="0" smtClean="0"/>
                  <a:t>)</a:t>
                </a:r>
                <a:r>
                  <a:rPr lang="ko-KR" altLang="en-US" dirty="0" smtClean="0"/>
                  <a:t>  </a:t>
                </a:r>
                <a:r>
                  <a:rPr lang="en-US" altLang="ko-KR" dirty="0" smtClean="0"/>
                  <a:t>: </a:t>
                </a:r>
                <a:r>
                  <a:rPr lang="en-US" altLang="ko-KR" dirty="0" err="1" smtClean="0"/>
                  <a:t>Elec_TD</a:t>
                </a:r>
                <a:r>
                  <a:rPr lang="en-US" altLang="ko-KR" dirty="0" smtClean="0"/>
                  <a:t> capacity constraint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4" name="직사각형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293" y="4930419"/>
                <a:ext cx="6983757" cy="276999"/>
              </a:xfrm>
              <a:prstGeom prst="rect">
                <a:avLst/>
              </a:prstGeom>
              <a:blipFill rotWithShape="0">
                <a:blip r:embed="rId17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/>
              <p:cNvSpPr/>
              <p:nvPr/>
            </p:nvSpPr>
            <p:spPr>
              <a:xfrm>
                <a:off x="7632789" y="3110872"/>
                <a:ext cx="1810111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dirty="0" smtClean="0"/>
                  <a:t>(b3) </a:t>
                </a:r>
                <a:r>
                  <a:rPr lang="ko-KR" altLang="en-US" dirty="0" smtClean="0"/>
                  <a:t>0.8 feae</a:t>
                </a:r>
                <a:r>
                  <a:rPr lang="en-US" altLang="ko-KR" dirty="0" smtClean="0"/>
                  <a:t>_</a:t>
                </a:r>
                <a:r>
                  <a:rPr lang="ko-KR" altLang="en-US" dirty="0" smtClean="0"/>
                  <a:t>002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≥ 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ko-KR" altLang="en-US" dirty="0"/>
                  <a:t>1000</a:t>
                </a:r>
              </a:p>
            </p:txBody>
          </p:sp>
        </mc:Choice>
        <mc:Fallback xmlns="">
          <p:sp>
            <p:nvSpPr>
              <p:cNvPr id="15" name="직사각형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789" y="3110872"/>
                <a:ext cx="1810111" cy="276999"/>
              </a:xfrm>
              <a:prstGeom prst="rect">
                <a:avLst/>
              </a:prstGeom>
              <a:blipFill rotWithShape="0">
                <a:blip r:embed="rId18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/>
              <p:cNvSpPr/>
              <p:nvPr/>
            </p:nvSpPr>
            <p:spPr>
              <a:xfrm>
                <a:off x="927888" y="3102700"/>
                <a:ext cx="298190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dirty="0" smtClean="0"/>
                  <a:t>(b1) </a:t>
                </a:r>
                <a:r>
                  <a:rPr lang="ko-KR" altLang="en-US" dirty="0" smtClean="0"/>
                  <a:t>p.ao</a:t>
                </a:r>
                <a:r>
                  <a:rPr lang="en-US" altLang="ko-KR" dirty="0" smtClean="0"/>
                  <a:t>_</a:t>
                </a:r>
                <a:r>
                  <a:rPr lang="ko-KR" altLang="en-US" dirty="0" smtClean="0"/>
                  <a:t>002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ko-KR" altLang="en-US" dirty="0" smtClean="0"/>
                  <a:t> soae</a:t>
                </a:r>
                <a:r>
                  <a:rPr lang="en-US" altLang="ko-KR" dirty="0" smtClean="0"/>
                  <a:t>_</a:t>
                </a:r>
                <a:r>
                  <a:rPr lang="ko-KR" altLang="en-US" dirty="0" smtClean="0"/>
                  <a:t>aaa002 </a:t>
                </a:r>
                <a:r>
                  <a:rPr lang="en-US" altLang="ko-KR" dirty="0" smtClean="0"/>
                  <a:t>+</a:t>
                </a:r>
                <a:r>
                  <a:rPr lang="ko-KR" altLang="en-US" dirty="0" smtClean="0"/>
                  <a:t> soae</a:t>
                </a:r>
                <a:r>
                  <a:rPr lang="en-US" altLang="ko-KR" dirty="0" smtClean="0"/>
                  <a:t>_</a:t>
                </a:r>
                <a:r>
                  <a:rPr lang="ko-KR" altLang="en-US" dirty="0" smtClean="0"/>
                  <a:t>eaa002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6" name="직사각형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888" y="3102700"/>
                <a:ext cx="2981907" cy="276999"/>
              </a:xfrm>
              <a:prstGeom prst="rect">
                <a:avLst/>
              </a:prstGeom>
              <a:blipFill rotWithShape="0">
                <a:blip r:embed="rId19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7"/>
          <p:cNvSpPr/>
          <p:nvPr/>
        </p:nvSpPr>
        <p:spPr>
          <a:xfrm>
            <a:off x="4513945" y="5321670"/>
            <a:ext cx="218392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 smtClean="0"/>
              <a:t>feae</a:t>
            </a:r>
            <a:r>
              <a:rPr lang="en-US" altLang="ko-KR" sz="1000" dirty="0" smtClean="0"/>
              <a:t>_</a:t>
            </a:r>
            <a:r>
              <a:rPr lang="ko-KR" altLang="en-US" sz="1000" dirty="0" smtClean="0"/>
              <a:t>002           1250</a:t>
            </a:r>
            <a:endParaRPr lang="en-US" altLang="ko-KR" sz="1000" dirty="0" smtClean="0"/>
          </a:p>
          <a:p>
            <a:r>
              <a:rPr lang="ko-KR" altLang="en-US" sz="1000" dirty="0" smtClean="0"/>
              <a:t>p.ao</a:t>
            </a:r>
            <a:r>
              <a:rPr lang="en-US" altLang="ko-KR" sz="1000" dirty="0" smtClean="0"/>
              <a:t>_</a:t>
            </a:r>
            <a:r>
              <a:rPr lang="ko-KR" altLang="en-US" sz="1000" dirty="0" smtClean="0"/>
              <a:t>002           1250</a:t>
            </a:r>
            <a:endParaRPr lang="en-US" altLang="ko-KR" sz="1000" dirty="0" smtClean="0"/>
          </a:p>
          <a:p>
            <a:r>
              <a:rPr lang="ko-KR" altLang="en-US" sz="1000" dirty="0" smtClean="0"/>
              <a:t>soae</a:t>
            </a:r>
            <a:r>
              <a:rPr lang="en-US" altLang="ko-KR" sz="1000" dirty="0" smtClean="0"/>
              <a:t>_</a:t>
            </a:r>
            <a:r>
              <a:rPr lang="ko-KR" altLang="en-US" sz="1000" dirty="0" smtClean="0"/>
              <a:t>aaa002      875</a:t>
            </a:r>
            <a:endParaRPr lang="ko-KR" altLang="en-US" sz="1000" dirty="0"/>
          </a:p>
          <a:p>
            <a:r>
              <a:rPr lang="ko-KR" altLang="en-US" sz="1000" dirty="0" smtClean="0"/>
              <a:t>soae</a:t>
            </a:r>
            <a:r>
              <a:rPr lang="en-US" altLang="ko-KR" sz="1000" dirty="0" smtClean="0"/>
              <a:t>_</a:t>
            </a:r>
            <a:r>
              <a:rPr lang="ko-KR" altLang="en-US" sz="1000" dirty="0" smtClean="0"/>
              <a:t>eaa002      375</a:t>
            </a:r>
            <a:endParaRPr lang="ko-KR" altLang="en-US" sz="1000" dirty="0"/>
          </a:p>
          <a:p>
            <a:r>
              <a:rPr lang="ko-KR" altLang="en-US" sz="1000" dirty="0" smtClean="0"/>
              <a:t>yfeae</a:t>
            </a:r>
            <a:r>
              <a:rPr lang="en-US" altLang="ko-KR" sz="1000" dirty="0" smtClean="0"/>
              <a:t>_</a:t>
            </a:r>
            <a:r>
              <a:rPr lang="ko-KR" altLang="en-US" sz="1000" dirty="0" smtClean="0"/>
              <a:t>002           </a:t>
            </a:r>
            <a:r>
              <a:rPr lang="ko-KR" altLang="en-US" sz="1000" dirty="0"/>
              <a:t>605.188817</a:t>
            </a:r>
          </a:p>
          <a:p>
            <a:r>
              <a:rPr lang="ko-KR" altLang="en-US" sz="1000" dirty="0" smtClean="0"/>
              <a:t>ysoae</a:t>
            </a:r>
            <a:r>
              <a:rPr lang="en-US" altLang="ko-KR" sz="1000" dirty="0" smtClean="0"/>
              <a:t>_</a:t>
            </a:r>
            <a:r>
              <a:rPr lang="ko-KR" altLang="en-US" sz="1000" dirty="0" smtClean="0"/>
              <a:t>002           </a:t>
            </a:r>
            <a:r>
              <a:rPr lang="ko-KR" altLang="en-US" sz="1000" dirty="0"/>
              <a:t>1506.487500</a:t>
            </a:r>
          </a:p>
        </p:txBody>
      </p:sp>
      <p:sp>
        <p:nvSpPr>
          <p:cNvPr id="172" name="Text Box 55"/>
          <p:cNvSpPr txBox="1">
            <a:spLocks noChangeArrowheads="1"/>
          </p:cNvSpPr>
          <p:nvPr/>
        </p:nvSpPr>
        <p:spPr bwMode="auto">
          <a:xfrm>
            <a:off x="0" y="816404"/>
            <a:ext cx="167225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2season_1tech</a:t>
            </a:r>
            <a:r>
              <a:rPr kumimoji="1" lang="ko-KR" altLang="en-US" sz="12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완성</a:t>
            </a:r>
            <a:endParaRPr kumimoji="1" lang="en-US" altLang="ko-KR" sz="1200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en-US" altLang="ko-KR" sz="800" dirty="0" err="1">
                <a:solidFill>
                  <a:srgbClr val="000000"/>
                </a:solidFill>
              </a:rPr>
              <a:t>khg_elec</a:t>
            </a:r>
            <a:r>
              <a:rPr lang="en-US" altLang="ko-KR" sz="800" dirty="0">
                <a:solidFill>
                  <a:srgbClr val="000000"/>
                </a:solidFill>
              </a:rPr>
              <a:t> - 2season_1tech</a:t>
            </a:r>
            <a:r>
              <a:rPr lang="ko-KR" altLang="en-US" sz="800" dirty="0">
                <a:solidFill>
                  <a:srgbClr val="000000"/>
                </a:solidFill>
              </a:rPr>
              <a:t>완성</a:t>
            </a:r>
            <a:r>
              <a:rPr lang="en-US" altLang="ko-KR" sz="800" dirty="0">
                <a:solidFill>
                  <a:srgbClr val="000000"/>
                </a:solidFill>
              </a:rPr>
              <a:t>.</a:t>
            </a:r>
            <a:r>
              <a:rPr lang="en-US" altLang="ko-KR" sz="800" dirty="0" err="1">
                <a:solidFill>
                  <a:srgbClr val="000000"/>
                </a:solidFill>
              </a:rPr>
              <a:t>adb</a:t>
            </a:r>
            <a:endParaRPr kumimoji="1" lang="en-US" altLang="ko-KR" sz="800" dirty="0" smtClean="0">
              <a:solidFill>
                <a:srgbClr val="000000"/>
              </a:solidFill>
            </a:endParaRPr>
          </a:p>
          <a:p>
            <a:r>
              <a:rPr lang="en-US" altLang="ko-KR" sz="800" dirty="0" smtClean="0">
                <a:solidFill>
                  <a:srgbClr val="000000"/>
                </a:solidFill>
              </a:rPr>
              <a:t>- b2_2season_1tech</a:t>
            </a:r>
            <a:r>
              <a:rPr lang="ko-KR" altLang="en-US" sz="800" dirty="0">
                <a:solidFill>
                  <a:srgbClr val="000000"/>
                </a:solidFill>
              </a:rPr>
              <a:t>완성</a:t>
            </a:r>
            <a:r>
              <a:rPr lang="en-US" altLang="ko-KR" sz="800" dirty="0">
                <a:solidFill>
                  <a:srgbClr val="000000"/>
                </a:solidFill>
              </a:rPr>
              <a:t>.</a:t>
            </a:r>
            <a:r>
              <a:rPr lang="en-US" altLang="ko-KR" sz="800" dirty="0" err="1">
                <a:solidFill>
                  <a:srgbClr val="000000"/>
                </a:solidFill>
              </a:rPr>
              <a:t>lp</a:t>
            </a:r>
            <a:endParaRPr kumimoji="1" lang="en-US" altLang="ko-KR" sz="8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3968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 smtClean="0"/>
              <a:t>수리적기반</a:t>
            </a:r>
            <a:r>
              <a:rPr lang="ko-KR" altLang="en-US" b="0" dirty="0" smtClean="0"/>
              <a:t> </a:t>
            </a:r>
            <a:r>
              <a:rPr lang="en-US" altLang="ko-KR" b="0" dirty="0"/>
              <a:t>: </a:t>
            </a:r>
            <a:r>
              <a:rPr lang="en-US" altLang="ko-KR" b="0" dirty="0" smtClean="0"/>
              <a:t>Basic LP + Load Region</a:t>
            </a:r>
            <a:endParaRPr lang="ko-KR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내용 개체 틀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63556245"/>
                  </p:ext>
                </p:extLst>
              </p:nvPr>
            </p:nvGraphicFramePr>
            <p:xfrm>
              <a:off x="1107502" y="1405790"/>
              <a:ext cx="7072439" cy="286367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58675"/>
                    <a:gridCol w="916563"/>
                    <a:gridCol w="4812905"/>
                    <a:gridCol w="184296"/>
                  </a:tblGrid>
                  <a:tr h="638471">
                    <a:tc>
                      <a:txBody>
                        <a:bodyPr/>
                        <a:lstStyle/>
                        <a:p>
                          <a:pPr marL="0" indent="0" algn="l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(Basic LP)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spcAft>
                              <a:spcPts val="0"/>
                            </a:spcAft>
                          </a:pPr>
                          <a:r>
                            <a:rPr lang="de-DE" sz="12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Minimize</a:t>
                          </a:r>
                          <a:endParaRPr lang="ko-KR" sz="1200" b="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ko-KR" sz="120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𝑇</m:t>
                                    </m:r>
                                  </m:sup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∈</m:t>
                                        </m:r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𝐼</m:t>
                                        </m:r>
                                      </m:sub>
                                      <m:sup/>
                                      <m:e>
                                        <m:d>
                                          <m:dPr>
                                            <m:ctrlPr>
                                              <a:rPr lang="ko-KR" sz="1200" i="1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d>
                                              <m:dPr>
                                                <m:ctrlPr>
                                                  <a:rPr 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Sup>
                                                  <m:sSubSupPr>
                                                    <m:ctrlPr>
                                                      <a:rPr lang="ko-KR" sz="1200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𝐼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𝑡</m:t>
                                                    </m:r>
                                                  </m:sup>
                                                </m:sSubSup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+</m:t>
                                                </m:r>
                                                <m:sSubSup>
                                                  <m:sSubSupPr>
                                                    <m:ctrlPr>
                                                      <a:rPr lang="ko-KR" sz="1200" i="1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SupPr>
                                                  <m:e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𝐹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  <m:sup>
                                                    <m:r>
                                                      <a:rPr lang="en-US" sz="1200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effectLst/>
                                                        <a:latin typeface="Cambria Math"/>
                                                      </a:rPr>
                                                      <m:t>𝑡</m:t>
                                                    </m:r>
                                                  </m:sup>
                                                </m:sSubSup>
                                              </m:e>
                                            </m:d>
                                            <m:sSubSup>
                                              <m:sSubSupPr>
                                                <m:ctrlPr>
                                                  <a:rPr 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𝑡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en-US" sz="120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/>
                                              </a:rPr>
                                              <m:t>+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𝑉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𝑡</m:t>
                                                </m:r>
                                              </m:sup>
                                            </m:sSubSup>
                                            <m:sSubSup>
                                              <m:sSubSupPr>
                                                <m:ctrlPr>
                                                  <a:rPr lang="ko-KR" sz="1200" i="1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sz="120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/>
                                                  </a:rPr>
                                                  <m:t>𝑡</m:t>
                                                </m:r>
                                              </m:sup>
                                            </m:sSubSup>
                                          </m:e>
                                        </m:d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>
                              <a:effectLst/>
                            </a:rPr>
                            <a:t> </a:t>
                          </a:r>
                          <a:endParaRPr lang="ko-KR" sz="120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1977874"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  <a:p>
                          <a:pPr marL="0" indent="0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Subjec to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79705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≤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𝑠</m:t>
                                    </m:r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max</m:t>
                                    </m:r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altLang="ko-KR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1,</m:t>
                                        </m:r>
                                        <m:r>
                                          <a:rPr lang="en-US" altLang="ko-KR" sz="120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ko-KR" altLang="en-US" sz="1200" i="1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/>
                                              </a:rPr>
                                              <m:t>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𝑠</m:t>
                                        </m:r>
                                      </m:sup>
                                    </m:sSubSup>
                                  </m:e>
                                </m:nary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𝐼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120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  <a:p>
                          <a:pPr indent="179705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ko-KR" altLang="ko-KR" sz="11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1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    </m:t>
                                    </m:r>
                                    <m:nary>
                                      <m:naryPr>
                                        <m:chr m:val="∑"/>
                                        <m:limLoc m:val="undOvr"/>
                                        <m:ctrlPr>
                                          <a:rPr lang="ko-KR" altLang="ko-KR"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de-DE" altLang="ko-KR"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de-DE" altLang="ko-KR" sz="1100" i="1">
                                            <a:solidFill>
                                              <a:srgbClr val="000000"/>
                                            </a:solidFill>
                                            <a:latin typeface="Cambria Math"/>
                                          </a:rPr>
                                          <m:t>∈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1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1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1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sub>
                                      <m:sup/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ko-KR" sz="11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de-DE" altLang="ko-KR"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/>
                                              </a:rPr>
                                              <m:t>𝑒</m:t>
                                            </m:r>
                                          </m:e>
                                          <m:sub>
                                            <m:r>
                                              <a:rPr lang="de-DE" altLang="ko-KR" sz="11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altLang="ko-KR" sz="1100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altLang="ko-KR" sz="1100" b="0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latin typeface="Cambria Math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</m:d>
                                          </m:sub>
                                          <m:sup>
                                            <m:r>
                                              <a:rPr lang="en-US" altLang="ko-KR" sz="11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p>
                                        </m:sSubSup>
                                      </m:e>
                                    </m:nary>
                                    <m:r>
                                      <a:rPr lang="de-DE" altLang="ko-KR" sz="11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altLang="ko-KR" sz="11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de-DE" altLang="ko-KR" sz="11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de-DE" altLang="ko-KR" sz="11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≥</m:t>
                                </m:r>
                                <m:sSubSup>
                                  <m:sSubSupPr>
                                    <m:ctrlPr>
                                      <a:rPr lang="ko-KR" altLang="ko-KR" sz="11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altLang="ko-KR" sz="11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de-DE" altLang="ko-KR" sz="11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de-DE" altLang="ko-KR" sz="1100" i="1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05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     </m:t>
                                </m:r>
                                <m:r>
                                  <a:rPr lang="en-US" sz="1050" b="0" i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                         </m:t>
                                </m:r>
                                <m:r>
                                  <a:rPr lang="en-US" sz="105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sz="105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r>
                                  <a:rPr lang="en-US" sz="105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𝐾</m:t>
                                </m:r>
                                <m:r>
                                  <a:rPr lang="en-US" sz="105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</m:t>
                                </m:r>
                                <m:r>
                                  <a:rPr lang="en-US" sz="105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altLang="ko-KR" sz="11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105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  <a:p>
                          <a:pPr indent="179705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    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∈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𝑡</m:t>
                                        </m:r>
                                      </m:sup>
                                    </m:sSubSup>
                                  </m:e>
                                </m:nary>
                                <m:d>
                                  <m:d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𝑗</m:t>
                                    </m:r>
                                  </m:e>
                                </m:d>
                                <m:sSubSup>
                                  <m:sSubSup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≥</m:t>
                                </m:r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∈</m:t>
                                    </m:r>
                                    <m:r>
                                      <a:rPr lang="en-US" sz="12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𝐶</m:t>
                                    </m:r>
                                    <m:d>
                                      <m:d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200" b="0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𝑡</m:t>
                                        </m:r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ko-KR" sz="12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e>
                                </m:nary>
                                <m:sSubSup>
                                  <m:sSubSup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 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r>
                                  <a:rPr lang="en-US" sz="12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𝐽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altLang="ko-KR" sz="12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effectLst/>
                            </a:rPr>
                            <a:t> </a:t>
                          </a:r>
                          <a:endParaRPr lang="ko-KR" sz="1200" dirty="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47330"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ko-KR" sz="120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sSubSup>
                                  <m:sSubSupPr>
                                    <m:ctrlPr>
                                      <a:rPr lang="ko-KR" sz="12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12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bSup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≥0, 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𝐼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,    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∈</m:t>
                                </m:r>
                                <m:r>
                                  <a:rPr lang="en-US" sz="12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effectLst/>
                            </a:rPr>
                            <a:t> </a:t>
                          </a:r>
                          <a:endParaRPr lang="ko-KR" sz="1200" dirty="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내용 개체 틀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63556245"/>
                  </p:ext>
                </p:extLst>
              </p:nvPr>
            </p:nvGraphicFramePr>
            <p:xfrm>
              <a:off x="1107502" y="1405790"/>
              <a:ext cx="7072439" cy="286367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58675"/>
                    <a:gridCol w="916563"/>
                    <a:gridCol w="4812905"/>
                    <a:gridCol w="184296"/>
                  </a:tblGrid>
                  <a:tr h="638471">
                    <a:tc>
                      <a:txBody>
                        <a:bodyPr/>
                        <a:lstStyle/>
                        <a:p>
                          <a:pPr marL="0" indent="0" algn="l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(Basic LP)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spcAft>
                              <a:spcPts val="0"/>
                            </a:spcAft>
                          </a:pPr>
                          <a:r>
                            <a:rPr lang="de-DE" sz="12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Minimize</a:t>
                          </a:r>
                          <a:endParaRPr lang="ko-KR" sz="1200" b="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43291" t="-952" r="-4430" b="-35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>
                              <a:effectLst/>
                            </a:rPr>
                            <a:t> </a:t>
                          </a:r>
                          <a:endParaRPr lang="ko-KR" sz="120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1977874"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  <a:p>
                          <a:pPr marL="0" indent="0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Subjec to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43291" t="-32615" r="-4430" b="-13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effectLst/>
                            </a:rPr>
                            <a:t> </a:t>
                          </a:r>
                          <a:endParaRPr lang="ko-KR" sz="1200" dirty="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247330"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solidFill>
                                <a:srgbClr val="000000"/>
                              </a:solidFill>
                              <a:effectLst/>
                            </a:rPr>
                            <a:t> </a:t>
                          </a:r>
                          <a:endParaRPr lang="ko-KR" sz="1200" dirty="0">
                            <a:solidFill>
                              <a:srgbClr val="000000"/>
                            </a:solidFill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8580" marR="68580" marT="0" marB="0" anchor="ctr">
                        <a:blipFill rotWithShape="0">
                          <a:blip r:embed="rId2"/>
                          <a:stretch>
                            <a:fillRect l="-43291" t="-1051220" r="-4430" b="-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79705" algn="just">
                            <a:spcAft>
                              <a:spcPts val="0"/>
                            </a:spcAft>
                          </a:pPr>
                          <a:r>
                            <a:rPr lang="de-DE" sz="1200" dirty="0">
                              <a:effectLst/>
                            </a:rPr>
                            <a:t> </a:t>
                          </a:r>
                          <a:endParaRPr lang="ko-KR" sz="1200" dirty="0">
                            <a:effectLst/>
                            <a:latin typeface="Times New Roman"/>
                            <a:ea typeface="SimSun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94</a:t>
            </a:fld>
            <a:endParaRPr lang="ko-KR" altLang="en-US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1116627" y="737650"/>
            <a:ext cx="8010525" cy="58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•"/>
              <a:def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–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Char char="»"/>
              <a:def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 altLang="ko-KR" dirty="0"/>
              <a:t>Each technology has only one activity.</a:t>
            </a:r>
          </a:p>
          <a:p>
            <a:r>
              <a:rPr lang="de-DE" altLang="ko-KR" dirty="0"/>
              <a:t>No load region/load curve</a:t>
            </a:r>
          </a:p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2"/>
              <p:cNvSpPr txBox="1">
                <a:spLocks/>
              </p:cNvSpPr>
              <p:nvPr/>
            </p:nvSpPr>
            <p:spPr bwMode="auto">
              <a:xfrm>
                <a:off x="1415216" y="4392293"/>
                <a:ext cx="6756259" cy="787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1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–"/>
                  <a:defRPr sz="12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•"/>
                  <a:defRPr sz="12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–"/>
                  <a:defRPr sz="10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»"/>
                  <a:defRPr sz="10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buFont typeface="Wingdings" pitchFamily="2" charset="2"/>
                  <a:buChar char="è"/>
                </a:pPr>
                <a:r>
                  <a:rPr lang="en-US" altLang="ko-KR" dirty="0">
                    <a:sym typeface="Wingdings" pitchFamily="2" charset="2"/>
                  </a:rPr>
                  <a:t>a very simple and minimal formulation with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>
                            <a:solidFill>
                              <a:srgbClr val="00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ko-KR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>
                            <a:solidFill>
                              <a:srgbClr val="000000"/>
                            </a:solidFill>
                            <a:latin typeface="Cambria Math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altLang="ko-KR" dirty="0">
                    <a:sym typeface="Wingdings" pitchFamily="2" charset="2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ko-KR">
                            <a:solidFill>
                              <a:srgbClr val="000000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>
                            <a:solidFill>
                              <a:srgbClr val="000000"/>
                            </a:solidFill>
                            <a:latin typeface="Cambria Math"/>
                          </a:rPr>
                          <m:t>𝑡</m:t>
                        </m:r>
                      </m:sup>
                    </m:sSubSup>
                  </m:oMath>
                </a14:m>
                <a:endParaRPr lang="en-US" altLang="ko-KR" dirty="0">
                  <a:sym typeface="Wingdings" pitchFamily="2" charset="2"/>
                </a:endParaRPr>
              </a:p>
              <a:p>
                <a:pPr>
                  <a:buFont typeface="Wingdings" pitchFamily="2" charset="2"/>
                  <a:buChar char="è"/>
                </a:pPr>
                <a:r>
                  <a:rPr lang="ko-KR" altLang="en-US" dirty="0"/>
                  <a:t>기존 </a:t>
                </a:r>
                <a:r>
                  <a:rPr lang="en-US" altLang="ko-KR" dirty="0" smtClean="0"/>
                  <a:t>formulation</a:t>
                </a:r>
                <a:r>
                  <a:rPr lang="ko-KR" altLang="en-US" dirty="0" smtClean="0"/>
                  <a:t>은 </a:t>
                </a:r>
                <a:r>
                  <a:rPr lang="ko-KR" altLang="en-US" dirty="0"/>
                  <a:t>매우 복잡하며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모든 경우를 다 포함한 것에서 </a:t>
                </a:r>
                <a:r>
                  <a:rPr lang="ko-KR" altLang="en-US" dirty="0" smtClean="0"/>
                  <a:t>출발함</a:t>
                </a:r>
                <a:r>
                  <a:rPr lang="en-US" altLang="ko-KR" dirty="0" smtClean="0"/>
                  <a:t> (</a:t>
                </a:r>
                <a:r>
                  <a:rPr lang="en-US" altLang="ko-KR" dirty="0"/>
                  <a:t>Basic LP)</a:t>
                </a:r>
                <a:r>
                  <a:rPr lang="ko-KR" altLang="en-US" dirty="0"/>
                  <a:t>에서 출발하여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복잡한 경우를 수용할 계획임</a:t>
                </a:r>
              </a:p>
            </p:txBody>
          </p:sp>
        </mc:Choice>
        <mc:Fallback xmlns="">
          <p:sp>
            <p:nvSpPr>
              <p:cNvPr id="8" name="내용 개체 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5216" y="4392293"/>
                <a:ext cx="6756259" cy="787400"/>
              </a:xfrm>
              <a:prstGeom prst="rect">
                <a:avLst/>
              </a:prstGeom>
              <a:blipFill rotWithShape="0">
                <a:blip r:embed="rId3"/>
                <a:stretch>
                  <a:fillRect l="-90" t="-1550" b="-697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/>
              <p:cNvSpPr txBox="1">
                <a:spLocks/>
              </p:cNvSpPr>
              <p:nvPr/>
            </p:nvSpPr>
            <p:spPr bwMode="auto">
              <a:xfrm>
                <a:off x="1285961" y="5275783"/>
                <a:ext cx="8010525" cy="5873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14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–"/>
                  <a:defRPr sz="12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•"/>
                  <a:defRPr sz="12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–"/>
                  <a:defRPr sz="10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Tx/>
                  <a:buChar char="»"/>
                  <a:defRPr sz="100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B4CCE2"/>
                  </a:buClr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de-DE" altLang="ko-KR" dirty="0" smtClean="0"/>
                  <a:t> :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is a </a:t>
                </a:r>
                <a:r>
                  <a:rPr lang="de-DE" altLang="ko-KR" dirty="0" smtClean="0"/>
                  <a:t>load region(timeslice) set</a:t>
                </a:r>
                <a:endParaRPr lang="de-DE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altLang="ko-KR" dirty="0" smtClean="0"/>
                  <a:t> : load length (load) for load region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altLang="ko-KR" dirty="0" smtClean="0"/>
              </a:p>
              <a:p>
                <a:pPr marL="0" indent="0">
                  <a:buNone/>
                </a:pPr>
                <a:r>
                  <a:rPr lang="en-US" altLang="ko-KR" dirty="0" smtClean="0"/>
                  <a:t>      Note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if there are some different load region set for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de-DE" altLang="ko-KR" dirty="0" smtClean="0"/>
                  <a:t>we redefine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altLang="ko-KR" dirty="0" smtClean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내용 개체 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5961" y="5275783"/>
                <a:ext cx="8010525" cy="587322"/>
              </a:xfrm>
              <a:prstGeom prst="rect">
                <a:avLst/>
              </a:prstGeom>
              <a:blipFill rotWithShape="0">
                <a:blip r:embed="rId4"/>
                <a:stretch>
                  <a:fillRect l="-152" t="-1031" b="-12783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14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 smtClean="0"/>
              <a:t>수리적기반</a:t>
            </a:r>
            <a:r>
              <a:rPr lang="ko-KR" altLang="en-US" b="0" dirty="0" smtClean="0"/>
              <a:t> </a:t>
            </a:r>
            <a:r>
              <a:rPr lang="en-US" altLang="ko-KR" b="0" dirty="0"/>
              <a:t>: </a:t>
            </a:r>
            <a:r>
              <a:rPr lang="en-US" altLang="ko-KR" b="0" dirty="0" err="1" smtClean="0"/>
              <a:t>ReEDS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95</a:t>
            </a:fld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174640" y="1560135"/>
            <a:ext cx="2422458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수요</a:t>
            </a:r>
            <a:endParaRPr kumimoji="0" lang="en-US" altLang="ko-KR" sz="975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2006~2050 : 23 two-year time period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17 annual time-slices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134 BAs(Balancing Areas)</a:t>
            </a:r>
            <a:endParaRPr kumimoji="0" lang="ko-KR" altLang="en-US" sz="975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74641" y="2479948"/>
            <a:ext cx="2826415" cy="20428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Generating technology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Capital cost ($/MW)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Fixed and variable operating costs ($/</a:t>
            </a:r>
            <a:r>
              <a:rPr kumimoji="0" lang="en-US" altLang="ko-KR" sz="975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MWh</a:t>
            </a: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Fuel costs ($/</a:t>
            </a:r>
            <a:r>
              <a:rPr kumimoji="0" lang="en-US" altLang="ko-KR" sz="975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MMBtu</a:t>
            </a: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Heat rate (</a:t>
            </a:r>
            <a:r>
              <a:rPr kumimoji="0" lang="en-US" altLang="ko-KR" sz="975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MMBtu</a:t>
            </a: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/</a:t>
            </a:r>
            <a:r>
              <a:rPr kumimoji="0" lang="en-US" altLang="ko-KR" sz="975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MWh</a:t>
            </a: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Construction period (years)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Equipment lifetime (years)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Financing costs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Tax credits (investment or production)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Minimum turndown ratio (%)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Quick-start capability and cost (%, $/MW)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Spinning reserve capability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Planned and unplanned outage rates (%). 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5345588" y="1560136"/>
            <a:ext cx="3701715" cy="1142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Regions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356 wind/CSP resource regions(</a:t>
            </a:r>
            <a:r>
              <a:rPr kumimoji="0" lang="ko-KR" altLang="en-US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풍력</a:t>
            </a: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/</a:t>
            </a:r>
            <a:r>
              <a:rPr kumimoji="0" lang="ko-KR" altLang="en-US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태양광 후보지</a:t>
            </a: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)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134 BAs(BA</a:t>
            </a:r>
            <a:r>
              <a:rPr kumimoji="0" lang="ko-KR" altLang="en-US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는 수요 </a:t>
            </a: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point) : BA</a:t>
            </a:r>
            <a:r>
              <a:rPr kumimoji="0" lang="ko-KR" altLang="en-US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간 연결은 </a:t>
            </a: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transmission grid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21 reserve-sharing groups(RTO) : operating reserve req. </a:t>
            </a:r>
            <a:r>
              <a:rPr kumimoji="0" lang="ko-KR" altLang="en-US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만족</a:t>
            </a:r>
            <a:endParaRPr kumimoji="0" lang="en-US" altLang="ko-KR" sz="975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13 NERC Regions : fuel price </a:t>
            </a:r>
            <a:r>
              <a:rPr kumimoji="0" lang="ko-KR" altLang="en-US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및 수요</a:t>
            </a: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ko-KR" altLang="en-US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프로파일 제공</a:t>
            </a:r>
            <a:endParaRPr kumimoji="0" lang="en-US" altLang="ko-KR" sz="975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3 interconnect : asynchronous interconnect, AC-DC-AC </a:t>
            </a:r>
            <a:r>
              <a:rPr kumimoji="0" lang="ko-KR" altLang="en-US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필요</a:t>
            </a:r>
            <a:endParaRPr kumimoji="0" lang="en-US" altLang="ko-KR" sz="975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978" y="2612889"/>
            <a:ext cx="2010325" cy="2000398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7110571" y="4285365"/>
            <a:ext cx="407484" cy="1923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134</a:t>
            </a:r>
            <a:r>
              <a:rPr kumimoji="0" lang="ko-KR" altLang="en-US" sz="65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7196445" y="4062831"/>
            <a:ext cx="314510" cy="1923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3</a:t>
            </a:r>
            <a:r>
              <a:rPr kumimoji="0" lang="ko-KR" altLang="en-US" sz="65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7150861" y="4179629"/>
            <a:ext cx="360996" cy="1923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21</a:t>
            </a:r>
            <a:r>
              <a:rPr kumimoji="0" lang="ko-KR" altLang="en-US" sz="65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7121107" y="4402163"/>
            <a:ext cx="407484" cy="1923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356</a:t>
            </a:r>
            <a:r>
              <a:rPr kumimoji="0" lang="ko-KR" altLang="en-US" sz="65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7652387" y="4285365"/>
            <a:ext cx="396262" cy="1923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65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(=BA)</a:t>
            </a:r>
            <a:endParaRPr kumimoji="0" lang="ko-KR" altLang="en-US" sz="65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cxnSp>
        <p:nvCxnSpPr>
          <p:cNvPr id="19" name="직선 화살표 연결선 18"/>
          <p:cNvCxnSpPr/>
          <p:nvPr/>
        </p:nvCxnSpPr>
        <p:spPr>
          <a:xfrm flipV="1">
            <a:off x="8042141" y="3868783"/>
            <a:ext cx="601102" cy="288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V="1">
            <a:off x="7720461" y="4132490"/>
            <a:ext cx="720751" cy="12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V="1">
            <a:off x="7965464" y="4240235"/>
            <a:ext cx="762340" cy="132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V="1">
            <a:off x="8163625" y="4317950"/>
            <a:ext cx="753336" cy="142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5462287" y="4826387"/>
            <a:ext cx="3701715" cy="1442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Transmission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134 nodes(BAs)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300 aggregate lines between nodes(Fig. 15, p29)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determine what power plants operate at what times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2020</a:t>
            </a:r>
            <a:r>
              <a:rPr kumimoji="0" lang="ko-KR" altLang="en-US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년까지는 </a:t>
            </a: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already planned, </a:t>
            </a:r>
            <a:r>
              <a:rPr kumimoji="0" lang="ko-KR" altLang="en-US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그 이후는 </a:t>
            </a:r>
            <a:r>
              <a:rPr kumimoji="0" lang="ko-KR" altLang="en-US" sz="975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제약없음</a:t>
            </a:r>
            <a:endParaRPr kumimoji="0" lang="en-US" altLang="ko-KR" sz="975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• transmission flow limits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- dispatching generation in each of the 17 time-slices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- in planning firm transmission capacity contracts between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reserve-sharing groups 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762000" y="941944"/>
            <a:ext cx="5884944" cy="3174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b="1" dirty="0">
                <a:solidFill>
                  <a:prstClr val="black"/>
                </a:solidFill>
                <a:latin typeface="Arial-BoldMT"/>
                <a:ea typeface="맑은 고딕" panose="020B0503020000020004" pitchFamily="50" charset="-127"/>
              </a:rPr>
              <a:t>NREL Regional Energy Deployment System (</a:t>
            </a:r>
            <a:r>
              <a:rPr kumimoji="0" lang="en-US" altLang="ko-KR" sz="1463" b="1" dirty="0" err="1">
                <a:solidFill>
                  <a:prstClr val="black"/>
                </a:solidFill>
                <a:latin typeface="Arial-BoldMT"/>
                <a:ea typeface="맑은 고딕" panose="020B0503020000020004" pitchFamily="50" charset="-127"/>
              </a:rPr>
              <a:t>ReEDS</a:t>
            </a:r>
            <a:r>
              <a:rPr kumimoji="0" lang="en-US" altLang="ko-KR" sz="1463" b="1" dirty="0">
                <a:solidFill>
                  <a:prstClr val="black"/>
                </a:solidFill>
                <a:latin typeface="Arial-BoldMT"/>
                <a:ea typeface="맑은 고딕" panose="020B0503020000020004" pitchFamily="50" charset="-127"/>
              </a:rPr>
              <a:t>), Dec., 2011</a:t>
            </a:r>
            <a:endParaRPr kumimoji="0" lang="ko-KR" altLang="en-US" sz="1463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2244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 smtClean="0"/>
              <a:t>수리적기반</a:t>
            </a:r>
            <a:r>
              <a:rPr lang="ko-KR" altLang="en-US" b="0" dirty="0" smtClean="0"/>
              <a:t> </a:t>
            </a:r>
            <a:r>
              <a:rPr lang="en-US" altLang="ko-KR" b="0" dirty="0"/>
              <a:t>: </a:t>
            </a:r>
            <a:r>
              <a:rPr lang="en-US" altLang="ko-KR" b="0" dirty="0" err="1" smtClean="0"/>
              <a:t>ReEDS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96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직사각형 24"/>
              <p:cNvSpPr/>
              <p:nvPr/>
            </p:nvSpPr>
            <p:spPr>
              <a:xfrm>
                <a:off x="5090449" y="958324"/>
                <a:ext cx="4815552" cy="47089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Subscripts(Sets)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358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wind/CSP resource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regions track</a:t>
                </a:r>
              </a:p>
              <a:p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(</a:t>
                </a:r>
                <a:r>
                  <a:rPr lang="en-US" altLang="ko-KR" sz="1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source region, </a:t>
                </a:r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destination region) 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136 BAs track(</a:t>
                </a:r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source, </a:t>
                </a:r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destination)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states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48 states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32 reserve-sharing groups(operating reserve requirement)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13 NERC</a:t>
                </a:r>
              </a:p>
              <a:p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3 interconnect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year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2006~2050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4 annual seasons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17 time-slices,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the length of each time-slice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wind classes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cCSP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5 CSP classes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wscp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cspscp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escp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Supply curve points for wind, CSP, and </a:t>
                </a:r>
                <a:r>
                  <a:rPr lang="en-US" altLang="ko-KR" sz="12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inregion</a:t>
                </a:r>
                <a:endParaRPr lang="en-US" altLang="ko-K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bioclass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of biomass supply curve</a:t>
                </a:r>
              </a:p>
              <a:p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geoclass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level of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geothermal resource supply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curve</a:t>
                </a:r>
              </a:p>
              <a:p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fuelbin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level of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fuel(coal or natural gas) in national fuel supply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curve</a:t>
                </a:r>
              </a:p>
              <a:p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four pollutants(SO2, NOx, Hg, CO2)</a:t>
                </a:r>
              </a:p>
              <a:p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generating technologies</a:t>
                </a:r>
              </a:p>
              <a:p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- 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hydro, gas-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ct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gas-cc, gas-cc-ccs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coalolduns</a:t>
                </a:r>
                <a:endParaRPr lang="en-US" altLang="ko-KR" sz="1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ko-KR" i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ko-KR" i="1" dirty="0" smtClean="0">
                    <a:cs typeface="Times New Roman" panose="02020603050405020304" pitchFamily="18" charset="0"/>
                  </a:rPr>
                  <a:t>     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coaloldscr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cofireold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coal-new,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cofirenew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coal-IGCC, coal-ccs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o-g-s, nuclear, biomass, geothermal,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lfill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-gas, other</a:t>
                </a:r>
                <a:endPara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storage technologies</a:t>
                </a:r>
              </a:p>
              <a:p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-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pumped-hydro, battery,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caes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ice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strorage</a:t>
                </a:r>
                <a:endPara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직사각형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449" y="958324"/>
                <a:ext cx="4815552" cy="470898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그룹 2"/>
          <p:cNvGrpSpPr/>
          <p:nvPr/>
        </p:nvGrpSpPr>
        <p:grpSpPr>
          <a:xfrm>
            <a:off x="1498601" y="4234806"/>
            <a:ext cx="2474246" cy="2462028"/>
            <a:chOff x="762000" y="963537"/>
            <a:chExt cx="2474246" cy="2462028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00" y="963537"/>
              <a:ext cx="2474246" cy="2462028"/>
            </a:xfrm>
            <a:prstGeom prst="rect">
              <a:avLst/>
            </a:prstGeom>
          </p:spPr>
        </p:pic>
        <p:sp>
          <p:nvSpPr>
            <p:cNvPr id="27" name="직사각형 26"/>
            <p:cNvSpPr/>
            <p:nvPr/>
          </p:nvSpPr>
          <p:spPr>
            <a:xfrm>
              <a:off x="852576" y="3021968"/>
              <a:ext cx="45557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dirty="0" smtClean="0"/>
                <a:t>134</a:t>
              </a:r>
              <a:r>
                <a:rPr lang="ko-KR" altLang="en-US" sz="800" dirty="0" smtClean="0"/>
                <a:t>개</a:t>
              </a:r>
              <a:endParaRPr lang="ko-KR" altLang="en-US" sz="800" dirty="0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958267" y="2748080"/>
              <a:ext cx="34336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dirty="0" smtClean="0"/>
                <a:t>3</a:t>
              </a:r>
              <a:r>
                <a:rPr lang="ko-KR" altLang="en-US" sz="800" dirty="0" smtClean="0"/>
                <a:t>개</a:t>
              </a:r>
              <a:endParaRPr lang="ko-KR" altLang="en-US" sz="800" dirty="0"/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902163" y="2891832"/>
              <a:ext cx="39946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dirty="0" smtClean="0"/>
                <a:t>21</a:t>
              </a:r>
              <a:r>
                <a:rPr lang="ko-KR" altLang="en-US" sz="800" dirty="0" smtClean="0"/>
                <a:t>개</a:t>
              </a:r>
              <a:endParaRPr lang="ko-KR" altLang="en-US" sz="800" dirty="0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865544" y="3165720"/>
              <a:ext cx="45557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smtClean="0"/>
                <a:t>356</a:t>
              </a:r>
              <a:r>
                <a:rPr lang="ko-KR" altLang="en-US" sz="800" dirty="0" smtClean="0"/>
                <a:t>개</a:t>
              </a:r>
              <a:endParaRPr lang="ko-KR" altLang="en-US" sz="800" dirty="0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519426" y="3021968"/>
              <a:ext cx="4475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dirty="0" smtClean="0"/>
                <a:t>(=BA)</a:t>
              </a:r>
              <a:endParaRPr lang="ko-KR" altLang="en-US" sz="800" dirty="0"/>
            </a:p>
          </p:txBody>
        </p:sp>
        <p:cxnSp>
          <p:nvCxnSpPr>
            <p:cNvPr id="32" name="직선 화살표 연결선 31"/>
            <p:cNvCxnSpPr/>
            <p:nvPr/>
          </p:nvCxnSpPr>
          <p:spPr>
            <a:xfrm flipV="1">
              <a:off x="1999123" y="2509252"/>
              <a:ext cx="739818" cy="3545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/>
            <p:cNvCxnSpPr/>
            <p:nvPr/>
          </p:nvCxnSpPr>
          <p:spPr>
            <a:xfrm flipV="1">
              <a:off x="1603210" y="2833815"/>
              <a:ext cx="887078" cy="1588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/>
            <p:cNvCxnSpPr/>
            <p:nvPr/>
          </p:nvCxnSpPr>
          <p:spPr>
            <a:xfrm flipV="1">
              <a:off x="1904751" y="2966424"/>
              <a:ext cx="938265" cy="1632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/>
            <p:cNvCxnSpPr/>
            <p:nvPr/>
          </p:nvCxnSpPr>
          <p:spPr>
            <a:xfrm flipV="1">
              <a:off x="2148642" y="3062073"/>
              <a:ext cx="927183" cy="1753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/>
              <p:cNvSpPr/>
              <p:nvPr/>
            </p:nvSpPr>
            <p:spPr>
              <a:xfrm>
                <a:off x="-50000" y="958324"/>
                <a:ext cx="4960668" cy="32459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 Variables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</a:rPr>
                          <m:t>WturN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𝑤𝑠𝑐𝑝</m:t>
                        </m:r>
                      </m:sub>
                    </m:sSub>
                  </m:oMath>
                </a14:m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New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</a:t>
                </a:r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wind turbines in region </a:t>
                </a:r>
                <a:r>
                  <a:rPr lang="en-US" altLang="ko-KR" sz="1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</a:t>
                </a:r>
                <a:r>
                  <a:rPr lang="en-US" altLang="ko-KR" sz="1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wscp</a:t>
                </a:r>
                <a:r>
                  <a:rPr lang="en-US" altLang="ko-K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</a:t>
                </a:r>
              </a:p>
              <a:p>
                <a:r>
                  <a:rPr lang="en-US" altLang="ko-KR" dirty="0"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 smtClean="0">
                    <a:cs typeface="Times New Roman" panose="02020603050405020304" pitchFamily="18" charset="0"/>
                  </a:rPr>
                  <a:t>        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accessibility supply curve (MW) 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wind classes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cCSP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5 CSP classes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wscp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cspscp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escp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Supply cure points for wind, CSP, and </a:t>
                </a:r>
                <a:r>
                  <a:rPr lang="en-US" altLang="ko-KR" sz="12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inregion</a:t>
                </a:r>
                <a:endParaRPr lang="en-US" altLang="ko-K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bioclass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of biomass supply curve</a:t>
                </a:r>
              </a:p>
              <a:p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geoclass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level of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geothermal resource supply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curve</a:t>
                </a:r>
              </a:p>
              <a:p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fuelbin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level of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fuel(coal or natural gas) in national fuel supply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curve</a:t>
                </a:r>
              </a:p>
              <a:p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four pollutants(SO2, NOx, Hg, CO2)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generating technologies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- 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hydro, gas-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ct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gas-cc, gas-cc-ccs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coalolduns</a:t>
                </a:r>
                <a:endParaRPr lang="en-US" altLang="ko-KR" sz="1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ko-KR" i="1" dirty="0" smtClean="0">
                    <a:cs typeface="Times New Roman" panose="02020603050405020304" pitchFamily="18" charset="0"/>
                  </a:rPr>
                  <a:t>         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coaloldscr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cofireold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coal-new,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cofirenew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coal-IGCC, coal-ccs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o-g-s, nuclear, biomass, geothermal,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lfill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-gas, other</a:t>
                </a:r>
                <a:endParaRPr lang="en-US" altLang="ko-KR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</a:t>
                </a:r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4 storage technologies</a:t>
                </a:r>
              </a:p>
              <a:p>
                <a:r>
                  <a:rPr lang="en-US" altLang="ko-KR" sz="1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-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pumped-hydro, battery,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caes</a:t>
                </a:r>
                <a:r>
                  <a:rPr lang="en-US" altLang="ko-KR" sz="1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ice </a:t>
                </a:r>
                <a:r>
                  <a:rPr lang="en-US" altLang="ko-KR" sz="12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strorage</a:t>
                </a:r>
                <a:endParaRPr lang="en-US" altLang="ko-KR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직사각형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000" y="958324"/>
                <a:ext cx="4960668" cy="3245953"/>
              </a:xfrm>
              <a:prstGeom prst="rect">
                <a:avLst/>
              </a:prstGeom>
              <a:blipFill rotWithShape="0">
                <a:blip r:embed="rId4"/>
                <a:stretch>
                  <a:fillRect l="-123" b="-3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030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 smtClean="0"/>
              <a:t>수리적기반</a:t>
            </a:r>
            <a:r>
              <a:rPr lang="ko-KR" altLang="en-US" b="0" dirty="0" smtClean="0"/>
              <a:t> </a:t>
            </a:r>
            <a:r>
              <a:rPr lang="en-US" altLang="ko-KR" b="0" dirty="0"/>
              <a:t>: </a:t>
            </a:r>
            <a:r>
              <a:rPr lang="en-US" altLang="ko-KR" b="0" dirty="0" err="1" smtClean="0"/>
              <a:t>ReEDS</a:t>
            </a:r>
            <a:endParaRPr lang="ko-KR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/>
              <p:cNvSpPr/>
              <p:nvPr/>
            </p:nvSpPr>
            <p:spPr>
              <a:xfrm>
                <a:off x="1276679" y="1515133"/>
                <a:ext cx="2893595" cy="18038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975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975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𝐿𝑚𝑛</m:t>
                        </m:r>
                      </m:e>
                      <m:sub>
                        <m:r>
                          <a:rPr kumimoji="0" lang="en-US" altLang="ko-KR" sz="975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𝑚𝑛</m:t>
                        </m:r>
                      </m:sub>
                    </m:sSub>
                  </m:oMath>
                </a14:m>
                <a:r>
                  <a:rPr kumimoji="0" lang="en-US" altLang="ko-KR" sz="975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: Load in BA </a:t>
                </a:r>
                <a14:m>
                  <m:oMath xmlns:m="http://schemas.openxmlformats.org/officeDocument/2006/math">
                    <m:r>
                      <a:rPr kumimoji="0" lang="en-US" altLang="ko-KR" sz="975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0" lang="en-US" altLang="ko-KR" sz="975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time-slice </a:t>
                </a:r>
                <a14:m>
                  <m:oMath xmlns:m="http://schemas.openxmlformats.org/officeDocument/2006/math">
                    <m:r>
                      <a:rPr kumimoji="0" lang="en-US" altLang="ko-KR" sz="975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kumimoji="0" lang="en-US" altLang="ko-KR" sz="975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975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975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𝑃𝑛</m:t>
                        </m:r>
                      </m:e>
                      <m:sub>
                        <m:r>
                          <a:rPr kumimoji="0" lang="en-US" altLang="ko-KR" sz="975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en-US" altLang="ko-KR" sz="975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: Peak</a:t>
                </a:r>
                <a:endParaRPr kumimoji="0" lang="ko-KR" altLang="en-US" sz="975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:endParaRPr kumimoji="0" lang="en-US" altLang="ko-KR" sz="975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975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Conventional generating technology(</a:t>
                </a:r>
                <a14:m>
                  <m:oMath xmlns:m="http://schemas.openxmlformats.org/officeDocument/2006/math">
                    <m:r>
                      <a:rPr kumimoji="0" lang="en-US" altLang="ko-KR" sz="975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kumimoji="0" lang="en-US" altLang="ko-KR" sz="975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)</a:t>
                </a:r>
              </a:p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kumimoji="0" lang="en-US" altLang="ko-KR" sz="975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𝐶𝑂𝑁𝑉𝑞</m:t>
                    </m:r>
                    <m:sSub>
                      <m:sSubPr>
                        <m:ctrlP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ko-KR" altLang="en-US" sz="975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kumimoji="0" lang="en-US" altLang="ko-KR" sz="975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: New capacity</a:t>
                </a:r>
              </a:p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kumimoji="0" lang="en-US" altLang="ko-KR" sz="975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𝑈𝑃𝐺𝑅𝐴𝐷𝐸𝑞</m:t>
                    </m:r>
                    <m:sSub>
                      <m:sSubPr>
                        <m:ctrlP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𝑞𝑞</m:t>
                        </m:r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ko-KR" altLang="en-US" sz="975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kumimoji="0" lang="en-US" altLang="ko-KR" sz="975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: Upgrade </a:t>
                </a:r>
                <a14:m>
                  <m:oMath xmlns:m="http://schemas.openxmlformats.org/officeDocument/2006/math">
                    <m:r>
                      <a:rPr kumimoji="0" lang="en-US" altLang="ko-KR" sz="975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kumimoji="0" lang="ko-KR" altLang="en-US" sz="975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kumimoji="0" lang="en-US" altLang="ko-KR" sz="975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to </a:t>
                </a:r>
                <a14:m>
                  <m:oMath xmlns:m="http://schemas.openxmlformats.org/officeDocument/2006/math">
                    <m:r>
                      <a:rPr kumimoji="0" lang="en-US" altLang="ko-KR" sz="975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𝑞𝑞</m:t>
                    </m:r>
                  </m:oMath>
                </a14:m>
                <a:endParaRPr kumimoji="0" lang="en-US" altLang="ko-KR" sz="975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kumimoji="0" lang="en-US" altLang="ko-KR" sz="975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𝐶𝑂𝑁𝑉𝑞</m:t>
                    </m:r>
                    <m:sSub>
                      <m:sSubPr>
                        <m:ctrlP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𝑚𝑛</m:t>
                        </m:r>
                      </m:e>
                      <m:sub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ko-KR" altLang="en-US" sz="975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kumimoji="0" lang="en-US" altLang="ko-KR" sz="975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: Average cap in time-slice </a:t>
                </a:r>
                <a14:m>
                  <m:oMath xmlns:m="http://schemas.openxmlformats.org/officeDocument/2006/math">
                    <m:r>
                      <a:rPr kumimoji="0" lang="en-US" altLang="ko-KR" sz="975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kumimoji="0" lang="en-US" altLang="ko-KR" sz="975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kumimoji="0" lang="en-US" altLang="ko-KR" sz="975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𝐶𝑂𝑁𝑉𝑂𝐿𝐷𝑞</m:t>
                    </m:r>
                    <m:sSub>
                      <m:sSubPr>
                        <m:ctrlP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𝑚𝑛</m:t>
                        </m:r>
                      </m:e>
                      <m:sub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kumimoji="0" lang="en-US" altLang="ko-KR" sz="975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ko-KR" altLang="en-US" sz="975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kumimoji="0" lang="en-US" altLang="ko-KR" sz="975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: Average old plant </a:t>
                </a:r>
                <a:r>
                  <a:rPr kumimoji="0" lang="en-US" altLang="ko-KR" sz="975" dirty="0" smtClean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cap</a:t>
                </a:r>
                <a:endParaRPr kumimoji="0" lang="ko-KR" altLang="en-US" sz="975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직사각형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679" y="1515133"/>
                <a:ext cx="2893595" cy="18038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모서리가 둥근 직사각형 17"/>
              <p:cNvSpPr/>
              <p:nvPr/>
            </p:nvSpPr>
            <p:spPr>
              <a:xfrm>
                <a:off x="1173250" y="1213484"/>
                <a:ext cx="971980" cy="301649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975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BA(</a:t>
                </a:r>
                <a14:m>
                  <m:oMath xmlns:m="http://schemas.openxmlformats.org/officeDocument/2006/math">
                    <m:r>
                      <a:rPr kumimoji="0" lang="en-US" altLang="ko-KR" sz="975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0" lang="en-US" altLang="ko-KR" sz="975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kumimoji="0" lang="ko-KR" altLang="en-US" sz="975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모서리가 둥근 직사각형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250" y="1213484"/>
                <a:ext cx="971980" cy="301649"/>
              </a:xfrm>
              <a:prstGeom prst="round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직사각형 18"/>
          <p:cNvSpPr/>
          <p:nvPr/>
        </p:nvSpPr>
        <p:spPr>
          <a:xfrm>
            <a:off x="4059332" y="904778"/>
            <a:ext cx="2375971" cy="2423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75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All Capacity and Transmission Unit(MW)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모서리가 둥근 직사각형 19"/>
              <p:cNvSpPr/>
              <p:nvPr/>
            </p:nvSpPr>
            <p:spPr>
              <a:xfrm>
                <a:off x="6846943" y="2249228"/>
                <a:ext cx="971980" cy="301649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975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BA(</a:t>
                </a:r>
                <a14:m>
                  <m:oMath xmlns:m="http://schemas.openxmlformats.org/officeDocument/2006/math">
                    <m:r>
                      <a:rPr kumimoji="0" lang="en-US" altLang="ko-KR" sz="975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0" lang="en-US" altLang="ko-KR" sz="975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kumimoji="0" lang="ko-KR" altLang="en-US" sz="975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모서리가 둥근 직사각형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943" y="2249228"/>
                <a:ext cx="971980" cy="301649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직선 화살표 연결선 20"/>
          <p:cNvCxnSpPr>
            <a:stCxn id="17" idx="3"/>
            <a:endCxn id="20" idx="1"/>
          </p:cNvCxnSpPr>
          <p:nvPr/>
        </p:nvCxnSpPr>
        <p:spPr>
          <a:xfrm flipV="1">
            <a:off x="4170274" y="2400053"/>
            <a:ext cx="2676669" cy="16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/>
              <p:cNvSpPr/>
              <p:nvPr/>
            </p:nvSpPr>
            <p:spPr>
              <a:xfrm>
                <a:off x="5038737" y="2134142"/>
                <a:ext cx="784317" cy="2539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975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𝐴𝐶</m:t>
                      </m:r>
                      <m:r>
                        <a:rPr kumimoji="0" lang="en-US" altLang="ko-KR" sz="975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kumimoji="0" lang="en-US" altLang="ko-KR" sz="975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𝑛𝑒</m:t>
                      </m:r>
                      <m:sSub>
                        <m:sSubPr>
                          <m:ctrlPr>
                            <a:rPr kumimoji="0" lang="en-US" altLang="ko-KR" sz="975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975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ko-KR" sz="975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en-US" altLang="ko-KR" sz="975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kumimoji="0" lang="en-US" altLang="ko-KR" sz="975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0" lang="ko-KR" altLang="en-US" sz="975" dirty="0">
                  <a:solidFill>
                    <a:srgbClr val="FF0000"/>
                  </a:solidFill>
                  <a:latin typeface="Cambria Math" panose="02040503050406030204" pitchFamily="18" charset="0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22" name="직사각형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737" y="2134142"/>
                <a:ext cx="784317" cy="25398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/>
              <p:cNvSpPr/>
              <p:nvPr/>
            </p:nvSpPr>
            <p:spPr>
              <a:xfrm>
                <a:off x="5038736" y="2423887"/>
                <a:ext cx="939744" cy="2539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975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𝐴𝐶</m:t>
                      </m:r>
                      <m:r>
                        <a:rPr kumimoji="0" lang="en-US" altLang="ko-KR" sz="975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kumimoji="0" lang="en-US" altLang="ko-KR" sz="975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𝐹𝑙𝑜</m:t>
                      </m:r>
                      <m:sSub>
                        <m:sSubPr>
                          <m:ctrlPr>
                            <a:rPr kumimoji="0" lang="en-US" altLang="ko-KR" sz="975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975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ko-KR" sz="975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kumimoji="0" lang="en-US" altLang="ko-KR" sz="975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kumimoji="0" lang="en-US" altLang="ko-KR" sz="975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en-US" altLang="ko-KR" sz="975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kumimoji="0" lang="en-US" altLang="ko-KR" sz="975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kumimoji="0" lang="ko-KR" altLang="en-US" sz="975" dirty="0">
                  <a:solidFill>
                    <a:srgbClr val="0070C0"/>
                  </a:solidFill>
                  <a:latin typeface="Cambria Math" panose="02040503050406030204" pitchFamily="18" charset="0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23" name="직사각형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736" y="2423887"/>
                <a:ext cx="939744" cy="25398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직사각형 23"/>
              <p:cNvSpPr/>
              <p:nvPr/>
            </p:nvSpPr>
            <p:spPr>
              <a:xfrm>
                <a:off x="1570792" y="904778"/>
                <a:ext cx="1703543" cy="2423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975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975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𝐻𝑚</m:t>
                        </m:r>
                      </m:e>
                      <m:sub>
                        <m:r>
                          <a:rPr kumimoji="0" lang="en-US" altLang="ko-KR" sz="975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0" lang="en-US" altLang="ko-KR" sz="975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: Hours in time-slice </a:t>
                </a:r>
                <a14:m>
                  <m:oMath xmlns:m="http://schemas.openxmlformats.org/officeDocument/2006/math">
                    <m:r>
                      <a:rPr kumimoji="0" lang="en-US" altLang="ko-KR" sz="975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kumimoji="0" lang="en-US" altLang="ko-KR" sz="975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직사각형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792" y="904778"/>
                <a:ext cx="1703543" cy="242374"/>
              </a:xfrm>
              <a:prstGeom prst="rect">
                <a:avLst/>
              </a:prstGeom>
              <a:blipFill rotWithShape="0"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직사각형 74"/>
          <p:cNvSpPr/>
          <p:nvPr/>
        </p:nvSpPr>
        <p:spPr>
          <a:xfrm>
            <a:off x="1457309" y="4900836"/>
            <a:ext cx="1273627" cy="541851"/>
          </a:xfrm>
          <a:prstGeom prst="rect">
            <a:avLst/>
          </a:prstGeom>
          <a:noFill/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730935" y="4358983"/>
            <a:ext cx="402201" cy="541851"/>
          </a:xfrm>
          <a:prstGeom prst="rect">
            <a:avLst/>
          </a:prstGeom>
          <a:noFill/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1457309" y="5269518"/>
            <a:ext cx="1675827" cy="173167"/>
          </a:xfrm>
          <a:prstGeom prst="rect">
            <a:avLst/>
          </a:prstGeom>
          <a:gradFill flip="none" rotWithShape="1">
            <a:gsLst>
              <a:gs pos="0">
                <a:srgbClr val="5B9BD5">
                  <a:tint val="66000"/>
                  <a:satMod val="160000"/>
                </a:srgbClr>
              </a:gs>
              <a:gs pos="50000">
                <a:srgbClr val="5B9BD5">
                  <a:tint val="44500"/>
                  <a:satMod val="160000"/>
                </a:srgbClr>
              </a:gs>
              <a:gs pos="100000">
                <a:srgbClr val="5B9BD5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730938" y="4900835"/>
            <a:ext cx="402198" cy="541851"/>
          </a:xfrm>
          <a:prstGeom prst="rect">
            <a:avLst/>
          </a:prstGeom>
          <a:noFill/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982492" y="5169490"/>
            <a:ext cx="547436" cy="217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13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0.3MW</a:t>
            </a:r>
            <a:endParaRPr kumimoji="0" lang="ko-KR" altLang="en-US" sz="813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1055108" y="4818089"/>
            <a:ext cx="547436" cy="217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13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1MW</a:t>
            </a:r>
            <a:endParaRPr kumimoji="0" lang="ko-KR" altLang="en-US" sz="813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2384600" y="4285842"/>
            <a:ext cx="547436" cy="217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13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2MW</a:t>
            </a:r>
            <a:endParaRPr kumimoji="0" lang="ko-KR" altLang="en-US" sz="813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직사각형 81"/>
              <p:cNvSpPr/>
              <p:nvPr/>
            </p:nvSpPr>
            <p:spPr>
              <a:xfrm>
                <a:off x="1676097" y="5442685"/>
                <a:ext cx="726674" cy="2423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975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975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𝐻𝑚</m:t>
                        </m:r>
                      </m:e>
                      <m:sub>
                        <m:r>
                          <a:rPr kumimoji="0" lang="en-US" altLang="ko-KR" sz="975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0" lang="en-US" altLang="ko-KR" sz="975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US" altLang="ko-KR" sz="975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0.8</a:t>
                </a:r>
              </a:p>
            </p:txBody>
          </p:sp>
        </mc:Choice>
        <mc:Fallback xmlns="">
          <p:sp>
            <p:nvSpPr>
              <p:cNvPr id="82" name="직사각형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097" y="5442685"/>
                <a:ext cx="726674" cy="242374"/>
              </a:xfrm>
              <a:prstGeom prst="rect">
                <a:avLst/>
              </a:prstGeom>
              <a:blipFill rotWithShape="0"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직사각형 82"/>
              <p:cNvSpPr/>
              <p:nvPr/>
            </p:nvSpPr>
            <p:spPr>
              <a:xfrm>
                <a:off x="2623835" y="5468997"/>
                <a:ext cx="791563" cy="2423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975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975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𝐻𝑚</m:t>
                          </m:r>
                        </m:e>
                        <m:sub>
                          <m:r>
                            <a:rPr kumimoji="0" lang="en-US" altLang="ko-KR" sz="975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0" lang="en-US" altLang="ko-KR" sz="975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kumimoji="0" lang="en-US" altLang="ko-KR" sz="975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3" name="직사각형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835" y="5468997"/>
                <a:ext cx="791563" cy="242374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직사각형 83"/>
              <p:cNvSpPr/>
              <p:nvPr/>
            </p:nvSpPr>
            <p:spPr>
              <a:xfrm>
                <a:off x="1715664" y="5237761"/>
                <a:ext cx="977575" cy="2539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975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975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𝐶𝑂𝑁𝑉𝑂𝐿𝐷</m:t>
                          </m:r>
                        </m:e>
                        <m:sub>
                          <m:r>
                            <a:rPr kumimoji="0" lang="en-US" altLang="ko-KR" sz="975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𝑞𝑚𝑛</m:t>
                          </m:r>
                        </m:sub>
                      </m:sSub>
                    </m:oMath>
                  </m:oMathPara>
                </a14:m>
                <a:endParaRPr kumimoji="0" lang="en-US" altLang="ko-KR" sz="975" dirty="0">
                  <a:solidFill>
                    <a:prstClr val="black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4" name="직사각형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5664" y="5237761"/>
                <a:ext cx="977575" cy="25398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직사각형 84"/>
              <p:cNvSpPr/>
              <p:nvPr/>
            </p:nvSpPr>
            <p:spPr>
              <a:xfrm>
                <a:off x="565266" y="4618035"/>
                <a:ext cx="521361" cy="2174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81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81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𝐿𝑚𝑛</m:t>
                          </m:r>
                        </m:e>
                        <m:sub>
                          <m:r>
                            <a:rPr kumimoji="0" lang="en-US" altLang="ko-KR" sz="81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kumimoji="0" lang="en-US" altLang="ko-KR" sz="81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ko-KR" altLang="en-US" sz="813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85" name="직사각형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66" y="4618035"/>
                <a:ext cx="521361" cy="2174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직사각형 85"/>
              <p:cNvSpPr/>
              <p:nvPr/>
            </p:nvSpPr>
            <p:spPr>
              <a:xfrm>
                <a:off x="2599270" y="4106383"/>
                <a:ext cx="841705" cy="2174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81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81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𝐿𝑚𝑛</m:t>
                          </m:r>
                        </m:e>
                        <m:sub>
                          <m:r>
                            <a:rPr kumimoji="0" lang="en-US" altLang="ko-KR" sz="81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en-US" altLang="ko-KR" sz="81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kumimoji="0" lang="en-US" altLang="ko-KR" sz="81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0" lang="en-US" altLang="ko-KR" sz="81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kumimoji="0" lang="en-US" altLang="ko-KR" sz="81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81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kumimoji="0" lang="en-US" altLang="ko-KR" sz="81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ko-KR" altLang="en-US" sz="813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86" name="직사각형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270" y="4106383"/>
                <a:ext cx="841705" cy="2174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직선 화살표 연결선 86"/>
          <p:cNvCxnSpPr>
            <a:stCxn id="85" idx="2"/>
            <a:endCxn id="80" idx="1"/>
          </p:cNvCxnSpPr>
          <p:nvPr/>
        </p:nvCxnSpPr>
        <p:spPr>
          <a:xfrm>
            <a:off x="825947" y="4835467"/>
            <a:ext cx="229161" cy="91338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8" name="꺾인 연결선 87"/>
          <p:cNvCxnSpPr>
            <a:stCxn id="86" idx="1"/>
          </p:cNvCxnSpPr>
          <p:nvPr/>
        </p:nvCxnSpPr>
        <p:spPr>
          <a:xfrm rot="10800000" flipV="1">
            <a:off x="2524256" y="4215098"/>
            <a:ext cx="75015" cy="132711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직사각형 88"/>
              <p:cNvSpPr/>
              <p:nvPr/>
            </p:nvSpPr>
            <p:spPr>
              <a:xfrm>
                <a:off x="3271031" y="4718062"/>
                <a:ext cx="1007263" cy="2274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813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𝐶𝑂𝑁𝑉𝑞</m:t>
                      </m:r>
                      <m:sSub>
                        <m:sSubPr>
                          <m:ctrlPr>
                            <a:rPr kumimoji="0" lang="en-US" altLang="ko-KR" sz="813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813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kumimoji="0" lang="en-US" altLang="ko-KR" sz="813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kumimoji="0" lang="en-US" altLang="ko-KR" sz="813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kumimoji="0" lang="en-US" altLang="ko-KR" sz="813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kumimoji="0" lang="en-US" altLang="ko-KR" sz="813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=1.7</m:t>
                      </m:r>
                    </m:oMath>
                  </m:oMathPara>
                </a14:m>
                <a:endParaRPr kumimoji="0" lang="ko-KR" altLang="en-US" sz="813" dirty="0">
                  <a:solidFill>
                    <a:srgbClr val="FF0000"/>
                  </a:solidFill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89" name="직사각형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031" y="4718062"/>
                <a:ext cx="1007263" cy="22743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직사각형 89"/>
              <p:cNvSpPr/>
              <p:nvPr/>
            </p:nvSpPr>
            <p:spPr>
              <a:xfrm>
                <a:off x="565266" y="4424023"/>
                <a:ext cx="1074846" cy="2274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813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𝐶𝑂𝑁𝑉𝑞𝑚</m:t>
                      </m:r>
                      <m:sSub>
                        <m:sSubPr>
                          <m:ctrlPr>
                            <a:rPr kumimoji="0" lang="en-US" altLang="ko-KR" sz="813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813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kumimoji="0" lang="en-US" altLang="ko-KR" sz="813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kumimoji="0" lang="en-US" altLang="ko-KR" sz="813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,1,</m:t>
                          </m:r>
                          <m:r>
                            <a:rPr kumimoji="0" lang="en-US" altLang="ko-KR" sz="813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kumimoji="0" lang="en-US" altLang="ko-KR" sz="813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0" lang="ko-KR" altLang="en-US" sz="813" dirty="0">
                  <a:solidFill>
                    <a:srgbClr val="FF0000"/>
                  </a:solidFill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90" name="직사각형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66" y="4424023"/>
                <a:ext cx="1074846" cy="227435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직사각형 90"/>
              <p:cNvSpPr/>
              <p:nvPr/>
            </p:nvSpPr>
            <p:spPr>
              <a:xfrm>
                <a:off x="2591635" y="3897243"/>
                <a:ext cx="1074846" cy="2274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fontAlgn="auto" latinLnBrk="1" hangingPunct="1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ko-KR" sz="813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𝐶𝑂𝑁𝑉𝑞𝑚</m:t>
                      </m:r>
                      <m:sSub>
                        <m:sSubPr>
                          <m:ctrlPr>
                            <a:rPr kumimoji="0" lang="en-US" altLang="ko-KR" sz="813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ko-KR" sz="813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kumimoji="0" lang="en-US" altLang="ko-KR" sz="813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kumimoji="0" lang="en-US" altLang="ko-KR" sz="813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,2,</m:t>
                          </m:r>
                          <m:r>
                            <a:rPr kumimoji="0" lang="en-US" altLang="ko-KR" sz="813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kumimoji="0" lang="en-US" altLang="ko-KR" sz="813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kumimoji="0" lang="ko-KR" altLang="en-US" sz="813" dirty="0">
                  <a:solidFill>
                    <a:srgbClr val="FF0000"/>
                  </a:solidFill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</mc:Choice>
        <mc:Fallback xmlns="">
          <p:sp>
            <p:nvSpPr>
              <p:cNvPr id="91" name="직사각형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635" y="3897243"/>
                <a:ext cx="1074846" cy="22743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5399825" y="4029441"/>
                <a:ext cx="3406912" cy="1742785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문제의 정의</a:t>
                </a:r>
                <a:endParaRPr kumimoji="0" lang="en-US" altLang="ko-KR" sz="975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232172" marR="0" lvl="0" indent="-232172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tabLst/>
                  <a:defRPr/>
                </a:pPr>
                <a:r>
                  <a:rPr kumimoji="0" lang="ko-KR" altLang="en-US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주어진 수요</a:t>
                </a:r>
                <a:r>
                  <a:rPr kumimoji="0" lang="en-US" altLang="ko-KR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(Load)</a:t>
                </a:r>
                <a:r>
                  <a:rPr kumimoji="0" lang="ko-KR" altLang="en-US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를 만족시키는</a:t>
                </a:r>
                <a:endParaRPr kumimoji="0" lang="en-US" altLang="ko-KR" sz="975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232172" marR="0" lvl="0" indent="-232172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tabLst/>
                  <a:defRPr/>
                </a:pPr>
                <a:r>
                  <a:rPr kumimoji="0" lang="en-US" altLang="ko-KR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BA</a:t>
                </a:r>
                <a:r>
                  <a:rPr kumimoji="0" lang="ko-KR" altLang="en-US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들에</a:t>
                </a:r>
                <a:r>
                  <a:rPr kumimoji="0" lang="ko-KR" altLang="en-US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 발전설비의 증설</a:t>
                </a:r>
                <a:r>
                  <a:rPr kumimoji="0" lang="en-US" altLang="ko-KR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</a:t>
                </a:r>
                <a:r>
                  <a:rPr kumimoji="0" lang="ko-KR" altLang="en-US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및 </a:t>
                </a:r>
                <a:r>
                  <a:rPr kumimoji="0" lang="ko-KR" altLang="en-US" sz="975" b="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전송망</a:t>
                </a:r>
                <a:r>
                  <a:rPr kumimoji="0" lang="ko-KR" altLang="en-US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 구축</a:t>
                </a:r>
                <a:endParaRPr kumimoji="0" lang="en-US" altLang="ko-KR" sz="975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Given</a:t>
                </a:r>
              </a:p>
              <a:p>
                <a:pPr marL="139303" marR="0" lvl="0" indent="-139303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tabLst/>
                  <a:defRPr/>
                </a:pPr>
                <a:r>
                  <a:rPr kumimoji="0" lang="ko-KR" altLang="en-US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수요</a:t>
                </a:r>
                <a:r>
                  <a:rPr kumimoji="0" lang="en-US" altLang="ko-KR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975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ko-KR" sz="975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𝐿𝑚𝑛</m:t>
                        </m:r>
                      </m:e>
                      <m:sub>
                        <m:r>
                          <a:rPr kumimoji="0" lang="en-US" altLang="ko-KR" sz="975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𝑚𝑛</m:t>
                        </m:r>
                      </m:sub>
                    </m:sSub>
                  </m:oMath>
                </a14:m>
                <a:r>
                  <a:rPr kumimoji="0" lang="en-US" altLang="ko-KR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975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ko-KR" sz="975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𝑃𝑛</m:t>
                        </m:r>
                      </m:e>
                      <m:sub>
                        <m:r>
                          <a:rPr kumimoji="0" lang="en-US" altLang="ko-KR" sz="975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en-US" altLang="ko-KR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975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ko-KR" sz="975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𝐻𝑚</m:t>
                        </m:r>
                      </m:e>
                      <m:sub>
                        <m:r>
                          <a:rPr kumimoji="0" lang="en-US" altLang="ko-KR" sz="975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0" lang="en-US" altLang="ko-KR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)</a:t>
                </a:r>
              </a:p>
              <a:p>
                <a:pPr marL="139303" marR="0" lvl="0" indent="-139303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tabLst/>
                  <a:defRPr/>
                </a:pPr>
                <a:r>
                  <a:rPr kumimoji="0" lang="ko-KR" altLang="en-US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기존 발전</a:t>
                </a:r>
                <a:r>
                  <a:rPr kumimoji="0" lang="en-US" altLang="ko-KR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/</a:t>
                </a:r>
                <a:r>
                  <a:rPr kumimoji="0" lang="ko-KR" altLang="en-US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전송 설비</a:t>
                </a:r>
                <a:endParaRPr kumimoji="0" lang="en-US" altLang="ko-KR" sz="975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Decision variable</a:t>
                </a:r>
              </a:p>
              <a:p>
                <a:pPr marL="139303" marR="0" lvl="0" indent="-139303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tabLst/>
                  <a:defRPr/>
                </a:pPr>
                <a:r>
                  <a:rPr kumimoji="0" lang="ko-KR" altLang="en-US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발전설비용량 증설</a:t>
                </a:r>
                <a:r>
                  <a:rPr kumimoji="0" lang="en-US" altLang="ko-KR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/</a:t>
                </a:r>
                <a:r>
                  <a:rPr kumimoji="0" lang="ko-KR" altLang="en-US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전송 설비 용량 증설</a:t>
                </a:r>
                <a:endParaRPr kumimoji="0" lang="en-US" altLang="ko-KR" sz="975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Objective Function</a:t>
                </a:r>
              </a:p>
              <a:p>
                <a:pPr marL="139303" marR="0" lvl="0" indent="-139303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tabLst/>
                  <a:defRPr/>
                </a:pPr>
                <a:r>
                  <a:rPr kumimoji="0" lang="en-US" altLang="ko-KR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new</a:t>
                </a:r>
                <a:r>
                  <a:rPr kumimoji="0" lang="ko-KR" altLang="en-US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 </a:t>
                </a:r>
                <a:r>
                  <a:rPr kumimoji="0" lang="en-US" altLang="ko-KR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generation and transmission capacity</a:t>
                </a:r>
              </a:p>
              <a:p>
                <a:pPr marL="139303" marR="0" lvl="0" indent="-139303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tabLst/>
                  <a:defRPr/>
                </a:pPr>
                <a:r>
                  <a:rPr kumimoji="0" lang="en-US" altLang="ko-KR" sz="975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20 years of operating expenses</a:t>
                </a: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825" y="4029441"/>
                <a:ext cx="3406912" cy="1742785"/>
              </a:xfrm>
              <a:prstGeom prst="rect">
                <a:avLst/>
              </a:prstGeom>
              <a:blipFill rotWithShape="0">
                <a:blip r:embed="rId16"/>
                <a:stretch>
                  <a:fillRect b="-347"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오른쪽 중괄호 92"/>
          <p:cNvSpPr/>
          <p:nvPr/>
        </p:nvSpPr>
        <p:spPr>
          <a:xfrm>
            <a:off x="3205753" y="4353163"/>
            <a:ext cx="72619" cy="916354"/>
          </a:xfrm>
          <a:prstGeom prst="rightBrac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63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42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 smtClean="0"/>
              <a:t>수리적기반</a:t>
            </a:r>
            <a:r>
              <a:rPr lang="ko-KR" altLang="en-US" b="0" dirty="0" smtClean="0"/>
              <a:t> </a:t>
            </a:r>
            <a:r>
              <a:rPr lang="en-US" altLang="ko-KR" b="0" dirty="0"/>
              <a:t>: </a:t>
            </a:r>
            <a:r>
              <a:rPr lang="en-US" altLang="ko-KR" b="0" dirty="0" err="1" smtClean="0"/>
              <a:t>ReEDS</a:t>
            </a:r>
            <a:endParaRPr lang="ko-KR" altLang="en-US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모서리가 둥근 직사각형 29"/>
              <p:cNvSpPr/>
              <p:nvPr/>
            </p:nvSpPr>
            <p:spPr>
              <a:xfrm>
                <a:off x="6036766" y="2590809"/>
                <a:ext cx="971980" cy="301649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BA(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lang="ko-KR" alt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모서리가 둥근 직사각형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766" y="2590809"/>
                <a:ext cx="971980" cy="301649"/>
              </a:xfrm>
              <a:prstGeom prst="roundRect">
                <a:avLst/>
              </a:prstGeom>
              <a:blipFill rotWithShape="0">
                <a:blip r:embed="rId2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모서리가 둥근 직사각형 30"/>
              <p:cNvSpPr/>
              <p:nvPr/>
            </p:nvSpPr>
            <p:spPr>
              <a:xfrm>
                <a:off x="8004002" y="2590809"/>
                <a:ext cx="971980" cy="301649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BA(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lang="ko-KR" alt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모서리가 둥근 직사각형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002" y="2590809"/>
                <a:ext cx="971980" cy="301649"/>
              </a:xfrm>
              <a:prstGeom prst="roundRect">
                <a:avLst/>
              </a:prstGeom>
              <a:blipFill rotWithShape="0">
                <a:blip r:embed="rId3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직선 화살표 연결선 31"/>
          <p:cNvCxnSpPr/>
          <p:nvPr/>
        </p:nvCxnSpPr>
        <p:spPr>
          <a:xfrm flipH="1">
            <a:off x="7008746" y="2753371"/>
            <a:ext cx="9952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/>
              <p:cNvSpPr/>
              <p:nvPr/>
            </p:nvSpPr>
            <p:spPr>
              <a:xfrm>
                <a:off x="2996122" y="2075533"/>
                <a:ext cx="6054799" cy="5607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  <m:sup/>
                        <m:e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𝐴𝐶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𝑓𝑙𝑜</m:t>
                          </m:r>
                          <m:sSub>
                            <m:sSubPr>
                              <m:ctrlP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𝑓𝑙𝑜𝑤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  <m:sup/>
                        <m:e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𝐶𝑂𝑁𝑉𝑞𝑚</m:t>
                          </m:r>
                          <m:sSub>
                            <m:sSubPr>
                              <m:ctrlP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𝐶𝑂𝑁𝑉𝑂𝐿𝐷𝑞𝑚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𝐿𝑚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직사각형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122" y="2075533"/>
                <a:ext cx="6054799" cy="560795"/>
              </a:xfrm>
              <a:prstGeom prst="rect">
                <a:avLst/>
              </a:prstGeom>
              <a:blipFill rotWithShape="0">
                <a:blip r:embed="rId4"/>
                <a:stretch>
                  <a:fillRect l="-7445" t="-111957" b="-15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/>
              <p:cNvSpPr/>
              <p:nvPr/>
            </p:nvSpPr>
            <p:spPr>
              <a:xfrm>
                <a:off x="591085" y="2159358"/>
                <a:ext cx="2536464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ko-KR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Truck-route Load Constraint(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:</a:t>
                </a:r>
              </a:p>
            </p:txBody>
          </p:sp>
        </mc:Choice>
        <mc:Fallback xmlns="">
          <p:sp>
            <p:nvSpPr>
              <p:cNvPr id="34" name="직사각형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85" y="2159358"/>
                <a:ext cx="2536464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240" b="-15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모서리가 둥근 직사각형 34"/>
              <p:cNvSpPr/>
              <p:nvPr/>
            </p:nvSpPr>
            <p:spPr>
              <a:xfrm>
                <a:off x="4641349" y="3774483"/>
                <a:ext cx="971980" cy="301649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BA(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lang="ko-KR" alt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모서리가 둥근 직사각형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349" y="3774483"/>
                <a:ext cx="971980" cy="301649"/>
              </a:xfrm>
              <a:prstGeom prst="roundRect">
                <a:avLst/>
              </a:prstGeom>
              <a:blipFill rotWithShape="0">
                <a:blip r:embed="rId6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모서리가 둥근 직사각형 35"/>
              <p:cNvSpPr/>
              <p:nvPr/>
            </p:nvSpPr>
            <p:spPr>
              <a:xfrm>
                <a:off x="6958268" y="3775589"/>
                <a:ext cx="971980" cy="301649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BA(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lang="ko-KR" alt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모서리가 둥근 직사각형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8268" y="3775589"/>
                <a:ext cx="971980" cy="301649"/>
              </a:xfrm>
              <a:prstGeom prst="roundRect">
                <a:avLst/>
              </a:prstGeom>
              <a:blipFill rotWithShape="0">
                <a:blip r:embed="rId7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직선 화살표 연결선 36"/>
          <p:cNvCxnSpPr>
            <a:stCxn id="36" idx="1"/>
            <a:endCxn id="35" idx="3"/>
          </p:cNvCxnSpPr>
          <p:nvPr/>
        </p:nvCxnSpPr>
        <p:spPr>
          <a:xfrm flipH="1" flipV="1">
            <a:off x="5613329" y="3925308"/>
            <a:ext cx="1344939" cy="110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직사각형 37"/>
              <p:cNvSpPr/>
              <p:nvPr/>
            </p:nvSpPr>
            <p:spPr>
              <a:xfrm>
                <a:off x="5683134" y="3688628"/>
                <a:ext cx="1110369" cy="2912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𝐴𝐶</m:t>
                      </m:r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𝐹𝑙𝑜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직사각형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134" y="3688628"/>
                <a:ext cx="1110369" cy="29129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직사각형 38"/>
              <p:cNvSpPr/>
              <p:nvPr/>
            </p:nvSpPr>
            <p:spPr>
              <a:xfrm>
                <a:off x="656923" y="3428385"/>
                <a:ext cx="356110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ko-KR" dirty="0" smtClean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AC_Line Transmission capacity Constraint(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:</a:t>
                </a:r>
              </a:p>
            </p:txBody>
          </p:sp>
        </mc:Choice>
        <mc:Fallback xmlns="">
          <p:sp>
            <p:nvSpPr>
              <p:cNvPr id="39" name="직사각형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23" y="3428385"/>
                <a:ext cx="3561103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171" b="-15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직사각형 39"/>
              <p:cNvSpPr/>
              <p:nvPr/>
            </p:nvSpPr>
            <p:spPr>
              <a:xfrm>
                <a:off x="4086993" y="3428385"/>
                <a:ext cx="3553602" cy="2912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𝐴𝐶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𝑓𝑙𝑜</m:t>
                    </m:r>
                    <m:sSub>
                      <m:sSubPr>
                        <m:ctrlP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𝐴𝐶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</m:t>
                    </m:r>
                    <m:sSub>
                      <m:sSubPr>
                        <m:ctrlP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dirty="0">
                    <a:latin typeface="Cambria Math" panose="020405030504060302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𝐴𝐶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</m:t>
                    </m:r>
                    <m:sSub>
                      <m:sSubPr>
                        <m:ctrlP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>
                    <a:latin typeface="Cambria Math" panose="020405030504060302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𝐴𝐶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sSub>
                      <m:sSubPr>
                        <m:ctrlP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𝑜𝑙𝑑</m:t>
                        </m:r>
                      </m:e>
                      <m:sub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ko-KR" alt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" name="직사각형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993" y="3428385"/>
                <a:ext cx="3553602" cy="291298"/>
              </a:xfrm>
              <a:prstGeom prst="rect">
                <a:avLst/>
              </a:prstGeom>
              <a:blipFill rotWithShape="0">
                <a:blip r:embed="rId10"/>
                <a:stretch>
                  <a:fillRect b="-104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직사각형 40"/>
          <p:cNvSpPr/>
          <p:nvPr/>
        </p:nvSpPr>
        <p:spPr>
          <a:xfrm>
            <a:off x="591085" y="1549606"/>
            <a:ext cx="76810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Two Load and Transmission Representation : Truck-route and Power-flow Representation </a:t>
            </a:r>
            <a:r>
              <a:rPr lang="en-US" altLang="ko-KR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 only one can be used</a:t>
            </a:r>
          </a:p>
          <a:p>
            <a:pPr lvl="0"/>
            <a:r>
              <a:rPr lang="en-US" altLang="ko-KR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- simplified formulation : no RPS, truck-route presentation</a:t>
            </a:r>
            <a:endParaRPr lang="en-US" altLang="ko-KR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10152" y="1274530"/>
            <a:ext cx="1004186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ko-KR" sz="1300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Constraints</a:t>
            </a:r>
            <a:endParaRPr lang="en-US" altLang="ko-KR" sz="13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직사각형 42"/>
              <p:cNvSpPr/>
              <p:nvPr/>
            </p:nvSpPr>
            <p:spPr>
              <a:xfrm>
                <a:off x="591085" y="4536342"/>
                <a:ext cx="618990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ko-KR" dirty="0" smtClean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Reserve Margin Constraint(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ko-KR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: exceed peak load plus a reserve margin in each time-slice</a:t>
                </a:r>
              </a:p>
            </p:txBody>
          </p:sp>
        </mc:Choice>
        <mc:Fallback xmlns="">
          <p:sp>
            <p:nvSpPr>
              <p:cNvPr id="43" name="직사각형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85" y="4536342"/>
                <a:ext cx="6189900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99" b="-15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직사각형 43"/>
              <p:cNvSpPr/>
              <p:nvPr/>
            </p:nvSpPr>
            <p:spPr>
              <a:xfrm>
                <a:off x="996602" y="4867959"/>
                <a:ext cx="8616718" cy="5607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  <m:sup/>
                        <m:e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𝐶𝑂𝑁𝑉𝑞</m:t>
                          </m:r>
                          <m:sSub>
                            <m:sSubPr>
                              <m:ctrlP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𝐶𝑂𝑁𝑉𝑂𝐿𝐷𝑞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𝑞𝑞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𝑈𝑃𝐺𝑅𝐴𝐷𝐸𝑞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𝑞𝑞</m:t>
                                  </m:r>
                                  <m: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𝑈𝑃𝐺𝑅𝐴𝐷𝐸𝑞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𝑞𝑞</m:t>
                                  </m:r>
                                  <m: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𝑟𝑒𝑠𝑒𝑟</m:t>
                          </m:r>
                          <m:sSub>
                            <m:sSubPr>
                              <m:ctrlP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𝑚𝑎𝑟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altLang="ko-K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𝐿𝑚</m:t>
                          </m:r>
                          <m:sSub>
                            <m:sSubPr>
                              <m:ctrlP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altLang="ko-K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mm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ctrlP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𝐿𝑚</m:t>
                                  </m:r>
                                  <m:sSub>
                                    <m:sSubPr>
                                      <m:ctrlPr>
                                        <a:rPr lang="en-US" altLang="ko-KR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ko-KR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ko-KR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ko-KR" alt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4" name="직사각형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02" y="4867959"/>
                <a:ext cx="8616718" cy="560795"/>
              </a:xfrm>
              <a:prstGeom prst="rect">
                <a:avLst/>
              </a:prstGeom>
              <a:blipFill rotWithShape="0">
                <a:blip r:embed="rId12"/>
                <a:stretch>
                  <a:fillRect l="-4738" t="-111957" b="-15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74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/>
              <a:t>수리적기반</a:t>
            </a:r>
            <a:r>
              <a:rPr lang="ko-KR" altLang="en-US" b="0" dirty="0"/>
              <a:t> </a:t>
            </a:r>
            <a:r>
              <a:rPr lang="en-US" altLang="ko-KR" b="0" dirty="0"/>
              <a:t>: </a:t>
            </a:r>
            <a:r>
              <a:rPr lang="ko-KR" altLang="en-US" b="0" dirty="0" smtClean="0"/>
              <a:t>최적해 및 </a:t>
            </a:r>
            <a:r>
              <a:rPr lang="ko-KR" altLang="en-US" b="0" dirty="0" err="1" smtClean="0"/>
              <a:t>제약식의</a:t>
            </a:r>
            <a:r>
              <a:rPr lang="ko-KR" altLang="en-US" b="0" dirty="0" smtClean="0"/>
              <a:t> 특성 분석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어떤 제약식이 현실을 잘 반영하는가</a:t>
            </a:r>
            <a:r>
              <a:rPr lang="en-US" altLang="ko-KR" dirty="0" smtClean="0"/>
              <a:t>?</a:t>
            </a:r>
          </a:p>
          <a:p>
            <a:pPr lvl="1"/>
            <a:r>
              <a:rPr lang="en-US" altLang="ko-KR" dirty="0" smtClean="0"/>
              <a:t>Market Share, Efficiency Improvement, Variable Demand, Substitution Demand, Production Smoothing </a:t>
            </a:r>
            <a:r>
              <a:rPr lang="ko-KR" altLang="en-US" dirty="0" smtClean="0"/>
              <a:t>등을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차년도에 제안함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이들 </a:t>
            </a:r>
            <a:r>
              <a:rPr lang="ko-KR" altLang="en-US" dirty="0" err="1" smtClean="0"/>
              <a:t>제약식은</a:t>
            </a:r>
            <a:r>
              <a:rPr lang="ko-KR" altLang="en-US" dirty="0" smtClean="0"/>
              <a:t> 현실을 많이 반영한 제약식이라 볼 수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기존의 연구는 대부분 단순한 상한 및 하한 제약식이 대부분임</a:t>
            </a:r>
            <a:endParaRPr lang="en-US" altLang="ko-KR" dirty="0" smtClean="0"/>
          </a:p>
          <a:p>
            <a:r>
              <a:rPr lang="en-US" altLang="ko-KR" dirty="0" smtClean="0"/>
              <a:t>Production Smoothing </a:t>
            </a:r>
            <a:r>
              <a:rPr lang="ko-KR" altLang="en-US" dirty="0" smtClean="0"/>
              <a:t>제약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생산 및 시장점유율의 비현실적인 상승 및 하락을 막을  수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생산이 멈추게 되면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이를 단종된 것으로 처리할 수 있음</a:t>
            </a:r>
            <a:endParaRPr lang="en-US" altLang="ko-KR" dirty="0"/>
          </a:p>
          <a:p>
            <a:r>
              <a:rPr lang="ko-KR" altLang="en-US" dirty="0" smtClean="0"/>
              <a:t>수요기술 뿐만 아니라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에너지원기술이나 전환기술에 위의 </a:t>
            </a:r>
            <a:r>
              <a:rPr lang="ko-KR" altLang="en-US" dirty="0" err="1" smtClean="0"/>
              <a:t>제약식들을</a:t>
            </a:r>
            <a:r>
              <a:rPr lang="ko-KR" altLang="en-US" dirty="0" smtClean="0"/>
              <a:t> 적용하는 경우 에너지공급량의 급격한 변동을 막을 수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에너지를 사용하는 수요기술들에 영향을 미치게 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99</a:t>
            </a:fld>
            <a:endParaRPr lang="en-US" altLang="ko-KR"/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3354557" y="4341175"/>
            <a:ext cx="863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>
                <a:solidFill>
                  <a:srgbClr val="000000"/>
                </a:solidFill>
                <a:ea typeface="굴림" charset="-127"/>
              </a:rPr>
              <a:t>car energy </a:t>
            </a:r>
          </a:p>
        </p:txBody>
      </p:sp>
      <p:sp>
        <p:nvSpPr>
          <p:cNvPr id="6" name="Text Box 136"/>
          <p:cNvSpPr txBox="1">
            <a:spLocks noChangeArrowheads="1"/>
          </p:cNvSpPr>
          <p:nvPr/>
        </p:nvSpPr>
        <p:spPr bwMode="auto">
          <a:xfrm>
            <a:off x="3425995" y="4544375"/>
            <a:ext cx="3460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>
                <a:solidFill>
                  <a:srgbClr val="000000"/>
                </a:solidFill>
                <a:ea typeface="굴림" charset="-127"/>
              </a:rPr>
              <a:t>oil</a:t>
            </a:r>
          </a:p>
        </p:txBody>
      </p:sp>
      <p:sp>
        <p:nvSpPr>
          <p:cNvPr id="7" name="Text Box 136"/>
          <p:cNvSpPr txBox="1">
            <a:spLocks noChangeArrowheads="1"/>
          </p:cNvSpPr>
          <p:nvPr/>
        </p:nvSpPr>
        <p:spPr bwMode="auto">
          <a:xfrm>
            <a:off x="3716648" y="4592984"/>
            <a:ext cx="7985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electricity</a:t>
            </a:r>
          </a:p>
        </p:txBody>
      </p:sp>
      <p:sp>
        <p:nvSpPr>
          <p:cNvPr id="8" name="Line 223"/>
          <p:cNvSpPr>
            <a:spLocks noChangeShapeType="1"/>
          </p:cNvSpPr>
          <p:nvPr/>
        </p:nvSpPr>
        <p:spPr bwMode="auto">
          <a:xfrm>
            <a:off x="3175498" y="5136171"/>
            <a:ext cx="466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9" name="Line 224"/>
          <p:cNvSpPr>
            <a:spLocks noChangeShapeType="1"/>
          </p:cNvSpPr>
          <p:nvPr/>
        </p:nvSpPr>
        <p:spPr bwMode="auto">
          <a:xfrm flipV="1">
            <a:off x="3170737" y="5687779"/>
            <a:ext cx="695516" cy="132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3354557" y="4341175"/>
            <a:ext cx="863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>
                <a:solidFill>
                  <a:srgbClr val="000000"/>
                </a:solidFill>
                <a:ea typeface="굴림" charset="-127"/>
              </a:rPr>
              <a:t>car energy </a:t>
            </a:r>
          </a:p>
        </p:txBody>
      </p:sp>
      <p:sp>
        <p:nvSpPr>
          <p:cNvPr id="11" name="Line 236"/>
          <p:cNvSpPr>
            <a:spLocks noChangeShapeType="1"/>
          </p:cNvSpPr>
          <p:nvPr/>
        </p:nvSpPr>
        <p:spPr bwMode="auto">
          <a:xfrm flipV="1">
            <a:off x="3646162" y="5128181"/>
            <a:ext cx="1075063" cy="57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6154738" y="4251671"/>
            <a:ext cx="9318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>
                <a:solidFill>
                  <a:srgbClr val="000000"/>
                </a:solidFill>
                <a:ea typeface="굴림" charset="-127"/>
              </a:rPr>
              <a:t>car demand </a:t>
            </a:r>
          </a:p>
        </p:txBody>
      </p:sp>
      <p:sp>
        <p:nvSpPr>
          <p:cNvPr id="13" name="Text Box 136"/>
          <p:cNvSpPr txBox="1">
            <a:spLocks noChangeArrowheads="1"/>
          </p:cNvSpPr>
          <p:nvPr/>
        </p:nvSpPr>
        <p:spPr bwMode="auto">
          <a:xfrm>
            <a:off x="5845176" y="4454871"/>
            <a:ext cx="12298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dirty="0" smtClean="0">
                <a:solidFill>
                  <a:srgbClr val="000000"/>
                </a:solidFill>
                <a:ea typeface="굴림" charset="-127"/>
              </a:rPr>
              <a:t>1,000</a:t>
            </a:r>
            <a:r>
              <a:rPr lang="ko-KR" altLang="en-US" dirty="0">
                <a:solidFill>
                  <a:srgbClr val="000000"/>
                </a:solidFill>
                <a:ea typeface="굴림" charset="-127"/>
              </a:rPr>
              <a:t>억 </a:t>
            </a:r>
            <a:r>
              <a:rPr lang="en-US" altLang="ko-KR" dirty="0">
                <a:solidFill>
                  <a:srgbClr val="000000"/>
                </a:solidFill>
                <a:ea typeface="굴림" charset="-127"/>
              </a:rPr>
              <a:t>km/year</a:t>
            </a:r>
          </a:p>
        </p:txBody>
      </p:sp>
      <p:sp>
        <p:nvSpPr>
          <p:cNvPr id="14" name="Line 243"/>
          <p:cNvSpPr>
            <a:spLocks noChangeShapeType="1"/>
          </p:cNvSpPr>
          <p:nvPr/>
        </p:nvSpPr>
        <p:spPr bwMode="auto">
          <a:xfrm>
            <a:off x="6318250" y="4808884"/>
            <a:ext cx="3176" cy="129351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5" name="Line 246"/>
          <p:cNvSpPr>
            <a:spLocks noChangeShapeType="1"/>
          </p:cNvSpPr>
          <p:nvPr/>
        </p:nvSpPr>
        <p:spPr bwMode="auto">
          <a:xfrm>
            <a:off x="5549901" y="5672055"/>
            <a:ext cx="7715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16" name="Text Box 247"/>
          <p:cNvSpPr txBox="1">
            <a:spLocks noChangeArrowheads="1"/>
          </p:cNvSpPr>
          <p:nvPr/>
        </p:nvSpPr>
        <p:spPr bwMode="auto">
          <a:xfrm>
            <a:off x="3245347" y="4920272"/>
            <a:ext cx="260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7" name="Text Box 249"/>
          <p:cNvSpPr txBox="1">
            <a:spLocks noChangeArrowheads="1"/>
          </p:cNvSpPr>
          <p:nvPr/>
        </p:nvSpPr>
        <p:spPr bwMode="auto">
          <a:xfrm>
            <a:off x="3277097" y="5452567"/>
            <a:ext cx="260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8" name="Text Box 253"/>
          <p:cNvSpPr txBox="1">
            <a:spLocks noChangeArrowheads="1"/>
          </p:cNvSpPr>
          <p:nvPr/>
        </p:nvSpPr>
        <p:spPr bwMode="auto">
          <a:xfrm>
            <a:off x="5499101" y="4847196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>
                <a:solidFill>
                  <a:srgbClr val="000000"/>
                </a:solidFill>
              </a:rPr>
              <a:t>15km</a:t>
            </a:r>
          </a:p>
        </p:txBody>
      </p:sp>
      <p:sp>
        <p:nvSpPr>
          <p:cNvPr id="19" name="Text Box 261"/>
          <p:cNvSpPr txBox="1">
            <a:spLocks noChangeArrowheads="1"/>
          </p:cNvSpPr>
          <p:nvPr/>
        </p:nvSpPr>
        <p:spPr bwMode="auto">
          <a:xfrm>
            <a:off x="3970352" y="5456072"/>
            <a:ext cx="6715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>
                <a:solidFill>
                  <a:srgbClr val="000000"/>
                </a:solidFill>
              </a:rPr>
              <a:t>12KWh</a:t>
            </a:r>
          </a:p>
        </p:txBody>
      </p:sp>
      <p:sp>
        <p:nvSpPr>
          <p:cNvPr id="20" name="Text Box 262"/>
          <p:cNvSpPr txBox="1">
            <a:spLocks noChangeArrowheads="1"/>
          </p:cNvSpPr>
          <p:nvPr/>
        </p:nvSpPr>
        <p:spPr bwMode="auto">
          <a:xfrm>
            <a:off x="4057651" y="4878946"/>
            <a:ext cx="5508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>
                <a:solidFill>
                  <a:srgbClr val="000000"/>
                </a:solidFill>
              </a:rPr>
              <a:t>1 liter</a:t>
            </a:r>
          </a:p>
        </p:txBody>
      </p:sp>
      <p:sp>
        <p:nvSpPr>
          <p:cNvPr id="21" name="Text Box 253"/>
          <p:cNvSpPr txBox="1">
            <a:spLocks noChangeArrowheads="1"/>
          </p:cNvSpPr>
          <p:nvPr/>
        </p:nvSpPr>
        <p:spPr bwMode="auto">
          <a:xfrm>
            <a:off x="5512590" y="5400163"/>
            <a:ext cx="841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solidFill>
                  <a:srgbClr val="000000"/>
                </a:solidFill>
              </a:rPr>
              <a:t>100km</a:t>
            </a:r>
          </a:p>
        </p:txBody>
      </p:sp>
      <p:sp>
        <p:nvSpPr>
          <p:cNvPr id="22" name="Line 271"/>
          <p:cNvSpPr>
            <a:spLocks noChangeShapeType="1"/>
          </p:cNvSpPr>
          <p:nvPr/>
        </p:nvSpPr>
        <p:spPr bwMode="auto">
          <a:xfrm>
            <a:off x="5562412" y="5118657"/>
            <a:ext cx="76044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4724014" y="4930112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    </a:t>
            </a:r>
            <a:r>
              <a:rPr lang="en-US" altLang="ko-KR" kern="0" dirty="0">
                <a:solidFill>
                  <a:srgbClr val="000000"/>
                </a:solidFill>
              </a:rPr>
              <a:t>middle car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4611" y="4930096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 smtClean="0">
                <a:solidFill>
                  <a:srgbClr val="FF0000"/>
                </a:solidFill>
              </a:rPr>
              <a:t>3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4719628" y="5492138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    electric car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9571" y="5489122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 smtClean="0">
                <a:solidFill>
                  <a:srgbClr val="FF0000"/>
                </a:solidFill>
              </a:rPr>
              <a:t>4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7" name="Rectangle 7"/>
          <p:cNvSpPr>
            <a:spLocks noChangeArrowheads="1"/>
          </p:cNvSpPr>
          <p:nvPr/>
        </p:nvSpPr>
        <p:spPr bwMode="auto">
          <a:xfrm>
            <a:off x="2336688" y="5540858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electricity</a:t>
            </a:r>
          </a:p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carrier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6631" y="5543861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FF0000"/>
                </a:solidFill>
              </a:rPr>
              <a:t>2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2348467" y="4962449"/>
            <a:ext cx="828675" cy="3429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indent="88900"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0" dirty="0">
                <a:solidFill>
                  <a:srgbClr val="000000"/>
                </a:solidFill>
                <a:ea typeface="굴림" charset="-127"/>
              </a:rPr>
              <a:t>oil carrier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48466" y="4964587"/>
            <a:ext cx="147256" cy="150312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de-DE"/>
            </a:defPPr>
            <a:lvl1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굴림" charset="-127"/>
              </a:defRPr>
            </a:lvl1pPr>
          </a:lstStyle>
          <a:p>
            <a:r>
              <a:rPr lang="en-US" altLang="ko-KR" sz="800" dirty="0">
                <a:solidFill>
                  <a:srgbClr val="FF0000"/>
                </a:solidFill>
              </a:rPr>
              <a:t>1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31" name="Line 243"/>
          <p:cNvSpPr>
            <a:spLocks noChangeShapeType="1"/>
          </p:cNvSpPr>
          <p:nvPr/>
        </p:nvSpPr>
        <p:spPr bwMode="auto">
          <a:xfrm>
            <a:off x="3859398" y="4887891"/>
            <a:ext cx="3304" cy="108579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32" name="Line 243"/>
          <p:cNvSpPr>
            <a:spLocks noChangeShapeType="1"/>
          </p:cNvSpPr>
          <p:nvPr/>
        </p:nvSpPr>
        <p:spPr bwMode="auto">
          <a:xfrm flipH="1">
            <a:off x="3647596" y="4877480"/>
            <a:ext cx="3599" cy="11334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p:sp>
        <p:nvSpPr>
          <p:cNvPr id="33" name="Text Box 8"/>
          <p:cNvSpPr txBox="1">
            <a:spLocks noChangeArrowheads="1"/>
          </p:cNvSpPr>
          <p:nvPr/>
        </p:nvSpPr>
        <p:spPr bwMode="auto">
          <a:xfrm>
            <a:off x="2277047" y="6030457"/>
            <a:ext cx="8984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>
                <a:solidFill>
                  <a:srgbClr val="000000"/>
                </a:solidFill>
                <a:ea typeface="굴림" charset="-127"/>
              </a:rPr>
              <a:t>energy tech</a:t>
            </a:r>
          </a:p>
        </p:txBody>
      </p:sp>
      <p:sp>
        <p:nvSpPr>
          <p:cNvPr id="34" name="Text Box 8"/>
          <p:cNvSpPr txBox="1">
            <a:spLocks noChangeArrowheads="1"/>
          </p:cNvSpPr>
          <p:nvPr/>
        </p:nvSpPr>
        <p:spPr bwMode="auto">
          <a:xfrm>
            <a:off x="4727032" y="5991118"/>
            <a:ext cx="9701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돋움" pitchFamily="50" charset="-127"/>
              </a:defRPr>
            </a:lvl9pPr>
          </a:lstStyle>
          <a:p>
            <a:pPr eaLnBrk="1" latinLnBrk="1" hangingPunct="1"/>
            <a:r>
              <a:rPr lang="en-US" altLang="ko-KR" u="sng" dirty="0">
                <a:solidFill>
                  <a:srgbClr val="000000"/>
                </a:solidFill>
                <a:ea typeface="굴림" charset="-127"/>
              </a:rPr>
              <a:t>demand tech</a:t>
            </a:r>
          </a:p>
        </p:txBody>
      </p:sp>
      <p:sp>
        <p:nvSpPr>
          <p:cNvPr id="35" name="Line 224"/>
          <p:cNvSpPr>
            <a:spLocks noChangeShapeType="1"/>
          </p:cNvSpPr>
          <p:nvPr/>
        </p:nvSpPr>
        <p:spPr bwMode="auto">
          <a:xfrm flipV="1">
            <a:off x="3873237" y="5687779"/>
            <a:ext cx="85379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/>
              <p:cNvSpPr/>
              <p:nvPr/>
            </p:nvSpPr>
            <p:spPr>
              <a:xfrm>
                <a:off x="1720095" y="6349646"/>
                <a:ext cx="2156673" cy="2797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4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직사각형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095" y="6349646"/>
                <a:ext cx="2156673" cy="279757"/>
              </a:xfrm>
              <a:prstGeom prst="rect">
                <a:avLst/>
              </a:prstGeom>
              <a:blipFill rotWithShape="0">
                <a:blip r:embed="rId2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/>
              <p:cNvSpPr/>
              <p:nvPr/>
            </p:nvSpPr>
            <p:spPr>
              <a:xfrm>
                <a:off x="4332072" y="6388933"/>
                <a:ext cx="2021893" cy="2810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4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직사각형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072" y="6388933"/>
                <a:ext cx="2021893" cy="281039"/>
              </a:xfrm>
              <a:prstGeom prst="rect">
                <a:avLst/>
              </a:prstGeom>
              <a:blipFill rotWithShape="0">
                <a:blip r:embed="rId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340860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err="1"/>
              <a:t>수리적기반</a:t>
            </a:r>
            <a:r>
              <a:rPr lang="ko-KR" altLang="en-US" b="0" dirty="0"/>
              <a:t> </a:t>
            </a:r>
            <a:r>
              <a:rPr lang="en-US" altLang="ko-KR" b="0" dirty="0"/>
              <a:t>: </a:t>
            </a:r>
            <a:r>
              <a:rPr lang="ko-KR" altLang="en-US" b="0" dirty="0" smtClean="0"/>
              <a:t>최적해 및 </a:t>
            </a:r>
            <a:r>
              <a:rPr lang="ko-KR" altLang="en-US" b="0" dirty="0" err="1" smtClean="0"/>
              <a:t>제약식의</a:t>
            </a:r>
            <a:r>
              <a:rPr lang="ko-KR" altLang="en-US" b="0" dirty="0" smtClean="0"/>
              <a:t> 특성 분석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 smtClean="0"/>
                  <a:t>Polyhedral theory</a:t>
                </a:r>
                <a:r>
                  <a:rPr lang="ko-KR" altLang="en-US" dirty="0" smtClean="0"/>
                  <a:t>를 이용한 효과적인 </a:t>
                </a:r>
                <a:r>
                  <a:rPr lang="ko-KR" altLang="en-US" dirty="0" err="1" smtClean="0"/>
                  <a:t>제약식의</a:t>
                </a:r>
                <a:r>
                  <a:rPr lang="ko-KR" altLang="en-US" dirty="0" smtClean="0"/>
                  <a:t> 분류</a:t>
                </a:r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dimension(rank)</a:t>
                </a:r>
                <a:r>
                  <a:rPr lang="ko-KR" altLang="en-US" dirty="0" smtClean="0"/>
                  <a:t>을 이용한 문제 및 </a:t>
                </a:r>
                <a:r>
                  <a:rPr lang="ko-KR" altLang="en-US" dirty="0" err="1" smtClean="0"/>
                  <a:t>제약식의</a:t>
                </a:r>
                <a:r>
                  <a:rPr lang="ko-KR" altLang="en-US" dirty="0" smtClean="0"/>
                  <a:t> 특성 분석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ko-KR" dirty="0" smtClean="0"/>
                  <a:t> : a polyhedron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dirty="0" smtClean="0"/>
                  <a:t> is a valid inequality for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ko-KR" dirty="0" smtClean="0"/>
                  <a:t> if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dirty="0" smtClean="0"/>
                  <a:t> for all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A face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 smtClean="0"/>
                  <a:t>of a polyhedron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ko-KR" dirty="0" smtClean="0"/>
                  <a:t>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altLang="ko-KR" dirty="0" smtClean="0"/>
                  <a:t> is some valid inequality of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dim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 smtClean="0"/>
                  <a:t> 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 smtClean="0"/>
                  <a:t>minus the rank of the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sup>
                    </m:sSup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A face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dirty="0" smtClean="0"/>
                  <a:t> of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ko-KR" dirty="0" smtClean="0"/>
                  <a:t> is a facet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dim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dim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ko-KR" b="0" dirty="0" smtClean="0">
                  <a:ea typeface="Cambria Math" panose="02040503050406030204" pitchFamily="18" charset="0"/>
                </a:endParaRPr>
              </a:p>
              <a:p>
                <a:r>
                  <a:rPr lang="en-US" altLang="ko-KR" b="0" dirty="0" smtClean="0">
                    <a:ea typeface="Cambria Math" panose="02040503050406030204" pitchFamily="18" charset="0"/>
                  </a:rPr>
                  <a:t>(Basic LP)</a:t>
                </a:r>
                <a:r>
                  <a:rPr lang="ko-KR" altLang="en-US" b="0" dirty="0" smtClean="0">
                    <a:ea typeface="Cambria Math" panose="02040503050406030204" pitchFamily="18" charset="0"/>
                  </a:rPr>
                  <a:t>의 특성분석</a:t>
                </a:r>
                <a:endParaRPr lang="en-US" altLang="ko-KR" b="0" dirty="0" smtClean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altLang="ko-KR" dirty="0">
                    <a:ea typeface="Cambria Math" panose="02040503050406030204" pitchFamily="18" charset="0"/>
                  </a:rPr>
                  <a:t>(Basic LP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)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의 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dimension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을 구함</a:t>
                </a:r>
                <a:endParaRPr lang="en-US" altLang="ko-KR" dirty="0" smtClean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altLang="ko-KR" dirty="0">
                    <a:ea typeface="Cambria Math" panose="02040503050406030204" pitchFamily="18" charset="0"/>
                  </a:rPr>
                  <a:t>(Basic LP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)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에 대해 제시된 </a:t>
                </a:r>
                <a:r>
                  <a:rPr lang="ko-KR" altLang="en-US" dirty="0" err="1" smtClean="0">
                    <a:ea typeface="Cambria Math" panose="02040503050406030204" pitchFamily="18" charset="0"/>
                  </a:rPr>
                  <a:t>제약식들의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 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facet 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여부 확인</a:t>
                </a:r>
                <a:endParaRPr lang="en-US" altLang="ko-KR" b="0" dirty="0" smtClean="0">
                  <a:ea typeface="Cambria Math" panose="02040503050406030204" pitchFamily="18" charset="0"/>
                </a:endParaRPr>
              </a:p>
              <a:p>
                <a:r>
                  <a:rPr lang="en-US" altLang="ko-KR" b="0" dirty="0" smtClean="0">
                    <a:ea typeface="Cambria Math" panose="02040503050406030204" pitchFamily="18" charset="0"/>
                  </a:rPr>
                  <a:t>Algorithmic Approach</a:t>
                </a:r>
              </a:p>
              <a:p>
                <a:pPr lvl="1"/>
                <a:r>
                  <a:rPr lang="en-US" altLang="ko-KR" dirty="0" err="1" smtClean="0">
                    <a:ea typeface="Cambria Math" panose="02040503050406030204" pitchFamily="18" charset="0"/>
                  </a:rPr>
                  <a:t>Initializatin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 :</a:t>
                </a:r>
              </a:p>
              <a:p>
                <a:pPr lvl="2"/>
                <a:r>
                  <a:rPr lang="en-US" altLang="ko-KR" dirty="0" err="1" smtClean="0">
                    <a:ea typeface="Cambria Math" panose="02040503050406030204" pitchFamily="18" charset="0"/>
                  </a:rPr>
                  <a:t>i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=0, 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처음의 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LP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를 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(Basic LP(</a:t>
                </a:r>
                <a:r>
                  <a:rPr lang="en-US" altLang="ko-KR" dirty="0" err="1" smtClean="0">
                    <a:ea typeface="Cambria Math" panose="02040503050406030204" pitchFamily="18" charset="0"/>
                  </a:rPr>
                  <a:t>i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))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가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 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주어짐</a:t>
                </a:r>
                <a:endParaRPr lang="en-US" altLang="ko-KR" dirty="0" smtClean="0">
                  <a:ea typeface="Cambria Math" panose="02040503050406030204" pitchFamily="18" charset="0"/>
                </a:endParaRPr>
              </a:p>
              <a:p>
                <a:pPr lvl="2"/>
                <a:r>
                  <a:rPr lang="ko-KR" altLang="en-US" dirty="0" smtClean="0">
                    <a:ea typeface="Cambria Math" panose="02040503050406030204" pitchFamily="18" charset="0"/>
                  </a:rPr>
                  <a:t>수요를 만족시키는 수요기술은 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k=1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개만 채택됨</a:t>
                </a:r>
                <a:endParaRPr lang="en-US" altLang="ko-KR" dirty="0" smtClean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altLang="ko-KR" dirty="0" smtClean="0">
                    <a:ea typeface="Cambria Math" panose="02040503050406030204" pitchFamily="18" charset="0"/>
                  </a:rPr>
                  <a:t>Loop :</a:t>
                </a:r>
              </a:p>
              <a:p>
                <a:pPr lvl="2"/>
                <a:r>
                  <a:rPr lang="en-US" altLang="ko-KR" b="0" dirty="0" smtClean="0">
                    <a:ea typeface="Cambria Math" panose="02040503050406030204" pitchFamily="18" charset="0"/>
                  </a:rPr>
                  <a:t>facet</a:t>
                </a:r>
                <a:r>
                  <a:rPr lang="ko-KR" altLang="en-US" b="0" dirty="0" smtClean="0">
                    <a:ea typeface="Cambria Math" panose="02040503050406030204" pitchFamily="18" charset="0"/>
                  </a:rPr>
                  <a:t>을 찾아서 </a:t>
                </a:r>
                <a:r>
                  <a:rPr lang="en-US" altLang="ko-KR" dirty="0">
                    <a:ea typeface="Cambria Math" panose="02040503050406030204" pitchFamily="18" charset="0"/>
                  </a:rPr>
                  <a:t>(Basic 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LP(</a:t>
                </a:r>
                <a:r>
                  <a:rPr lang="en-US" altLang="ko-KR" dirty="0" err="1" smtClean="0">
                    <a:ea typeface="Cambria Math" panose="02040503050406030204" pitchFamily="18" charset="0"/>
                  </a:rPr>
                  <a:t>i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))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에 추가한 문제를 </a:t>
                </a:r>
                <a:r>
                  <a:rPr lang="en-US" altLang="ko-KR" dirty="0">
                    <a:ea typeface="Cambria Math" panose="02040503050406030204" pitchFamily="18" charset="0"/>
                  </a:rPr>
                  <a:t>(Basic 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LP(i+1))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이라 하자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.</a:t>
                </a:r>
              </a:p>
              <a:p>
                <a:pPr lvl="2"/>
                <a:r>
                  <a:rPr lang="ko-KR" altLang="en-US" dirty="0" smtClean="0">
                    <a:ea typeface="Cambria Math" panose="02040503050406030204" pitchFamily="18" charset="0"/>
                  </a:rPr>
                  <a:t>수요를 </a:t>
                </a:r>
                <a:r>
                  <a:rPr lang="ko-KR" altLang="en-US" dirty="0">
                    <a:ea typeface="Cambria Math" panose="02040503050406030204" pitchFamily="18" charset="0"/>
                  </a:rPr>
                  <a:t>만족시키는 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수요기술이 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k </a:t>
                </a:r>
                <a:r>
                  <a:rPr lang="en-US" altLang="ko-KR" dirty="0" smtClean="0">
                    <a:ea typeface="Cambria Math" panose="02040503050406030204" pitchFamily="18" charset="0"/>
                    <a:sym typeface="Wingdings" panose="05000000000000000000" pitchFamily="2" charset="2"/>
                  </a:rPr>
                  <a:t> 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k+1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개로 증가하면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, 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이 </a:t>
                </a:r>
                <a:r>
                  <a:rPr lang="ko-KR" altLang="en-US" dirty="0" err="1" smtClean="0">
                    <a:ea typeface="Cambria Math" panose="02040503050406030204" pitchFamily="18" charset="0"/>
                  </a:rPr>
                  <a:t>제약식을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 계속 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t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에 대해 추가함</a:t>
                </a:r>
                <a:endParaRPr lang="en-US" altLang="ko-KR" dirty="0" smtClean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altLang="ko-KR" dirty="0" smtClean="0">
                    <a:ea typeface="Cambria Math" panose="02040503050406030204" pitchFamily="18" charset="0"/>
                  </a:rPr>
                  <a:t>Stopping : </a:t>
                </a:r>
              </a:p>
              <a:p>
                <a:pPr lvl="2"/>
                <a:r>
                  <a:rPr lang="en-US" altLang="ko-KR" dirty="0" err="1" smtClean="0">
                    <a:ea typeface="Cambria Math" panose="02040503050406030204" pitchFamily="18" charset="0"/>
                  </a:rPr>
                  <a:t>i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 </a:t>
                </a:r>
                <a:r>
                  <a:rPr lang="en-US" altLang="ko-KR" dirty="0" smtClean="0">
                    <a:ea typeface="Cambria Math" panose="02040503050406030204" pitchFamily="18" charset="0"/>
                    <a:sym typeface="Wingdings" panose="05000000000000000000" pitchFamily="2" charset="2"/>
                  </a:rPr>
                  <a:t> 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i+1 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로 갱신하고 이를 </a:t>
                </a:r>
                <a:r>
                  <a:rPr lang="en-US" altLang="ko-KR" dirty="0" smtClean="0">
                    <a:ea typeface="Cambria Math" panose="02040503050406030204" pitchFamily="18" charset="0"/>
                  </a:rPr>
                  <a:t>k=k*</a:t>
                </a:r>
                <a:r>
                  <a:rPr lang="ko-KR" altLang="en-US" dirty="0" smtClean="0">
                    <a:ea typeface="Cambria Math" panose="02040503050406030204" pitchFamily="18" charset="0"/>
                  </a:rPr>
                  <a:t>가 될 때까지 반복함</a:t>
                </a:r>
                <a:endParaRPr lang="en-US" altLang="ko-KR" dirty="0" smtClean="0">
                  <a:ea typeface="Cambria Math" panose="02040503050406030204" pitchFamily="18" charset="0"/>
                </a:endParaRPr>
              </a:p>
              <a:p>
                <a:pPr lvl="1"/>
                <a:endParaRPr lang="en-US" altLang="ko-KR" dirty="0" smtClean="0">
                  <a:ea typeface="Cambria Math" panose="02040503050406030204" pitchFamily="18" charset="0"/>
                </a:endParaRPr>
              </a:p>
              <a:p>
                <a:pPr lvl="1"/>
                <a:endParaRPr lang="en-US" altLang="ko-KR" dirty="0" smtClean="0">
                  <a:ea typeface="Cambria Math" panose="02040503050406030204" pitchFamily="18" charset="0"/>
                </a:endParaRPr>
              </a:p>
              <a:p>
                <a:pPr lvl="2"/>
                <a:endParaRPr lang="en-US" altLang="ko-KR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1" t="-469" b="-37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100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626462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부문별 특성조사 및 분석 </a:t>
            </a:r>
            <a:r>
              <a:rPr lang="en-US" altLang="ko-KR" b="0" dirty="0" smtClean="0"/>
              <a:t>: </a:t>
            </a:r>
            <a:r>
              <a:rPr lang="ko-KR" altLang="en-US" b="0" dirty="0" smtClean="0"/>
              <a:t>전력부문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101</a:t>
            </a:fld>
            <a:endParaRPr lang="ko-KR" altLang="en-US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193" name="_x153914024" descr="EMB000026885ad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21905" y="1798982"/>
            <a:ext cx="6524415" cy="3836505"/>
          </a:xfrm>
          <a:prstGeom prst="rect">
            <a:avLst/>
          </a:prstGeom>
          <a:noFill/>
        </p:spPr>
      </p:pic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74564" y="926617"/>
            <a:ext cx="8534400" cy="519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lnSpc>
                <a:spcPct val="120000"/>
              </a:lnSpc>
              <a:spcAft>
                <a:spcPct val="20000"/>
              </a:spcAft>
              <a:buClr>
                <a:schemeClr val="tx2"/>
              </a:buClr>
              <a:buSzPct val="75000"/>
              <a:buFont typeface="Monotype Sorts" pitchFamily="2" charset="2"/>
              <a:buChar char="q"/>
            </a:pPr>
            <a:r>
              <a:rPr lang="ko-KR" altLang="en-US" sz="1800" b="1" kern="0" dirty="0" smtClean="0">
                <a:latin typeface="+mn-lt"/>
                <a:ea typeface="+mn-ea"/>
              </a:rPr>
              <a:t>부문 특성 조사 및 분석의 목표</a:t>
            </a:r>
          </a:p>
        </p:txBody>
      </p:sp>
    </p:spTree>
    <p:extLst>
      <p:ext uri="{BB962C8B-B14F-4D97-AF65-F5344CB8AC3E}">
        <p14:creationId xmlns:p14="http://schemas.microsoft.com/office/powerpoint/2010/main" val="283677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부문별 특성조사 및 분석 </a:t>
            </a:r>
            <a:r>
              <a:rPr lang="en-US" altLang="ko-KR" b="0" dirty="0" smtClean="0"/>
              <a:t>: </a:t>
            </a:r>
            <a:r>
              <a:rPr lang="ko-KR" altLang="en-US" b="0" dirty="0" smtClean="0"/>
              <a:t>전력부문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102</a:t>
            </a:fld>
            <a:endParaRPr lang="ko-KR" altLang="en-US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74564" y="926617"/>
            <a:ext cx="8534400" cy="519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lnSpc>
                <a:spcPct val="120000"/>
              </a:lnSpc>
              <a:spcAft>
                <a:spcPct val="20000"/>
              </a:spcAft>
              <a:buClr>
                <a:schemeClr val="tx2"/>
              </a:buClr>
              <a:buSzPct val="75000"/>
              <a:buFont typeface="Monotype Sorts" pitchFamily="2" charset="2"/>
              <a:buChar char="q"/>
            </a:pPr>
            <a:r>
              <a:rPr lang="ko-KR" altLang="en-US" sz="1800" b="1" kern="0" dirty="0" smtClean="0">
                <a:latin typeface="+mn-lt"/>
                <a:ea typeface="+mn-ea"/>
              </a:rPr>
              <a:t>전력 부문 특성 조사 및 분석의 연구 내용</a:t>
            </a:r>
            <a:endParaRPr lang="en-US" altLang="ko-KR" sz="1800" b="1" kern="0" dirty="0" smtClean="0">
              <a:latin typeface="+mn-lt"/>
              <a:ea typeface="+mn-ea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국내외 전력부문 기존 상향식 연구 분석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(Korea MESSAGE, TIMES, EPA MARKAL, UK MARKAL)</a:t>
            </a:r>
            <a:endParaRPr lang="ko-KR" altLang="en-US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국내 전력부문 수요 및 공급기술 환경 분석 </a:t>
            </a: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전력부문 고유 특성 분석 </a:t>
            </a: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전력부문 상향식 모형을 위한 상향식 시스템 요구 기능 도출</a:t>
            </a:r>
          </a:p>
          <a:p>
            <a:pPr marL="742950" lvl="1" indent="-285750">
              <a:lnSpc>
                <a:spcPct val="120000"/>
              </a:lnSpc>
              <a:spcAft>
                <a:spcPct val="20000"/>
              </a:spcAft>
              <a:buClr>
                <a:schemeClr val="tx2"/>
              </a:buClr>
              <a:buSzPct val="75000"/>
              <a:buFont typeface="Monotype Sorts" pitchFamily="2" charset="2"/>
              <a:buChar char="q"/>
            </a:pPr>
            <a:endParaRPr lang="ko-KR" altLang="en-US" sz="1800" b="1" kern="0" dirty="0" smtClean="0">
              <a:latin typeface="+mn-lt"/>
              <a:ea typeface="+mn-ea"/>
            </a:endParaRPr>
          </a:p>
        </p:txBody>
      </p:sp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15713" name="_x153910568" descr="EMB000026885ad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7157" y="3220279"/>
            <a:ext cx="4591878" cy="26445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13625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부문별 특성조사 및 분석 </a:t>
            </a:r>
            <a:r>
              <a:rPr lang="en-US" altLang="ko-KR" b="0" dirty="0" smtClean="0"/>
              <a:t>: </a:t>
            </a:r>
            <a:r>
              <a:rPr lang="ko-KR" altLang="en-US" b="0" dirty="0" smtClean="0"/>
              <a:t>전력부문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103</a:t>
            </a:fld>
            <a:endParaRPr lang="ko-KR" altLang="en-US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74564" y="926617"/>
            <a:ext cx="8534400" cy="519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lnSpc>
                <a:spcPct val="120000"/>
              </a:lnSpc>
              <a:spcAft>
                <a:spcPct val="20000"/>
              </a:spcAft>
              <a:buClr>
                <a:schemeClr val="tx2"/>
              </a:buClr>
              <a:buSzPct val="75000"/>
              <a:buFont typeface="Monotype Sorts" pitchFamily="2" charset="2"/>
              <a:buChar char="q"/>
            </a:pPr>
            <a:r>
              <a:rPr lang="ko-KR" altLang="en-US" sz="1800" b="1" kern="0" dirty="0" smtClean="0">
                <a:latin typeface="+mn-lt"/>
                <a:ea typeface="+mn-ea"/>
              </a:rPr>
              <a:t>국내외 전력부문 기존 상향식 연구 분석</a:t>
            </a:r>
            <a:endParaRPr lang="en-US" altLang="ko-KR" sz="1800" b="1" kern="0" dirty="0" smtClean="0">
              <a:latin typeface="+mn-lt"/>
              <a:ea typeface="+mn-ea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분석 범위 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: RES,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기술 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DB,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수요 계절성 반영 방법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,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수요의 가격 탄력성 반영 방법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,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모형에서 사용하는 주요 기능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(multi-mode, storage),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송배전망의 고려 방법 등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분석 대상 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: Korea MESSAGE, UK MARKAL, EPA MARKAL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등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전력부문에 특화된 모형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(WASP, </a:t>
            </a:r>
            <a:r>
              <a:rPr lang="en-US" altLang="ko-KR" sz="1600" dirty="0" err="1" smtClean="0">
                <a:latin typeface="+mn-lt"/>
                <a:ea typeface="바탕체" pitchFamily="17" charset="-127"/>
              </a:rPr>
              <a:t>ReEDS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등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)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과의 개념적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,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기능적 차이점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</p:txBody>
      </p:sp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673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16737" name="_x154935344" descr="EMB000026885ae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983" y="2733262"/>
            <a:ext cx="4357546" cy="2912165"/>
          </a:xfrm>
          <a:prstGeom prst="rect">
            <a:avLst/>
          </a:prstGeom>
          <a:noFill/>
        </p:spPr>
      </p:pic>
      <p:sp>
        <p:nvSpPr>
          <p:cNvPr id="11674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16739" name="_x154935424" descr="EMB000026885ae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3427" y="3411932"/>
            <a:ext cx="4421587" cy="1885626"/>
          </a:xfrm>
          <a:prstGeom prst="rect">
            <a:avLst/>
          </a:prstGeom>
          <a:noFill/>
        </p:spPr>
      </p:pic>
      <p:sp>
        <p:nvSpPr>
          <p:cNvPr id="116742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302026" y="5814395"/>
            <a:ext cx="24449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Korea MESSAGE</a:t>
            </a:r>
            <a:r>
              <a:rPr lang="ko-KR" altLang="en-US" dirty="0" smtClean="0"/>
              <a:t>의 전력부문 </a:t>
            </a:r>
            <a:r>
              <a:rPr lang="en-US" altLang="ko-KR" dirty="0" smtClean="0"/>
              <a:t>RES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993303" y="5854151"/>
            <a:ext cx="20842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UK MARKAL</a:t>
            </a:r>
            <a:r>
              <a:rPr lang="ko-KR" altLang="en-US" dirty="0" smtClean="0"/>
              <a:t>의 원자력 </a:t>
            </a:r>
            <a:r>
              <a:rPr lang="en-US" altLang="ko-KR" dirty="0" smtClean="0"/>
              <a:t>RES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906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부문별 특성조사 및 분석 </a:t>
            </a:r>
            <a:r>
              <a:rPr lang="en-US" altLang="ko-KR" b="0" dirty="0" smtClean="0"/>
              <a:t>: </a:t>
            </a:r>
            <a:r>
              <a:rPr lang="ko-KR" altLang="en-US" b="0" dirty="0" smtClean="0"/>
              <a:t>전력부문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104</a:t>
            </a:fld>
            <a:endParaRPr lang="ko-KR" altLang="en-US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74564" y="926617"/>
            <a:ext cx="8534400" cy="519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lnSpc>
                <a:spcPct val="120000"/>
              </a:lnSpc>
              <a:spcAft>
                <a:spcPct val="20000"/>
              </a:spcAft>
              <a:buClr>
                <a:schemeClr val="tx2"/>
              </a:buClr>
              <a:buSzPct val="75000"/>
              <a:buFont typeface="Monotype Sorts" pitchFamily="2" charset="2"/>
              <a:buChar char="q"/>
            </a:pPr>
            <a:r>
              <a:rPr lang="ko-KR" altLang="en-US" sz="1800" b="1" kern="0" dirty="0" smtClean="0">
                <a:latin typeface="+mn-lt"/>
                <a:ea typeface="+mn-ea"/>
              </a:rPr>
              <a:t>국내 전력부문 수요 및 공급기술 환경 분석</a:t>
            </a:r>
            <a:endParaRPr lang="en-US" altLang="ko-KR" sz="1800" b="1" kern="0" dirty="0" smtClean="0">
              <a:latin typeface="+mn-lt"/>
              <a:ea typeface="+mn-ea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전력수급 계획 수립 과정 분석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ea typeface="바탕체" pitchFamily="17" charset="-127"/>
              </a:rPr>
              <a:t>전력 수요 특성 분석</a:t>
            </a:r>
            <a:endParaRPr lang="en-US" altLang="ko-KR" sz="1600" dirty="0" smtClean="0">
              <a:ea typeface="바탕체" pitchFamily="17" charset="-127"/>
            </a:endParaRP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주요 평가 요소 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: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공급신뢰도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(LOLP),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비용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등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전력수급 계획에 적용되는 이론적 배경 도출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공급 기술 환경 분석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발전설비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(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화력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,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원자력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,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수력 등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)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의 현황 및 국내 특성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송배전망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err="1" smtClean="0">
                <a:latin typeface="+mn-lt"/>
                <a:ea typeface="바탕체" pitchFamily="17" charset="-127"/>
              </a:rPr>
              <a:t>신재생에너지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 공급원 특성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: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공급곡선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,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공급용량 등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전력공급 관련 정책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: RPS(Renewable Portfolio Standard), RECs(Renewable Energy Certificates)</a:t>
            </a: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ko-KR" altLang="en-US" sz="1600" dirty="0" smtClean="0">
              <a:latin typeface="+mn-lt"/>
              <a:ea typeface="바탕체" pitchFamily="17" charset="-127"/>
            </a:endParaRPr>
          </a:p>
          <a:p>
            <a:pPr marL="742950" lvl="1" indent="-285750">
              <a:lnSpc>
                <a:spcPct val="120000"/>
              </a:lnSpc>
              <a:spcAft>
                <a:spcPct val="20000"/>
              </a:spcAft>
              <a:buClr>
                <a:schemeClr val="tx2"/>
              </a:buClr>
              <a:buSzPct val="75000"/>
              <a:buFont typeface="Monotype Sorts" pitchFamily="2" charset="2"/>
              <a:buChar char="q"/>
            </a:pPr>
            <a:endParaRPr lang="ko-KR" altLang="en-US" sz="1800" b="1" kern="0" dirty="0" smtClean="0">
              <a:latin typeface="+mn-lt"/>
              <a:ea typeface="+mn-ea"/>
            </a:endParaRPr>
          </a:p>
        </p:txBody>
      </p:sp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06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부문별 특성조사 및 분석 </a:t>
            </a:r>
            <a:r>
              <a:rPr lang="en-US" altLang="ko-KR" b="0" dirty="0" smtClean="0"/>
              <a:t>: </a:t>
            </a:r>
            <a:r>
              <a:rPr lang="ko-KR" altLang="en-US" b="0" dirty="0" smtClean="0"/>
              <a:t>전력부문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105</a:t>
            </a:fld>
            <a:endParaRPr lang="ko-KR" altLang="en-US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14108" y="926616"/>
            <a:ext cx="8534400" cy="519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285750" lvl="1" indent="-285750">
              <a:lnSpc>
                <a:spcPct val="120000"/>
              </a:lnSpc>
              <a:spcAft>
                <a:spcPct val="20000"/>
              </a:spcAft>
              <a:buClr>
                <a:schemeClr val="tx2"/>
              </a:buClr>
              <a:buSzPct val="75000"/>
              <a:buFont typeface="Monotype Sorts" pitchFamily="2" charset="2"/>
              <a:buChar char="q"/>
            </a:pPr>
            <a:r>
              <a:rPr lang="ko-KR" altLang="en-US" sz="1800" b="1" kern="0" dirty="0" smtClean="0">
                <a:latin typeface="+mn-lt"/>
                <a:ea typeface="+mn-ea"/>
              </a:rPr>
              <a:t>상향식 모형을 위한 상향식 시스템 요구 기능 도출</a:t>
            </a: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수요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분할의 방법론 개발 </a:t>
            </a:r>
            <a:r>
              <a:rPr lang="en-US" altLang="ko-KR" sz="1600" dirty="0" smtClean="0">
                <a:latin typeface="+mn-lt"/>
                <a:ea typeface="바탕체" pitchFamily="17" charset="-127"/>
              </a:rPr>
              <a:t>: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수요분할에 대한 수리적 분석결과를 바탕으로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전력부문 특화기능 구현 방법론 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en-US" altLang="ko-KR" sz="1600" dirty="0" smtClean="0">
                <a:latin typeface="+mn-lt"/>
                <a:ea typeface="바탕체" pitchFamily="17" charset="-127"/>
              </a:rPr>
              <a:t>Demand Seasonality</a:t>
            </a: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en-US" altLang="ko-KR" sz="1600" dirty="0" smtClean="0">
                <a:latin typeface="+mn-lt"/>
                <a:ea typeface="바탕체" pitchFamily="17" charset="-127"/>
              </a:rPr>
              <a:t>Multi-mode</a:t>
            </a: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en-US" altLang="ko-KR" sz="1600" dirty="0" smtClean="0">
                <a:latin typeface="+mn-lt"/>
                <a:ea typeface="바탕체" pitchFamily="17" charset="-127"/>
              </a:rPr>
              <a:t>Storage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기능 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송배전망과의 연계 방안 도출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수요의 가격탄력성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국내 특성 반영 방법론 도출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전력수급 계획의 반영 방법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발전시설 별 특성 모형화 방법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ko-KR" altLang="en-US" sz="1600" dirty="0" smtClean="0">
              <a:latin typeface="+mn-lt"/>
              <a:ea typeface="바탕체" pitchFamily="17" charset="-127"/>
            </a:endParaRPr>
          </a:p>
          <a:p>
            <a:pPr marL="742950" lvl="1" indent="-285750">
              <a:lnSpc>
                <a:spcPct val="120000"/>
              </a:lnSpc>
              <a:spcAft>
                <a:spcPct val="20000"/>
              </a:spcAft>
              <a:buClr>
                <a:schemeClr val="tx2"/>
              </a:buClr>
              <a:buSzPct val="75000"/>
              <a:buFont typeface="Monotype Sorts" pitchFamily="2" charset="2"/>
              <a:buChar char="q"/>
            </a:pPr>
            <a:endParaRPr lang="ko-KR" altLang="en-US" sz="1800" b="1" kern="0" dirty="0" smtClean="0">
              <a:latin typeface="+mn-lt"/>
              <a:ea typeface="+mn-ea"/>
            </a:endParaRPr>
          </a:p>
        </p:txBody>
      </p:sp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02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부문별 특성조사 및 분석 </a:t>
            </a:r>
            <a:r>
              <a:rPr lang="en-US" altLang="ko-KR" b="0" dirty="0" smtClean="0"/>
              <a:t>: </a:t>
            </a:r>
            <a:r>
              <a:rPr lang="ko-KR" altLang="en-US" b="0" dirty="0" smtClean="0"/>
              <a:t>전력부문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106</a:t>
            </a:fld>
            <a:endParaRPr lang="ko-KR" altLang="en-US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14108" y="926617"/>
            <a:ext cx="8534400" cy="607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285750" lvl="1" indent="-285750">
              <a:lnSpc>
                <a:spcPct val="120000"/>
              </a:lnSpc>
              <a:spcAft>
                <a:spcPct val="20000"/>
              </a:spcAft>
              <a:buClr>
                <a:schemeClr val="tx2"/>
              </a:buClr>
              <a:buSzPct val="75000"/>
              <a:buFont typeface="Monotype Sorts" pitchFamily="2" charset="2"/>
              <a:buChar char="q"/>
            </a:pPr>
            <a:r>
              <a:rPr lang="ko-KR" altLang="en-US" sz="1800" b="1" kern="0" dirty="0" smtClean="0">
                <a:latin typeface="+mn-lt"/>
                <a:ea typeface="+mn-ea"/>
              </a:rPr>
              <a:t>상향식 모형을 위한 상향식 시스템 요구 기능 도출</a:t>
            </a: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143000" lvl="2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ko-KR" altLang="en-US" sz="1600" dirty="0" smtClean="0">
              <a:latin typeface="+mn-lt"/>
              <a:ea typeface="바탕체" pitchFamily="17" charset="-127"/>
            </a:endParaRPr>
          </a:p>
          <a:p>
            <a:pPr marL="742950" lvl="1" indent="-285750">
              <a:lnSpc>
                <a:spcPct val="120000"/>
              </a:lnSpc>
              <a:spcAft>
                <a:spcPct val="20000"/>
              </a:spcAft>
              <a:buClr>
                <a:schemeClr val="tx2"/>
              </a:buClr>
              <a:buSzPct val="75000"/>
              <a:buFont typeface="Monotype Sorts" pitchFamily="2" charset="2"/>
              <a:buChar char="q"/>
            </a:pPr>
            <a:endParaRPr lang="ko-KR" altLang="en-US" sz="1800" b="1" kern="0" dirty="0" smtClean="0">
              <a:latin typeface="+mn-lt"/>
              <a:ea typeface="+mn-ea"/>
            </a:endParaRPr>
          </a:p>
        </p:txBody>
      </p:sp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5295584" y="1964826"/>
            <a:ext cx="4141250" cy="13224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Technologies Characteristics Factors</a:t>
            </a:r>
          </a:p>
          <a:p>
            <a:pPr algn="ctr"/>
            <a:endParaRPr lang="en-US" altLang="ko-KR" b="1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Cost: Capital Cost, Fixed and variable operation cost, Fuel cost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Performance or Efficiency measures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Construction, Operation, Lifetime, Capacity Transfer</a:t>
            </a:r>
          </a:p>
          <a:p>
            <a:pPr algn="ctr"/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5323923" y="3500162"/>
            <a:ext cx="4097797" cy="16915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Constraints</a:t>
            </a:r>
          </a:p>
          <a:p>
            <a:r>
              <a:rPr lang="en-US" altLang="ko-KR" dirty="0" smtClean="0"/>
              <a:t>Load constraints</a:t>
            </a:r>
          </a:p>
          <a:p>
            <a:r>
              <a:rPr lang="en-US" altLang="ko-KR" dirty="0" smtClean="0"/>
              <a:t>Planning reserve constraints</a:t>
            </a:r>
          </a:p>
          <a:p>
            <a:r>
              <a:rPr lang="en-US" altLang="ko-KR" dirty="0" smtClean="0"/>
              <a:t>Operating reserve constraints</a:t>
            </a:r>
          </a:p>
          <a:p>
            <a:r>
              <a:rPr lang="en-US" altLang="ko-KR" dirty="0" smtClean="0"/>
              <a:t>Transmission constraints</a:t>
            </a:r>
          </a:p>
          <a:p>
            <a:r>
              <a:rPr lang="en-US" altLang="ko-KR" dirty="0" smtClean="0"/>
              <a:t>Resource constraints</a:t>
            </a:r>
          </a:p>
          <a:p>
            <a:r>
              <a:rPr lang="en-US" altLang="ko-KR" dirty="0" smtClean="0"/>
              <a:t>Emission constraints</a:t>
            </a:r>
          </a:p>
          <a:p>
            <a:r>
              <a:rPr lang="en-US" altLang="ko-KR" dirty="0" smtClean="0"/>
              <a:t>Renewable portfolio standards(RPSs) Constraints</a:t>
            </a:r>
            <a:endParaRPr lang="ko-KR" altLang="en-US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1224237" y="1670103"/>
            <a:ext cx="2584502" cy="5516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수요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분할의 방법론 개발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1224237" y="2415728"/>
            <a:ext cx="2584502" cy="19723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/>
            <a:r>
              <a:rPr lang="ko-KR" altLang="en-US" b="1" u="sng" dirty="0"/>
              <a:t>전력부문 특화기능 구현 </a:t>
            </a:r>
            <a:r>
              <a:rPr lang="ko-KR" altLang="en-US" b="1" u="sng" dirty="0" smtClean="0"/>
              <a:t>방법론</a:t>
            </a:r>
            <a:endParaRPr lang="en-US" altLang="ko-KR" b="1" u="sng" dirty="0" smtClean="0"/>
          </a:p>
          <a:p>
            <a:pPr marL="0" lvl="1"/>
            <a:r>
              <a:rPr lang="ko-KR" altLang="en-US" b="1" u="sng" dirty="0" smtClean="0"/>
              <a:t> </a:t>
            </a:r>
            <a:endParaRPr lang="en-US" altLang="ko-KR" b="1" u="sng" dirty="0"/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ko-KR" b="1" dirty="0"/>
              <a:t>Demand Seasonality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ko-KR" b="1" dirty="0"/>
              <a:t>Multi-mode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ko-KR" b="1" dirty="0"/>
              <a:t>Storage </a:t>
            </a:r>
            <a:r>
              <a:rPr lang="ko-KR" altLang="en-US" b="1" dirty="0"/>
              <a:t>기능 </a:t>
            </a:r>
            <a:endParaRPr lang="en-US" altLang="ko-KR" b="1" dirty="0"/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ko-KR" altLang="en-US" b="1" dirty="0"/>
              <a:t>송배전망과의 연계 방안 도출</a:t>
            </a:r>
            <a:endParaRPr lang="en-US" altLang="ko-KR" b="1" dirty="0"/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ko-KR" altLang="en-US" b="1" dirty="0"/>
              <a:t>수요의 가격탄력성</a:t>
            </a:r>
            <a:endParaRPr lang="en-US" altLang="ko-KR" b="1" dirty="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1224237" y="4584595"/>
            <a:ext cx="2584502" cy="12645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ko-KR" altLang="en-US" b="1" u="sng" dirty="0" smtClean="0"/>
              <a:t>국내특성반영 방법론 도출</a:t>
            </a:r>
            <a:endParaRPr lang="en-US" altLang="ko-KR" b="1" u="sng" dirty="0" smtClean="0"/>
          </a:p>
          <a:p>
            <a:pPr marL="0" lvl="1"/>
            <a:r>
              <a:rPr lang="ko-KR" altLang="en-US" b="1" u="sng" dirty="0" smtClean="0"/>
              <a:t> </a:t>
            </a:r>
            <a:endParaRPr lang="en-US" altLang="ko-KR" b="1" u="sng" dirty="0"/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전력수급계획 반영방법</a:t>
            </a:r>
            <a:endParaRPr lang="en-US" altLang="ko-KR" b="1" dirty="0" smtClean="0"/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발전시설 별 특성 모형화 방법</a:t>
            </a:r>
            <a:endParaRPr lang="en-US" altLang="ko-KR" b="1" dirty="0"/>
          </a:p>
        </p:txBody>
      </p:sp>
      <p:cxnSp>
        <p:nvCxnSpPr>
          <p:cNvPr id="9" name="직선 연결선 8"/>
          <p:cNvCxnSpPr/>
          <p:nvPr/>
        </p:nvCxnSpPr>
        <p:spPr>
          <a:xfrm>
            <a:off x="4581308" y="1670103"/>
            <a:ext cx="0" cy="397499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5" idx="2"/>
            <a:endCxn id="10" idx="0"/>
          </p:cNvCxnSpPr>
          <p:nvPr/>
        </p:nvCxnSpPr>
        <p:spPr>
          <a:xfrm>
            <a:off x="2516488" y="2221765"/>
            <a:ext cx="0" cy="19396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2510191" y="4406998"/>
            <a:ext cx="0" cy="19396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5" idx="3"/>
          </p:cNvCxnSpPr>
          <p:nvPr/>
        </p:nvCxnSpPr>
        <p:spPr>
          <a:xfrm>
            <a:off x="3808739" y="1945934"/>
            <a:ext cx="687691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>
            <a:off x="3808738" y="3287305"/>
            <a:ext cx="687691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3808737" y="5216865"/>
            <a:ext cx="687691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>
            <a:off x="4581308" y="2593318"/>
            <a:ext cx="687691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4609154" y="4340880"/>
            <a:ext cx="687691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396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부문별 특성조사 및 분석 </a:t>
            </a:r>
            <a:r>
              <a:rPr lang="en-US" altLang="ko-KR" b="0" dirty="0" smtClean="0"/>
              <a:t>: </a:t>
            </a:r>
            <a:r>
              <a:rPr lang="ko-KR" altLang="en-US" b="0" dirty="0" smtClean="0"/>
              <a:t>전력부문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107</a:t>
            </a:fld>
            <a:endParaRPr lang="ko-KR" altLang="en-US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74564" y="926617"/>
            <a:ext cx="8534400" cy="519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lnSpc>
                <a:spcPct val="120000"/>
              </a:lnSpc>
              <a:spcAft>
                <a:spcPct val="20000"/>
              </a:spcAft>
              <a:buClr>
                <a:schemeClr val="tx2"/>
              </a:buClr>
              <a:buSzPct val="75000"/>
              <a:buFont typeface="Monotype Sorts" pitchFamily="2" charset="2"/>
              <a:buChar char="q"/>
            </a:pPr>
            <a:r>
              <a:rPr lang="ko-KR" altLang="en-US" sz="1800" b="1" kern="0" dirty="0" smtClean="0">
                <a:latin typeface="+mn-lt"/>
                <a:ea typeface="+mn-ea"/>
              </a:rPr>
              <a:t>전력부문 특화기능</a:t>
            </a:r>
            <a:endParaRPr lang="en-US" altLang="ko-KR" sz="1800" b="1" kern="0" dirty="0" smtClean="0">
              <a:latin typeface="+mn-lt"/>
              <a:ea typeface="+mn-ea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en-US" altLang="ko-KR" sz="1600" dirty="0" smtClean="0">
                <a:latin typeface="+mn-lt"/>
                <a:ea typeface="바탕체" pitchFamily="17" charset="-127"/>
              </a:rPr>
              <a:t>Load Region for seasonal demand</a:t>
            </a: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en-US" altLang="ko-KR" sz="1600" dirty="0" smtClean="0">
                <a:ea typeface="바탕체" pitchFamily="17" charset="-127"/>
              </a:rPr>
              <a:t>Multi-mode for CHP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742950" lvl="1" indent="-285750">
              <a:lnSpc>
                <a:spcPct val="120000"/>
              </a:lnSpc>
              <a:spcAft>
                <a:spcPct val="20000"/>
              </a:spcAft>
              <a:buClr>
                <a:schemeClr val="tx2"/>
              </a:buClr>
              <a:buSzPct val="75000"/>
              <a:buFont typeface="Monotype Sorts" pitchFamily="2" charset="2"/>
              <a:buChar char="q"/>
            </a:pPr>
            <a:endParaRPr lang="ko-KR" altLang="en-US" sz="1800" b="1" kern="0" dirty="0" smtClean="0">
              <a:latin typeface="+mn-lt"/>
              <a:ea typeface="+mn-ea"/>
            </a:endParaRPr>
          </a:p>
        </p:txBody>
      </p:sp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673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674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6742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2" name="_x154935504" descr="EMB000026885ae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9836" y="1673017"/>
            <a:ext cx="3821597" cy="1994521"/>
          </a:xfrm>
          <a:prstGeom prst="rect">
            <a:avLst/>
          </a:prstGeom>
          <a:noFill/>
        </p:spPr>
      </p:pic>
      <p:pic>
        <p:nvPicPr>
          <p:cNvPr id="13" name="_x154935584" descr="EMB000026885ae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72408" y="3916017"/>
            <a:ext cx="3690938" cy="2362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1208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부문별 특성조사 및 분석 </a:t>
            </a:r>
            <a:r>
              <a:rPr lang="en-US" altLang="ko-KR" b="0" dirty="0" smtClean="0"/>
              <a:t>: </a:t>
            </a:r>
            <a:r>
              <a:rPr lang="ko-KR" altLang="en-US" b="0" dirty="0" smtClean="0"/>
              <a:t>전력부문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108</a:t>
            </a:fld>
            <a:endParaRPr lang="ko-KR" altLang="en-US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74564" y="926617"/>
            <a:ext cx="8534400" cy="519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en-US" altLang="ko-KR" sz="1600" dirty="0" smtClean="0">
                <a:latin typeface="+mn-lt"/>
                <a:ea typeface="바탕체" pitchFamily="17" charset="-127"/>
              </a:rPr>
              <a:t> </a:t>
            </a:r>
            <a:r>
              <a:rPr lang="en-US" altLang="ko-KR" sz="1600" dirty="0">
                <a:latin typeface="+mn-lt"/>
                <a:ea typeface="바탕체" pitchFamily="17" charset="-127"/>
              </a:rPr>
              <a:t>Storage for Hydroelectric power and pumped-storage power</a:t>
            </a:r>
          </a:p>
          <a:p>
            <a:pPr marL="742950" lvl="1" indent="-285750">
              <a:lnSpc>
                <a:spcPct val="120000"/>
              </a:lnSpc>
              <a:spcAft>
                <a:spcPct val="20000"/>
              </a:spcAft>
              <a:buClr>
                <a:schemeClr val="tx2"/>
              </a:buClr>
              <a:buSzPct val="75000"/>
              <a:buFont typeface="Monotype Sorts" pitchFamily="2" charset="2"/>
              <a:buChar char="q"/>
            </a:pPr>
            <a:endParaRPr lang="ko-KR" altLang="en-US" sz="1800" b="1" kern="0" dirty="0" smtClean="0">
              <a:latin typeface="+mn-lt"/>
              <a:ea typeface="+mn-ea"/>
            </a:endParaRPr>
          </a:p>
        </p:txBody>
      </p:sp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673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674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6742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776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7764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17763" name="_x154934384" descr="EMB000026885ae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9835" y="1856409"/>
            <a:ext cx="4746716" cy="31805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1980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부문별 특성조사 및 분석 </a:t>
            </a:r>
            <a:r>
              <a:rPr lang="en-US" altLang="ko-KR" b="0" dirty="0" smtClean="0"/>
              <a:t>: </a:t>
            </a:r>
            <a:r>
              <a:rPr lang="ko-KR" altLang="en-US" b="0" dirty="0" smtClean="0"/>
              <a:t>전력부문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4E463F-3C21-4925-9D63-7FFCEC4373DE}" type="slidenum">
              <a:rPr lang="ko-KR" altLang="en-US" smtClean="0"/>
              <a:pPr>
                <a:defRPr/>
              </a:pPr>
              <a:t>109</a:t>
            </a:fld>
            <a:endParaRPr lang="ko-KR" altLang="en-US" dirty="0"/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89677" y="881275"/>
            <a:ext cx="8534400" cy="1990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r>
              <a:rPr lang="ko-KR" altLang="en-US" sz="1600" dirty="0">
                <a:latin typeface="+mn-lt"/>
                <a:ea typeface="바탕체" pitchFamily="17" charset="-127"/>
              </a:rPr>
              <a:t>상향식모형</a:t>
            </a:r>
            <a:r>
              <a:rPr lang="en-US" altLang="ko-KR" sz="1600" dirty="0">
                <a:latin typeface="+mn-lt"/>
                <a:ea typeface="바탕체" pitchFamily="17" charset="-127"/>
              </a:rPr>
              <a:t>(TIMES)</a:t>
            </a:r>
            <a:r>
              <a:rPr lang="ko-KR" altLang="en-US" sz="1600" dirty="0">
                <a:latin typeface="+mn-lt"/>
                <a:ea typeface="바탕체" pitchFamily="17" charset="-127"/>
              </a:rPr>
              <a:t>과 전력 특화모형</a:t>
            </a:r>
            <a:r>
              <a:rPr lang="en-US" altLang="ko-KR" sz="1600" dirty="0">
                <a:latin typeface="+mn-lt"/>
                <a:ea typeface="바탕체" pitchFamily="17" charset="-127"/>
              </a:rPr>
              <a:t>(</a:t>
            </a:r>
            <a:r>
              <a:rPr lang="en-US" altLang="ko-KR" sz="1600" dirty="0" err="1">
                <a:latin typeface="+mn-lt"/>
                <a:ea typeface="바탕체" pitchFamily="17" charset="-127"/>
              </a:rPr>
              <a:t>ReEDS</a:t>
            </a:r>
            <a:r>
              <a:rPr lang="en-US" altLang="ko-KR" sz="1600" dirty="0">
                <a:latin typeface="+mn-lt"/>
                <a:ea typeface="바탕체" pitchFamily="17" charset="-127"/>
              </a:rPr>
              <a:t>, WASP)</a:t>
            </a:r>
            <a:r>
              <a:rPr lang="ko-KR" altLang="en-US" sz="1600" dirty="0">
                <a:latin typeface="+mn-lt"/>
                <a:ea typeface="바탕체" pitchFamily="17" charset="-127"/>
              </a:rPr>
              <a:t> 비교분석</a:t>
            </a:r>
            <a:endParaRPr lang="en-US" altLang="ko-KR" sz="1600" dirty="0">
              <a:latin typeface="+mn-lt"/>
              <a:ea typeface="바탕체" pitchFamily="17" charset="-127"/>
            </a:endParaRPr>
          </a:p>
          <a:p>
            <a:pPr marL="685800" lvl="1" indent="-22860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바탕체" pitchFamily="17" charset="-127"/>
              <a:buChar char="-"/>
            </a:pP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200150" lvl="2" indent="-28575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전력시스템 </a:t>
            </a:r>
            <a:r>
              <a:rPr lang="ko-KR" altLang="en-US" sz="1600" dirty="0">
                <a:latin typeface="+mn-lt"/>
                <a:ea typeface="바탕체" pitchFamily="17" charset="-127"/>
              </a:rPr>
              <a:t>설계 </a:t>
            </a:r>
            <a:r>
              <a:rPr lang="ko-KR" altLang="en-US" sz="1600" dirty="0" smtClean="0">
                <a:latin typeface="+mn-lt"/>
                <a:ea typeface="바탕체" pitchFamily="17" charset="-127"/>
              </a:rPr>
              <a:t>범위 및 기술표현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200150" lvl="2" indent="-28575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입력 및 출력 자료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200150" lvl="2" indent="-28575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비용항목</a:t>
            </a:r>
            <a:endParaRPr lang="en-US" altLang="ko-KR" sz="1600" dirty="0" smtClean="0">
              <a:latin typeface="+mn-lt"/>
              <a:ea typeface="바탕체" pitchFamily="17" charset="-127"/>
            </a:endParaRPr>
          </a:p>
          <a:p>
            <a:pPr marL="1200150" lvl="2" indent="-285750" latinLnBrk="1">
              <a:lnSpc>
                <a:spcPct val="90000"/>
              </a:lnSpc>
              <a:spcAft>
                <a:spcPct val="20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latin typeface="+mn-lt"/>
                <a:ea typeface="바탕체" pitchFamily="17" charset="-127"/>
              </a:rPr>
              <a:t>최적 수리모형 구조 </a:t>
            </a:r>
            <a:endParaRPr lang="en-US" altLang="ko-KR" sz="1600" dirty="0">
              <a:latin typeface="+mn-lt"/>
              <a:ea typeface="바탕체" pitchFamily="17" charset="-127"/>
            </a:endParaRPr>
          </a:p>
          <a:p>
            <a:pPr marL="742950" lvl="1" indent="-285750">
              <a:lnSpc>
                <a:spcPct val="120000"/>
              </a:lnSpc>
              <a:spcAft>
                <a:spcPct val="20000"/>
              </a:spcAft>
              <a:buClr>
                <a:schemeClr val="tx2"/>
              </a:buClr>
              <a:buSzPct val="75000"/>
              <a:buFont typeface="Monotype Sorts" pitchFamily="2" charset="2"/>
              <a:buChar char="q"/>
            </a:pPr>
            <a:endParaRPr lang="ko-KR" altLang="en-US" sz="1800" b="1" kern="0" dirty="0" smtClean="0">
              <a:latin typeface="+mn-lt"/>
              <a:ea typeface="+mn-ea"/>
            </a:endParaRPr>
          </a:p>
        </p:txBody>
      </p:sp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6738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6740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6742" name="Rectangle 6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7762" name="Rectangle 2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7764" name="Rectangle 4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1639876" y="3189066"/>
            <a:ext cx="1450948" cy="1178896"/>
          </a:xfrm>
          <a:prstGeom prst="roundRect">
            <a:avLst/>
          </a:prstGeom>
          <a:solidFill>
            <a:srgbClr val="ADCA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상향식 모형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TIMES/MESSAGE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3090822" y="2871672"/>
            <a:ext cx="3181509" cy="1775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Temporal Resolution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Technology Description</a:t>
            </a:r>
          </a:p>
          <a:p>
            <a:pPr marL="355600" lvl="1" indent="101600"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Conventional Plant Tech.</a:t>
            </a:r>
          </a:p>
          <a:p>
            <a:pPr marL="446088" lvl="1" indent="-90488"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 Renewable Energy Res. &amp; Tech.</a:t>
            </a:r>
          </a:p>
          <a:p>
            <a:pPr marL="446088" lvl="1" indent="-90488"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 Storage Tech.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Transmission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Long/Short-term Reserve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Cost</a:t>
            </a:r>
            <a:endParaRPr lang="ko-KR" altLang="en-US" b="1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6272331" y="3136167"/>
            <a:ext cx="1405607" cy="1231796"/>
          </a:xfrm>
          <a:prstGeom prst="roundRect">
            <a:avLst/>
          </a:prstGeom>
          <a:solidFill>
            <a:srgbClr val="ADCA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전력특</a:t>
            </a:r>
            <a:r>
              <a:rPr lang="ko-KR" altLang="en-US" b="1" dirty="0">
                <a:solidFill>
                  <a:schemeClr val="tx1"/>
                </a:solidFill>
              </a:rPr>
              <a:t>화</a:t>
            </a:r>
            <a:r>
              <a:rPr lang="ko-KR" altLang="en-US" b="1" dirty="0" smtClean="0">
                <a:solidFill>
                  <a:schemeClr val="tx1"/>
                </a:solidFill>
              </a:rPr>
              <a:t> 모형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b="1" dirty="0" err="1" smtClean="0">
                <a:solidFill>
                  <a:schemeClr val="tx1"/>
                </a:solidFill>
              </a:rPr>
              <a:t>ReEDS</a:t>
            </a:r>
            <a:r>
              <a:rPr lang="en-US" altLang="ko-KR" b="1" dirty="0" smtClean="0">
                <a:solidFill>
                  <a:schemeClr val="tx1"/>
                </a:solidFill>
              </a:rPr>
              <a:t>/WASP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3115243" y="5032978"/>
            <a:ext cx="3157088" cy="642349"/>
          </a:xfrm>
          <a:prstGeom prst="roundRect">
            <a:avLst/>
          </a:prstGeom>
          <a:solidFill>
            <a:srgbClr val="2467A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전력부분 </a:t>
            </a:r>
            <a:r>
              <a:rPr lang="ko-KR" altLang="en-US" sz="1400" b="1" dirty="0" smtClean="0"/>
              <a:t> 한국형 통합모형의 </a:t>
            </a:r>
            <a:endParaRPr lang="en-US" altLang="ko-KR" sz="1400" b="1" dirty="0" smtClean="0"/>
          </a:p>
          <a:p>
            <a:pPr algn="ctr"/>
            <a:r>
              <a:rPr lang="ko-KR" altLang="en-US" sz="1400" b="1" dirty="0" smtClean="0"/>
              <a:t>특화기능 도출 </a:t>
            </a:r>
            <a:endParaRPr lang="ko-KR" altLang="en-US" sz="1400" b="1" dirty="0"/>
          </a:p>
        </p:txBody>
      </p:sp>
      <p:cxnSp>
        <p:nvCxnSpPr>
          <p:cNvPr id="12" name="직선 연결선 11"/>
          <p:cNvCxnSpPr/>
          <p:nvPr/>
        </p:nvCxnSpPr>
        <p:spPr>
          <a:xfrm>
            <a:off x="2365350" y="4375519"/>
            <a:ext cx="0" cy="98619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2350236" y="5339040"/>
            <a:ext cx="749893" cy="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6999066" y="4375519"/>
            <a:ext cx="0" cy="98619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6272331" y="5361709"/>
            <a:ext cx="749893" cy="0"/>
          </a:xfrm>
          <a:prstGeom prst="straightConnector1">
            <a:avLst/>
          </a:prstGeom>
          <a:ln w="571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741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시스템개발 </a:t>
            </a:r>
            <a:r>
              <a:rPr lang="en-US" altLang="ko-KR" b="0" dirty="0" smtClean="0"/>
              <a:t>: </a:t>
            </a:r>
            <a:r>
              <a:rPr lang="ko-KR" altLang="en-US" b="0" dirty="0" smtClean="0"/>
              <a:t>상향식 </a:t>
            </a:r>
            <a:r>
              <a:rPr lang="en-US" altLang="ko-KR" b="0" dirty="0" smtClean="0"/>
              <a:t>SW </a:t>
            </a:r>
            <a:r>
              <a:rPr lang="ko-KR" altLang="en-US" b="0" dirty="0" smtClean="0"/>
              <a:t>시스템 개발 방향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110</a:t>
            </a:fld>
            <a:endParaRPr lang="en-US" altLang="ko-KR"/>
          </a:p>
        </p:txBody>
      </p:sp>
      <p:sp>
        <p:nvSpPr>
          <p:cNvPr id="5" name="직사각형 4"/>
          <p:cNvSpPr/>
          <p:nvPr/>
        </p:nvSpPr>
        <p:spPr>
          <a:xfrm>
            <a:off x="2915979" y="3103819"/>
            <a:ext cx="921043" cy="246221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Easy</a:t>
            </a:r>
            <a:endParaRPr kumimoji="0" lang="ko-KR" altLang="en-US" sz="1800" kern="0" dirty="0" smtClean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866478" y="1516522"/>
            <a:ext cx="970545" cy="246221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Simple</a:t>
            </a:r>
            <a:endParaRPr kumimoji="0" lang="ko-KR" altLang="en-US" sz="1800" kern="0" dirty="0" smtClean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925912" y="1761739"/>
            <a:ext cx="2628220" cy="882951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21512" y="1896415"/>
            <a:ext cx="1316386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Simplified Notation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21511" y="2240554"/>
            <a:ext cx="1680268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0" dirty="0" smtClean="0">
                <a:solidFill>
                  <a:prstClr val="black"/>
                </a:solidFill>
                <a:latin typeface="맑은 고딕"/>
                <a:ea typeface="맑은 고딕"/>
              </a:rPr>
              <a:t>Simplified LP Formulation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2909331" y="4707239"/>
            <a:ext cx="927691" cy="246221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Worldwide</a:t>
            </a:r>
            <a:endParaRPr kumimoji="0" lang="ko-KR" altLang="en-US" sz="1800" kern="0" dirty="0" smtClean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cxnSp>
        <p:nvCxnSpPr>
          <p:cNvPr id="56" name="꺾인 연결선 55"/>
          <p:cNvCxnSpPr>
            <a:stCxn id="15" idx="1"/>
            <a:endCxn id="5" idx="1"/>
          </p:cNvCxnSpPr>
          <p:nvPr/>
        </p:nvCxnSpPr>
        <p:spPr>
          <a:xfrm rot="10800000" flipV="1">
            <a:off x="2915980" y="2203214"/>
            <a:ext cx="9933" cy="1023715"/>
          </a:xfrm>
          <a:prstGeom prst="bentConnector3">
            <a:avLst>
              <a:gd name="adj1" fmla="val 2401420"/>
            </a:avLst>
          </a:prstGeom>
          <a:noFill/>
          <a:ln w="9525" cap="flat" cmpd="sng" algn="ctr">
            <a:solidFill>
              <a:srgbClr val="183883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58" name="꺾인 연결선 57"/>
          <p:cNvCxnSpPr>
            <a:stCxn id="72" idx="1"/>
            <a:endCxn id="74" idx="1"/>
          </p:cNvCxnSpPr>
          <p:nvPr/>
        </p:nvCxnSpPr>
        <p:spPr>
          <a:xfrm rot="10800000" flipV="1">
            <a:off x="2925912" y="3793533"/>
            <a:ext cx="12700" cy="1590319"/>
          </a:xfrm>
          <a:prstGeom prst="bentConnector3">
            <a:avLst>
              <a:gd name="adj1" fmla="val 1800000"/>
            </a:avLst>
          </a:prstGeom>
          <a:noFill/>
          <a:ln w="9525" cap="flat" cmpd="sng" algn="ctr">
            <a:solidFill>
              <a:srgbClr val="183883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68" name="직사각형 67"/>
          <p:cNvSpPr/>
          <p:nvPr/>
        </p:nvSpPr>
        <p:spPr>
          <a:xfrm>
            <a:off x="2493357" y="1032768"/>
            <a:ext cx="3493329" cy="437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b="1" dirty="0">
                <a:solidFill>
                  <a:srgbClr val="33996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US" altLang="ko-KR" sz="1400" dirty="0">
                <a:solidFill>
                  <a:srgbClr val="33996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imple, </a:t>
            </a:r>
            <a:r>
              <a:rPr lang="en-US" altLang="ko-KR" sz="1400" b="1" dirty="0">
                <a:solidFill>
                  <a:srgbClr val="33996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altLang="ko-KR" sz="1400" dirty="0">
                <a:solidFill>
                  <a:srgbClr val="33996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asy and </a:t>
            </a:r>
            <a:r>
              <a:rPr lang="en-US" altLang="ko-KR" sz="1400" b="1" dirty="0">
                <a:solidFill>
                  <a:srgbClr val="33996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</a:t>
            </a:r>
            <a:r>
              <a:rPr lang="en-US" altLang="ko-KR" sz="1400" dirty="0">
                <a:solidFill>
                  <a:srgbClr val="33996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orldwide(</a:t>
            </a:r>
            <a:r>
              <a:rPr lang="en-US" altLang="ko-KR" sz="1400" b="1" dirty="0">
                <a:solidFill>
                  <a:srgbClr val="33996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r>
              <a:rPr lang="en-US" altLang="ko-KR" sz="1400" dirty="0">
                <a:solidFill>
                  <a:srgbClr val="33996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pen Project)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21512" y="3488855"/>
            <a:ext cx="1399742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Easy Understandable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925912" y="3352058"/>
            <a:ext cx="2628220" cy="882951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218010" y="3871873"/>
            <a:ext cx="606256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Easy UI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925912" y="4942377"/>
            <a:ext cx="2628220" cy="882951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230766" y="5108192"/>
            <a:ext cx="1307132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0" dirty="0" smtClean="0">
                <a:solidFill>
                  <a:prstClr val="black"/>
                </a:solidFill>
                <a:latin typeface="맑은 고딕"/>
                <a:ea typeface="맑은 고딕"/>
              </a:rPr>
              <a:t>Open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 Web Site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230766" y="5453287"/>
            <a:ext cx="1059535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0" dirty="0" smtClean="0">
                <a:solidFill>
                  <a:prstClr val="black"/>
                </a:solidFill>
                <a:latin typeface="맑은 고딕"/>
                <a:ea typeface="맑은 고딕"/>
              </a:rPr>
              <a:t>Freeware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1708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시스템개발 </a:t>
            </a:r>
            <a:r>
              <a:rPr lang="en-US" altLang="ko-KR" b="0" dirty="0"/>
              <a:t>: </a:t>
            </a:r>
            <a:r>
              <a:rPr lang="ko-KR" altLang="en-US" b="0" dirty="0" smtClean="0"/>
              <a:t>상향식 </a:t>
            </a:r>
            <a:r>
              <a:rPr lang="en-US" altLang="ko-KR" b="0" dirty="0" smtClean="0"/>
              <a:t>SW System </a:t>
            </a:r>
            <a:r>
              <a:rPr lang="ko-KR" altLang="en-US" b="0" dirty="0" smtClean="0"/>
              <a:t>개념도</a:t>
            </a:r>
            <a:endParaRPr lang="ko-KR" altLang="en-US" b="0" dirty="0"/>
          </a:p>
        </p:txBody>
      </p:sp>
      <p:sp>
        <p:nvSpPr>
          <p:cNvPr id="120" name="TextBox 119"/>
          <p:cNvSpPr txBox="1"/>
          <p:nvPr/>
        </p:nvSpPr>
        <p:spPr>
          <a:xfrm>
            <a:off x="7179746" y="1139207"/>
            <a:ext cx="992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latinLnBrk="1" hangingPunct="1"/>
            <a:r>
              <a:rPr kumimoji="0" lang="ko-KR" altLang="en-US" b="1" dirty="0" smtClean="0">
                <a:solidFill>
                  <a:prstClr val="black"/>
                </a:solidFill>
                <a:latin typeface="맑은 고딕"/>
                <a:ea typeface="맑은 고딕"/>
              </a:rPr>
              <a:t>통합 모형 </a:t>
            </a:r>
            <a:endParaRPr kumimoji="0" lang="en-US" altLang="ko-KR" b="1" dirty="0" smtClean="0">
              <a:solidFill>
                <a:prstClr val="black"/>
              </a:solidFill>
              <a:latin typeface="맑은 고딕"/>
              <a:ea typeface="맑은 고딕"/>
            </a:endParaRPr>
          </a:p>
          <a:p>
            <a:pPr eaLnBrk="1" latinLnBrk="1" hangingPunct="1"/>
            <a:r>
              <a:rPr kumimoji="0" lang="en-US" altLang="ko-KR" b="1" dirty="0" smtClean="0">
                <a:solidFill>
                  <a:prstClr val="black"/>
                </a:solidFill>
                <a:latin typeface="맑은 고딕"/>
                <a:ea typeface="맑은 고딕"/>
              </a:rPr>
              <a:t>S/W </a:t>
            </a:r>
            <a:r>
              <a:rPr kumimoji="0" lang="ko-KR" altLang="en-US" b="1" dirty="0" smtClean="0">
                <a:solidFill>
                  <a:prstClr val="black"/>
                </a:solidFill>
                <a:latin typeface="맑은 고딕"/>
                <a:ea typeface="맑은 고딕"/>
              </a:rPr>
              <a:t>시스템</a:t>
            </a:r>
            <a:endParaRPr kumimoji="0" lang="ko-KR" altLang="en-US" b="1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922651" y="2751378"/>
            <a:ext cx="992579" cy="246221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none">
            <a:spAutoFit/>
          </a:bodyPr>
          <a:lstStyle>
            <a:defPPr>
              <a:defRPr lang="ko-KR"/>
            </a:defPPr>
            <a:lvl1pPr>
              <a:defRPr sz="1000">
                <a:solidFill>
                  <a:prstClr val="black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kern="0" dirty="0">
                <a:latin typeface="맑은 고딕"/>
                <a:ea typeface="맑은 고딕"/>
              </a:rPr>
              <a:t>LP generation</a:t>
            </a:r>
            <a:endParaRPr kumimoji="0" lang="ko-KR" altLang="en-US" kern="0" dirty="0">
              <a:latin typeface="맑은 고딕"/>
              <a:ea typeface="맑은 고딕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79934" y="4475378"/>
            <a:ext cx="1673856" cy="246221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none">
            <a:spAutoFit/>
          </a:bodyPr>
          <a:lstStyle>
            <a:defPPr>
              <a:defRPr lang="ko-KR"/>
            </a:defPPr>
            <a:lvl1pPr>
              <a:defRPr sz="1000">
                <a:solidFill>
                  <a:prstClr val="black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kern="0" dirty="0">
                <a:latin typeface="맑은 고딕"/>
                <a:ea typeface="맑은 고딕"/>
              </a:rPr>
              <a:t>Reporting/Result Analysis</a:t>
            </a:r>
            <a:endParaRPr kumimoji="0" lang="ko-KR" altLang="en-US" kern="0" dirty="0">
              <a:latin typeface="맑은 고딕"/>
              <a:ea typeface="맑은 고딕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922651" y="886697"/>
            <a:ext cx="1776448" cy="246221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GUI(Graphic User Interface)</a:t>
            </a:r>
            <a:endParaRPr kumimoji="0" lang="ko-KR" altLang="en-US" sz="1800" kern="0" dirty="0" smtClean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527450" y="3137119"/>
            <a:ext cx="2018501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MML : GAMS, AMPL, </a:t>
            </a:r>
            <a:r>
              <a:rPr kumimoji="0" lang="en-US" altLang="ko-KR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MathProg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866867" y="3543466"/>
            <a:ext cx="1124026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LP file : MPS, LP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2049046" y="3975514"/>
            <a:ext cx="2593980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LP solver : </a:t>
            </a:r>
            <a:r>
              <a:rPr kumimoji="0" lang="en-US" altLang="ko-KR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glpk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, CPLEX, </a:t>
            </a:r>
            <a:r>
              <a:rPr kumimoji="0" lang="en-US" altLang="ko-KR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Gurobi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, COIN-OR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3794586" y="3153229"/>
            <a:ext cx="944489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LP solver API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652488" y="5194623"/>
            <a:ext cx="1967205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LP viewer : MML, </a:t>
            </a:r>
            <a:r>
              <a:rPr kumimoji="0" lang="en-US" altLang="ko-KR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MathJax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, pdf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1653141" y="5586211"/>
            <a:ext cx="3419146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Plot/Chart : HTML5/CSS3,</a:t>
            </a:r>
            <a:r>
              <a:rPr kumimoji="0" lang="en-US" altLang="ko-KR" sz="1000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 WPF/XAML, OpenGL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1210683" y="1123917"/>
            <a:ext cx="4191189" cy="1502877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1210683" y="3007143"/>
            <a:ext cx="4191189" cy="1328412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cxnSp>
        <p:nvCxnSpPr>
          <p:cNvPr id="132" name="꺾인 연결선 131"/>
          <p:cNvCxnSpPr>
            <a:stCxn id="124" idx="2"/>
            <a:endCxn id="125" idx="1"/>
          </p:cNvCxnSpPr>
          <p:nvPr/>
        </p:nvCxnSpPr>
        <p:spPr>
          <a:xfrm rot="16200000" flipH="1">
            <a:off x="2560166" y="3359875"/>
            <a:ext cx="283237" cy="330166"/>
          </a:xfrm>
          <a:prstGeom prst="bentConnector2">
            <a:avLst/>
          </a:prstGeom>
          <a:noFill/>
          <a:ln w="9525" cap="flat" cmpd="sng" algn="ctr">
            <a:solidFill>
              <a:srgbClr val="183883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33" name="꺾인 연결선 132"/>
          <p:cNvCxnSpPr>
            <a:stCxn id="127" idx="2"/>
            <a:endCxn id="125" idx="3"/>
          </p:cNvCxnSpPr>
          <p:nvPr/>
        </p:nvCxnSpPr>
        <p:spPr>
          <a:xfrm rot="5400000">
            <a:off x="3995299" y="3395044"/>
            <a:ext cx="267127" cy="275938"/>
          </a:xfrm>
          <a:prstGeom prst="bentConnector2">
            <a:avLst/>
          </a:prstGeom>
          <a:noFill/>
          <a:ln w="9525" cap="flat" cmpd="sng" algn="ctr">
            <a:solidFill>
              <a:srgbClr val="183883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34" name="직선 화살표 연결선 133"/>
          <p:cNvCxnSpPr>
            <a:stCxn id="125" idx="2"/>
          </p:cNvCxnSpPr>
          <p:nvPr/>
        </p:nvCxnSpPr>
        <p:spPr>
          <a:xfrm>
            <a:off x="3428880" y="3789687"/>
            <a:ext cx="0" cy="185827"/>
          </a:xfrm>
          <a:prstGeom prst="straightConnector1">
            <a:avLst/>
          </a:prstGeom>
          <a:noFill/>
          <a:ln w="9525" cap="flat" cmpd="sng" algn="ctr">
            <a:solidFill>
              <a:srgbClr val="183883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135" name="직사각형 134"/>
          <p:cNvSpPr/>
          <p:nvPr/>
        </p:nvSpPr>
        <p:spPr>
          <a:xfrm>
            <a:off x="1212142" y="4739004"/>
            <a:ext cx="4191189" cy="1351958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cxnSp>
        <p:nvCxnSpPr>
          <p:cNvPr id="136" name="직선 화살표 연결선 135"/>
          <p:cNvCxnSpPr>
            <a:stCxn id="130" idx="2"/>
            <a:endCxn id="131" idx="0"/>
          </p:cNvCxnSpPr>
          <p:nvPr/>
        </p:nvCxnSpPr>
        <p:spPr>
          <a:xfrm>
            <a:off x="3306278" y="2626794"/>
            <a:ext cx="0" cy="380349"/>
          </a:xfrm>
          <a:prstGeom prst="straightConnector1">
            <a:avLst/>
          </a:prstGeom>
          <a:noFill/>
          <a:ln w="2857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37" name="직선 화살표 연결선 136"/>
          <p:cNvCxnSpPr>
            <a:stCxn id="131" idx="2"/>
            <a:endCxn id="135" idx="0"/>
          </p:cNvCxnSpPr>
          <p:nvPr/>
        </p:nvCxnSpPr>
        <p:spPr>
          <a:xfrm>
            <a:off x="3306278" y="4335555"/>
            <a:ext cx="1459" cy="403449"/>
          </a:xfrm>
          <a:prstGeom prst="straightConnector1">
            <a:avLst/>
          </a:prstGeom>
          <a:noFill/>
          <a:ln w="2857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138" name="TextBox 137"/>
          <p:cNvSpPr txBox="1"/>
          <p:nvPr/>
        </p:nvSpPr>
        <p:spPr>
          <a:xfrm>
            <a:off x="4046083" y="5206117"/>
            <a:ext cx="998991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Batch outputs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139" name="원통 138"/>
          <p:cNvSpPr/>
          <p:nvPr/>
        </p:nvSpPr>
        <p:spPr>
          <a:xfrm>
            <a:off x="7027963" y="3329064"/>
            <a:ext cx="1296144" cy="690413"/>
          </a:xfrm>
          <a:prstGeom prst="can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기술 </a:t>
            </a:r>
            <a:r>
              <a:rPr kumimoji="0" lang="en-US" altLang="ko-KR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DB master</a:t>
            </a:r>
            <a:endParaRPr kumimoji="0" lang="ko-KR" altLang="en-US" kern="0" dirty="0" smtClean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140" name="원통 139"/>
          <p:cNvSpPr/>
          <p:nvPr/>
        </p:nvSpPr>
        <p:spPr>
          <a:xfrm>
            <a:off x="5747187" y="3288804"/>
            <a:ext cx="747700" cy="753385"/>
          </a:xfrm>
          <a:prstGeom prst="can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XML/file/DB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manager</a:t>
            </a:r>
            <a:endParaRPr kumimoji="0" lang="ko-KR" altLang="en-US" sz="1000" kern="0" dirty="0" smtClean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7069641" y="2271010"/>
            <a:ext cx="1212788" cy="553998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매개변수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,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기술변화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/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보급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/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확산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,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수요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,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가격 등</a:t>
            </a:r>
          </a:p>
        </p:txBody>
      </p:sp>
      <p:sp>
        <p:nvSpPr>
          <p:cNvPr id="142" name="모서리가 둥근 직사각형 141"/>
          <p:cNvSpPr/>
          <p:nvPr/>
        </p:nvSpPr>
        <p:spPr>
          <a:xfrm>
            <a:off x="7056191" y="1032476"/>
            <a:ext cx="1239688" cy="689883"/>
          </a:xfrm>
          <a:prstGeom prst="round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cxnSp>
        <p:nvCxnSpPr>
          <p:cNvPr id="143" name="꺾인 연결선 142"/>
          <p:cNvCxnSpPr>
            <a:stCxn id="140" idx="1"/>
            <a:endCxn id="130" idx="3"/>
          </p:cNvCxnSpPr>
          <p:nvPr/>
        </p:nvCxnSpPr>
        <p:spPr>
          <a:xfrm rot="16200000" flipV="1">
            <a:off x="5054731" y="2222497"/>
            <a:ext cx="1413448" cy="719165"/>
          </a:xfrm>
          <a:prstGeom prst="bentConnector2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144" name="꺾인 연결선 143"/>
          <p:cNvCxnSpPr>
            <a:stCxn id="140" idx="3"/>
            <a:endCxn id="135" idx="3"/>
          </p:cNvCxnSpPr>
          <p:nvPr/>
        </p:nvCxnSpPr>
        <p:spPr>
          <a:xfrm rot="5400000">
            <a:off x="5075787" y="4369733"/>
            <a:ext cx="1372794" cy="717706"/>
          </a:xfrm>
          <a:prstGeom prst="bentConnector2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145" name="직선 화살표 연결선 144"/>
          <p:cNvCxnSpPr>
            <a:stCxn id="131" idx="3"/>
            <a:endCxn id="140" idx="2"/>
          </p:cNvCxnSpPr>
          <p:nvPr/>
        </p:nvCxnSpPr>
        <p:spPr>
          <a:xfrm flipV="1">
            <a:off x="5401872" y="3665497"/>
            <a:ext cx="345315" cy="5852"/>
          </a:xfrm>
          <a:prstGeom prst="straightConnector1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146" name="TextBox 145"/>
          <p:cNvSpPr txBox="1"/>
          <p:nvPr/>
        </p:nvSpPr>
        <p:spPr>
          <a:xfrm>
            <a:off x="1546690" y="1251601"/>
            <a:ext cx="3381054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Language : C++, C#(</a:t>
            </a:r>
            <a:r>
              <a:rPr kumimoji="0" lang="en-US" altLang="ko-KR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.net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), Visual Basic, Python, Java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등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594798" y="1698190"/>
            <a:ext cx="1007007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RES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설계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구축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452729" y="2164549"/>
            <a:ext cx="1300356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BAU/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시나리오 구축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193801" y="2089291"/>
            <a:ext cx="1082348" cy="400110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Variable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추가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Constraint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추가</a:t>
            </a:r>
          </a:p>
        </p:txBody>
      </p:sp>
      <p:cxnSp>
        <p:nvCxnSpPr>
          <p:cNvPr id="150" name="직선 화살표 연결선 149"/>
          <p:cNvCxnSpPr>
            <a:stCxn id="147" idx="2"/>
            <a:endCxn id="148" idx="0"/>
          </p:cNvCxnSpPr>
          <p:nvPr/>
        </p:nvCxnSpPr>
        <p:spPr>
          <a:xfrm>
            <a:off x="3098302" y="1944411"/>
            <a:ext cx="4605" cy="220138"/>
          </a:xfrm>
          <a:prstGeom prst="straightConnector1">
            <a:avLst/>
          </a:prstGeom>
          <a:noFill/>
          <a:ln w="9525" cap="flat" cmpd="sng" algn="ctr">
            <a:solidFill>
              <a:srgbClr val="183883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51" name="직선 화살표 연결선 150"/>
          <p:cNvCxnSpPr>
            <a:stCxn id="149" idx="1"/>
            <a:endCxn id="148" idx="3"/>
          </p:cNvCxnSpPr>
          <p:nvPr/>
        </p:nvCxnSpPr>
        <p:spPr>
          <a:xfrm flipH="1" flipV="1">
            <a:off x="3753085" y="2287660"/>
            <a:ext cx="440716" cy="1686"/>
          </a:xfrm>
          <a:prstGeom prst="straightConnector1">
            <a:avLst/>
          </a:prstGeom>
          <a:noFill/>
          <a:ln w="9525" cap="flat" cmpd="sng" algn="ctr">
            <a:solidFill>
              <a:srgbClr val="183883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52" name="직선 화살표 연결선 151"/>
          <p:cNvCxnSpPr/>
          <p:nvPr/>
        </p:nvCxnSpPr>
        <p:spPr>
          <a:xfrm>
            <a:off x="3074210" y="1505843"/>
            <a:ext cx="0" cy="193327"/>
          </a:xfrm>
          <a:prstGeom prst="straightConnector1">
            <a:avLst/>
          </a:prstGeom>
          <a:noFill/>
          <a:ln w="9525" cap="flat" cmpd="sng" algn="ctr">
            <a:solidFill>
              <a:srgbClr val="183883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53" name="직선 화살표 연결선 152"/>
          <p:cNvCxnSpPr>
            <a:stCxn id="139" idx="2"/>
          </p:cNvCxnSpPr>
          <p:nvPr/>
        </p:nvCxnSpPr>
        <p:spPr bwMode="auto">
          <a:xfrm flipH="1">
            <a:off x="6482947" y="3674271"/>
            <a:ext cx="545016" cy="0"/>
          </a:xfrm>
          <a:prstGeom prst="straightConnector1">
            <a:avLst/>
          </a:prstGeom>
          <a:noFill/>
          <a:ln w="2857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54" name="직선 화살표 연결선 153"/>
          <p:cNvCxnSpPr>
            <a:stCxn id="141" idx="1"/>
          </p:cNvCxnSpPr>
          <p:nvPr/>
        </p:nvCxnSpPr>
        <p:spPr bwMode="auto">
          <a:xfrm flipH="1">
            <a:off x="6121037" y="2548009"/>
            <a:ext cx="948604" cy="0"/>
          </a:xfrm>
          <a:prstGeom prst="straightConnector1">
            <a:avLst/>
          </a:prstGeom>
          <a:noFill/>
          <a:ln w="2857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55" name="직선 화살표 연결선 154"/>
          <p:cNvCxnSpPr>
            <a:stCxn id="142" idx="2"/>
            <a:endCxn id="141" idx="0"/>
          </p:cNvCxnSpPr>
          <p:nvPr/>
        </p:nvCxnSpPr>
        <p:spPr bwMode="auto">
          <a:xfrm>
            <a:off x="7676035" y="1722359"/>
            <a:ext cx="0" cy="548651"/>
          </a:xfrm>
          <a:prstGeom prst="straightConnector1">
            <a:avLst/>
          </a:prstGeom>
          <a:noFill/>
          <a:ln w="2857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56" name="꺾인 연결선 155"/>
          <p:cNvCxnSpPr>
            <a:stCxn id="142" idx="3"/>
            <a:endCxn id="139" idx="4"/>
          </p:cNvCxnSpPr>
          <p:nvPr/>
        </p:nvCxnSpPr>
        <p:spPr bwMode="auto">
          <a:xfrm>
            <a:off x="8295879" y="1377418"/>
            <a:ext cx="28228" cy="2296853"/>
          </a:xfrm>
          <a:prstGeom prst="bentConnector3">
            <a:avLst>
              <a:gd name="adj1" fmla="val 909834"/>
            </a:avLst>
          </a:prstGeom>
          <a:noFill/>
          <a:ln w="2857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triangle" w="med" len="med"/>
            <a:tailEnd type="triangle" w="med" len="med"/>
          </a:ln>
          <a:effectLst/>
        </p:spPr>
      </p:cxnSp>
      <p:sp>
        <p:nvSpPr>
          <p:cNvPr id="159" name="모서리가 둥근 직사각형 158"/>
          <p:cNvSpPr/>
          <p:nvPr/>
        </p:nvSpPr>
        <p:spPr>
          <a:xfrm>
            <a:off x="1360264" y="4828939"/>
            <a:ext cx="3915885" cy="1141111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TextBox 159"/>
          <p:cNvSpPr txBox="1"/>
          <p:nvPr/>
        </p:nvSpPr>
        <p:spPr>
          <a:xfrm>
            <a:off x="1652488" y="4848049"/>
            <a:ext cx="25319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Web viewer : HTML5/CSS/</a:t>
            </a:r>
            <a:r>
              <a:rPr lang="en-US" altLang="ko-KR" dirty="0" err="1" smtClean="0"/>
              <a:t>Javascript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857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시스템개발 </a:t>
            </a:r>
            <a:r>
              <a:rPr lang="en-US" altLang="ko-KR" b="0" dirty="0"/>
              <a:t>: </a:t>
            </a:r>
            <a:r>
              <a:rPr lang="en-US" altLang="ko-KR" b="0" dirty="0" smtClean="0"/>
              <a:t>SW System/UI </a:t>
            </a:r>
            <a:r>
              <a:rPr lang="ko-KR" altLang="en-US" b="0" dirty="0" smtClean="0"/>
              <a:t>개발 방법론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112</a:t>
            </a:fld>
            <a:endParaRPr lang="en-US" altLang="ko-KR"/>
          </a:p>
        </p:txBody>
      </p:sp>
      <p:sp>
        <p:nvSpPr>
          <p:cNvPr id="5" name="직사각형 4"/>
          <p:cNvSpPr/>
          <p:nvPr/>
        </p:nvSpPr>
        <p:spPr>
          <a:xfrm>
            <a:off x="1724478" y="2706202"/>
            <a:ext cx="611065" cy="246221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UI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구현</a:t>
            </a:r>
            <a:endParaRPr kumimoji="0" lang="ko-KR" altLang="en-US" sz="1800" kern="0" dirty="0" smtClean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754895" y="2959345"/>
            <a:ext cx="3138838" cy="644485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84351" y="3067779"/>
            <a:ext cx="923651" cy="400110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WPF/XAML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for Windows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674976" y="1144306"/>
            <a:ext cx="2289720" cy="246221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data/RES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파일 구조 및 표현</a:t>
            </a:r>
            <a:endParaRPr kumimoji="0" lang="ko-KR" altLang="en-US" sz="1800" kern="0" dirty="0" smtClean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34410" y="1389523"/>
            <a:ext cx="2628220" cy="958771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70416" y="1517207"/>
            <a:ext cx="421910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dash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XSD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87483" y="1964235"/>
            <a:ext cx="439544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XML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80101" y="1956051"/>
            <a:ext cx="497252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0" dirty="0" smtClean="0">
                <a:solidFill>
                  <a:prstClr val="black"/>
                </a:solidFill>
                <a:latin typeface="맑은 고딕"/>
                <a:ea typeface="맑은 고딕"/>
              </a:rPr>
              <a:t>JSON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2291465" y="1763428"/>
            <a:ext cx="0" cy="193327"/>
          </a:xfrm>
          <a:prstGeom prst="straightConnector1">
            <a:avLst/>
          </a:prstGeom>
          <a:noFill/>
          <a:ln w="9525" cap="flat" cmpd="sng" algn="ctr">
            <a:solidFill>
              <a:srgbClr val="183883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3767544" y="1956051"/>
            <a:ext cx="426720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0" dirty="0" smtClean="0">
                <a:solidFill>
                  <a:prstClr val="black"/>
                </a:solidFill>
                <a:latin typeface="맑은 고딕"/>
                <a:ea typeface="맑은 고딕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40143" y="3067778"/>
            <a:ext cx="1547218" cy="400110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HTML5/CSS3/</a:t>
            </a:r>
            <a:r>
              <a:rPr kumimoji="0" lang="en-US" altLang="ko-KR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Javascript</a:t>
            </a:r>
            <a:endParaRPr kumimoji="0" lang="en-US" altLang="ko-KR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for Web Browser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724478" y="3834370"/>
            <a:ext cx="970672" cy="246221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LP 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구현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/</a:t>
            </a:r>
            <a:r>
              <a:rPr kumimoji="0" lang="ko-KR" altLang="en-US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실행</a:t>
            </a:r>
            <a:endParaRPr kumimoji="0" lang="ko-KR" altLang="en-US" sz="1800" kern="0" dirty="0" smtClean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807744" y="4080591"/>
            <a:ext cx="1526557" cy="1410484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12403" y="4207271"/>
            <a:ext cx="917239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dash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0" dirty="0" smtClean="0">
                <a:solidFill>
                  <a:prstClr val="black"/>
                </a:solidFill>
                <a:latin typeface="맑은 고딕"/>
                <a:ea typeface="맑은 고딕"/>
              </a:rPr>
              <a:t>MML(GAMS)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91939" y="4654299"/>
            <a:ext cx="558166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LP API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>
            <a:off x="2571022" y="4457232"/>
            <a:ext cx="0" cy="193327"/>
          </a:xfrm>
          <a:prstGeom prst="straightConnector1">
            <a:avLst/>
          </a:prstGeom>
          <a:noFill/>
          <a:ln w="9525" cap="flat" cmpd="sng" algn="ctr">
            <a:solidFill>
              <a:srgbClr val="183883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2211789" y="5101327"/>
            <a:ext cx="718466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LP Solver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35" name="직선 화살표 연결선 34"/>
          <p:cNvCxnSpPr/>
          <p:nvPr/>
        </p:nvCxnSpPr>
        <p:spPr>
          <a:xfrm>
            <a:off x="2571022" y="4904260"/>
            <a:ext cx="0" cy="193327"/>
          </a:xfrm>
          <a:prstGeom prst="straightConnector1">
            <a:avLst/>
          </a:prstGeom>
          <a:noFill/>
          <a:ln w="9525" cap="flat" cmpd="sng" algn="ctr">
            <a:solidFill>
              <a:srgbClr val="183883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43" name="직사각형 42"/>
          <p:cNvSpPr/>
          <p:nvPr/>
        </p:nvSpPr>
        <p:spPr>
          <a:xfrm>
            <a:off x="3572015" y="3804637"/>
            <a:ext cx="970672" cy="246221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LP viewer</a:t>
            </a:r>
            <a:endParaRPr kumimoji="0" lang="ko-KR" altLang="en-US" sz="1800" kern="0" dirty="0" smtClean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631447" y="4049854"/>
            <a:ext cx="1914220" cy="974550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830233" y="4642144"/>
            <a:ext cx="665567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MathML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690354" y="4641140"/>
            <a:ext cx="660758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dirty="0" err="1" smtClean="0">
                <a:solidFill>
                  <a:prstClr val="black"/>
                </a:solidFill>
                <a:latin typeface="맑은 고딕"/>
                <a:ea typeface="맑은 고딕"/>
              </a:rPr>
              <a:t>MathJax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74250" y="4171411"/>
            <a:ext cx="917239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dash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0" dirty="0" smtClean="0">
                <a:solidFill>
                  <a:prstClr val="black"/>
                </a:solidFill>
                <a:latin typeface="맑은 고딕"/>
                <a:ea typeface="맑은 고딕"/>
              </a:rPr>
              <a:t>MML(GAMS)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>
            <a:off x="5032869" y="4448817"/>
            <a:ext cx="0" cy="193327"/>
          </a:xfrm>
          <a:prstGeom prst="straightConnector1">
            <a:avLst/>
          </a:prstGeom>
          <a:noFill/>
          <a:ln w="9525" cap="flat" cmpd="sng" algn="ctr">
            <a:solidFill>
              <a:srgbClr val="183883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56" name="꺾인 연결선 55"/>
          <p:cNvCxnSpPr>
            <a:stCxn id="15" idx="1"/>
            <a:endCxn id="5" idx="1"/>
          </p:cNvCxnSpPr>
          <p:nvPr/>
        </p:nvCxnSpPr>
        <p:spPr>
          <a:xfrm rot="10800000" flipV="1">
            <a:off x="1724478" y="1868909"/>
            <a:ext cx="9932" cy="960404"/>
          </a:xfrm>
          <a:prstGeom prst="bentConnector3">
            <a:avLst>
              <a:gd name="adj1" fmla="val 2401651"/>
            </a:avLst>
          </a:prstGeom>
          <a:noFill/>
          <a:ln w="9525" cap="flat" cmpd="sng" algn="ctr">
            <a:solidFill>
              <a:srgbClr val="183883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58" name="꺾인 연결선 57"/>
          <p:cNvCxnSpPr>
            <a:stCxn id="6" idx="1"/>
            <a:endCxn id="28" idx="1"/>
          </p:cNvCxnSpPr>
          <p:nvPr/>
        </p:nvCxnSpPr>
        <p:spPr>
          <a:xfrm rot="10800000" flipH="1" flipV="1">
            <a:off x="1754894" y="3281587"/>
            <a:ext cx="52849" cy="1504245"/>
          </a:xfrm>
          <a:prstGeom prst="bentConnector3">
            <a:avLst>
              <a:gd name="adj1" fmla="val -432553"/>
            </a:avLst>
          </a:prstGeom>
          <a:noFill/>
          <a:ln w="9525" cap="flat" cmpd="sng" algn="ctr">
            <a:solidFill>
              <a:srgbClr val="183883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60" name="직선 화살표 연결선 59"/>
          <p:cNvCxnSpPr>
            <a:stCxn id="28" idx="3"/>
          </p:cNvCxnSpPr>
          <p:nvPr/>
        </p:nvCxnSpPr>
        <p:spPr>
          <a:xfrm>
            <a:off x="3334301" y="4785833"/>
            <a:ext cx="297146" cy="0"/>
          </a:xfrm>
          <a:prstGeom prst="straightConnector1">
            <a:avLst/>
          </a:prstGeom>
          <a:noFill/>
          <a:ln w="9525" cap="flat" cmpd="sng" algn="ctr">
            <a:solidFill>
              <a:srgbClr val="183883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67" name="직사각형 66"/>
          <p:cNvSpPr/>
          <p:nvPr/>
        </p:nvSpPr>
        <p:spPr>
          <a:xfrm>
            <a:off x="4951265" y="987055"/>
            <a:ext cx="2773516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ko-KR" sz="1000" kern="0" dirty="0" smtClean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XSD : XML Schema Description</a:t>
            </a:r>
          </a:p>
          <a:p>
            <a:r>
              <a:rPr kumimoji="0" lang="en-US" altLang="ko-KR" sz="1000" kern="0" dirty="0" smtClean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XML : </a:t>
            </a:r>
            <a:r>
              <a:rPr kumimoji="0" lang="en-US" altLang="ko-KR" sz="1000" kern="0" dirty="0" err="1" smtClean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eXtensible</a:t>
            </a:r>
            <a:r>
              <a:rPr kumimoji="0" lang="en-US" altLang="ko-KR" sz="1000" kern="0" dirty="0" smtClean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Markup Language</a:t>
            </a:r>
          </a:p>
          <a:p>
            <a:r>
              <a:rPr kumimoji="0" lang="en-US" altLang="ko-KR" sz="1000" kern="0" dirty="0" smtClean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JSON : </a:t>
            </a:r>
            <a:r>
              <a:rPr lang="en-US" altLang="ko-KR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JavaScript Object </a:t>
            </a:r>
            <a:r>
              <a:rPr lang="en-US" altLang="ko-KR" sz="1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Notation</a:t>
            </a:r>
          </a:p>
          <a:p>
            <a:r>
              <a:rPr lang="en-US" altLang="ko-KR" sz="1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WPF : Windows Presentation Foundation</a:t>
            </a:r>
          </a:p>
          <a:p>
            <a:r>
              <a:rPr lang="en-US" altLang="ko-KR" sz="1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XAML : (</a:t>
            </a:r>
            <a:r>
              <a:rPr lang="ko-KR" altLang="ko-KR" sz="1000" dirty="0">
                <a:latin typeface="Cambria Math" panose="02040503050406030204" pitchFamily="18" charset="0"/>
              </a:rPr>
              <a:t>eXtension Avalon Markup </a:t>
            </a:r>
            <a:r>
              <a:rPr lang="ko-KR" altLang="ko-KR" sz="1000" dirty="0" smtClean="0">
                <a:latin typeface="Cambria Math" panose="02040503050406030204" pitchFamily="18" charset="0"/>
              </a:rPr>
              <a:t>Language</a:t>
            </a:r>
            <a:r>
              <a:rPr lang="en-US" altLang="ko-KR" sz="1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r>
              <a:rPr lang="en-US" altLang="ko-KR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ko-KR" sz="1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          Extensible </a:t>
            </a:r>
            <a:r>
              <a:rPr lang="en-US" altLang="ko-KR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Application Markup </a:t>
            </a:r>
            <a:r>
              <a:rPr lang="en-US" altLang="ko-KR" sz="1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Language</a:t>
            </a:r>
          </a:p>
          <a:p>
            <a:r>
              <a:rPr lang="en-US" altLang="ko-KR" sz="1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HTML : </a:t>
            </a:r>
            <a:r>
              <a:rPr lang="en-US" altLang="ko-KR" sz="1000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HyperText</a:t>
            </a:r>
            <a:r>
              <a:rPr lang="en-US" altLang="ko-KR" sz="1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 Markup Language</a:t>
            </a:r>
          </a:p>
          <a:p>
            <a:r>
              <a:rPr lang="en-US" altLang="ko-KR" sz="1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CSS : </a:t>
            </a:r>
            <a:r>
              <a:rPr lang="en-US" altLang="ko-KR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Cascading Style </a:t>
            </a:r>
            <a:r>
              <a:rPr lang="en-US" altLang="ko-KR" sz="1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Sheets</a:t>
            </a:r>
          </a:p>
          <a:p>
            <a:r>
              <a:rPr lang="en-US" altLang="ko-KR" sz="1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MML : Mathematical Modeling Language</a:t>
            </a:r>
          </a:p>
          <a:p>
            <a:r>
              <a:rPr lang="en-US" altLang="ko-KR" sz="100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GAMS : </a:t>
            </a:r>
            <a:r>
              <a:rPr lang="en-US" altLang="ko-KR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General Algebraic Modeling System </a:t>
            </a:r>
            <a:endParaRPr lang="ko-KR" altLang="en-US" sz="1000" dirty="0">
              <a:latin typeface="Cambria Math" panose="02040503050406030204" pitchFamily="18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163051" y="2695939"/>
            <a:ext cx="662016" cy="246221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RES UI</a:t>
            </a:r>
            <a:endParaRPr kumimoji="0" lang="ko-KR" altLang="en-US" sz="1800" kern="0" dirty="0" smtClean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5180847" y="2937934"/>
            <a:ext cx="1981953" cy="758850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81838" y="3035366"/>
            <a:ext cx="1334435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RES Input Module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4883701" y="3295229"/>
            <a:ext cx="297146" cy="0"/>
          </a:xfrm>
          <a:prstGeom prst="straightConnector1">
            <a:avLst/>
          </a:prstGeom>
          <a:noFill/>
          <a:ln w="9525" cap="flat" cmpd="sng" algn="ctr">
            <a:solidFill>
              <a:srgbClr val="183883"/>
            </a:solidFill>
            <a:prstDash val="solid"/>
            <a:headEnd type="triangle" w="med" len="med"/>
            <a:tailEnd type="triangle" w="med" len="med"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5381840" y="3372895"/>
            <a:ext cx="1620094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RES Tree/Graphic Viewer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5842812" y="4122561"/>
            <a:ext cx="1118339" cy="246221"/>
          </a:xfrm>
          <a:prstGeom prst="rect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prstClr val="black"/>
                </a:solidFill>
                <a:latin typeface="맑은 고딕"/>
                <a:ea typeface="맑은 고딕"/>
              </a:rPr>
              <a:t>Output viewer</a:t>
            </a:r>
            <a:endParaRPr kumimoji="0" lang="ko-KR" altLang="en-US" sz="1800" kern="0" dirty="0" smtClean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5902245" y="4367778"/>
            <a:ext cx="1260555" cy="974550"/>
          </a:xfrm>
          <a:prstGeom prst="rect">
            <a:avLst/>
          </a:prstGeom>
          <a:noFill/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 smtClean="0">
              <a:solidFill>
                <a:prstClr val="white"/>
              </a:solidFill>
              <a:latin typeface="맑은 고딕"/>
              <a:ea typeface="맑은 고딕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271791" y="4519613"/>
            <a:ext cx="577742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</a:rPr>
              <a:t>JSON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199392" y="4916665"/>
            <a:ext cx="761760" cy="246221"/>
          </a:xfrm>
          <a:prstGeom prst="rect">
            <a:avLst/>
          </a:prstGeom>
          <a:solidFill>
            <a:srgbClr val="0067AF">
              <a:lumMod val="20000"/>
              <a:lumOff val="80000"/>
            </a:srgbClr>
          </a:solidFill>
          <a:ln w="9525" cap="flat" cmpd="sng" algn="ctr">
            <a:solidFill>
              <a:srgbClr val="183883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dirty="0" err="1" smtClean="0">
                <a:solidFill>
                  <a:prstClr val="black"/>
                </a:solidFill>
                <a:latin typeface="맑은 고딕"/>
                <a:ea typeface="맑은 고딕"/>
              </a:rPr>
              <a:t>Javascript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</a:endParaRPr>
          </a:p>
        </p:txBody>
      </p:sp>
      <p:cxnSp>
        <p:nvCxnSpPr>
          <p:cNvPr id="66" name="직선 화살표 연결선 65"/>
          <p:cNvCxnSpPr/>
          <p:nvPr/>
        </p:nvCxnSpPr>
        <p:spPr>
          <a:xfrm flipV="1">
            <a:off x="3328403" y="5162886"/>
            <a:ext cx="2573842" cy="1"/>
          </a:xfrm>
          <a:prstGeom prst="straightConnector1">
            <a:avLst/>
          </a:prstGeom>
          <a:noFill/>
          <a:ln w="9525" cap="flat" cmpd="sng" algn="ctr">
            <a:solidFill>
              <a:srgbClr val="183883"/>
            </a:solidFill>
            <a:prstDash val="solid"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974174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시스템개발 </a:t>
            </a:r>
            <a:r>
              <a:rPr lang="en-US" altLang="ko-KR" b="0" dirty="0"/>
              <a:t>: </a:t>
            </a:r>
            <a:r>
              <a:rPr lang="en-US" altLang="ko-KR" b="0" dirty="0" smtClean="0"/>
              <a:t>UI - WPF, XAML, XSD, XML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113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04" y="819053"/>
            <a:ext cx="8282500" cy="550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94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시스템개발 </a:t>
            </a:r>
            <a:r>
              <a:rPr lang="en-US" altLang="ko-KR" b="0" dirty="0"/>
              <a:t>: </a:t>
            </a:r>
            <a:r>
              <a:rPr lang="en-US" altLang="ko-KR" b="0" dirty="0" smtClean="0"/>
              <a:t>LP Viewer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114</a:t>
            </a:fld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783027"/>
            <a:ext cx="8072102" cy="557676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28" y="1680532"/>
            <a:ext cx="9412675" cy="346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22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시스템 개발 </a:t>
            </a:r>
            <a:r>
              <a:rPr lang="en-US" altLang="ko-KR" b="0" dirty="0" smtClean="0"/>
              <a:t>: Reporting </a:t>
            </a:r>
            <a:endParaRPr lang="ko-KR" altLang="en-US" b="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차별화된 </a:t>
            </a:r>
            <a:r>
              <a:rPr lang="en-US" altLang="ko-KR" dirty="0" smtClean="0"/>
              <a:t>Load curve </a:t>
            </a:r>
            <a:r>
              <a:rPr lang="ko-KR" altLang="en-US" dirty="0" smtClean="0"/>
              <a:t>구현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115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34" y="1653181"/>
            <a:ext cx="4263885" cy="398029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580" y="1653181"/>
            <a:ext cx="4195754" cy="39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9961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시스템 개발 </a:t>
            </a:r>
            <a:r>
              <a:rPr lang="en-US" altLang="ko-KR" b="0" dirty="0"/>
              <a:t>: Reporting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116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27" y="2125752"/>
            <a:ext cx="8617267" cy="4192476"/>
          </a:xfrm>
          <a:prstGeom prst="rect">
            <a:avLst/>
          </a:prstGeom>
        </p:spPr>
      </p:pic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685800" y="900113"/>
            <a:ext cx="8534400" cy="5195887"/>
          </a:xfrm>
        </p:spPr>
        <p:txBody>
          <a:bodyPr/>
          <a:lstStyle/>
          <a:p>
            <a:pPr lvl="0">
              <a:buClr>
                <a:srgbClr val="000000"/>
              </a:buClr>
            </a:pPr>
            <a:r>
              <a:rPr lang="ko-KR" altLang="en-US" dirty="0">
                <a:solidFill>
                  <a:srgbClr val="000000"/>
                </a:solidFill>
              </a:rPr>
              <a:t>현대적인 기술을 이용한 다양한 </a:t>
            </a:r>
            <a:r>
              <a:rPr lang="en-US" altLang="ko-KR" dirty="0">
                <a:solidFill>
                  <a:srgbClr val="000000"/>
                </a:solidFill>
              </a:rPr>
              <a:t>output viewer </a:t>
            </a:r>
            <a:r>
              <a:rPr lang="ko-KR" altLang="en-US" dirty="0" smtClean="0">
                <a:solidFill>
                  <a:srgbClr val="000000"/>
                </a:solidFill>
              </a:rPr>
              <a:t>구현</a:t>
            </a:r>
            <a:endParaRPr lang="en-US" altLang="ko-KR" dirty="0" smtClean="0">
              <a:solidFill>
                <a:srgbClr val="000000"/>
              </a:solidFill>
            </a:endParaRPr>
          </a:p>
          <a:p>
            <a:pPr lvl="1">
              <a:buClr>
                <a:srgbClr val="000000"/>
              </a:buClr>
            </a:pPr>
            <a:r>
              <a:rPr lang="en-US" altLang="ko-KR" dirty="0" smtClean="0">
                <a:solidFill>
                  <a:srgbClr val="000000"/>
                </a:solidFill>
              </a:rPr>
              <a:t>SVG(Scalable Vector Graphics) : Size</a:t>
            </a:r>
            <a:r>
              <a:rPr lang="ko-KR" altLang="en-US" dirty="0" smtClean="0">
                <a:solidFill>
                  <a:srgbClr val="000000"/>
                </a:solidFill>
              </a:rPr>
              <a:t>에 관계없이 고해상도 제공</a:t>
            </a:r>
            <a:endParaRPr lang="en-US" altLang="ko-KR" dirty="0" smtClean="0">
              <a:solidFill>
                <a:srgbClr val="000000"/>
              </a:solidFill>
            </a:endParaRPr>
          </a:p>
          <a:p>
            <a:pPr lvl="1">
              <a:buClr>
                <a:srgbClr val="000000"/>
              </a:buClr>
            </a:pPr>
            <a:r>
              <a:rPr lang="en-US" altLang="ko-KR" dirty="0" smtClean="0">
                <a:solidFill>
                  <a:srgbClr val="000000"/>
                </a:solidFill>
              </a:rPr>
              <a:t>stacked bar, grouped bar, stacked area </a:t>
            </a:r>
            <a:r>
              <a:rPr lang="ko-KR" altLang="en-US" dirty="0" smtClean="0">
                <a:solidFill>
                  <a:srgbClr val="000000"/>
                </a:solidFill>
              </a:rPr>
              <a:t>등</a:t>
            </a:r>
            <a:endParaRPr lang="en-US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83847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117</a:t>
            </a:fld>
            <a:endParaRPr lang="en-US" altLang="ko-KR"/>
          </a:p>
        </p:txBody>
      </p:sp>
      <p:sp>
        <p:nvSpPr>
          <p:cNvPr id="6" name="제목 1"/>
          <p:cNvSpPr txBox="1">
            <a:spLocks/>
          </p:cNvSpPr>
          <p:nvPr/>
        </p:nvSpPr>
        <p:spPr bwMode="auto">
          <a:xfrm>
            <a:off x="698974" y="749225"/>
            <a:ext cx="6753225" cy="1143000"/>
          </a:xfrm>
          <a:prstGeom prst="rect">
            <a:avLst/>
          </a:prstGeom>
          <a:solidFill>
            <a:srgbClr val="003366"/>
          </a:solidFill>
          <a:ln w="9525">
            <a:noFill/>
            <a:miter lim="800000"/>
            <a:headEnd/>
            <a:tailEnd/>
          </a:ln>
        </p:spPr>
        <p:txBody>
          <a:bodyPr vert="horz" wrap="square" lIns="19800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kern="0" dirty="0" smtClean="0">
                <a:latin typeface="나눔고딕 ExtraBold" pitchFamily="50" charset="-127"/>
                <a:ea typeface="나눔고딕 ExtraBold" pitchFamily="50" charset="-127"/>
              </a:rPr>
              <a:t>5</a:t>
            </a:r>
            <a:r>
              <a:rPr kumimoji="0" lang="en-US" altLang="ko-KR" sz="3200" kern="0" dirty="0">
                <a:latin typeface="나눔고딕 ExtraBold" pitchFamily="50" charset="-127"/>
                <a:ea typeface="나눔고딕 ExtraBold" pitchFamily="50" charset="-127"/>
              </a:rPr>
              <a:t>. </a:t>
            </a:r>
            <a:r>
              <a:rPr kumimoji="0" lang="ko-KR" altLang="en-US" sz="3200" kern="0" dirty="0">
                <a:latin typeface="나눔고딕 ExtraBold" pitchFamily="50" charset="-127"/>
                <a:ea typeface="나눔고딕 ExtraBold" pitchFamily="50" charset="-127"/>
              </a:rPr>
              <a:t>활용방안 및 평가</a:t>
            </a:r>
            <a:r>
              <a:rPr kumimoji="0" lang="en-US" altLang="ko-KR" sz="3200" kern="0" dirty="0">
                <a:latin typeface="나눔고딕 ExtraBold" pitchFamily="50" charset="-127"/>
                <a:ea typeface="나눔고딕 ExtraBold" pitchFamily="50" charset="-127"/>
              </a:rPr>
              <a:t>, </a:t>
            </a:r>
            <a:endParaRPr kumimoji="0" lang="en-US" altLang="ko-KR" sz="3200" kern="0" dirty="0" smtClean="0">
              <a:latin typeface="나눔고딕 ExtraBold" pitchFamily="50" charset="-127"/>
              <a:ea typeface="나눔고딕 ExtraBold" pitchFamily="50" charset="-127"/>
            </a:endParaRPr>
          </a:p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kern="0" dirty="0">
                <a:latin typeface="나눔고딕 ExtraBold" pitchFamily="50" charset="-127"/>
                <a:ea typeface="나눔고딕 ExtraBold" pitchFamily="50" charset="-127"/>
              </a:rPr>
              <a:t> </a:t>
            </a:r>
            <a:r>
              <a:rPr kumimoji="0" lang="en-US" altLang="ko-KR" sz="3200" kern="0" dirty="0" smtClean="0">
                <a:latin typeface="나눔고딕 ExtraBold" pitchFamily="50" charset="-127"/>
                <a:ea typeface="나눔고딕 ExtraBold" pitchFamily="50" charset="-127"/>
              </a:rPr>
              <a:t>   </a:t>
            </a:r>
            <a:r>
              <a:rPr kumimoji="0" lang="ko-KR" altLang="en-US" sz="3200" kern="0" dirty="0" smtClean="0">
                <a:latin typeface="나눔고딕 ExtraBold" pitchFamily="50" charset="-127"/>
                <a:ea typeface="나눔고딕 ExtraBold" pitchFamily="50" charset="-127"/>
              </a:rPr>
              <a:t>추진전략</a:t>
            </a:r>
            <a:r>
              <a:rPr kumimoji="0" lang="en-US" altLang="ko-KR" sz="3200" kern="0" dirty="0">
                <a:latin typeface="나눔고딕 ExtraBold" pitchFamily="50" charset="-127"/>
                <a:ea typeface="나눔고딕 ExtraBold" pitchFamily="50" charset="-127"/>
              </a:rPr>
              <a:t>, </a:t>
            </a:r>
            <a:r>
              <a:rPr kumimoji="0" lang="ko-KR" altLang="en-US" sz="3200" kern="0" dirty="0">
                <a:latin typeface="나눔고딕 ExtraBold" pitchFamily="50" charset="-127"/>
                <a:ea typeface="나눔고딕 ExtraBold" pitchFamily="50" charset="-127"/>
              </a:rPr>
              <a:t>일정</a:t>
            </a:r>
            <a:r>
              <a:rPr kumimoji="0" lang="en-US" altLang="ko-KR" sz="3200" kern="0" dirty="0">
                <a:latin typeface="나눔고딕 ExtraBold" pitchFamily="50" charset="-127"/>
                <a:ea typeface="나눔고딕 ExtraBold" pitchFamily="50" charset="-127"/>
              </a:rPr>
              <a:t>, </a:t>
            </a:r>
            <a:r>
              <a:rPr kumimoji="0" lang="ko-KR" altLang="en-US" sz="3200" kern="0" dirty="0" smtClean="0">
                <a:latin typeface="나눔고딕 ExtraBold" pitchFamily="50" charset="-127"/>
                <a:ea typeface="나눔고딕 ExtraBold" pitchFamily="50" charset="-127"/>
              </a:rPr>
              <a:t>예산</a:t>
            </a:r>
          </a:p>
        </p:txBody>
      </p:sp>
    </p:spTree>
    <p:extLst>
      <p:ext uri="{BB962C8B-B14F-4D97-AF65-F5344CB8AC3E}">
        <p14:creationId xmlns:p14="http://schemas.microsoft.com/office/powerpoint/2010/main" val="227660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04850" y="151003"/>
            <a:ext cx="8496300" cy="569626"/>
          </a:xfrm>
        </p:spPr>
        <p:txBody>
          <a:bodyPr/>
          <a:lstStyle/>
          <a:p>
            <a:r>
              <a:rPr lang="ko-KR" altLang="en-US" dirty="0" smtClean="0">
                <a:latin typeface="맑은 고딕"/>
                <a:ea typeface="맑은 고딕"/>
              </a:rPr>
              <a:t>활용방안 </a:t>
            </a:r>
            <a:r>
              <a:rPr lang="ko-KR" altLang="en-US" dirty="0">
                <a:latin typeface="맑은 고딕"/>
                <a:ea typeface="맑은 고딕"/>
              </a:rPr>
              <a:t>및 평가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활용방안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정량적 예상 성과</a:t>
            </a:r>
            <a:r>
              <a:rPr lang="en-US" altLang="ko-KR" dirty="0" smtClean="0"/>
              <a:t>(2</a:t>
            </a:r>
            <a:r>
              <a:rPr lang="ko-KR" altLang="en-US" dirty="0" smtClean="0"/>
              <a:t>차년도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118</a:t>
            </a:fld>
            <a:endParaRPr lang="en-US" altLang="ko-KR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865349"/>
              </p:ext>
            </p:extLst>
          </p:nvPr>
        </p:nvGraphicFramePr>
        <p:xfrm>
          <a:off x="1023103" y="1350072"/>
          <a:ext cx="7729925" cy="2042160"/>
        </p:xfrm>
        <a:graphic>
          <a:graphicData uri="http://schemas.openxmlformats.org/drawingml/2006/table">
            <a:tbl>
              <a:tblPr firstRow="1" bandRow="1"/>
              <a:tblGrid>
                <a:gridCol w="2048100"/>
                <a:gridCol w="5681825"/>
              </a:tblGrid>
              <a:tr h="21104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연 구 내 용</a:t>
                      </a:r>
                      <a:endParaRPr lang="ko-KR" altLang="en-US" sz="1100" b="1" kern="1200" baseline="0" dirty="0">
                        <a:solidFill>
                          <a:schemeClr val="lt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254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활 용 방 안  및  기 대 효 과</a:t>
                      </a:r>
                      <a:endParaRPr lang="ko-KR" altLang="en-US" sz="1100" b="1" kern="1200" baseline="0" dirty="0">
                        <a:solidFill>
                          <a:schemeClr val="lt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254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lumMod val="75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수리적 기반 구축</a:t>
                      </a:r>
                      <a:endParaRPr lang="ko-KR" altLang="en-US" sz="1100" kern="1200" spc="0" baseline="0" dirty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254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180975" indent="-180975" latinLnBrk="1">
                        <a:buFont typeface="Arial" pitchFamily="34" charset="0"/>
                        <a:buChar char="•"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한국형 상향식 모형 </a:t>
                      </a:r>
                      <a:r>
                        <a:rPr lang="en-US" altLang="ko-KR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시스템 구축을 위한 기본 연구에 활용</a:t>
                      </a:r>
                      <a:endParaRPr lang="en-US" altLang="ko-KR" sz="1100" kern="1200" spc="0" baseline="0" dirty="0" smtClean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  <a:p>
                      <a:pPr marL="180975" indent="-180975" latinLnBrk="1">
                        <a:buFont typeface="Arial" pitchFamily="34" charset="0"/>
                        <a:buChar char="•"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차별화된 상용 </a:t>
                      </a:r>
                      <a:r>
                        <a:rPr lang="en-US" altLang="ko-KR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시스템 개발을 기반 제공</a:t>
                      </a:r>
                      <a:endParaRPr lang="en-US" altLang="ko-KR" sz="1100" kern="1200" spc="0" baseline="0" dirty="0" smtClean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  <a:p>
                      <a:pPr marL="180975" indent="-180975" latinLnBrk="1">
                        <a:buFont typeface="Arial" pitchFamily="34" charset="0"/>
                        <a:buChar char="•"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개선된 수리모형화 및 이론적 연구성과 도출</a:t>
                      </a:r>
                      <a:endParaRPr lang="ko-KR" altLang="en-US" sz="1100" kern="1200" spc="0" baseline="0" dirty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254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alpha val="2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부문별 특성 조사 및 분석</a:t>
                      </a:r>
                      <a:endParaRPr lang="ko-KR" altLang="en-US" sz="1100" kern="1200" spc="0" baseline="0" dirty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180975" indent="-18097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국내 부문별 특성을 반영함으로써 한국형 감축모형 시스템으로써의 입지 강화</a:t>
                      </a:r>
                      <a:endParaRPr lang="en-US" altLang="ko-KR" sz="1100" kern="1200" spc="0" baseline="0" dirty="0" smtClean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  <a:p>
                      <a:pPr marL="180975" indent="-18097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국가 감축목표 설정을 위한 부문별 기초 자료로 활용</a:t>
                      </a:r>
                      <a:endParaRPr lang="en-US" altLang="ko-KR" sz="1100" kern="1200" spc="0" baseline="0" dirty="0" smtClean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  <a:p>
                      <a:pPr marL="180975" indent="-18097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국내 상황에 적합한 감축모형 구축을 위한 기초자료로 활용</a:t>
                      </a:r>
                      <a:endParaRPr lang="ko-KR" altLang="en-US" sz="1100" kern="1200" spc="0" baseline="0" dirty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한국형 상향식 모형 </a:t>
                      </a:r>
                      <a:r>
                        <a:rPr lang="en-US" altLang="ko-KR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S/W 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시스템 개발</a:t>
                      </a:r>
                      <a:endParaRPr lang="ko-KR" altLang="en-US" sz="1100" kern="1200" spc="0" baseline="0" dirty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180975" indent="-18097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국내 특화된 상향식 </a:t>
                      </a:r>
                      <a:r>
                        <a:rPr lang="en-US" altLang="ko-KR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시스템 확보 가능</a:t>
                      </a:r>
                      <a:endParaRPr lang="en-US" altLang="ko-KR" sz="1100" kern="1200" spc="0" baseline="0" dirty="0" smtClean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  <a:p>
                      <a:pPr marL="180975" indent="-18097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독자적인 상향식 </a:t>
                      </a:r>
                      <a:r>
                        <a:rPr lang="en-US" altLang="ko-KR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시스템 구축 기술 확보</a:t>
                      </a:r>
                      <a:endParaRPr lang="en-US" altLang="ko-KR" sz="1100" kern="1200" spc="0" baseline="0" dirty="0" smtClean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  <a:p>
                      <a:pPr marL="180975" indent="-180975" algn="l" defTabSz="914400" rtl="0" eaLnBrk="1" latinLnBrk="1" hangingPunct="1">
                        <a:buFont typeface="Arial" pitchFamily="34" charset="0"/>
                        <a:buChar char="•"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통합 모형 구축을 위한 </a:t>
                      </a:r>
                      <a:r>
                        <a:rPr lang="en-US" altLang="ko-KR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시스템 구축 기술 확보</a:t>
                      </a:r>
                      <a:endParaRPr lang="ko-KR" altLang="en-US" sz="1100" kern="1200" spc="0" baseline="0" dirty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290572"/>
              </p:ext>
            </p:extLst>
          </p:nvPr>
        </p:nvGraphicFramePr>
        <p:xfrm>
          <a:off x="1029498" y="4053036"/>
          <a:ext cx="7878221" cy="1854200"/>
        </p:xfrm>
        <a:graphic>
          <a:graphicData uri="http://schemas.openxmlformats.org/drawingml/2006/table">
            <a:tbl>
              <a:tblPr firstRow="1" bandRow="1"/>
              <a:tblGrid>
                <a:gridCol w="2693409"/>
                <a:gridCol w="2289398"/>
                <a:gridCol w="2895414"/>
              </a:tblGrid>
              <a:tr h="21104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연 구 성 과</a:t>
                      </a:r>
                      <a:endParaRPr lang="ko-KR" altLang="en-US" sz="1100" b="1" kern="1200" baseline="0" dirty="0">
                        <a:solidFill>
                          <a:schemeClr val="lt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254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평가의 착안점</a:t>
                      </a:r>
                      <a:endParaRPr lang="ko-KR" altLang="en-US" sz="1100" b="1" kern="1200" baseline="0" dirty="0">
                        <a:solidFill>
                          <a:schemeClr val="lt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254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기준</a:t>
                      </a:r>
                      <a:endParaRPr lang="ko-KR" altLang="en-US" sz="1100" b="1" kern="1200" baseline="0" dirty="0">
                        <a:solidFill>
                          <a:schemeClr val="lt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254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lumMod val="75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수리적 기반 구축</a:t>
                      </a:r>
                      <a:endParaRPr lang="ko-KR" altLang="en-US" sz="1100" kern="1200" spc="0" baseline="0" dirty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254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기존 연구와 차별화된 전력부문 상향식 모형화</a:t>
                      </a:r>
                      <a:endParaRPr lang="ko-KR" altLang="en-US" sz="1100" kern="1200" spc="0" baseline="0" dirty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254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 latinLnBrk="1">
                        <a:buFont typeface="Arial" pitchFamily="34" charset="0"/>
                        <a:buNone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차별화된 전력부문 상향식 모형 정식화 </a:t>
                      </a:r>
                      <a:endParaRPr lang="en-US" altLang="ko-KR" sz="1100" kern="1200" spc="0" baseline="0" dirty="0" smtClean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  <a:p>
                      <a:pPr marL="0" indent="0" algn="ctr" latinLnBrk="1">
                        <a:buFont typeface="Arial" pitchFamily="34" charset="0"/>
                        <a:buNone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여부</a:t>
                      </a:r>
                      <a:endParaRPr lang="ko-KR" altLang="en-US" sz="1100" kern="1200" spc="0" baseline="0" dirty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254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alpha val="2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부문별 특성 조사 및 분석</a:t>
                      </a: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 defTabSz="914400" rtl="0" eaLnBrk="1" latinLnBrk="1" hangingPunct="1">
                        <a:buFontTx/>
                        <a:buNone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전력부문 특성 조사 및 분석</a:t>
                      </a:r>
                      <a:endParaRPr lang="ko-KR" altLang="en-US" sz="1100" kern="1200" spc="0" baseline="0" dirty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 latinLnBrk="1">
                        <a:buFont typeface="Arial" pitchFamily="34" charset="0"/>
                        <a:buNone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전력 부문 사 여부</a:t>
                      </a:r>
                      <a:endParaRPr lang="ko-KR" altLang="en-US" sz="1100" kern="1200" spc="0" baseline="0" dirty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한국형 상향식 모형 </a:t>
                      </a:r>
                      <a:r>
                        <a:rPr lang="en-US" altLang="ko-KR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시스템 개발</a:t>
                      </a:r>
                      <a:endParaRPr lang="ko-KR" altLang="en-US" sz="1100" kern="1200" spc="0" baseline="0" dirty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 defTabSz="914400" rtl="0" eaLnBrk="1" latinLnBrk="1" hangingPunct="1">
                        <a:buFontTx/>
                        <a:buNone/>
                      </a:pPr>
                      <a:r>
                        <a:rPr lang="ko-KR" altLang="en-US" sz="1100" kern="1200" spc="0" baseline="0" dirty="0" err="1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프로토타입</a:t>
                      </a: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 기능 테스트</a:t>
                      </a:r>
                      <a:endParaRPr lang="ko-KR" altLang="en-US" sz="1100" kern="1200" spc="0" baseline="0" dirty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ko-KR" altLang="en-US" sz="1100" kern="1200" spc="0" baseline="0" dirty="0" err="1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프로토타입</a:t>
                      </a:r>
                      <a:r>
                        <a:rPr lang="en-US" altLang="ko-KR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기능 구현 및 테스트 여부</a:t>
                      </a:r>
                      <a:endParaRPr lang="ko-KR" altLang="en-US" sz="1100" kern="1200" spc="0" baseline="0" dirty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D9E">
                        <a:alpha val="2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공  통</a:t>
                      </a:r>
                      <a:endParaRPr lang="ko-KR" altLang="en-US" sz="1100" kern="1200" spc="0" baseline="0" dirty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 defTabSz="914400" rtl="0" eaLnBrk="1" latinLnBrk="1" hangingPunct="1">
                        <a:buFontTx/>
                        <a:buNone/>
                      </a:pP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논문투고 및 게재의 수</a:t>
                      </a:r>
                      <a:r>
                        <a:rPr lang="en-US" altLang="ko-KR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연구개발 홍보의 수</a:t>
                      </a:r>
                      <a:r>
                        <a:rPr lang="en-US" altLang="ko-KR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인력양성</a:t>
                      </a:r>
                      <a:endParaRPr lang="ko-KR" altLang="en-US" sz="1100" kern="1200" spc="0" baseline="0" dirty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 defTabSz="914400" rtl="0" eaLnBrk="1" latinLnBrk="1" hangingPunct="1">
                        <a:buFont typeface="Arial" pitchFamily="34" charset="0"/>
                        <a:buNone/>
                      </a:pPr>
                      <a:r>
                        <a:rPr lang="en-US" altLang="ko-KR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SCI</a:t>
                      </a: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급 논문 </a:t>
                      </a:r>
                      <a:r>
                        <a:rPr lang="en-US" altLang="ko-KR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(1</a:t>
                      </a: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건</a:t>
                      </a:r>
                      <a:r>
                        <a:rPr lang="en-US" altLang="ko-KR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), </a:t>
                      </a:r>
                      <a:r>
                        <a:rPr lang="ko-KR" altLang="en-US" sz="1100" kern="1200" spc="0" baseline="0" dirty="0" err="1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프로토타입</a:t>
                      </a:r>
                      <a:r>
                        <a:rPr lang="ko-KR" altLang="en-US" sz="1100" kern="1200" spc="0" baseline="0" dirty="0" smtClean="0">
                          <a:solidFill>
                            <a:schemeClr val="dk1"/>
                          </a:solidFill>
                          <a:latin typeface="+mn-lt"/>
                          <a:ea typeface="나눔고딕" pitchFamily="50" charset="-127"/>
                          <a:cs typeface="+mn-cs"/>
                        </a:rPr>
                        <a:t> 기능 구현 및 시연</a:t>
                      </a:r>
                      <a:endParaRPr lang="ko-KR" altLang="en-US" sz="1100" kern="1200" spc="0" baseline="0" dirty="0">
                        <a:solidFill>
                          <a:schemeClr val="dk1"/>
                        </a:solidFill>
                        <a:latin typeface="+mn-lt"/>
                        <a:ea typeface="나눔고딕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005D9E"/>
                      </a:solidFill>
                    </a:lnL>
                    <a:lnR w="12700" cmpd="sng">
                      <a:solidFill>
                        <a:srgbClr val="005D9E"/>
                      </a:solidFill>
                    </a:lnR>
                    <a:lnT w="12700" cmpd="sng">
                      <a:solidFill>
                        <a:srgbClr val="005D9E"/>
                      </a:solidFill>
                    </a:lnT>
                    <a:lnB w="12700" cmpd="sng">
                      <a:solidFill>
                        <a:srgbClr val="005D9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331451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연도별 연구성과 창출계획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119</a:t>
            </a:fld>
            <a:endParaRPr lang="en-US" altLang="ko-KR"/>
          </a:p>
        </p:txBody>
      </p:sp>
      <p:graphicFrame>
        <p:nvGraphicFramePr>
          <p:cNvPr id="6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8635917"/>
              </p:ext>
            </p:extLst>
          </p:nvPr>
        </p:nvGraphicFramePr>
        <p:xfrm>
          <a:off x="636509" y="1373537"/>
          <a:ext cx="8286755" cy="3648456"/>
        </p:xfrm>
        <a:graphic>
          <a:graphicData uri="http://schemas.openxmlformats.org/drawingml/2006/table">
            <a:tbl>
              <a:tblPr firstRow="1" bandRow="1"/>
              <a:tblGrid>
                <a:gridCol w="2076451"/>
                <a:gridCol w="776288"/>
                <a:gridCol w="776288"/>
                <a:gridCol w="776288"/>
                <a:gridCol w="776288"/>
                <a:gridCol w="776288"/>
                <a:gridCol w="776288"/>
                <a:gridCol w="776288"/>
                <a:gridCol w="776288"/>
              </a:tblGrid>
              <a:tr h="3040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구분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ko-KR" altLang="en-US" sz="1100" b="1" kern="12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+mn-cs"/>
                        </a:rPr>
                        <a:t>계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차년도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2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차년도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3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차년도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4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차년도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5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차년도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6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차년도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7</a:t>
                      </a:r>
                      <a:r>
                        <a:rPr lang="ko-KR" altLang="en-US" sz="110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차년도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7907" marR="17907" marT="17907" marB="17907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</a:tr>
              <a:tr h="3040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고용창출 성과 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명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100" spc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</a:tr>
              <a:tr h="3040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학술지 게재 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– SCI(E) (</a:t>
                      </a:r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건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100" spc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latin typeface="맑은 고딕"/>
                        </a:rPr>
                        <a:t>6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</a:tr>
              <a:tr h="3040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학술지 게재 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– </a:t>
                      </a:r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일반 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건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100" spc="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</a:tr>
              <a:tr h="3040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국내외 학술회의 발표 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건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100" spc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20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</a:tr>
              <a:tr h="30403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기타 공공성과</a:t>
                      </a:r>
                      <a:endParaRPr lang="ko-KR" altLang="en-US" sz="1100" spc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>
                        <a:alpha val="9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>
                        <a:alpha val="9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>
                        <a:alpha val="9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>
                        <a:alpha val="9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>
                        <a:alpha val="9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>
                        <a:alpha val="9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>
                        <a:alpha val="9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>
                        <a:alpha val="9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>
                        <a:alpha val="98000"/>
                      </a:srgbClr>
                    </a:solidFill>
                  </a:tcPr>
                </a:tc>
              </a:tr>
              <a:tr h="30403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프로그램 등록</a:t>
                      </a:r>
                      <a:endParaRPr lang="ko-KR" altLang="en-US" sz="1100" spc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</a:tr>
              <a:tr h="3040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인력교류 성과 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– </a:t>
                      </a:r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해외파견 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명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100" spc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</a:tr>
              <a:tr h="3040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국제협력 기반 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– MOU </a:t>
                      </a:r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체결 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건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100" spc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</a:tr>
              <a:tr h="3040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인력배출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학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석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박사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100" spc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</a:tr>
              <a:tr h="3040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장단기연수 지원 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– </a:t>
                      </a:r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단기 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명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100" spc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tint val="20000"/>
                      </a:srgbClr>
                    </a:solidFill>
                  </a:tcPr>
                </a:tc>
              </a:tr>
              <a:tr h="3040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보도실적 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건</a:t>
                      </a:r>
                      <a:r>
                        <a:rPr lang="en-US" altLang="ko-KR" sz="1100" spc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  <a:endParaRPr lang="ko-KR" altLang="en-US" sz="1100" spc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6000" marR="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25093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추진일정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120</a:t>
            </a:fld>
            <a:endParaRPr lang="en-US" altLang="ko-KR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095590"/>
              </p:ext>
            </p:extLst>
          </p:nvPr>
        </p:nvGraphicFramePr>
        <p:xfrm>
          <a:off x="725859" y="1228729"/>
          <a:ext cx="7488832" cy="4209118"/>
        </p:xfrm>
        <a:graphic>
          <a:graphicData uri="http://schemas.openxmlformats.org/drawingml/2006/table">
            <a:tbl>
              <a:tblPr/>
              <a:tblGrid>
                <a:gridCol w="504057"/>
                <a:gridCol w="1610322"/>
                <a:gridCol w="2712457"/>
                <a:gridCol w="221833"/>
                <a:gridCol w="221833"/>
                <a:gridCol w="221833"/>
                <a:gridCol w="221833"/>
                <a:gridCol w="221833"/>
                <a:gridCol w="221833"/>
                <a:gridCol w="221833"/>
                <a:gridCol w="221833"/>
                <a:gridCol w="221833"/>
                <a:gridCol w="221833"/>
                <a:gridCol w="221833"/>
                <a:gridCol w="221833"/>
              </a:tblGrid>
              <a:tr h="290214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9268" marR="9268" marT="9268" marB="9268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 rowSpan="2"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연구개발의 내용</a:t>
                      </a:r>
                    </a:p>
                  </a:txBody>
                  <a:tcPr marL="9268" marR="9268" marT="9268" marB="926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추 진 일 정</a:t>
                      </a:r>
                    </a:p>
                  </a:txBody>
                  <a:tcPr marL="9268" marR="9268" marT="9268" marB="926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902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1</a:t>
                      </a:r>
                    </a:p>
                  </a:txBody>
                  <a:tcPr marL="9268" marR="9268" marT="9268" marB="926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2</a:t>
                      </a:r>
                    </a:p>
                  </a:txBody>
                  <a:tcPr marL="9268" marR="9268" marT="9268" marB="926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3</a:t>
                      </a:r>
                    </a:p>
                  </a:txBody>
                  <a:tcPr marL="9268" marR="9268" marT="9268" marB="926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4</a:t>
                      </a:r>
                    </a:p>
                  </a:txBody>
                  <a:tcPr marL="9268" marR="9268" marT="9268" marB="926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5</a:t>
                      </a:r>
                    </a:p>
                  </a:txBody>
                  <a:tcPr marL="9268" marR="9268" marT="9268" marB="926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6</a:t>
                      </a:r>
                    </a:p>
                  </a:txBody>
                  <a:tcPr marL="9268" marR="9268" marT="9268" marB="926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7</a:t>
                      </a:r>
                    </a:p>
                  </a:txBody>
                  <a:tcPr marL="9268" marR="9268" marT="9268" marB="926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8</a:t>
                      </a:r>
                    </a:p>
                  </a:txBody>
                  <a:tcPr marL="9268" marR="9268" marT="9268" marB="926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9</a:t>
                      </a:r>
                    </a:p>
                  </a:txBody>
                  <a:tcPr marL="9268" marR="9268" marT="9268" marB="926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10</a:t>
                      </a:r>
                    </a:p>
                  </a:txBody>
                  <a:tcPr marL="9268" marR="9268" marT="9268" marB="926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11</a:t>
                      </a:r>
                    </a:p>
                  </a:txBody>
                  <a:tcPr marL="9268" marR="9268" marT="9268" marB="926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12</a:t>
                      </a:r>
                    </a:p>
                  </a:txBody>
                  <a:tcPr marL="9268" marR="9268" marT="9268" marB="926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/>
                    </a:solidFill>
                  </a:tcPr>
                </a:tc>
              </a:tr>
              <a:tr h="362869">
                <a:tc rowSpan="10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cap="none" spc="0" dirty="0" smtClean="0">
                          <a:ln w="10160">
                            <a:solidFill>
                              <a:sysClr val="windowText" lastClr="000000"/>
                            </a:solidFill>
                            <a:prstDash val="solid"/>
                          </a:ln>
                          <a:solidFill>
                            <a:sysClr val="windowText" lastClr="000000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0" kern="0" cap="none" spc="0" dirty="0">
                          <a:ln w="10160">
                            <a:solidFill>
                              <a:sysClr val="windowText" lastClr="000000"/>
                            </a:solidFill>
                            <a:prstDash val="solid"/>
                          </a:ln>
                          <a:solidFill>
                            <a:sysClr val="windowText" lastClr="000000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차 </a:t>
                      </a:r>
                      <a:endParaRPr lang="en-US" altLang="ko-KR" sz="1100" b="0" kern="0" cap="none" spc="0" dirty="0" smtClean="0">
                        <a:ln w="10160">
                          <a:solidFill>
                            <a:sysClr val="windowText" lastClr="000000"/>
                          </a:solidFill>
                          <a:prstDash val="solid"/>
                        </a:ln>
                        <a:solidFill>
                          <a:sysClr val="windowText" lastClr="000000"/>
                        </a:solidFill>
                        <a:effectLst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 smtClean="0">
                          <a:ln w="10160">
                            <a:solidFill>
                              <a:sysClr val="windowText" lastClr="000000"/>
                            </a:solidFill>
                            <a:prstDash val="solid"/>
                          </a:ln>
                          <a:solidFill>
                            <a:sysClr val="windowText" lastClr="000000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년도</a:t>
                      </a:r>
                      <a:endParaRPr lang="ko-KR" altLang="en-US" sz="1100" b="0" kern="0" cap="none" spc="0" dirty="0">
                        <a:ln w="10160">
                          <a:solidFill>
                            <a:sysClr val="windowText" lastClr="000000"/>
                          </a:solidFill>
                          <a:prstDash val="solid"/>
                        </a:ln>
                        <a:solidFill>
                          <a:sysClr val="windowText" lastClr="000000"/>
                        </a:solidFill>
                        <a:effectLst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marL="9268" marR="9268" marT="9268" marB="9268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11430" marR="0" indent="-1143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한국형 상향식 </a:t>
                      </a:r>
                      <a:r>
                        <a:rPr lang="en-US" altLang="ko-KR" sz="12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2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시스템 개발을 위한 </a:t>
                      </a:r>
                      <a:r>
                        <a:rPr lang="ko-KR" altLang="en-US" sz="12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수리적 기반</a:t>
                      </a:r>
                      <a:endParaRPr lang="ko-KR" altLang="en-US" sz="12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marL="9268" marR="9268" marT="9268" marB="926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ko-KR" altLang="en-US" sz="1100" kern="0" spc="-170" dirty="0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전력부문 수리모형화</a:t>
                      </a:r>
                      <a:endParaRPr lang="ko-KR" altLang="en-US" sz="1100" kern="0" spc="-170" dirty="0">
                        <a:solidFill>
                          <a:srgbClr val="000000"/>
                        </a:solidFill>
                        <a:effectLst/>
                        <a:latin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28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en-US" sz="1100" kern="0" spc="-120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ReEDS </a:t>
                      </a:r>
                      <a:r>
                        <a:rPr lang="ko-KR" altLang="en-US" sz="1100" kern="0" spc="-170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수리적 분석</a:t>
                      </a:r>
                      <a:endParaRPr lang="ko-KR" altLang="en-US" sz="1100" kern="0" spc="-170">
                        <a:solidFill>
                          <a:srgbClr val="000000"/>
                        </a:solidFill>
                        <a:effectLst/>
                        <a:latin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28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ko-KR" altLang="en-US" sz="1100" kern="0" spc="-170" dirty="0" err="1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최적해의</a:t>
                      </a:r>
                      <a:r>
                        <a:rPr lang="ko-KR" altLang="en-US" sz="1100" kern="0" spc="-170" dirty="0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 특성 분석</a:t>
                      </a:r>
                      <a:endParaRPr lang="ko-KR" altLang="en-US" sz="1100" kern="0" spc="-170" dirty="0">
                        <a:solidFill>
                          <a:srgbClr val="000000"/>
                        </a:solidFill>
                        <a:effectLst/>
                        <a:latin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</a:tr>
              <a:tr h="362869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0" kern="0" cap="none" spc="0" dirty="0">
                        <a:ln w="10160">
                          <a:solidFill>
                            <a:sysClr val="windowText" lastClr="000000"/>
                          </a:solidFill>
                          <a:prstDash val="solid"/>
                        </a:ln>
                        <a:solidFill>
                          <a:sysClr val="windowText" lastClr="000000"/>
                        </a:solidFill>
                        <a:effectLst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marL="9268" marR="9268" marT="9268" marB="9268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11430" marR="0" indent="-1143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부문별 특성 조사</a:t>
                      </a:r>
                      <a:endParaRPr lang="en-US" altLang="ko-KR" sz="1200" b="0" kern="0" cap="none" spc="0" dirty="0" smtClean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  <a:p>
                      <a:pPr marL="11430" marR="0" indent="-1143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및 분석</a:t>
                      </a:r>
                      <a:endParaRPr lang="ko-KR" altLang="en-US" sz="12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marL="9268" marR="9268" marT="9268" marB="926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ko-KR" altLang="en-US" sz="1100" kern="0" spc="-170" dirty="0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전력부문 기존 연구 분석</a:t>
                      </a:r>
                      <a:endParaRPr lang="ko-KR" altLang="en-US" sz="1100" kern="0" spc="-170" dirty="0">
                        <a:solidFill>
                          <a:srgbClr val="000000"/>
                        </a:solidFill>
                        <a:effectLst/>
                        <a:latin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28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ko-KR" altLang="en-US" sz="1100" kern="0" spc="-170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국내 전력수급 환경 분석</a:t>
                      </a:r>
                      <a:endParaRPr lang="ko-KR" altLang="en-US" sz="1100" kern="0" spc="-170">
                        <a:solidFill>
                          <a:srgbClr val="000000"/>
                        </a:solidFill>
                        <a:effectLst/>
                        <a:latin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28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ko-KR" altLang="en-US" sz="1100" kern="0" spc="-170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전력부문 고유 특성 분석</a:t>
                      </a:r>
                      <a:endParaRPr lang="ko-KR" altLang="en-US" sz="1100" kern="0" spc="-170">
                        <a:solidFill>
                          <a:srgbClr val="000000"/>
                        </a:solidFill>
                        <a:effectLst/>
                        <a:latin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28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ko-KR" altLang="en-US" sz="1100" kern="0" spc="-170" dirty="0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전력부문 시스템 기능 도출</a:t>
                      </a:r>
                      <a:endParaRPr lang="ko-KR" altLang="en-US" sz="1100" kern="0" spc="-170" dirty="0">
                        <a:solidFill>
                          <a:srgbClr val="000000"/>
                        </a:solidFill>
                        <a:effectLst/>
                        <a:latin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</a:tr>
              <a:tr h="3628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11430" marR="0" indent="-1143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한국형 상향식 </a:t>
                      </a:r>
                      <a:r>
                        <a:rPr lang="en-US" altLang="ko-KR" sz="12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S/W </a:t>
                      </a:r>
                      <a:r>
                        <a:rPr lang="ko-KR" altLang="en-US" sz="12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  <a:cs typeface="+mn-cs"/>
                        </a:rPr>
                        <a:t>시스템 개발</a:t>
                      </a:r>
                      <a:endParaRPr lang="ko-KR" altLang="en-US" sz="12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marL="9268" marR="9268" marT="9268" marB="926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ko-KR" altLang="en-US" sz="1100" kern="0" spc="-170" dirty="0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시스템 개발 방법론 연구</a:t>
                      </a:r>
                      <a:endParaRPr lang="ko-KR" altLang="en-US" sz="1100" kern="0" spc="-170" dirty="0">
                        <a:solidFill>
                          <a:srgbClr val="000000"/>
                        </a:solidFill>
                        <a:effectLst/>
                        <a:latin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28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ko-KR" altLang="en-US" sz="1100" kern="0" spc="-170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시스템 </a:t>
                      </a:r>
                      <a:r>
                        <a:rPr lang="en-US" altLang="ko-KR" sz="1100" kern="0" spc="-120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UI </a:t>
                      </a:r>
                      <a:r>
                        <a:rPr lang="ko-KR" altLang="en-US" sz="1100" kern="0" spc="-170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및 기능 설계</a:t>
                      </a:r>
                      <a:endParaRPr lang="ko-KR" altLang="en-US" sz="1100" kern="0" spc="-170">
                        <a:solidFill>
                          <a:srgbClr val="000000"/>
                        </a:solidFill>
                        <a:effectLst/>
                        <a:latin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28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6256000" algn="l"/>
                        </a:tabLst>
                      </a:pPr>
                      <a:r>
                        <a:rPr lang="ko-KR" altLang="en-US" sz="1100" kern="0" spc="-170" dirty="0" err="1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프로토타입</a:t>
                      </a:r>
                      <a:r>
                        <a:rPr lang="ko-KR" altLang="en-US" sz="1100" kern="0" spc="-170" dirty="0">
                          <a:solidFill>
                            <a:srgbClr val="000000"/>
                          </a:solidFill>
                          <a:effectLst/>
                          <a:latin typeface="한양중고딕"/>
                          <a:ea typeface="한양중고딕"/>
                        </a:rPr>
                        <a:t> 기능 테스트</a:t>
                      </a:r>
                      <a:endParaRPr lang="ko-KR" altLang="en-US" sz="1100" kern="0" spc="-170" dirty="0">
                        <a:solidFill>
                          <a:srgbClr val="000000"/>
                        </a:solidFill>
                        <a:effectLst/>
                        <a:latin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한양신명조"/>
                        <a:ea typeface="한양중고딕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CA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25411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예산계획</a:t>
            </a:r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121</a:t>
            </a:fld>
            <a:endParaRPr lang="en-US" altLang="ko-KR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41326"/>
              </p:ext>
            </p:extLst>
          </p:nvPr>
        </p:nvGraphicFramePr>
        <p:xfrm>
          <a:off x="606903" y="987230"/>
          <a:ext cx="8004444" cy="5086639"/>
        </p:xfrm>
        <a:graphic>
          <a:graphicData uri="http://schemas.openxmlformats.org/drawingml/2006/table">
            <a:tbl>
              <a:tblPr/>
              <a:tblGrid>
                <a:gridCol w="496367"/>
                <a:gridCol w="1205463"/>
                <a:gridCol w="412196"/>
                <a:gridCol w="1300054"/>
                <a:gridCol w="1803708"/>
                <a:gridCol w="1610371"/>
                <a:gridCol w="1176285"/>
              </a:tblGrid>
              <a:tr h="26193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 smtClean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</a:rPr>
                        <a:t>비목</a:t>
                      </a:r>
                      <a:endParaRPr lang="ko-KR" altLang="en-US" sz="1100" b="0" kern="0" cap="none" spc="0" dirty="0">
                        <a:ln w="10160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rgbClr val="FFFFFF"/>
                        </a:solidFill>
                        <a:effectLst>
                          <a:outerShdw blurRad="38100" dist="32000" dir="5400000" algn="tl">
                            <a:srgbClr val="000000">
                              <a:alpha val="30000"/>
                            </a:srgbClr>
                          </a:outerShdw>
                        </a:effectLst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lumMod val="75000"/>
                      </a:srgb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</a:rPr>
                        <a:t>세목 및 사용용도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</a:rPr>
                        <a:t>금액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</a:rPr>
                        <a:t>구성비</a:t>
                      </a:r>
                      <a:r>
                        <a:rPr lang="en-US" altLang="ko-KR" sz="1100" b="0" kern="0" cap="none" spc="0" dirty="0">
                          <a:ln w="10160">
                            <a:solidFill>
                              <a:schemeClr val="accent1"/>
                            </a:solidFill>
                            <a:prstDash val="solid"/>
                          </a:ln>
                          <a:solidFill>
                            <a:srgbClr val="FFFFFF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</a:rPr>
                        <a:t>(%)</a:t>
                      </a:r>
                      <a:endParaRPr lang="ko-KR" altLang="en-US" sz="1100" b="0" kern="0" cap="none" spc="0" dirty="0">
                        <a:ln w="10160">
                          <a:solidFill>
                            <a:schemeClr val="accent1"/>
                          </a:solidFill>
                          <a:prstDash val="solid"/>
                        </a:ln>
                        <a:solidFill>
                          <a:srgbClr val="FFFFFF"/>
                        </a:solidFill>
                        <a:effectLst>
                          <a:outerShdw blurRad="38100" dist="32000" dir="5400000" algn="tl">
                            <a:srgbClr val="000000">
                              <a:alpha val="30000"/>
                            </a:srgbClr>
                          </a:outerShdw>
                        </a:effectLst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lumMod val="75000"/>
                      </a:srgbClr>
                    </a:solidFill>
                  </a:tcPr>
                </a:tc>
              </a:tr>
              <a:tr h="255703">
                <a:tc rowSpan="1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직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접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비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인건비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</a:rPr>
                        <a:t>미지급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</a:rPr>
                        <a:t>(151,200,000</a:t>
                      </a:r>
                      <a:r>
                        <a:rPr 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</a:rPr>
                        <a:t>)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>
                            <a:outerShdw blurRad="38100" dist="3200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  <a:latin typeface="돋움" pitchFamily="50" charset="-127"/>
                          <a:ea typeface="돋움" pitchFamily="50" charset="-127"/>
                        </a:rPr>
                        <a:t>-</a:t>
                      </a:r>
                      <a:endParaRPr lang="ko-KR" alt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>
                          <a:outerShdw blurRad="38100" dist="32000" dir="5400000" algn="tl">
                            <a:srgbClr val="000000">
                              <a:alpha val="30000"/>
                            </a:srgbClr>
                          </a:outerShdw>
                        </a:effectLst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</a:tr>
              <a:tr h="255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지급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11549" marT="11549" marB="11549" anchor="ctr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현금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39,900,000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39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17.7%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</a:tr>
              <a:tr h="255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11549" marT="11549" marB="11549" anchor="ctr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현물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-</a:t>
                      </a:r>
                      <a:endParaRPr lang="ko-KR" alt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39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-</a:t>
                      </a:r>
                      <a:endParaRPr lang="ko-KR" alt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</a:tr>
              <a:tr h="255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연구활동비</a:t>
                      </a:r>
                      <a:endParaRPr lang="ko-KR" alt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기기</a:t>
                      </a:r>
                      <a:r>
                        <a:rPr lang="en-US" altLang="ko-KR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, </a:t>
                      </a:r>
                      <a:r>
                        <a:rPr lang="ko-KR" alt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장비 구입 등</a:t>
                      </a:r>
                      <a:endParaRPr lang="ko-KR" alt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ap="flat" cmpd="sng" algn="ctr">
                      <a:solidFill>
                        <a:srgbClr val="006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19,500,000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39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ap="flat" cmpd="sng" algn="ctr">
                      <a:solidFill>
                        <a:srgbClr val="006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8.7%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ap="flat" cmpd="sng" algn="ctr">
                      <a:solidFill>
                        <a:srgbClr val="006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</a:tr>
              <a:tr h="255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국외 출장여비</a:t>
                      </a:r>
                    </a:p>
                  </a:txBody>
                  <a:tcPr marL="11549" marR="11549" marT="11549" marB="11549" anchor="ctr">
                    <a:lnL w="12700" cap="flat" cmpd="sng" algn="ctr">
                      <a:solidFill>
                        <a:srgbClr val="006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10,000,000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396000" marT="11549" marB="11549" anchor="ctr">
                    <a:lnL w="12700" cap="flat" cmpd="sng" algn="ctr">
                      <a:solidFill>
                        <a:srgbClr val="006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4.4%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ap="flat" cmpd="sng" algn="ctr">
                      <a:solidFill>
                        <a:srgbClr val="006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67AF"/>
                      </a:solidFill>
                    </a:lnR>
                    <a:lnT w="12700" cap="flat" cmpd="sng" algn="ctr">
                      <a:solidFill>
                        <a:srgbClr val="006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</a:tr>
              <a:tr h="255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인쇄</a:t>
                      </a:r>
                      <a:r>
                        <a:rPr lang="en-US" altLang="ko-KR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, </a:t>
                      </a: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복사</a:t>
                      </a:r>
                      <a:r>
                        <a:rPr lang="en-US" altLang="ko-KR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, </a:t>
                      </a: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공공요금 등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ap="flat" cmpd="sng" algn="ctr">
                      <a:solidFill>
                        <a:srgbClr val="006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2,44,000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39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ap="flat" cmpd="sng" algn="ctr">
                      <a:solidFill>
                        <a:srgbClr val="006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1.1%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ap="flat" cmpd="sng" algn="ctr">
                      <a:solidFill>
                        <a:srgbClr val="0067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</a:tr>
              <a:tr h="255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-635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전문가활용</a:t>
                      </a:r>
                      <a:r>
                        <a:rPr lang="en-US" altLang="ko-KR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, </a:t>
                      </a: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회의장 사용료</a:t>
                      </a:r>
                      <a:r>
                        <a:rPr lang="en-US" altLang="ko-KR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, </a:t>
                      </a: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학회</a:t>
                      </a:r>
                      <a:r>
                        <a:rPr lang="en-US" altLang="ko-KR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·</a:t>
                      </a: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세미나 참가비 등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11,500,000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39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5.1%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</a:tr>
              <a:tr h="255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연구과제추진비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국내 출장여비</a:t>
                      </a:r>
                      <a:r>
                        <a:rPr lang="en-US" altLang="ko-KR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, </a:t>
                      </a: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시내교통비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10,000,000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39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4.4%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</a:tr>
              <a:tr h="255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사무용품</a:t>
                      </a:r>
                      <a:r>
                        <a:rPr lang="en-US" altLang="ko-KR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, </a:t>
                      </a: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연구환경유지비 등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9,500,000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39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4.2%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</a:tr>
              <a:tr h="255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회의비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15,000,000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39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6.7%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</a:tr>
              <a:tr h="255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-381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해당과제와 관련된 식대 </a:t>
                      </a:r>
                      <a:r>
                        <a:rPr lang="en-US" altLang="ko-KR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(</a:t>
                      </a: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야근 및 특근 식대</a:t>
                      </a:r>
                      <a:r>
                        <a:rPr lang="en-US" altLang="ko-KR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)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-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39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-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</a:tr>
              <a:tr h="255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연구수당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45,960,000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39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20.4%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</a:tr>
              <a:tr h="255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위탁연구개발비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-</a:t>
                      </a:r>
                      <a:endParaRPr lang="ko-KR" alt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39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-</a:t>
                      </a:r>
                      <a:endParaRPr lang="ko-KR" alt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</a:tr>
              <a:tr h="255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소계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202,500,000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39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90.0%</a:t>
                      </a:r>
                      <a:endParaRPr lang="ko-KR" alt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</a:tr>
              <a:tr h="477753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간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접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비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간접비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연구지원비</a:t>
                      </a:r>
                      <a:endParaRPr lang="ko-KR" alt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-1397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90">
                        <a:solidFill>
                          <a:srgbClr val="000000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11549" marT="11549" marB="11549" anchor="ctr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-13970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기관 공통지원경비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22,500,000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39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10.0%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5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소계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22,500,000</a:t>
                      </a:r>
                      <a:endParaRPr lang="en-US" altLang="ko-KR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39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10.0%</a:t>
                      </a:r>
                      <a:endParaRPr lang="ko-KR" alt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5703">
                <a:tc rowSpan="2"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연구개발비 총액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현금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225,000,000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39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100.0%</a:t>
                      </a:r>
                      <a:endParaRPr 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</a:tr>
              <a:tr h="255703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0" cap="none" spc="0" dirty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현물</a:t>
                      </a:r>
                    </a:p>
                  </a:txBody>
                  <a:tcPr marL="11549" marR="11549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-</a:t>
                      </a:r>
                      <a:endParaRPr lang="ko-KR" alt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39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cap="none" spc="0" dirty="0" smtClean="0">
                          <a:ln w="1016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돋움" pitchFamily="50" charset="-127"/>
                          <a:ea typeface="돋움" pitchFamily="50" charset="-127"/>
                        </a:rPr>
                        <a:t>-</a:t>
                      </a:r>
                      <a:endParaRPr lang="ko-KR" altLang="en-US" sz="1100" b="0" kern="0" cap="none" spc="0" dirty="0">
                        <a:ln w="1016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effectLst/>
                        <a:latin typeface="돋움" pitchFamily="50" charset="-127"/>
                        <a:ea typeface="돋움" pitchFamily="50" charset="-127"/>
                      </a:endParaRPr>
                    </a:p>
                  </a:txBody>
                  <a:tcPr marL="11549" marR="216000" marT="11549" marB="11549" anchor="ctr">
                    <a:lnL w="12700" cmpd="sng">
                      <a:solidFill>
                        <a:srgbClr val="0067AF"/>
                      </a:solidFill>
                    </a:lnL>
                    <a:lnR w="12700" cmpd="sng">
                      <a:solidFill>
                        <a:srgbClr val="0067AF"/>
                      </a:solidFill>
                    </a:lnR>
                    <a:lnT w="12700" cmpd="sng">
                      <a:solidFill>
                        <a:srgbClr val="0067AF"/>
                      </a:solidFill>
                    </a:lnT>
                    <a:lnB w="12700" cmpd="sng">
                      <a:solidFill>
                        <a:srgbClr val="0067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7AF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55937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 </a:t>
            </a:r>
            <a:fld id="{02718BFB-6A62-44F1-B8EC-3BE4E80ED44B}" type="slidenum">
              <a:rPr lang="en-US" altLang="ko-KR" smtClean="0"/>
              <a:pPr>
                <a:defRPr/>
              </a:pPr>
              <a:t>122</a:t>
            </a:fld>
            <a:endParaRPr lang="en-US" altLang="ko-KR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2659149" y="2694215"/>
            <a:ext cx="5439823" cy="2088801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6000" dirty="0" smtClean="0"/>
              <a:t>감사합니다</a:t>
            </a:r>
            <a:r>
              <a:rPr lang="en-US" altLang="ko-KR" sz="6000" dirty="0" smtClean="0"/>
              <a:t>!</a:t>
            </a:r>
            <a:endParaRPr lang="ko-KR" altLang="en-US" sz="6000" dirty="0"/>
          </a:p>
        </p:txBody>
      </p:sp>
    </p:spTree>
    <p:extLst>
      <p:ext uri="{BB962C8B-B14F-4D97-AF65-F5344CB8AC3E}">
        <p14:creationId xmlns:p14="http://schemas.microsoft.com/office/powerpoint/2010/main" val="3421368564"/>
      </p:ext>
    </p:extLst>
  </p:cSld>
  <p:clrMapOvr>
    <a:masterClrMapping/>
  </p:clrMapOvr>
</p:sld>
</file>

<file path=ppt/theme/theme1.xml><?xml version="1.0" encoding="utf-8"?>
<a:theme xmlns:a="http://schemas.openxmlformats.org/drawingml/2006/main" name="tp">
  <a:themeElements>
    <a:clrScheme name="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19191"/>
      </a:accent1>
      <a:accent2>
        <a:srgbClr val="FFFFFF"/>
      </a:accent2>
      <a:accent3>
        <a:srgbClr val="FFFFFF"/>
      </a:accent3>
      <a:accent4>
        <a:srgbClr val="000000"/>
      </a:accent4>
      <a:accent5>
        <a:srgbClr val="C7C7C7"/>
      </a:accent5>
      <a:accent6>
        <a:srgbClr val="E7E7E7"/>
      </a:accent6>
      <a:hlink>
        <a:srgbClr val="FFFFFF"/>
      </a:hlink>
      <a:folHlink>
        <a:srgbClr val="FFFFFF"/>
      </a:folHlink>
    </a:clrScheme>
    <a:fontScheme name="tp">
      <a:majorFont>
        <a:latin typeface="Arial"/>
        <a:ea typeface="돋움체"/>
        <a:cs typeface=""/>
      </a:majorFont>
      <a:minorFont>
        <a:latin typeface="Trebuchet MS"/>
        <a:ea typeface="돋움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p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p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p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p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p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p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p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FFFFFF"/>
    </a:lt2>
    <a:accent1>
      <a:srgbClr val="919191"/>
    </a:accent1>
    <a:accent2>
      <a:srgbClr val="FFFFFF"/>
    </a:accent2>
    <a:accent3>
      <a:srgbClr val="FFFFFF"/>
    </a:accent3>
    <a:accent4>
      <a:srgbClr val="000000"/>
    </a:accent4>
    <a:accent5>
      <a:srgbClr val="C7C7C7"/>
    </a:accent5>
    <a:accent6>
      <a:srgbClr val="E7E7E7"/>
    </a:accent6>
    <a:hlink>
      <a:srgbClr val="FFFFFF"/>
    </a:hlink>
    <a:folHlink>
      <a:srgbClr val="FFFF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b:\tp.ppt</Template>
  <TotalTime>22947</TotalTime>
  <Pages>40</Pages>
  <Words>10530</Words>
  <Application>Microsoft Office PowerPoint</Application>
  <PresentationFormat>A4 용지(210x297mm)</PresentationFormat>
  <Paragraphs>3024</Paragraphs>
  <Slides>122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122</vt:i4>
      </vt:variant>
    </vt:vector>
  </HeadingPairs>
  <TitlesOfParts>
    <vt:vector size="148" baseType="lpstr">
      <vt:lpstr>Arial-BoldMT</vt:lpstr>
      <vt:lpstr>HCI Poppy</vt:lpstr>
      <vt:lpstr>HY견고딕</vt:lpstr>
      <vt:lpstr>HY중고딕</vt:lpstr>
      <vt:lpstr>Monotype Sorts</vt:lpstr>
      <vt:lpstr>SimSun</vt:lpstr>
      <vt:lpstr>굴림</vt:lpstr>
      <vt:lpstr>나눔고딕</vt:lpstr>
      <vt:lpstr>나눔고딕 ExtraBold</vt:lpstr>
      <vt:lpstr>돋움</vt:lpstr>
      <vt:lpstr>돋움체</vt:lpstr>
      <vt:lpstr>맑은 고딕</vt:lpstr>
      <vt:lpstr>바탕체</vt:lpstr>
      <vt:lpstr>-윤명조120</vt:lpstr>
      <vt:lpstr>한양신명조</vt:lpstr>
      <vt:lpstr>한양중고딕</vt:lpstr>
      <vt:lpstr>한컴바탕</vt:lpstr>
      <vt:lpstr>함초롬바탕</vt:lpstr>
      <vt:lpstr>휴먼명조</vt:lpstr>
      <vt:lpstr>Arial</vt:lpstr>
      <vt:lpstr>Cambria Math</vt:lpstr>
      <vt:lpstr>Symbol</vt:lpstr>
      <vt:lpstr>Times New Roman</vt:lpstr>
      <vt:lpstr>Trebuchet MS</vt:lpstr>
      <vt:lpstr>Wingdings</vt:lpstr>
      <vt:lpstr>tp</vt:lpstr>
      <vt:lpstr>세부과제(경성대) : MESSAGE 시스템 및 부문별 특성 분석을 통한 한국형 상하향식 통합모형 SW시스템 개발 - 1차년도 평가 및 2차년도 연구계획</vt:lpstr>
      <vt:lpstr>목차</vt:lpstr>
      <vt:lpstr>PowerPoint 프레젠테이션</vt:lpstr>
      <vt:lpstr>과제 개요</vt:lpstr>
      <vt:lpstr>참여연구원</vt:lpstr>
      <vt:lpstr>과제책임자</vt:lpstr>
      <vt:lpstr>과제책임자 최근 관련연구 </vt:lpstr>
      <vt:lpstr>PowerPoint 프레젠테이션</vt:lpstr>
      <vt:lpstr>연구개발의 필요성: 세부과제</vt:lpstr>
      <vt:lpstr>연구개발의 최종목표</vt:lpstr>
      <vt:lpstr>단계별/연도별 연구목표 및 내용</vt:lpstr>
      <vt:lpstr>PowerPoint 프레젠테이션</vt:lpstr>
      <vt:lpstr>1차년도 연구개발의 목표 및 내용</vt:lpstr>
      <vt:lpstr>현황분석 : 대표적 상향식 모형(1) LEAP </vt:lpstr>
      <vt:lpstr>현황분석 : 대표적 상향식 모형(2) AIM</vt:lpstr>
      <vt:lpstr>현황분석 : 대표적 상향식 모형(3) MESSAGE </vt:lpstr>
      <vt:lpstr>현황분석 : 대표적 상향식 모형(4) MARKAL/TIMES</vt:lpstr>
      <vt:lpstr>현황분석:대표적 상향식 모형의 특성 비교</vt:lpstr>
      <vt:lpstr>현황분석 : UK MARKAL vs. EPANMD/EPAUS9r(1)</vt:lpstr>
      <vt:lpstr>현황분석 : UK MARKAL vs. EPANMD/EPAUS9r(2)</vt:lpstr>
      <vt:lpstr>현황분석 : 시스템 개발 현황</vt:lpstr>
      <vt:lpstr>수리모형화 : base year, model year, historic capacity, decision variable </vt:lpstr>
      <vt:lpstr>수리모형화 : A small RES example</vt:lpstr>
      <vt:lpstr>수리모형화 : Decision Variables</vt:lpstr>
      <vt:lpstr>수리모형화 : Flow Conservation Constraint</vt:lpstr>
      <vt:lpstr>수리모형화 : Technology 별 입력</vt:lpstr>
      <vt:lpstr>수리모형화 : Objective Function</vt:lpstr>
      <vt:lpstr>수리모형화 : Basic LP</vt:lpstr>
      <vt:lpstr>수리모형화 : Basic LP with multiple activities</vt:lpstr>
      <vt:lpstr>수리모형화 : Constraint - Market Share</vt:lpstr>
      <vt:lpstr>수리모형화 : Constraint - Efficiency Improvement</vt:lpstr>
      <vt:lpstr>수리모형화 : Constraint - Production Smoothing</vt:lpstr>
      <vt:lpstr>수리모형화 : Constraint - Emission</vt:lpstr>
      <vt:lpstr>수리모형화 : Constraint - Variable Demand</vt:lpstr>
      <vt:lpstr>수리모형화 : Constraint - Replacement Demand </vt:lpstr>
      <vt:lpstr>수리모형화 : 일반적인 제약식의 형태 및 분류</vt:lpstr>
      <vt:lpstr>수리모형화 : modeling - 세금</vt:lpstr>
      <vt:lpstr>수리모형화 : modeling - 특정기술에 효율개선 적용(1)</vt:lpstr>
      <vt:lpstr>수리모형화 : modeling 방법 - 특정기술에 효율개선 적용(2)</vt:lpstr>
      <vt:lpstr>수리모형화 : modeling - 특정기술에 효율개선 적용(3)</vt:lpstr>
      <vt:lpstr>수송 부문 : 2020 MESSAGE Modeling의 범위</vt:lpstr>
      <vt:lpstr>수송 부문 : 2020 승용부문 RES의 엔티티와 통계자료</vt:lpstr>
      <vt:lpstr>수송 부문 : 2020 승용부문 기술 DB의 구성</vt:lpstr>
      <vt:lpstr>수송 부문 : 2020 승용부문 RES의 일부</vt:lpstr>
      <vt:lpstr>수송 부문 : 2020 수송부문 시나리오의 구성 및 실행</vt:lpstr>
      <vt:lpstr>수송 부문 : POST2020 inventory 및 기술 DB 구축 절차</vt:lpstr>
      <vt:lpstr>수송 부문 : 관련 전망</vt:lpstr>
      <vt:lpstr>수송 부문 : EPA 2006 Database</vt:lpstr>
      <vt:lpstr>수송 부문 : 기술 DB 구성방안</vt:lpstr>
      <vt:lpstr>수송 부문 : 기술 DB 구성방안 - 승용부문</vt:lpstr>
      <vt:lpstr>수송 부문 : 기술 DB 구성방안  승용부문의 approximation</vt:lpstr>
      <vt:lpstr>수송 부문 : 기술 DB 구성방안 - 화물, 대중교통 등</vt:lpstr>
      <vt:lpstr>수송 부문 : 평균 온실가스연비 제도 - 개요</vt:lpstr>
      <vt:lpstr>수송 부문 : 평균 온실가스연비 제도 - 모델링</vt:lpstr>
      <vt:lpstr>수송 부문 : 에너지 비용의 처리</vt:lpstr>
      <vt:lpstr>수송 부문 : 모형화 - 효율개선기술(1)</vt:lpstr>
      <vt:lpstr>수송 부문 : 모형화 - 효율개선기술(2)</vt:lpstr>
      <vt:lpstr>수송 부문 : 모형화 - 효율개선기술(3)</vt:lpstr>
      <vt:lpstr>수송 부문 : 모형화 - 효율개선기술(4)</vt:lpstr>
      <vt:lpstr>수송 부문 : Exact LP</vt:lpstr>
      <vt:lpstr>가정,상업 부문 : 배출원, 산정항목, 감축기술</vt:lpstr>
      <vt:lpstr>가정상업 부문 : 연구내용 요약</vt:lpstr>
      <vt:lpstr>가정상업 부문 : 가정부문 국내외 상향식 모형 비교</vt:lpstr>
      <vt:lpstr>가정상업 부문 : 건물기술 모형화 방법</vt:lpstr>
      <vt:lpstr>가정상업 부문 : Post-2020 및 통합시스템개발을 위한 제언-1</vt:lpstr>
      <vt:lpstr>가정상업 부문 : Post-2020 및 통합시스템개발을 위한 제언-2</vt:lpstr>
      <vt:lpstr>가정상업 부문 : Post-2020 및 통합시스템개발을 위한 제언-3</vt:lpstr>
      <vt:lpstr>농축산 부문 : 배출원, 산정방법, 감축기술</vt:lpstr>
      <vt:lpstr>농축산 부문 : 상향식 모형화 방안-비에너지</vt:lpstr>
      <vt:lpstr>농축산 부문 : 상향식 모형화 방안-비에너지</vt:lpstr>
      <vt:lpstr>농축산 부문 : 상향식 모형화 방안-비에너지</vt:lpstr>
      <vt:lpstr>농축산 부문 : 상향식 모형화 방안-비에너지</vt:lpstr>
      <vt:lpstr>농축산 부문 : 상향식 모형화 방안-에너지</vt:lpstr>
      <vt:lpstr>농축산 부문 : 상향식 모형화 방안-통합  RES</vt:lpstr>
      <vt:lpstr>농축산 부문 : 국외 동향</vt:lpstr>
      <vt:lpstr>농축산 부문 : 국외 동향</vt:lpstr>
      <vt:lpstr>농축산 부문 : 모형화 및 시스템화 방안</vt:lpstr>
      <vt:lpstr>농축산 부문 : 모형화 및 시스템화 방안</vt:lpstr>
      <vt:lpstr>폐기물 부문 : 발생원, 배출원, 활동량</vt:lpstr>
      <vt:lpstr>폐기물 부문 : 요약</vt:lpstr>
      <vt:lpstr>폐기물 부문 : 상향식 모형화 방안-1</vt:lpstr>
      <vt:lpstr>폐기물 부문 : 상향식 모형화 방안-2</vt:lpstr>
      <vt:lpstr>폐기물 부문 : 상향식 모형화 방안-3</vt:lpstr>
      <vt:lpstr>폐기물 부문 : 국내 특성과 시스템화 방안-1</vt:lpstr>
      <vt:lpstr>폐기물 부문 : 국내 특성과 시스템화 방안-2</vt:lpstr>
      <vt:lpstr>폐기물 부문 : 국내 특성과 시스템화 방안-3</vt:lpstr>
      <vt:lpstr>PowerPoint 프레젠테이션</vt:lpstr>
      <vt:lpstr>연구목표 및 내용 : 1단계</vt:lpstr>
      <vt:lpstr>2차년도 연구개발의 목표 및 내용</vt:lpstr>
      <vt:lpstr>수리적 기반 : Load region in MESSAGE</vt:lpstr>
      <vt:lpstr>수리적 기반 : EIA monthly capacity factor</vt:lpstr>
      <vt:lpstr>수리적 기반 : MESSAGE example - 2 Load Regions</vt:lpstr>
      <vt:lpstr>수리적 기반 : MESSAGE example - 2 Load Regions</vt:lpstr>
      <vt:lpstr>수리적기반 : Basic LP + Load Region</vt:lpstr>
      <vt:lpstr>수리적기반 : ReEDS</vt:lpstr>
      <vt:lpstr>수리적기반 : ReEDS</vt:lpstr>
      <vt:lpstr>수리적기반 : ReEDS</vt:lpstr>
      <vt:lpstr>수리적기반 : ReEDS</vt:lpstr>
      <vt:lpstr>수리적기반 : 최적해 및 제약식의 특성 분석</vt:lpstr>
      <vt:lpstr>수리적기반 : 최적해 및 제약식의 특성 분석</vt:lpstr>
      <vt:lpstr>부문별 특성조사 및 분석 : 전력부문</vt:lpstr>
      <vt:lpstr>부문별 특성조사 및 분석 : 전력부문</vt:lpstr>
      <vt:lpstr>부문별 특성조사 및 분석 : 전력부문</vt:lpstr>
      <vt:lpstr>부문별 특성조사 및 분석 : 전력부문</vt:lpstr>
      <vt:lpstr>부문별 특성조사 및 분석 : 전력부문</vt:lpstr>
      <vt:lpstr>부문별 특성조사 및 분석 : 전력부문</vt:lpstr>
      <vt:lpstr>부문별 특성조사 및 분석 : 전력부문</vt:lpstr>
      <vt:lpstr>부문별 특성조사 및 분석 : 전력부문</vt:lpstr>
      <vt:lpstr>부문별 특성조사 및 분석 : 전력부문</vt:lpstr>
      <vt:lpstr>시스템개발 : 상향식 SW 시스템 개발 방향</vt:lpstr>
      <vt:lpstr>시스템개발 : 상향식 SW System 개념도</vt:lpstr>
      <vt:lpstr>시스템개발 : SW System/UI 개발 방법론</vt:lpstr>
      <vt:lpstr>시스템개발 : UI - WPF, XAML, XSD, XML</vt:lpstr>
      <vt:lpstr>시스템개발 : LP Viewer</vt:lpstr>
      <vt:lpstr>시스템 개발 : Reporting </vt:lpstr>
      <vt:lpstr>시스템 개발 : Reporting </vt:lpstr>
      <vt:lpstr>PowerPoint 프레젠테이션</vt:lpstr>
      <vt:lpstr>활용방안 및 평가</vt:lpstr>
      <vt:lpstr>연도별 연구성과 창출계획</vt:lpstr>
      <vt:lpstr>추진일정</vt:lpstr>
      <vt:lpstr>예산계획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통신망 설계 및 운용</dc:title>
  <dc:creator>chung Y.J</dc:creator>
  <cp:lastModifiedBy>hugon</cp:lastModifiedBy>
  <cp:revision>495</cp:revision>
  <cp:lastPrinted>2015-01-15T02:33:29Z</cp:lastPrinted>
  <dcterms:created xsi:type="dcterms:W3CDTF">1996-03-25T18:49:56Z</dcterms:created>
  <dcterms:modified xsi:type="dcterms:W3CDTF">2016-01-29T06:13:30Z</dcterms:modified>
</cp:coreProperties>
</file>