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3"/>
  </p:notesMasterIdLst>
  <p:sldIdLst>
    <p:sldId id="268" r:id="rId2"/>
    <p:sldId id="270" r:id="rId3"/>
    <p:sldId id="432" r:id="rId4"/>
    <p:sldId id="434" r:id="rId5"/>
    <p:sldId id="433" r:id="rId6"/>
    <p:sldId id="426" r:id="rId7"/>
    <p:sldId id="435" r:id="rId8"/>
    <p:sldId id="427" r:id="rId9"/>
    <p:sldId id="428" r:id="rId10"/>
    <p:sldId id="429" r:id="rId11"/>
    <p:sldId id="430" r:id="rId12"/>
    <p:sldId id="355" r:id="rId13"/>
    <p:sldId id="431" r:id="rId14"/>
    <p:sldId id="343" r:id="rId15"/>
    <p:sldId id="344" r:id="rId16"/>
    <p:sldId id="362" r:id="rId17"/>
    <p:sldId id="405" r:id="rId18"/>
    <p:sldId id="363" r:id="rId19"/>
    <p:sldId id="364" r:id="rId20"/>
    <p:sldId id="365" r:id="rId21"/>
    <p:sldId id="366" r:id="rId22"/>
    <p:sldId id="416" r:id="rId23"/>
    <p:sldId id="397" r:id="rId24"/>
    <p:sldId id="370" r:id="rId25"/>
    <p:sldId id="371" r:id="rId26"/>
    <p:sldId id="419" r:id="rId27"/>
    <p:sldId id="401" r:id="rId28"/>
    <p:sldId id="421" r:id="rId29"/>
    <p:sldId id="422" r:id="rId30"/>
    <p:sldId id="423" r:id="rId31"/>
    <p:sldId id="424" r:id="rId32"/>
    <p:sldId id="420" r:id="rId33"/>
    <p:sldId id="320" r:id="rId34"/>
    <p:sldId id="384" r:id="rId35"/>
    <p:sldId id="385" r:id="rId36"/>
    <p:sldId id="386" r:id="rId37"/>
    <p:sldId id="406" r:id="rId38"/>
    <p:sldId id="407" r:id="rId39"/>
    <p:sldId id="408" r:id="rId40"/>
    <p:sldId id="409" r:id="rId41"/>
    <p:sldId id="413" r:id="rId42"/>
    <p:sldId id="414" r:id="rId43"/>
    <p:sldId id="312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271" r:id="rId52"/>
  </p:sldIdLst>
  <p:sldSz cx="9144000" cy="6858000" type="screen4x3"/>
  <p:notesSz cx="7104063" cy="10234613"/>
  <p:embeddedFontLst>
    <p:embeddedFont>
      <p:font typeface="나눔고딕 ExtraBold" pitchFamily="50" charset="-127"/>
      <p:bold r:id="rId54"/>
    </p:embeddedFont>
    <p:embeddedFont>
      <p:font typeface="나눔고딕" pitchFamily="50" charset="-127"/>
      <p:regular r:id="rId55"/>
      <p:bold r:id="rId56"/>
    </p:embeddedFont>
    <p:embeddedFont>
      <p:font typeface="나눔고딕 Bold" pitchFamily="50" charset="-127"/>
      <p:bold r:id="rId57"/>
    </p:embeddedFont>
    <p:embeddedFont>
      <p:font typeface="맑은 고딕" pitchFamily="50" charset="-127"/>
      <p:regular r:id="rId58"/>
      <p:bold r:id="rId59"/>
    </p:embeddedFont>
    <p:embeddedFont>
      <p:font typeface="Verdana" pitchFamily="34" charset="0"/>
      <p:regular r:id="rId60"/>
      <p:bold r:id="rId61"/>
      <p:italic r:id="rId62"/>
      <p:boldItalic r:id="rId63"/>
    </p:embeddedFont>
  </p:embeddedFontLst>
  <p:defaultTextStyle>
    <a:defPPr>
      <a:defRPr lang="fr-FR"/>
    </a:defPPr>
    <a:lvl1pPr algn="l" rtl="0" fontAlgn="base" latinLnBrk="1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bg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00"/>
    <a:srgbClr val="96B8D6"/>
    <a:srgbClr val="FCC070"/>
    <a:srgbClr val="FFC000"/>
    <a:srgbClr val="FF6600"/>
    <a:srgbClr val="FFCCCC"/>
    <a:srgbClr val="FF9933"/>
    <a:srgbClr val="66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4" autoAdjust="0"/>
    <p:restoredTop sz="94634" autoAdjust="0"/>
  </p:normalViewPr>
  <p:slideViewPr>
    <p:cSldViewPr snapToGrid="0">
      <p:cViewPr varScale="1">
        <p:scale>
          <a:sx n="109" d="100"/>
          <a:sy n="109" d="100"/>
        </p:scale>
        <p:origin x="-2046" y="-90"/>
      </p:cViewPr>
      <p:guideLst>
        <p:guide orient="horz" pos="1680"/>
        <p:guide pos="11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3DA49-2DC8-4547-AD35-73545FF74993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pPr latinLnBrk="1"/>
          <a:endParaRPr lang="ko-KR" altLang="en-US"/>
        </a:p>
      </dgm:t>
    </dgm:pt>
    <dgm:pt modelId="{8F4CA02F-97E5-4080-BD4B-FBCABDFB8DFA}">
      <dgm:prSet phldrT="[텍스트]" custT="1"/>
      <dgm:spPr/>
      <dgm:t>
        <a:bodyPr/>
        <a:lstStyle/>
        <a:p>
          <a:pPr algn="ctr" latinLnBrk="1"/>
          <a:r>
            <a:rPr lang="ko-KR" alt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중장기 온실가스 감축목표 수립 및 </a:t>
          </a:r>
          <a:r>
            <a:rPr lang="ko-KR" altLang="en-US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범지구적</a:t>
          </a:r>
          <a:r>
            <a:rPr lang="ko-KR" alt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 온실가스 협상 진전에 기여</a:t>
          </a:r>
          <a:endParaRPr lang="ko-KR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gm:t>
    </dgm:pt>
    <dgm:pt modelId="{A0391325-F006-4C71-AC4B-560B9E82030C}" type="parTrans" cxnId="{A49E2F1F-37C8-424D-8193-F718FBD4ED6C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0F9DA74F-EC5B-405A-8242-0B5BEE88B34D}" type="sibTrans" cxnId="{A49E2F1F-37C8-424D-8193-F718FBD4ED6C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B86BB630-F8EE-4FCE-ADB5-C2DAEA8774CE}">
      <dgm:prSet phldrT="[텍스트]" custT="1"/>
      <dgm:spPr/>
      <dgm:t>
        <a:bodyPr/>
        <a:lstStyle/>
        <a:p>
          <a:pPr latinLnBrk="1"/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2030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년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, 2050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년 등 중장기 온실가스 감축 잠재력 분석 및 감축목표 설정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이행에 따른 경제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환경적 파급효과를 과학적으로 평가함으로써 합리적 목표 수립과 효율적 정책 설계에 기여</a:t>
          </a:r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796A9493-E737-4F93-B097-154AAE35A63B}" type="parTrans" cxnId="{70568DDD-58D3-4181-941A-FD3624BB6C7E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679CADBD-97DF-4CF4-A9A7-C3C89F3BF246}" type="sibTrans" cxnId="{70568DDD-58D3-4181-941A-FD3624BB6C7E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87044A2C-852E-4E21-B779-9EA068FE217A}">
      <dgm:prSet phldrT="[텍스트]" custT="1"/>
      <dgm:spPr/>
      <dgm:t>
        <a:bodyPr/>
        <a:lstStyle/>
        <a:p>
          <a:pPr latinLnBrk="1"/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중장기 감축목표의 합리적 설계를 통해 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Post-2020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국제 온실가스 감축의무 협상의 성공적 타결에 기여하고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국제 탄소시장 등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범지구적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저탄소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경제발전을 위한 이론적 기초와 분석적 연구결과 생산</a:t>
          </a:r>
          <a:endParaRPr lang="ko-KR" altLang="en-US" sz="700" dirty="0">
            <a:latin typeface="나눔고딕" pitchFamily="50" charset="-127"/>
            <a:ea typeface="나눔고딕" pitchFamily="50" charset="-127"/>
          </a:endParaRPr>
        </a:p>
      </dgm:t>
    </dgm:pt>
    <dgm:pt modelId="{87FBF5A0-BCAA-46AB-919B-BB68BE0E3046}" type="parTrans" cxnId="{5BE10FF9-3069-4C48-872E-DC71C90EF69C}">
      <dgm:prSet/>
      <dgm:spPr/>
      <dgm:t>
        <a:bodyPr/>
        <a:lstStyle/>
        <a:p>
          <a:pPr latinLnBrk="1"/>
          <a:endParaRPr lang="ko-KR" altLang="en-US"/>
        </a:p>
      </dgm:t>
    </dgm:pt>
    <dgm:pt modelId="{16C68541-896D-4DF6-8F32-0D9241D012DB}" type="sibTrans" cxnId="{5BE10FF9-3069-4C48-872E-DC71C90EF69C}">
      <dgm:prSet/>
      <dgm:spPr/>
      <dgm:t>
        <a:bodyPr/>
        <a:lstStyle/>
        <a:p>
          <a:pPr latinLnBrk="1"/>
          <a:endParaRPr lang="ko-KR" altLang="en-US"/>
        </a:p>
      </dgm:t>
    </dgm:pt>
    <dgm:pt modelId="{A096EA9E-DB7D-4BAE-BF80-614A47A2B246}">
      <dgm:prSet phldrT="[텍스트]" custT="1"/>
      <dgm:spPr/>
      <dgm:t>
        <a:bodyPr/>
        <a:lstStyle/>
        <a:p>
          <a:pPr latinLnBrk="1"/>
          <a:endParaRPr lang="ko-KR" altLang="en-US" sz="300" dirty="0">
            <a:latin typeface="나눔고딕" pitchFamily="50" charset="-127"/>
            <a:ea typeface="나눔고딕" pitchFamily="50" charset="-127"/>
          </a:endParaRPr>
        </a:p>
      </dgm:t>
    </dgm:pt>
    <dgm:pt modelId="{46755DEE-870C-4456-963F-61D2FA61AFC1}" type="parTrans" cxnId="{B3570349-E835-44CE-815F-7607ACEC1BFA}">
      <dgm:prSet/>
      <dgm:spPr/>
    </dgm:pt>
    <dgm:pt modelId="{0DFDFADA-C380-40AB-9321-DCBC6BAF7A70}" type="sibTrans" cxnId="{B3570349-E835-44CE-815F-7607ACEC1BFA}">
      <dgm:prSet/>
      <dgm:spPr/>
    </dgm:pt>
    <dgm:pt modelId="{F02577B3-F44F-49EF-AB4D-20031CDAEE67}" type="pres">
      <dgm:prSet presAssocID="{FD53DA49-2DC8-4547-AD35-73545FF749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ECA891A-7F56-4E48-ABDD-55C8BC90A620}" type="pres">
      <dgm:prSet presAssocID="{8F4CA02F-97E5-4080-BD4B-FBCABDFB8DFA}" presName="parentText" presStyleLbl="node1" presStyleIdx="0" presStyleCnt="1" custScaleY="4204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18C07D0-85D9-458D-8208-6243AAC3C1CD}" type="pres">
      <dgm:prSet presAssocID="{8F4CA02F-97E5-4080-BD4B-FBCABDFB8DFA}" presName="childText" presStyleLbl="revTx" presStyleIdx="0" presStyleCnt="1" custScaleY="14892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0568DDD-58D3-4181-941A-FD3624BB6C7E}" srcId="{8F4CA02F-97E5-4080-BD4B-FBCABDFB8DFA}" destId="{B86BB630-F8EE-4FCE-ADB5-C2DAEA8774CE}" srcOrd="0" destOrd="0" parTransId="{796A9493-E737-4F93-B097-154AAE35A63B}" sibTransId="{679CADBD-97DF-4CF4-A9A7-C3C89F3BF246}"/>
    <dgm:cxn modelId="{EA42FC9D-9D00-48BB-92E5-6ACEF378BE50}" type="presOf" srcId="{FD53DA49-2DC8-4547-AD35-73545FF74993}" destId="{F02577B3-F44F-49EF-AB4D-20031CDAEE67}" srcOrd="0" destOrd="0" presId="urn:microsoft.com/office/officeart/2005/8/layout/vList2"/>
    <dgm:cxn modelId="{A2B0AA02-06AB-45EA-8C77-3A318275F437}" type="presOf" srcId="{8F4CA02F-97E5-4080-BD4B-FBCABDFB8DFA}" destId="{8ECA891A-7F56-4E48-ABDD-55C8BC90A620}" srcOrd="0" destOrd="0" presId="urn:microsoft.com/office/officeart/2005/8/layout/vList2"/>
    <dgm:cxn modelId="{979BCCE2-1A52-40B7-A51B-A929BC2B9213}" type="presOf" srcId="{87044A2C-852E-4E21-B779-9EA068FE217A}" destId="{018C07D0-85D9-458D-8208-6243AAC3C1CD}" srcOrd="0" destOrd="2" presId="urn:microsoft.com/office/officeart/2005/8/layout/vList2"/>
    <dgm:cxn modelId="{A30FFBDD-023E-4678-A762-BE93A35898EA}" type="presOf" srcId="{A096EA9E-DB7D-4BAE-BF80-614A47A2B246}" destId="{018C07D0-85D9-458D-8208-6243AAC3C1CD}" srcOrd="0" destOrd="1" presId="urn:microsoft.com/office/officeart/2005/8/layout/vList2"/>
    <dgm:cxn modelId="{86039E68-147F-442C-8D61-29284EA4056A}" type="presOf" srcId="{B86BB630-F8EE-4FCE-ADB5-C2DAEA8774CE}" destId="{018C07D0-85D9-458D-8208-6243AAC3C1CD}" srcOrd="0" destOrd="0" presId="urn:microsoft.com/office/officeart/2005/8/layout/vList2"/>
    <dgm:cxn modelId="{5BE10FF9-3069-4C48-872E-DC71C90EF69C}" srcId="{8F4CA02F-97E5-4080-BD4B-FBCABDFB8DFA}" destId="{87044A2C-852E-4E21-B779-9EA068FE217A}" srcOrd="2" destOrd="0" parTransId="{87FBF5A0-BCAA-46AB-919B-BB68BE0E3046}" sibTransId="{16C68541-896D-4DF6-8F32-0D9241D012DB}"/>
    <dgm:cxn modelId="{B3570349-E835-44CE-815F-7607ACEC1BFA}" srcId="{8F4CA02F-97E5-4080-BD4B-FBCABDFB8DFA}" destId="{A096EA9E-DB7D-4BAE-BF80-614A47A2B246}" srcOrd="1" destOrd="0" parTransId="{46755DEE-870C-4456-963F-61D2FA61AFC1}" sibTransId="{0DFDFADA-C380-40AB-9321-DCBC6BAF7A70}"/>
    <dgm:cxn modelId="{A49E2F1F-37C8-424D-8193-F718FBD4ED6C}" srcId="{FD53DA49-2DC8-4547-AD35-73545FF74993}" destId="{8F4CA02F-97E5-4080-BD4B-FBCABDFB8DFA}" srcOrd="0" destOrd="0" parTransId="{A0391325-F006-4C71-AC4B-560B9E82030C}" sibTransId="{0F9DA74F-EC5B-405A-8242-0B5BEE88B34D}"/>
    <dgm:cxn modelId="{2EF1674F-3FB8-4962-AF7A-9BEE5B8A715E}" type="presParOf" srcId="{F02577B3-F44F-49EF-AB4D-20031CDAEE67}" destId="{8ECA891A-7F56-4E48-ABDD-55C8BC90A620}" srcOrd="0" destOrd="0" presId="urn:microsoft.com/office/officeart/2005/8/layout/vList2"/>
    <dgm:cxn modelId="{16014300-510C-4AE5-B986-B2E65449CD42}" type="presParOf" srcId="{F02577B3-F44F-49EF-AB4D-20031CDAEE67}" destId="{018C07D0-85D9-458D-8208-6243AAC3C1C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53DA49-2DC8-4547-AD35-73545FF74993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pPr latinLnBrk="1"/>
          <a:endParaRPr lang="ko-KR" altLang="en-US"/>
        </a:p>
      </dgm:t>
    </dgm:pt>
    <dgm:pt modelId="{E8D061DF-0999-44B9-A5D4-2586A23CA3E8}">
      <dgm:prSet phldrT="[텍스트]" custT="1"/>
      <dgm:spPr/>
      <dgm:t>
        <a:bodyPr/>
        <a:lstStyle/>
        <a:p>
          <a:pPr algn="ctr" latinLnBrk="1"/>
          <a:r>
            <a:rPr lang="ko-KR" alt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온실가스 감축정책의 합리적 설계로 효율적인 온실가스 감축목표 달성에 기여</a:t>
          </a:r>
          <a:endParaRPr lang="ko-KR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gm:t>
    </dgm:pt>
    <dgm:pt modelId="{85CFAF4A-4BB0-4CDC-A695-2941E1659BEE}" type="parTrans" cxnId="{E8A78743-9BF7-4259-8EF5-F0F7D77BDB0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C1A57D9A-3B65-480A-8D93-5A9C6A2E65C6}" type="sibTrans" cxnId="{E8A78743-9BF7-4259-8EF5-F0F7D77BDB0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88514E74-EDA3-4405-A385-9BCE89D5C7F8}">
      <dgm:prSet phldrT="[텍스트]" custT="1"/>
      <dgm:spPr/>
      <dgm:t>
        <a:bodyPr/>
        <a:lstStyle/>
        <a:p>
          <a:pPr latinLnBrk="1"/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거래제의 할당 및 경매 수입 활용방안 등에 대한 정교한 분석을 통해 경제성장과 온실가스 감축은 물론 고용 창출을 유발하는 최적의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거래제가 설계될 수 있도록 과학적 연구결과를 제공</a:t>
          </a:r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A6D2CDA9-FAFD-47D0-B38A-55C03873C317}" type="sibTrans" cxnId="{61133857-5353-4000-A4F8-0CAE25BD5CF6}">
      <dgm:prSet/>
      <dgm:spPr/>
      <dgm:t>
        <a:bodyPr/>
        <a:lstStyle/>
        <a:p>
          <a:pPr latinLnBrk="1"/>
          <a:endParaRPr lang="ko-KR" altLang="en-US"/>
        </a:p>
      </dgm:t>
    </dgm:pt>
    <dgm:pt modelId="{A2C8580C-C2A2-4D55-B7D8-CBDCFA51A384}" type="parTrans" cxnId="{61133857-5353-4000-A4F8-0CAE25BD5CF6}">
      <dgm:prSet/>
      <dgm:spPr/>
      <dgm:t>
        <a:bodyPr/>
        <a:lstStyle/>
        <a:p>
          <a:pPr latinLnBrk="1"/>
          <a:endParaRPr lang="ko-KR" altLang="en-US"/>
        </a:p>
      </dgm:t>
    </dgm:pt>
    <dgm:pt modelId="{89DA6097-7CC3-481A-A597-6E8C95D1CAE9}">
      <dgm:prSet phldrT="[텍스트]" custT="1"/>
      <dgm:spPr/>
      <dgm:t>
        <a:bodyPr/>
        <a:lstStyle/>
        <a:p>
          <a:pPr latinLnBrk="1"/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657180D4-0F8A-4B60-89BF-CCE250139166}" type="sibTrans" cxnId="{329C0312-AC3E-43DC-92BB-1D5C5480BE48}">
      <dgm:prSet/>
      <dgm:spPr/>
      <dgm:t>
        <a:bodyPr/>
        <a:lstStyle/>
        <a:p>
          <a:pPr latinLnBrk="1"/>
          <a:endParaRPr lang="ko-KR" altLang="en-US"/>
        </a:p>
      </dgm:t>
    </dgm:pt>
    <dgm:pt modelId="{A16AD050-705E-45E9-9521-D065441FD6D6}" type="parTrans" cxnId="{329C0312-AC3E-43DC-92BB-1D5C5480BE48}">
      <dgm:prSet/>
      <dgm:spPr/>
      <dgm:t>
        <a:bodyPr/>
        <a:lstStyle/>
        <a:p>
          <a:pPr latinLnBrk="1"/>
          <a:endParaRPr lang="ko-KR" altLang="en-US"/>
        </a:p>
      </dgm:t>
    </dgm:pt>
    <dgm:pt modelId="{F150CB4C-9D09-488B-89B4-62C1808CF93C}">
      <dgm:prSet phldrT="[텍스트]" custT="1"/>
      <dgm:spPr/>
      <dgm:t>
        <a:bodyPr/>
        <a:lstStyle/>
        <a:p>
          <a:pPr latinLnBrk="1"/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2015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년부터 실시되는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거래제의 성공적 시행이 가능하도록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할당계획 수립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감축잠재량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분석 등에 과학적 근거자료를 제공</a:t>
          </a:r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C8FBD771-E150-4065-9C51-8ABEF6735C52}" type="sibTrans" cxnId="{370D94B4-E000-41B6-ABF4-770C57FBFEE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118C0F6C-76B6-4E82-848C-23BA6D5AE128}" type="parTrans" cxnId="{370D94B4-E000-41B6-ABF4-770C57FBFEE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07119AE7-5C18-4A8D-8F0D-366E9A9174FE}">
      <dgm:prSet phldrT="[텍스트]" custT="1"/>
      <dgm:spPr/>
      <dgm:t>
        <a:bodyPr/>
        <a:lstStyle/>
        <a:p>
          <a:pPr latinLnBrk="1"/>
          <a:endParaRPr lang="ko-KR" altLang="en-US" sz="700" dirty="0">
            <a:latin typeface="나눔고딕" pitchFamily="50" charset="-127"/>
            <a:ea typeface="나눔고딕" pitchFamily="50" charset="-127"/>
          </a:endParaRPr>
        </a:p>
      </dgm:t>
    </dgm:pt>
    <dgm:pt modelId="{DCF3910E-AB57-4EDF-8614-0A2106A3D4AD}" type="sibTrans" cxnId="{0140CACA-67E1-42FE-B534-A73414E51436}">
      <dgm:prSet/>
      <dgm:spPr/>
      <dgm:t>
        <a:bodyPr/>
        <a:lstStyle/>
        <a:p>
          <a:pPr latinLnBrk="1"/>
          <a:endParaRPr lang="ko-KR" altLang="en-US"/>
        </a:p>
      </dgm:t>
    </dgm:pt>
    <dgm:pt modelId="{B8FDEF96-745A-4D0E-B1AC-80CC98A58519}" type="parTrans" cxnId="{0140CACA-67E1-42FE-B534-A73414E51436}">
      <dgm:prSet/>
      <dgm:spPr/>
      <dgm:t>
        <a:bodyPr/>
        <a:lstStyle/>
        <a:p>
          <a:pPr latinLnBrk="1"/>
          <a:endParaRPr lang="ko-KR" altLang="en-US"/>
        </a:p>
      </dgm:t>
    </dgm:pt>
    <dgm:pt modelId="{F02577B3-F44F-49EF-AB4D-20031CDAEE67}" type="pres">
      <dgm:prSet presAssocID="{FD53DA49-2DC8-4547-AD35-73545FF749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52782B5-AD47-4EB9-9E0B-4AA0B9952111}" type="pres">
      <dgm:prSet presAssocID="{E8D061DF-0999-44B9-A5D4-2586A23CA3E8}" presName="parentText" presStyleLbl="node1" presStyleIdx="0" presStyleCnt="1" custScaleY="4123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20ED8E9-10D6-475C-B5A1-3C21DE59A332}" type="pres">
      <dgm:prSet presAssocID="{E8D061DF-0999-44B9-A5D4-2586A23CA3E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48418EC7-B9E7-42D0-82E1-C3167607D697}" type="presOf" srcId="{FD53DA49-2DC8-4547-AD35-73545FF74993}" destId="{F02577B3-F44F-49EF-AB4D-20031CDAEE67}" srcOrd="0" destOrd="0" presId="urn:microsoft.com/office/officeart/2005/8/layout/vList2"/>
    <dgm:cxn modelId="{E8A78743-9BF7-4259-8EF5-F0F7D77BDB04}" srcId="{FD53DA49-2DC8-4547-AD35-73545FF74993}" destId="{E8D061DF-0999-44B9-A5D4-2586A23CA3E8}" srcOrd="0" destOrd="0" parTransId="{85CFAF4A-4BB0-4CDC-A695-2941E1659BEE}" sibTransId="{C1A57D9A-3B65-480A-8D93-5A9C6A2E65C6}"/>
    <dgm:cxn modelId="{4E85685F-7F1C-4F74-A044-DE0DD5577E12}" type="presOf" srcId="{07119AE7-5C18-4A8D-8F0D-366E9A9174FE}" destId="{320ED8E9-10D6-475C-B5A1-3C21DE59A332}" srcOrd="0" destOrd="1" presId="urn:microsoft.com/office/officeart/2005/8/layout/vList2"/>
    <dgm:cxn modelId="{0140CACA-67E1-42FE-B534-A73414E51436}" srcId="{E8D061DF-0999-44B9-A5D4-2586A23CA3E8}" destId="{07119AE7-5C18-4A8D-8F0D-366E9A9174FE}" srcOrd="1" destOrd="0" parTransId="{B8FDEF96-745A-4D0E-B1AC-80CC98A58519}" sibTransId="{DCF3910E-AB57-4EDF-8614-0A2106A3D4AD}"/>
    <dgm:cxn modelId="{61133857-5353-4000-A4F8-0CAE25BD5CF6}" srcId="{E8D061DF-0999-44B9-A5D4-2586A23CA3E8}" destId="{88514E74-EDA3-4405-A385-9BCE89D5C7F8}" srcOrd="3" destOrd="0" parTransId="{A2C8580C-C2A2-4D55-B7D8-CBDCFA51A384}" sibTransId="{A6D2CDA9-FAFD-47D0-B38A-55C03873C317}"/>
    <dgm:cxn modelId="{A1A9578A-A243-4AD2-9C8F-35AC57F494BC}" type="presOf" srcId="{F150CB4C-9D09-488B-89B4-62C1808CF93C}" destId="{320ED8E9-10D6-475C-B5A1-3C21DE59A332}" srcOrd="0" destOrd="0" presId="urn:microsoft.com/office/officeart/2005/8/layout/vList2"/>
    <dgm:cxn modelId="{5D9969E3-030D-4973-9A63-4109B0AA74FE}" type="presOf" srcId="{89DA6097-7CC3-481A-A597-6E8C95D1CAE9}" destId="{320ED8E9-10D6-475C-B5A1-3C21DE59A332}" srcOrd="0" destOrd="2" presId="urn:microsoft.com/office/officeart/2005/8/layout/vList2"/>
    <dgm:cxn modelId="{EE8CE804-D377-4A31-A233-1A26718E1828}" type="presOf" srcId="{88514E74-EDA3-4405-A385-9BCE89D5C7F8}" destId="{320ED8E9-10D6-475C-B5A1-3C21DE59A332}" srcOrd="0" destOrd="3" presId="urn:microsoft.com/office/officeart/2005/8/layout/vList2"/>
    <dgm:cxn modelId="{370D94B4-E000-41B6-ABF4-770C57FBFEE4}" srcId="{E8D061DF-0999-44B9-A5D4-2586A23CA3E8}" destId="{F150CB4C-9D09-488B-89B4-62C1808CF93C}" srcOrd="0" destOrd="0" parTransId="{118C0F6C-76B6-4E82-848C-23BA6D5AE128}" sibTransId="{C8FBD771-E150-4065-9C51-8ABEF6735C52}"/>
    <dgm:cxn modelId="{329C0312-AC3E-43DC-92BB-1D5C5480BE48}" srcId="{E8D061DF-0999-44B9-A5D4-2586A23CA3E8}" destId="{89DA6097-7CC3-481A-A597-6E8C95D1CAE9}" srcOrd="2" destOrd="0" parTransId="{A16AD050-705E-45E9-9521-D065441FD6D6}" sibTransId="{657180D4-0F8A-4B60-89BF-CCE250139166}"/>
    <dgm:cxn modelId="{EB370474-C2D3-427B-90A1-8043E73014CB}" type="presOf" srcId="{E8D061DF-0999-44B9-A5D4-2586A23CA3E8}" destId="{552782B5-AD47-4EB9-9E0B-4AA0B9952111}" srcOrd="0" destOrd="0" presId="urn:microsoft.com/office/officeart/2005/8/layout/vList2"/>
    <dgm:cxn modelId="{F4049421-5D16-4670-B129-65358758B16E}" type="presParOf" srcId="{F02577B3-F44F-49EF-AB4D-20031CDAEE67}" destId="{552782B5-AD47-4EB9-9E0B-4AA0B9952111}" srcOrd="0" destOrd="0" presId="urn:microsoft.com/office/officeart/2005/8/layout/vList2"/>
    <dgm:cxn modelId="{BC63C23E-5E54-48DE-8487-ED7DF3A4A881}" type="presParOf" srcId="{F02577B3-F44F-49EF-AB4D-20031CDAEE67}" destId="{320ED8E9-10D6-475C-B5A1-3C21DE59A33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53DA49-2DC8-4547-AD35-73545FF74993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pPr latinLnBrk="1"/>
          <a:endParaRPr lang="ko-KR" altLang="en-US"/>
        </a:p>
      </dgm:t>
    </dgm:pt>
    <dgm:pt modelId="{E8D061DF-0999-44B9-A5D4-2586A23CA3E8}">
      <dgm:prSet phldrT="[텍스트]" custT="1"/>
      <dgm:spPr/>
      <dgm:t>
        <a:bodyPr/>
        <a:lstStyle/>
        <a:p>
          <a:pPr algn="ctr" latinLnBrk="1"/>
          <a:r>
            <a:rPr lang="ko-KR" alt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궁극적으로 국제적 수준의 통합영향평가모형</a:t>
          </a:r>
          <a:r>
            <a:rPr lang="en-US" altLang="ko-K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(Integrated Assessment Model: IAM) </a:t>
          </a:r>
          <a:r>
            <a:rPr lang="ko-KR" alt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개발에 기여</a:t>
          </a:r>
          <a:endParaRPr lang="ko-KR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gm:t>
    </dgm:pt>
    <dgm:pt modelId="{85CFAF4A-4BB0-4CDC-A695-2941E1659BEE}" type="parTrans" cxnId="{E8A78743-9BF7-4259-8EF5-F0F7D77BDB0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C1A57D9A-3B65-480A-8D93-5A9C6A2E65C6}" type="sibTrans" cxnId="{E8A78743-9BF7-4259-8EF5-F0F7D77BDB0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88514E74-EDA3-4405-A385-9BCE89D5C7F8}">
      <dgm:prSet phldrT="[텍스트]" custT="1"/>
      <dgm:spPr/>
      <dgm:t>
        <a:bodyPr/>
        <a:lstStyle/>
        <a:p>
          <a:pPr latinLnBrk="1"/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KEI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국가기후변화적응센터와 협력하여 상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하향식 감축분석 통합모형과 기후변화 영향평가 및 적응정책 분석모형을 통합하여 한국형 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IAM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모형 개발을 추진</a:t>
          </a:r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A6D2CDA9-FAFD-47D0-B38A-55C03873C317}" type="sibTrans" cxnId="{61133857-5353-4000-A4F8-0CAE25BD5CF6}">
      <dgm:prSet/>
      <dgm:spPr/>
      <dgm:t>
        <a:bodyPr/>
        <a:lstStyle/>
        <a:p>
          <a:pPr latinLnBrk="1"/>
          <a:endParaRPr lang="ko-KR" altLang="en-US"/>
        </a:p>
      </dgm:t>
    </dgm:pt>
    <dgm:pt modelId="{A2C8580C-C2A2-4D55-B7D8-CBDCFA51A384}" type="parTrans" cxnId="{61133857-5353-4000-A4F8-0CAE25BD5CF6}">
      <dgm:prSet/>
      <dgm:spPr/>
      <dgm:t>
        <a:bodyPr/>
        <a:lstStyle/>
        <a:p>
          <a:pPr latinLnBrk="1"/>
          <a:endParaRPr lang="ko-KR" altLang="en-US"/>
        </a:p>
      </dgm:t>
    </dgm:pt>
    <dgm:pt modelId="{89DA6097-7CC3-481A-A597-6E8C95D1CAE9}">
      <dgm:prSet phldrT="[텍스트]" custT="1"/>
      <dgm:spPr/>
      <dgm:t>
        <a:bodyPr/>
        <a:lstStyle/>
        <a:p>
          <a:pPr latinLnBrk="1"/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657180D4-0F8A-4B60-89BF-CCE250139166}" type="sibTrans" cxnId="{329C0312-AC3E-43DC-92BB-1D5C5480BE48}">
      <dgm:prSet/>
      <dgm:spPr/>
      <dgm:t>
        <a:bodyPr/>
        <a:lstStyle/>
        <a:p>
          <a:pPr latinLnBrk="1"/>
          <a:endParaRPr lang="ko-KR" altLang="en-US"/>
        </a:p>
      </dgm:t>
    </dgm:pt>
    <dgm:pt modelId="{A16AD050-705E-45E9-9521-D065441FD6D6}" type="parTrans" cxnId="{329C0312-AC3E-43DC-92BB-1D5C5480BE48}">
      <dgm:prSet/>
      <dgm:spPr/>
      <dgm:t>
        <a:bodyPr/>
        <a:lstStyle/>
        <a:p>
          <a:pPr latinLnBrk="1"/>
          <a:endParaRPr lang="ko-KR" altLang="en-US"/>
        </a:p>
      </dgm:t>
    </dgm:pt>
    <dgm:pt modelId="{F150CB4C-9D09-488B-89B4-62C1808CF93C}">
      <dgm:prSet phldrT="[텍스트]" custT="1"/>
      <dgm:spPr/>
      <dgm:t>
        <a:bodyPr/>
        <a:lstStyle/>
        <a:p>
          <a:pPr latinLnBrk="1"/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온실가스 감축은 물론 온실가스 관리에 따른 기후변화 완화효과를 평가하고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그에 따른 지구온난화 예방 및 경제적 파급효과를 분석함은 물론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다양한 적응정책을 통한 기후변화 영향 완화 효과까지 통합적으로 분석할 수 있는 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IAM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모형의 개발을 추진</a:t>
          </a:r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C8FBD771-E150-4065-9C51-8ABEF6735C52}" type="sibTrans" cxnId="{370D94B4-E000-41B6-ABF4-770C57FBFEE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118C0F6C-76B6-4E82-848C-23BA6D5AE128}" type="parTrans" cxnId="{370D94B4-E000-41B6-ABF4-770C57FBFEE4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07119AE7-5C18-4A8D-8F0D-366E9A9174FE}">
      <dgm:prSet phldrT="[텍스트]" custT="1"/>
      <dgm:spPr/>
      <dgm:t>
        <a:bodyPr/>
        <a:lstStyle/>
        <a:p>
          <a:pPr latinLnBrk="1"/>
          <a:endParaRPr lang="ko-KR" altLang="en-US" sz="700" dirty="0">
            <a:latin typeface="나눔고딕" pitchFamily="50" charset="-127"/>
            <a:ea typeface="나눔고딕" pitchFamily="50" charset="-127"/>
          </a:endParaRPr>
        </a:p>
      </dgm:t>
    </dgm:pt>
    <dgm:pt modelId="{DCF3910E-AB57-4EDF-8614-0A2106A3D4AD}" type="sibTrans" cxnId="{0140CACA-67E1-42FE-B534-A73414E51436}">
      <dgm:prSet/>
      <dgm:spPr/>
      <dgm:t>
        <a:bodyPr/>
        <a:lstStyle/>
        <a:p>
          <a:pPr latinLnBrk="1"/>
          <a:endParaRPr lang="ko-KR" altLang="en-US"/>
        </a:p>
      </dgm:t>
    </dgm:pt>
    <dgm:pt modelId="{B8FDEF96-745A-4D0E-B1AC-80CC98A58519}" type="parTrans" cxnId="{0140CACA-67E1-42FE-B534-A73414E51436}">
      <dgm:prSet/>
      <dgm:spPr/>
      <dgm:t>
        <a:bodyPr/>
        <a:lstStyle/>
        <a:p>
          <a:pPr latinLnBrk="1"/>
          <a:endParaRPr lang="ko-KR" altLang="en-US"/>
        </a:p>
      </dgm:t>
    </dgm:pt>
    <dgm:pt modelId="{A8F0217C-F255-4BA2-9CF8-5BAB0BFA12BE}">
      <dgm:prSet phldrT="[텍스트]" custT="1"/>
      <dgm:spPr/>
      <dgm:t>
        <a:bodyPr/>
        <a:lstStyle/>
        <a:p>
          <a:pPr latinLnBrk="1"/>
          <a:endParaRPr lang="ko-KR" altLang="en-US" sz="700" dirty="0">
            <a:latin typeface="나눔고딕" pitchFamily="50" charset="-127"/>
            <a:ea typeface="나눔고딕" pitchFamily="50" charset="-127"/>
          </a:endParaRPr>
        </a:p>
      </dgm:t>
    </dgm:pt>
    <dgm:pt modelId="{31C7BA89-E06D-4A47-B9FF-B394C7696AA6}" type="parTrans" cxnId="{DDA14B3D-A08D-482B-9D9D-3442B39205D9}">
      <dgm:prSet/>
      <dgm:spPr/>
    </dgm:pt>
    <dgm:pt modelId="{4717018E-BC52-45FB-A897-011C8D3A74B9}" type="sibTrans" cxnId="{DDA14B3D-A08D-482B-9D9D-3442B39205D9}">
      <dgm:prSet/>
      <dgm:spPr/>
    </dgm:pt>
    <dgm:pt modelId="{F02577B3-F44F-49EF-AB4D-20031CDAEE67}" type="pres">
      <dgm:prSet presAssocID="{FD53DA49-2DC8-4547-AD35-73545FF749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52782B5-AD47-4EB9-9E0B-4AA0B9952111}" type="pres">
      <dgm:prSet presAssocID="{E8D061DF-0999-44B9-A5D4-2586A23CA3E8}" presName="parentText" presStyleLbl="node1" presStyleIdx="0" presStyleCnt="1" custScaleY="4123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20ED8E9-10D6-475C-B5A1-3C21DE59A332}" type="pres">
      <dgm:prSet presAssocID="{E8D061DF-0999-44B9-A5D4-2586A23CA3E8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8052FD1-71E5-4137-A489-6643CA3F87B3}" type="presOf" srcId="{A8F0217C-F255-4BA2-9CF8-5BAB0BFA12BE}" destId="{320ED8E9-10D6-475C-B5A1-3C21DE59A332}" srcOrd="0" destOrd="1" presId="urn:microsoft.com/office/officeart/2005/8/layout/vList2"/>
    <dgm:cxn modelId="{2E8BB20A-DF4C-4E62-BB56-571932670914}" type="presOf" srcId="{E8D061DF-0999-44B9-A5D4-2586A23CA3E8}" destId="{552782B5-AD47-4EB9-9E0B-4AA0B9952111}" srcOrd="0" destOrd="0" presId="urn:microsoft.com/office/officeart/2005/8/layout/vList2"/>
    <dgm:cxn modelId="{E8A78743-9BF7-4259-8EF5-F0F7D77BDB04}" srcId="{FD53DA49-2DC8-4547-AD35-73545FF74993}" destId="{E8D061DF-0999-44B9-A5D4-2586A23CA3E8}" srcOrd="0" destOrd="0" parTransId="{85CFAF4A-4BB0-4CDC-A695-2941E1659BEE}" sibTransId="{C1A57D9A-3B65-480A-8D93-5A9C6A2E65C6}"/>
    <dgm:cxn modelId="{642431EF-999B-424E-AD62-3A9A6FFF5107}" type="presOf" srcId="{07119AE7-5C18-4A8D-8F0D-366E9A9174FE}" destId="{320ED8E9-10D6-475C-B5A1-3C21DE59A332}" srcOrd="0" destOrd="2" presId="urn:microsoft.com/office/officeart/2005/8/layout/vList2"/>
    <dgm:cxn modelId="{0140CACA-67E1-42FE-B534-A73414E51436}" srcId="{E8D061DF-0999-44B9-A5D4-2586A23CA3E8}" destId="{07119AE7-5C18-4A8D-8F0D-366E9A9174FE}" srcOrd="2" destOrd="0" parTransId="{B8FDEF96-745A-4D0E-B1AC-80CC98A58519}" sibTransId="{DCF3910E-AB57-4EDF-8614-0A2106A3D4AD}"/>
    <dgm:cxn modelId="{61133857-5353-4000-A4F8-0CAE25BD5CF6}" srcId="{E8D061DF-0999-44B9-A5D4-2586A23CA3E8}" destId="{88514E74-EDA3-4405-A385-9BCE89D5C7F8}" srcOrd="4" destOrd="0" parTransId="{A2C8580C-C2A2-4D55-B7D8-CBDCFA51A384}" sibTransId="{A6D2CDA9-FAFD-47D0-B38A-55C03873C317}"/>
    <dgm:cxn modelId="{955E2ECD-F044-4B00-8462-E01C4604794F}" type="presOf" srcId="{89DA6097-7CC3-481A-A597-6E8C95D1CAE9}" destId="{320ED8E9-10D6-475C-B5A1-3C21DE59A332}" srcOrd="0" destOrd="3" presId="urn:microsoft.com/office/officeart/2005/8/layout/vList2"/>
    <dgm:cxn modelId="{370D94B4-E000-41B6-ABF4-770C57FBFEE4}" srcId="{E8D061DF-0999-44B9-A5D4-2586A23CA3E8}" destId="{F150CB4C-9D09-488B-89B4-62C1808CF93C}" srcOrd="0" destOrd="0" parTransId="{118C0F6C-76B6-4E82-848C-23BA6D5AE128}" sibTransId="{C8FBD771-E150-4065-9C51-8ABEF6735C52}"/>
    <dgm:cxn modelId="{DDA14B3D-A08D-482B-9D9D-3442B39205D9}" srcId="{E8D061DF-0999-44B9-A5D4-2586A23CA3E8}" destId="{A8F0217C-F255-4BA2-9CF8-5BAB0BFA12BE}" srcOrd="1" destOrd="0" parTransId="{31C7BA89-E06D-4A47-B9FF-B394C7696AA6}" sibTransId="{4717018E-BC52-45FB-A897-011C8D3A74B9}"/>
    <dgm:cxn modelId="{329C0312-AC3E-43DC-92BB-1D5C5480BE48}" srcId="{E8D061DF-0999-44B9-A5D4-2586A23CA3E8}" destId="{89DA6097-7CC3-481A-A597-6E8C95D1CAE9}" srcOrd="3" destOrd="0" parTransId="{A16AD050-705E-45E9-9521-D065441FD6D6}" sibTransId="{657180D4-0F8A-4B60-89BF-CCE250139166}"/>
    <dgm:cxn modelId="{605CF7FD-08E0-4CCB-AD95-894B1CDBCFC2}" type="presOf" srcId="{F150CB4C-9D09-488B-89B4-62C1808CF93C}" destId="{320ED8E9-10D6-475C-B5A1-3C21DE59A332}" srcOrd="0" destOrd="0" presId="urn:microsoft.com/office/officeart/2005/8/layout/vList2"/>
    <dgm:cxn modelId="{FA7EA930-3BE6-4F22-BFB4-01184E32DEFE}" type="presOf" srcId="{FD53DA49-2DC8-4547-AD35-73545FF74993}" destId="{F02577B3-F44F-49EF-AB4D-20031CDAEE67}" srcOrd="0" destOrd="0" presId="urn:microsoft.com/office/officeart/2005/8/layout/vList2"/>
    <dgm:cxn modelId="{B247CBC9-CEEE-4022-9A9C-EBFCB44313AB}" type="presOf" srcId="{88514E74-EDA3-4405-A385-9BCE89D5C7F8}" destId="{320ED8E9-10D6-475C-B5A1-3C21DE59A332}" srcOrd="0" destOrd="4" presId="urn:microsoft.com/office/officeart/2005/8/layout/vList2"/>
    <dgm:cxn modelId="{112F5401-E525-454E-B860-B3E3A6A1F2C4}" type="presParOf" srcId="{F02577B3-F44F-49EF-AB4D-20031CDAEE67}" destId="{552782B5-AD47-4EB9-9E0B-4AA0B9952111}" srcOrd="0" destOrd="0" presId="urn:microsoft.com/office/officeart/2005/8/layout/vList2"/>
    <dgm:cxn modelId="{01C88114-6A16-4D3F-98E2-9CD4FEA2D611}" type="presParOf" srcId="{F02577B3-F44F-49EF-AB4D-20031CDAEE67}" destId="{320ED8E9-10D6-475C-B5A1-3C21DE59A33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53DA49-2DC8-4547-AD35-73545FF74993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pPr latinLnBrk="1"/>
          <a:endParaRPr lang="ko-KR" altLang="en-US"/>
        </a:p>
      </dgm:t>
    </dgm:pt>
    <dgm:pt modelId="{8F4CA02F-97E5-4080-BD4B-FBCABDFB8DFA}">
      <dgm:prSet phldrT="[텍스트]" custT="1"/>
      <dgm:spPr/>
      <dgm:t>
        <a:bodyPr/>
        <a:lstStyle/>
        <a:p>
          <a:pPr algn="ctr" latinLnBrk="1"/>
          <a:r>
            <a:rPr lang="ko-KR" alt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온실가스 감축정책 분석모형 분야의 국제적 연구를 선도</a:t>
          </a:r>
          <a:endParaRPr lang="ko-KR" alt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gm:t>
    </dgm:pt>
    <dgm:pt modelId="{A0391325-F006-4C71-AC4B-560B9E82030C}" type="parTrans" cxnId="{A49E2F1F-37C8-424D-8193-F718FBD4ED6C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0F9DA74F-EC5B-405A-8242-0B5BEE88B34D}" type="sibTrans" cxnId="{A49E2F1F-37C8-424D-8193-F718FBD4ED6C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B86BB630-F8EE-4FCE-ADB5-C2DAEA8774CE}">
      <dgm:prSet phldrT="[텍스트]" custT="1"/>
      <dgm:spPr/>
      <dgm:t>
        <a:bodyPr/>
        <a:lstStyle/>
        <a:p>
          <a:pPr latinLnBrk="1"/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GCAM, MESSAGE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등 세계 최고 수준의 온실가스 감축분석 모형에 뒤지지 않는 국제적 수준의 상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하향식 통합 모형을 구축</a:t>
          </a:r>
          <a:endParaRPr lang="ko-KR" altLang="en-US" sz="1200" dirty="0">
            <a:latin typeface="나눔고딕" pitchFamily="50" charset="-127"/>
            <a:ea typeface="나눔고딕" pitchFamily="50" charset="-127"/>
          </a:endParaRPr>
        </a:p>
      </dgm:t>
    </dgm:pt>
    <dgm:pt modelId="{796A9493-E737-4F93-B097-154AAE35A63B}" type="parTrans" cxnId="{70568DDD-58D3-4181-941A-FD3624BB6C7E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679CADBD-97DF-4CF4-A9A7-C3C89F3BF246}" type="sibTrans" cxnId="{70568DDD-58D3-4181-941A-FD3624BB6C7E}">
      <dgm:prSet/>
      <dgm:spPr/>
      <dgm:t>
        <a:bodyPr/>
        <a:lstStyle/>
        <a:p>
          <a:pPr latinLnBrk="1"/>
          <a:endParaRPr lang="ko-KR" altLang="en-US" sz="1200">
            <a:latin typeface="나눔고딕" pitchFamily="50" charset="-127"/>
            <a:ea typeface="나눔고딕" pitchFamily="50" charset="-127"/>
          </a:endParaRPr>
        </a:p>
      </dgm:t>
    </dgm:pt>
    <dgm:pt modelId="{87044A2C-852E-4E21-B779-9EA068FE217A}">
      <dgm:prSet phldrT="[텍스트]" custT="1"/>
      <dgm:spPr/>
      <dgm:t>
        <a:bodyPr/>
        <a:lstStyle/>
        <a:p>
          <a:pPr latinLnBrk="1"/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IPCC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제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6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차 평가보고서 집필진에 본 연구단에 참여하는 온실가스 감축모형 전문가가 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5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인 이상 참여하고</a:t>
          </a:r>
          <a:r>
            <a:rPr lang="en-US" altLang="ko-KR" sz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연구단 생산 논문이 다수 인용될 수 있도록 우수한 연구성과를 축적</a:t>
          </a:r>
          <a:endParaRPr lang="ko-KR" altLang="en-US" sz="700" dirty="0">
            <a:latin typeface="나눔고딕" pitchFamily="50" charset="-127"/>
            <a:ea typeface="나눔고딕" pitchFamily="50" charset="-127"/>
          </a:endParaRPr>
        </a:p>
      </dgm:t>
    </dgm:pt>
    <dgm:pt modelId="{87FBF5A0-BCAA-46AB-919B-BB68BE0E3046}" type="parTrans" cxnId="{5BE10FF9-3069-4C48-872E-DC71C90EF69C}">
      <dgm:prSet/>
      <dgm:spPr/>
      <dgm:t>
        <a:bodyPr/>
        <a:lstStyle/>
        <a:p>
          <a:pPr latinLnBrk="1"/>
          <a:endParaRPr lang="ko-KR" altLang="en-US"/>
        </a:p>
      </dgm:t>
    </dgm:pt>
    <dgm:pt modelId="{16C68541-896D-4DF6-8F32-0D9241D012DB}" type="sibTrans" cxnId="{5BE10FF9-3069-4C48-872E-DC71C90EF69C}">
      <dgm:prSet/>
      <dgm:spPr/>
      <dgm:t>
        <a:bodyPr/>
        <a:lstStyle/>
        <a:p>
          <a:pPr latinLnBrk="1"/>
          <a:endParaRPr lang="ko-KR" altLang="en-US"/>
        </a:p>
      </dgm:t>
    </dgm:pt>
    <dgm:pt modelId="{83CE4A46-9F3B-4E8A-98FD-86632E725B64}">
      <dgm:prSet phldrT="[텍스트]" custT="1"/>
      <dgm:spPr/>
      <dgm:t>
        <a:bodyPr/>
        <a:lstStyle/>
        <a:p>
          <a:pPr latinLnBrk="1"/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개발된 모형을 다수의 개도국에 전파함으로써 개도국의 </a:t>
          </a:r>
          <a:r>
            <a:rPr lang="ko-KR" altLang="en-US" sz="1200" dirty="0" err="1" smtClean="0">
              <a:latin typeface="나눔고딕" pitchFamily="50" charset="-127"/>
              <a:ea typeface="나눔고딕" pitchFamily="50" charset="-127"/>
            </a:rPr>
            <a:t>저탄소</a:t>
          </a:r>
          <a:r>
            <a:rPr lang="ko-KR" altLang="en-US" sz="1200" dirty="0" smtClean="0">
              <a:latin typeface="나눔고딕" pitchFamily="50" charset="-127"/>
              <a:ea typeface="나눔고딕" pitchFamily="50" charset="-127"/>
            </a:rPr>
            <a:t> 녹색경제 정착에 기여</a:t>
          </a:r>
          <a:endParaRPr lang="ko-KR" altLang="en-US" sz="700" dirty="0">
            <a:latin typeface="나눔고딕" pitchFamily="50" charset="-127"/>
            <a:ea typeface="나눔고딕" pitchFamily="50" charset="-127"/>
          </a:endParaRPr>
        </a:p>
      </dgm:t>
    </dgm:pt>
    <dgm:pt modelId="{91892511-CDCF-445C-B47B-2AB55339320E}" type="parTrans" cxnId="{E7E506C1-BE2B-4BCD-86BC-E1BA1D472420}">
      <dgm:prSet/>
      <dgm:spPr/>
    </dgm:pt>
    <dgm:pt modelId="{4025044B-405B-4517-9E5D-D0A3C3466A22}" type="sibTrans" cxnId="{E7E506C1-BE2B-4BCD-86BC-E1BA1D472420}">
      <dgm:prSet/>
      <dgm:spPr/>
    </dgm:pt>
    <dgm:pt modelId="{F02577B3-F44F-49EF-AB4D-20031CDAEE67}" type="pres">
      <dgm:prSet presAssocID="{FD53DA49-2DC8-4547-AD35-73545FF749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ECA891A-7F56-4E48-ABDD-55C8BC90A620}" type="pres">
      <dgm:prSet presAssocID="{8F4CA02F-97E5-4080-BD4B-FBCABDFB8DFA}" presName="parentText" presStyleLbl="node1" presStyleIdx="0" presStyleCnt="1" custScaleY="4204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18C07D0-85D9-458D-8208-6243AAC3C1CD}" type="pres">
      <dgm:prSet presAssocID="{8F4CA02F-97E5-4080-BD4B-FBCABDFB8DFA}" presName="childText" presStyleLbl="revTx" presStyleIdx="0" presStyleCnt="1" custScaleY="152288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0568DDD-58D3-4181-941A-FD3624BB6C7E}" srcId="{8F4CA02F-97E5-4080-BD4B-FBCABDFB8DFA}" destId="{B86BB630-F8EE-4FCE-ADB5-C2DAEA8774CE}" srcOrd="0" destOrd="0" parTransId="{796A9493-E737-4F93-B097-154AAE35A63B}" sibTransId="{679CADBD-97DF-4CF4-A9A7-C3C89F3BF246}"/>
    <dgm:cxn modelId="{75D14644-86D2-4CB1-B82D-58A608DCE1EA}" type="presOf" srcId="{FD53DA49-2DC8-4547-AD35-73545FF74993}" destId="{F02577B3-F44F-49EF-AB4D-20031CDAEE67}" srcOrd="0" destOrd="0" presId="urn:microsoft.com/office/officeart/2005/8/layout/vList2"/>
    <dgm:cxn modelId="{1A8A1BEE-2820-45A6-A8D7-3689CB48EADF}" type="presOf" srcId="{B86BB630-F8EE-4FCE-ADB5-C2DAEA8774CE}" destId="{018C07D0-85D9-458D-8208-6243AAC3C1CD}" srcOrd="0" destOrd="0" presId="urn:microsoft.com/office/officeart/2005/8/layout/vList2"/>
    <dgm:cxn modelId="{F6B63358-133E-48FF-A70A-78410DBF6FFE}" type="presOf" srcId="{8F4CA02F-97E5-4080-BD4B-FBCABDFB8DFA}" destId="{8ECA891A-7F56-4E48-ABDD-55C8BC90A620}" srcOrd="0" destOrd="0" presId="urn:microsoft.com/office/officeart/2005/8/layout/vList2"/>
    <dgm:cxn modelId="{5BE10FF9-3069-4C48-872E-DC71C90EF69C}" srcId="{8F4CA02F-97E5-4080-BD4B-FBCABDFB8DFA}" destId="{87044A2C-852E-4E21-B779-9EA068FE217A}" srcOrd="1" destOrd="0" parTransId="{87FBF5A0-BCAA-46AB-919B-BB68BE0E3046}" sibTransId="{16C68541-896D-4DF6-8F32-0D9241D012DB}"/>
    <dgm:cxn modelId="{3CBFFE37-EB13-449D-B95A-1124A48FA5ED}" type="presOf" srcId="{83CE4A46-9F3B-4E8A-98FD-86632E725B64}" destId="{018C07D0-85D9-458D-8208-6243AAC3C1CD}" srcOrd="0" destOrd="2" presId="urn:microsoft.com/office/officeart/2005/8/layout/vList2"/>
    <dgm:cxn modelId="{91221483-0AED-460E-B18C-159F617684CF}" type="presOf" srcId="{87044A2C-852E-4E21-B779-9EA068FE217A}" destId="{018C07D0-85D9-458D-8208-6243AAC3C1CD}" srcOrd="0" destOrd="1" presId="urn:microsoft.com/office/officeart/2005/8/layout/vList2"/>
    <dgm:cxn modelId="{A49E2F1F-37C8-424D-8193-F718FBD4ED6C}" srcId="{FD53DA49-2DC8-4547-AD35-73545FF74993}" destId="{8F4CA02F-97E5-4080-BD4B-FBCABDFB8DFA}" srcOrd="0" destOrd="0" parTransId="{A0391325-F006-4C71-AC4B-560B9E82030C}" sibTransId="{0F9DA74F-EC5B-405A-8242-0B5BEE88B34D}"/>
    <dgm:cxn modelId="{E7E506C1-BE2B-4BCD-86BC-E1BA1D472420}" srcId="{8F4CA02F-97E5-4080-BD4B-FBCABDFB8DFA}" destId="{83CE4A46-9F3B-4E8A-98FD-86632E725B64}" srcOrd="2" destOrd="0" parTransId="{91892511-CDCF-445C-B47B-2AB55339320E}" sibTransId="{4025044B-405B-4517-9E5D-D0A3C3466A22}"/>
    <dgm:cxn modelId="{A427A8E0-0F01-45F7-9EF9-C4C2ADA2B25A}" type="presParOf" srcId="{F02577B3-F44F-49EF-AB4D-20031CDAEE67}" destId="{8ECA891A-7F56-4E48-ABDD-55C8BC90A620}" srcOrd="0" destOrd="0" presId="urn:microsoft.com/office/officeart/2005/8/layout/vList2"/>
    <dgm:cxn modelId="{93D5F020-126C-46AF-8376-58763394558A}" type="presParOf" srcId="{F02577B3-F44F-49EF-AB4D-20031CDAEE67}" destId="{018C07D0-85D9-458D-8208-6243AAC3C1C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ECA891A-7F56-4E48-ABDD-55C8BC90A620}">
      <dsp:nvSpPr>
        <dsp:cNvPr id="0" name=""/>
        <dsp:cNvSpPr/>
      </dsp:nvSpPr>
      <dsp:spPr>
        <a:xfrm>
          <a:off x="0" y="80961"/>
          <a:ext cx="7753350" cy="51155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중장기 온실가스 감축목표 수립 및 </a:t>
          </a:r>
          <a:r>
            <a:rPr lang="ko-KR" altLang="en-US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범지구적</a:t>
          </a:r>
          <a:r>
            <a:rPr lang="ko-KR" alt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 온실가스 협상 진전에 기여</a:t>
          </a:r>
          <a:endParaRPr lang="ko-KR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sp:txBody>
      <dsp:txXfrm>
        <a:off x="0" y="80961"/>
        <a:ext cx="7753350" cy="511554"/>
      </dsp:txXfrm>
    </dsp:sp>
    <dsp:sp modelId="{018C07D0-85D9-458D-8208-6243AAC3C1CD}">
      <dsp:nvSpPr>
        <dsp:cNvPr id="0" name=""/>
        <dsp:cNvSpPr/>
      </dsp:nvSpPr>
      <dsp:spPr>
        <a:xfrm>
          <a:off x="0" y="592516"/>
          <a:ext cx="7753350" cy="1602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169" tIns="15240" rIns="85344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2030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년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, 2050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년 등 중장기 온실가스 감축 잠재력 분석 및 감축목표 설정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이행에 따른 경제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환경적 파급효과를 과학적으로 평가함으로써 합리적 목표 수립과 효율적 정책 설계에 기여</a:t>
          </a: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  <a:p>
          <a:pPr marL="57150" lvl="1" indent="-57150" algn="l" defTabSz="1333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3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중장기 감축목표의 합리적 설계를 통해 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Post-2020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국제 온실가스 감축의무 협상의 성공적 타결에 기여하고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국제 탄소시장 등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범지구적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저탄소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경제발전을 위한 이론적 기초와 분석적 연구결과 생산</a:t>
          </a:r>
          <a:endParaRPr lang="ko-KR" altLang="en-US" sz="700" kern="1200" dirty="0">
            <a:latin typeface="나눔고딕" pitchFamily="50" charset="-127"/>
            <a:ea typeface="나눔고딕" pitchFamily="50" charset="-127"/>
          </a:endParaRPr>
        </a:p>
      </dsp:txBody>
      <dsp:txXfrm>
        <a:off x="0" y="592516"/>
        <a:ext cx="7753350" cy="160299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52782B5-AD47-4EB9-9E0B-4AA0B9952111}">
      <dsp:nvSpPr>
        <dsp:cNvPr id="0" name=""/>
        <dsp:cNvSpPr/>
      </dsp:nvSpPr>
      <dsp:spPr>
        <a:xfrm>
          <a:off x="0" y="571169"/>
          <a:ext cx="7753350" cy="5017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온실가스 감축정책의 합리적 설계로 효율적인 온실가스 감축목표 달성에 기여</a:t>
          </a:r>
          <a:endParaRPr lang="ko-KR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sp:txBody>
      <dsp:txXfrm>
        <a:off x="0" y="571169"/>
        <a:ext cx="7753350" cy="501723"/>
      </dsp:txXfrm>
    </dsp:sp>
    <dsp:sp modelId="{320ED8E9-10D6-475C-B5A1-3C21DE59A332}">
      <dsp:nvSpPr>
        <dsp:cNvPr id="0" name=""/>
        <dsp:cNvSpPr/>
      </dsp:nvSpPr>
      <dsp:spPr>
        <a:xfrm>
          <a:off x="0" y="1072892"/>
          <a:ext cx="7753350" cy="131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169" tIns="15240" rIns="85344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2015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년부터 실시되는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거래제의 성공적 시행이 가능하도록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할당계획 수립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감축잠재량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분석 등에 과학적 근거자료를 제공</a:t>
          </a: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7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거래제의 할당 및 경매 수입 활용방안 등에 대한 정교한 분석을 통해 경제성장과 온실가스 감축은 물론 고용 창출을 유발하는 최적의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배출권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거래제가 설계될 수 있도록 과학적 연구결과를 제공</a:t>
          </a: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</dsp:txBody>
      <dsp:txXfrm>
        <a:off x="0" y="1072892"/>
        <a:ext cx="7753350" cy="1311862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52782B5-AD47-4EB9-9E0B-4AA0B9952111}">
      <dsp:nvSpPr>
        <dsp:cNvPr id="0" name=""/>
        <dsp:cNvSpPr/>
      </dsp:nvSpPr>
      <dsp:spPr>
        <a:xfrm>
          <a:off x="0" y="402982"/>
          <a:ext cx="7753350" cy="50172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궁극적으로 국제적 수준의 통합영향평가모형</a:t>
          </a:r>
          <a:r>
            <a:rPr lang="en-US" altLang="ko-K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(Integrated Assessment Model: IAM) </a:t>
          </a:r>
          <a:r>
            <a:rPr lang="ko-KR" alt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개발에 기여</a:t>
          </a:r>
          <a:endParaRPr lang="ko-KR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sp:txBody>
      <dsp:txXfrm>
        <a:off x="0" y="402982"/>
        <a:ext cx="7753350" cy="501723"/>
      </dsp:txXfrm>
    </dsp:sp>
    <dsp:sp modelId="{320ED8E9-10D6-475C-B5A1-3C21DE59A332}">
      <dsp:nvSpPr>
        <dsp:cNvPr id="0" name=""/>
        <dsp:cNvSpPr/>
      </dsp:nvSpPr>
      <dsp:spPr>
        <a:xfrm>
          <a:off x="0" y="904705"/>
          <a:ext cx="7753350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169" tIns="15240" rIns="85344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온실가스 감축은 물론 온실가스 관리에 따른 기후변화 완화효과를 평가하고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그에 따른 지구온난화 예방 및 경제적 파급효과를 분석함은 물론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다양한 적응정책을 통한 기후변화 영향 완화 효과까지 통합적으로 분석할 수 있는 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IAM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모형의 개발을 추진</a:t>
          </a: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700" kern="1200" dirty="0">
            <a:latin typeface="나눔고딕" pitchFamily="50" charset="-127"/>
            <a:ea typeface="나눔고딕" pitchFamily="50" charset="-127"/>
          </a:endParaRPr>
        </a:p>
        <a:p>
          <a:pPr marL="57150" lvl="1" indent="-57150" algn="l" defTabSz="31115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7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KEI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국가기후변화적응센터와 협력하여 상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하향식 감축분석 통합모형과 기후변화 영향평가 및 적응정책 분석모형을 통합하여 한국형 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IAM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모형 개발을 추진</a:t>
          </a: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</dsp:txBody>
      <dsp:txXfrm>
        <a:off x="0" y="904705"/>
        <a:ext cx="7753350" cy="1648237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ECA891A-7F56-4E48-ABDD-55C8BC90A620}">
      <dsp:nvSpPr>
        <dsp:cNvPr id="0" name=""/>
        <dsp:cNvSpPr/>
      </dsp:nvSpPr>
      <dsp:spPr>
        <a:xfrm>
          <a:off x="0" y="14756"/>
          <a:ext cx="7753350" cy="48794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itchFamily="50" charset="-127"/>
              <a:ea typeface="나눔고딕" pitchFamily="50" charset="-127"/>
            </a:rPr>
            <a:t>온실가스 감축정책 분석모형 분야의 국제적 연구를 선도</a:t>
          </a:r>
          <a:endParaRPr lang="ko-KR" altLang="en-U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나눔고딕" pitchFamily="50" charset="-127"/>
            <a:ea typeface="나눔고딕" pitchFamily="50" charset="-127"/>
          </a:endParaRPr>
        </a:p>
      </dsp:txBody>
      <dsp:txXfrm>
        <a:off x="0" y="14756"/>
        <a:ext cx="7753350" cy="487944"/>
      </dsp:txXfrm>
    </dsp:sp>
    <dsp:sp modelId="{018C07D0-85D9-458D-8208-6243AAC3C1CD}">
      <dsp:nvSpPr>
        <dsp:cNvPr id="0" name=""/>
        <dsp:cNvSpPr/>
      </dsp:nvSpPr>
      <dsp:spPr>
        <a:xfrm>
          <a:off x="0" y="502700"/>
          <a:ext cx="7753350" cy="1759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6169" tIns="15240" rIns="85344" bIns="1524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GCAM, MESSAGE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등 세계 최고 수준의 온실가스 감축분석 모형에 뒤지지 않는 국제적 수준의 상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·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하향식 통합 모형을 구축</a:t>
          </a:r>
          <a:endParaRPr lang="ko-KR" altLang="en-US" sz="12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IPCC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제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6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차 평가보고서 집필진에 본 연구단에 참여하는 온실가스 감축모형 전문가가 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5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인 이상 참여하고</a:t>
          </a:r>
          <a:r>
            <a:rPr lang="en-US" altLang="ko-KR" sz="1200" kern="1200" dirty="0" smtClean="0">
              <a:latin typeface="나눔고딕" pitchFamily="50" charset="-127"/>
              <a:ea typeface="나눔고딕" pitchFamily="50" charset="-127"/>
            </a:rPr>
            <a:t>, 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연구단 생산 논문이 다수 인용될 수 있도록 우수한 연구성과를 축적</a:t>
          </a:r>
          <a:endParaRPr lang="ko-KR" altLang="en-US" sz="700" kern="1200" dirty="0">
            <a:latin typeface="나눔고딕" pitchFamily="50" charset="-127"/>
            <a:ea typeface="나눔고딕" pitchFamily="50" charset="-127"/>
          </a:endParaRPr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개발된 모형을 다수의 개도국에 전파함으로써 개도국의 </a:t>
          </a:r>
          <a:r>
            <a:rPr lang="ko-KR" altLang="en-US" sz="1200" kern="1200" dirty="0" err="1" smtClean="0">
              <a:latin typeface="나눔고딕" pitchFamily="50" charset="-127"/>
              <a:ea typeface="나눔고딕" pitchFamily="50" charset="-127"/>
            </a:rPr>
            <a:t>저탄소</a:t>
          </a:r>
          <a:r>
            <a:rPr lang="ko-KR" altLang="en-US" sz="1200" kern="1200" dirty="0" smtClean="0">
              <a:latin typeface="나눔고딕" pitchFamily="50" charset="-127"/>
              <a:ea typeface="나눔고딕" pitchFamily="50" charset="-127"/>
            </a:rPr>
            <a:t> 녹색경제 정착에 기여</a:t>
          </a:r>
          <a:endParaRPr lang="ko-KR" altLang="en-US" sz="700" kern="1200" dirty="0">
            <a:latin typeface="나눔고딕" pitchFamily="50" charset="-127"/>
            <a:ea typeface="나눔고딕" pitchFamily="50" charset="-127"/>
          </a:endParaRPr>
        </a:p>
      </dsp:txBody>
      <dsp:txXfrm>
        <a:off x="0" y="502700"/>
        <a:ext cx="7753350" cy="1759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42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88" tIns="47544" rIns="95088" bIns="47544" numCol="1" anchor="t" anchorCtr="0" compatLnSpc="1">
            <a:prstTxWarp prst="textNoShape">
              <a:avLst/>
            </a:prstTxWarp>
          </a:bodyPr>
          <a:lstStyle>
            <a:lvl1pPr algn="l" latinLnBrk="0">
              <a:defRPr sz="1200" b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993" y="1"/>
            <a:ext cx="307842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88" tIns="47544" rIns="95088" bIns="47544" numCol="1" anchor="t" anchorCtr="0" compatLnSpc="1">
            <a:prstTxWarp prst="textNoShape">
              <a:avLst/>
            </a:prstTxWarp>
          </a:bodyPr>
          <a:lstStyle>
            <a:lvl1pPr algn="r" latinLnBrk="0">
              <a:defRPr sz="1200" b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407" y="4861442"/>
            <a:ext cx="568325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88" tIns="47544" rIns="95088" bIns="475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107"/>
            <a:ext cx="307842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88" tIns="47544" rIns="95088" bIns="47544" numCol="1" anchor="b" anchorCtr="0" compatLnSpc="1">
            <a:prstTxWarp prst="textNoShape">
              <a:avLst/>
            </a:prstTxWarp>
          </a:bodyPr>
          <a:lstStyle>
            <a:lvl1pPr algn="l" latinLnBrk="0">
              <a:defRPr sz="1200" b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GB" altLang="ko-KR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993" y="9721107"/>
            <a:ext cx="3078427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88" tIns="47544" rIns="95088" bIns="47544" numCol="1" anchor="b" anchorCtr="0" compatLnSpc="1">
            <a:prstTxWarp prst="textNoShape">
              <a:avLst/>
            </a:prstTxWarp>
          </a:bodyPr>
          <a:lstStyle>
            <a:lvl1pPr algn="r" latinLnBrk="0">
              <a:defRPr sz="1200" b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C97CB61B-FEB1-4466-B706-B79760AA10D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xmlns="" val="954645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DCC899-B307-4E0D-B7D7-12046114B0ED}" type="slidenum">
              <a:rPr lang="en-GB" altLang="ko-KR" smtClean="0">
                <a:latin typeface="Arial" pitchFamily="34" charset="0"/>
              </a:rPr>
              <a:pPr/>
              <a:t>1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4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5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6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7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8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9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10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11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2DCA01-3020-47F0-AFBC-A07A7E6698BF}" type="slidenum">
              <a:rPr lang="en-GB" altLang="ko-KR" smtClean="0">
                <a:latin typeface="Arial" pitchFamily="34" charset="0"/>
              </a:rPr>
              <a:pPr/>
              <a:t>14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F8A085-5B8C-4C48-9E3F-A168280A087E}" type="slidenum">
              <a:rPr lang="en-GB" altLang="ko-KR" smtClean="0">
                <a:latin typeface="Arial" pitchFamily="34" charset="0"/>
              </a:rPr>
              <a:pPr/>
              <a:t>15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15DD5F-34F3-4251-B1C2-128ABA4FFF1B}" type="slidenum">
              <a:rPr lang="en-GB" altLang="ko-KR" smtClean="0">
                <a:latin typeface="Arial" pitchFamily="34" charset="0"/>
              </a:rPr>
              <a:pPr/>
              <a:t>16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7F7DD0-30A0-4330-A99A-D88BE488EFC6}" type="slidenum">
              <a:rPr lang="en-GB" altLang="ko-KR" smtClean="0">
                <a:latin typeface="Arial" pitchFamily="34" charset="0"/>
              </a:rPr>
              <a:pPr/>
              <a:t>17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5C1026-C4D3-41A0-8BC4-2B277B3362C2}" type="slidenum">
              <a:rPr lang="en-GB" altLang="ko-KR" smtClean="0">
                <a:latin typeface="Arial" pitchFamily="34" charset="0"/>
              </a:rPr>
              <a:pPr/>
              <a:t>18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8BA0D1-D305-42E1-8C31-1E5A8B72B9A2}" type="slidenum">
              <a:rPr lang="en-GB" altLang="ko-KR" smtClean="0">
                <a:latin typeface="Arial" pitchFamily="34" charset="0"/>
              </a:rPr>
              <a:pPr/>
              <a:t>19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A0D8A5-1175-4FF3-BA5C-074EEBF3E892}" type="slidenum">
              <a:rPr lang="en-GB" altLang="ko-KR" smtClean="0">
                <a:latin typeface="Arial" pitchFamily="34" charset="0"/>
              </a:rPr>
              <a:pPr/>
              <a:t>20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AB7B3F-5F04-4B07-884B-D7927080D6D6}" type="slidenum">
              <a:rPr lang="en-GB" altLang="ko-KR" smtClean="0">
                <a:latin typeface="Arial" pitchFamily="34" charset="0"/>
              </a:rPr>
              <a:pPr/>
              <a:t>21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618F5A-0292-4B24-B5E5-7B1683266C84}" type="slidenum">
              <a:rPr lang="en-GB" altLang="ko-KR" smtClean="0">
                <a:latin typeface="Arial" pitchFamily="34" charset="0"/>
              </a:rPr>
              <a:pPr/>
              <a:t>22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4914D7-F0B1-49C9-92A7-74E6D2703E75}" type="slidenum">
              <a:rPr lang="en-GB" altLang="ko-KR" smtClean="0">
                <a:latin typeface="Arial" pitchFamily="34" charset="0"/>
              </a:rPr>
              <a:pPr/>
              <a:t>23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806D29-3B65-49B1-AB3C-1F5AEB5DC79F}" type="slidenum">
              <a:rPr lang="en-GB" altLang="ko-KR" smtClean="0">
                <a:latin typeface="Arial" pitchFamily="34" charset="0"/>
              </a:rPr>
              <a:pPr/>
              <a:t>25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2B90C1-DFAE-44EB-B9E4-0A06E665E777}" type="slidenum">
              <a:rPr lang="en-GB" altLang="ko-KR" smtClean="0">
                <a:latin typeface="Arial" pitchFamily="34" charset="0"/>
              </a:rPr>
              <a:pPr/>
              <a:t>26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293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765AB-B36D-4944-AFB3-7E07108DE1EB}" type="slidenum">
              <a:rPr lang="en-GB" altLang="ko-KR" smtClean="0">
                <a:latin typeface="Arial" pitchFamily="34" charset="0"/>
              </a:rPr>
              <a:pPr/>
              <a:t>27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765AB-B36D-4944-AFB3-7E07108DE1EB}" type="slidenum">
              <a:rPr lang="en-GB" altLang="ko-KR" smtClean="0">
                <a:latin typeface="Arial" pitchFamily="34" charset="0"/>
              </a:rPr>
              <a:pPr/>
              <a:t>28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765AB-B36D-4944-AFB3-7E07108DE1EB}" type="slidenum">
              <a:rPr lang="en-GB" altLang="ko-KR" smtClean="0">
                <a:latin typeface="Arial" pitchFamily="34" charset="0"/>
              </a:rPr>
              <a:pPr/>
              <a:t>29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765AB-B36D-4944-AFB3-7E07108DE1EB}" type="slidenum">
              <a:rPr lang="en-GB" altLang="ko-KR" smtClean="0">
                <a:latin typeface="Arial" pitchFamily="34" charset="0"/>
              </a:rPr>
              <a:pPr/>
              <a:t>30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765AB-B36D-4944-AFB3-7E07108DE1EB}" type="slidenum">
              <a:rPr lang="en-GB" altLang="ko-KR" smtClean="0">
                <a:latin typeface="Arial" pitchFamily="34" charset="0"/>
              </a:rPr>
              <a:pPr/>
              <a:t>31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38E009-CC1D-4B00-98F7-CADA61340065}" type="slidenum">
              <a:rPr lang="en-GB" altLang="ko-KR" smtClean="0">
                <a:latin typeface="Arial" pitchFamily="34" charset="0"/>
              </a:rPr>
              <a:pPr/>
              <a:t>32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62F1DD-3E9D-4B9F-9F39-AB4B82336866}" type="slidenum">
              <a:rPr lang="en-GB" altLang="ko-KR" smtClean="0">
                <a:latin typeface="Arial" pitchFamily="34" charset="0"/>
              </a:rPr>
              <a:pPr/>
              <a:t>34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D93195-8688-4356-A2A7-97B4C73AA645}" type="slidenum">
              <a:rPr lang="en-GB" altLang="ko-KR" smtClean="0">
                <a:latin typeface="Arial" pitchFamily="34" charset="0"/>
              </a:rPr>
              <a:pPr/>
              <a:t>35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BC9BB7-A5E3-47FA-99AC-213B0A9701F1}" type="slidenum">
              <a:rPr lang="en-GB" altLang="ko-KR" smtClean="0">
                <a:latin typeface="Arial" pitchFamily="34" charset="0"/>
              </a:rPr>
              <a:pPr/>
              <a:t>36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34F0F4-5BBD-4797-81B0-7F79C854F765}" type="slidenum">
              <a:rPr lang="en-GB" altLang="ko-KR" smtClean="0">
                <a:latin typeface="Arial" pitchFamily="34" charset="0"/>
              </a:rPr>
              <a:pPr/>
              <a:t>37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1F9F0B-319F-41C6-A97B-F0CF53CEB2D8}" type="slidenum">
              <a:rPr lang="en-GB" altLang="ko-KR" smtClean="0">
                <a:latin typeface="Arial" pitchFamily="34" charset="0"/>
              </a:rPr>
              <a:pPr/>
              <a:t>38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CD4840-5BE0-4302-9333-483063D30982}" type="slidenum">
              <a:rPr lang="en-GB" altLang="ko-KR" smtClean="0">
                <a:latin typeface="Arial" pitchFamily="34" charset="0"/>
              </a:rPr>
              <a:pPr/>
              <a:t>39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3B3474-1493-4916-B99F-EF19CF81F153}" type="slidenum">
              <a:rPr lang="en-GB" altLang="ko-KR" smtClean="0">
                <a:latin typeface="Arial" pitchFamily="34" charset="0"/>
              </a:rPr>
              <a:pPr/>
              <a:t>40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002D71-934D-4C11-BC15-387CA0528C07}" type="slidenum">
              <a:rPr lang="en-GB" altLang="ko-KR" smtClean="0">
                <a:latin typeface="Arial" pitchFamily="34" charset="0"/>
              </a:rPr>
              <a:pPr/>
              <a:t>41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A80683-4D37-4F3A-B711-109E24188911}" type="slidenum">
              <a:rPr lang="en-GB" altLang="ko-KR" smtClean="0">
                <a:latin typeface="Arial" pitchFamily="34" charset="0"/>
              </a:rPr>
              <a:pPr/>
              <a:t>42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75608C-7E17-48B6-92F0-AB42714E06C3}" type="slidenum">
              <a:rPr lang="en-GB" altLang="ko-KR" smtClean="0">
                <a:latin typeface="Arial" pitchFamily="34" charset="0"/>
              </a:rPr>
              <a:pPr/>
              <a:t>44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F561A2-BD03-4CF2-9829-FB4FA13D2BBE}" type="slidenum">
              <a:rPr lang="en-GB" altLang="ko-KR" smtClean="0">
                <a:latin typeface="Arial" pitchFamily="34" charset="0"/>
              </a:rPr>
              <a:pPr/>
              <a:t>45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E45AD8-C627-42A2-BF44-519A4BD37869}" type="slidenum">
              <a:rPr lang="en-GB" altLang="ko-KR" smtClean="0">
                <a:latin typeface="Arial" pitchFamily="34" charset="0"/>
              </a:rPr>
              <a:pPr/>
              <a:t>46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65BC31-2219-4667-9044-CE9C72A5A428}" type="slidenum">
              <a:rPr lang="en-GB" altLang="ko-KR" smtClean="0">
                <a:latin typeface="Arial" pitchFamily="34" charset="0"/>
              </a:rPr>
              <a:pPr/>
              <a:t>47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70C41A-3B7A-47B6-BDBC-2C046B387D49}" type="slidenum">
              <a:rPr lang="en-GB" altLang="ko-KR" smtClean="0">
                <a:latin typeface="Arial" pitchFamily="34" charset="0"/>
              </a:rPr>
              <a:pPr/>
              <a:t>48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95DD57-2525-4161-A4BF-61D09A020CEF}" type="slidenum">
              <a:rPr lang="en-GB" altLang="ko-KR" smtClean="0">
                <a:latin typeface="Arial" pitchFamily="34" charset="0"/>
              </a:rPr>
              <a:pPr/>
              <a:t>49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D8600F-52D2-4CED-A2C1-AA380DEE732F}" type="slidenum">
              <a:rPr lang="en-GB" altLang="ko-KR" smtClean="0">
                <a:latin typeface="Arial" pitchFamily="34" charset="0"/>
              </a:rPr>
              <a:pPr/>
              <a:t>50</a:t>
            </a:fld>
            <a:endParaRPr lang="en-GB" altLang="ko-KR" smtClean="0">
              <a:latin typeface="Arial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latin typeface="Arial" pitchFamily="34" charset="0"/>
              <a:ea typeface="굴림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 descr="stuf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2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0"/>
          <p:cNvSpPr>
            <a:spLocks noChangeArrowheads="1"/>
          </p:cNvSpPr>
          <p:nvPr userDrawn="1"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003366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latinLnBrk="0">
              <a:defRPr/>
            </a:pPr>
            <a:endParaRPr lang="fr-FR" altLang="ko-KR" dirty="0">
              <a:latin typeface="Arial" charset="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429000" y="5029200"/>
            <a:ext cx="5715000" cy="609600"/>
          </a:xfrm>
        </p:spPr>
        <p:txBody>
          <a:bodyPr/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429000" y="3581400"/>
            <a:ext cx="5715000" cy="1470025"/>
          </a:xfrm>
          <a:solidFill>
            <a:schemeClr val="bg1"/>
          </a:solidFill>
          <a:ln algn="ctr"/>
        </p:spPr>
        <p:txBody>
          <a:bodyPr lIns="91440" anchor="t"/>
          <a:lstStyle>
            <a:lvl1pPr algn="ctr">
              <a:spcBef>
                <a:spcPct val="20000"/>
              </a:spcBef>
              <a:defRPr sz="4000" b="1">
                <a:solidFill>
                  <a:srgbClr val="FCAB1A"/>
                </a:solidFill>
                <a:latin typeface="Verdana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>
          <a:xfrm>
            <a:off x="7010400" y="6578600"/>
            <a:ext cx="2133600" cy="279400"/>
          </a:xfrm>
        </p:spPr>
        <p:txBody>
          <a:bodyPr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pPr>
              <a:defRPr/>
            </a:pPr>
            <a:fld id="{335AF4E4-A392-4865-AC7C-C2760A95E49D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28800" y="2133600"/>
            <a:ext cx="7162800" cy="37909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FD079-7666-49DB-846E-C2E4266D670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25068-99D4-4710-9494-4066919BC00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8800" y="2133600"/>
            <a:ext cx="35052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86400" y="2133600"/>
            <a:ext cx="35052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38F87-E74E-4A20-87CB-490ACE12658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5D1-D86D-4E62-AE25-1FF0240C04B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D6ED0-3FA9-4D52-8E7A-F652759106AA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98775-2E9F-43DC-9180-760593C98CD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87B9F-7C4A-4A76-867E-5594B8D8994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54857-E066-43D2-9994-6F31AFCD7C2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E0DD7-2963-433D-821B-E06C1D47708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15200" y="1400175"/>
            <a:ext cx="1828800" cy="47720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8800" y="1400175"/>
            <a:ext cx="5334000" cy="47720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67EA0-65A7-4B23-A15D-F9F7591D3E8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1400175"/>
            <a:ext cx="7315200" cy="581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차트 개체 틀 2"/>
          <p:cNvSpPr>
            <a:spLocks noGrp="1"/>
          </p:cNvSpPr>
          <p:nvPr>
            <p:ph type="chart" idx="1"/>
          </p:nvPr>
        </p:nvSpPr>
        <p:spPr>
          <a:xfrm>
            <a:off x="1828800" y="2133600"/>
            <a:ext cx="7162800" cy="4038600"/>
          </a:xfrm>
        </p:spPr>
        <p:txBody>
          <a:bodyPr/>
          <a:lstStyle/>
          <a:p>
            <a:pPr lvl="0"/>
            <a:endParaRPr lang="ko-KR" altLang="en-US" noProof="0" dirty="0" smtClean="0"/>
          </a:p>
        </p:txBody>
      </p:sp>
      <p:sp>
        <p:nvSpPr>
          <p:cNvPr id="5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F4009-7588-40F8-B5F4-1F89D1A6639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8800" y="1400175"/>
            <a:ext cx="7315200" cy="581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828800" y="2133600"/>
            <a:ext cx="3505200" cy="4038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86400" y="2133600"/>
            <a:ext cx="3505200" cy="4038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4053D-14C7-4DE8-A159-ADBB166C416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0" descr="stuff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6915150" cy="3878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1038225" y="1238250"/>
            <a:ext cx="7848600" cy="35052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latinLnBrk="0">
              <a:defRPr/>
            </a:pPr>
            <a:endParaRPr lang="ko-KR" altLang="en-US" dirty="0">
              <a:latin typeface="Arial" charset="0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1400175"/>
            <a:ext cx="7315200" cy="58102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ko-KR" smtClean="0"/>
              <a:t>Click to edit Master title style</a:t>
            </a: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latinLnBrk="0">
              <a:defRPr/>
            </a:pPr>
            <a:endParaRPr lang="fr-FR" altLang="ko-KR" dirty="0">
              <a:latin typeface="Arial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800" y="2133600"/>
            <a:ext cx="7162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ko-KR" smtClean="0"/>
              <a:t>Click to edit Master text styles</a:t>
            </a:r>
          </a:p>
          <a:p>
            <a:pPr lvl="1"/>
            <a:r>
              <a:rPr lang="fr-FR" altLang="ko-KR" smtClean="0"/>
              <a:t>Second level</a:t>
            </a:r>
          </a:p>
          <a:p>
            <a:pPr lvl="2"/>
            <a:r>
              <a:rPr lang="fr-FR" altLang="ko-KR" smtClean="0"/>
              <a:t>Third level</a:t>
            </a:r>
          </a:p>
          <a:p>
            <a:pPr lvl="3"/>
            <a:r>
              <a:rPr lang="fr-FR" altLang="ko-KR" smtClean="0"/>
              <a:t>Fourth level</a:t>
            </a:r>
          </a:p>
          <a:p>
            <a:pPr lvl="4"/>
            <a:r>
              <a:rPr lang="fr-FR" altLang="ko-KR" smtClean="0"/>
              <a:t>Fifth level</a:t>
            </a:r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7010400" y="6578600"/>
            <a:ext cx="21336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pPr>
              <a:defRPr/>
            </a:pPr>
            <a:fld id="{DA8D8382-6BAE-4FAF-926F-A100C538EF90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1032" name="Picture 3"/>
          <p:cNvPicPr>
            <a:picLocks noChangeAspect="1" noChangeArrowheads="1"/>
          </p:cNvPicPr>
          <p:nvPr userDrawn="1"/>
        </p:nvPicPr>
        <p:blipFill>
          <a:blip r:embed="rId16" cstate="print"/>
          <a:srcRect l="60001" t="85159" r="1563" b="2928"/>
          <a:stretch>
            <a:fillRect/>
          </a:stretch>
        </p:blipFill>
        <p:spPr bwMode="auto">
          <a:xfrm>
            <a:off x="0" y="6076950"/>
            <a:ext cx="21336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09" r:id="rId4"/>
    <p:sldLayoutId id="2147484110" r:id="rId5"/>
    <p:sldLayoutId id="2147484111" r:id="rId6"/>
    <p:sldLayoutId id="2147484112" r:id="rId7"/>
    <p:sldLayoutId id="2147484113" r:id="rId8"/>
    <p:sldLayoutId id="2147484114" r:id="rId9"/>
    <p:sldLayoutId id="2147484115" r:id="rId10"/>
    <p:sldLayoutId id="2147484116" r:id="rId11"/>
    <p:sldLayoutId id="2147484117" r:id="rId12"/>
    <p:sldLayoutId id="2147484118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B4CCE2"/>
        </a:buClr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B4CCE2"/>
        </a:buClr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B4CCE2"/>
        </a:buClr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B4CCE2"/>
        </a:buClr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B4CCE2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2406650"/>
            <a:ext cx="7724775" cy="593725"/>
          </a:xfrm>
          <a:ln/>
        </p:spPr>
        <p:txBody>
          <a:bodyPr/>
          <a:lstStyle/>
          <a:p>
            <a:pPr eaLnBrk="1" hangingPunct="1"/>
            <a:r>
              <a:rPr lang="ko-KR" altLang="en-US" sz="2800" dirty="0" smtClean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rPr>
              <a:t>한국형 상</a:t>
            </a:r>
            <a:r>
              <a:rPr lang="en-US" altLang="ko-KR" sz="2800" dirty="0" smtClean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rPr>
              <a:t>·</a:t>
            </a:r>
            <a:r>
              <a:rPr lang="ko-KR" altLang="en-US" sz="2800" dirty="0" smtClean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</a:rPr>
              <a:t>하향식 온실가스 통합 감축 시스템 개발</a:t>
            </a:r>
            <a:endParaRPr lang="en-US" altLang="ko-KR" sz="2800" dirty="0" smtClean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142875" y="152400"/>
            <a:ext cx="29146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spcBef>
                <a:spcPct val="50000"/>
              </a:spcBef>
              <a:defRPr/>
            </a:pPr>
            <a:r>
              <a:rPr lang="ko-KR" altLang="en-US" sz="1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기후변화대응 환경기술개발사업</a:t>
            </a:r>
            <a:endParaRPr lang="en-US" altLang="ko-KR" sz="1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  <a:p>
            <a:pPr latinLnBrk="0">
              <a:spcBef>
                <a:spcPct val="50000"/>
              </a:spcBef>
              <a:defRPr/>
            </a:pPr>
            <a:r>
              <a:rPr lang="ko-KR" altLang="en-US" sz="1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itchFamily="50" charset="-127"/>
                <a:ea typeface="나눔고딕 ExtraBold" pitchFamily="50" charset="-127"/>
              </a:rPr>
              <a:t>연구단 과제</a:t>
            </a:r>
            <a:endParaRPr lang="fr-FR" altLang="ko-KR" sz="1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016000" y="4191000"/>
            <a:ext cx="7315200" cy="131127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0">
              <a:spcBef>
                <a:spcPct val="20000"/>
              </a:spcBef>
              <a:defRPr/>
            </a:pPr>
            <a:r>
              <a:rPr lang="en-US" altLang="ko-KR" sz="1800" kern="0" dirty="0" smtClean="0">
                <a:solidFill>
                  <a:schemeClr val="bg2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j-cs"/>
              </a:rPr>
              <a:t>2015. </a:t>
            </a:r>
            <a:r>
              <a:rPr lang="en-US" altLang="ko-KR" sz="1800" kern="0" dirty="0">
                <a:solidFill>
                  <a:schemeClr val="bg2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j-cs"/>
              </a:rPr>
              <a:t>04. </a:t>
            </a:r>
            <a:r>
              <a:rPr lang="en-US" altLang="ko-KR" sz="1800" kern="0" dirty="0" smtClean="0">
                <a:solidFill>
                  <a:schemeClr val="bg2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j-cs"/>
              </a:rPr>
              <a:t>16.</a:t>
            </a:r>
            <a:endParaRPr lang="en-US" altLang="ko-KR" sz="1800" kern="0" dirty="0">
              <a:solidFill>
                <a:schemeClr val="bg2">
                  <a:lumMod val="75000"/>
                </a:schemeClr>
              </a:solidFill>
              <a:latin typeface="나눔고딕 ExtraBold" pitchFamily="50" charset="-127"/>
              <a:ea typeface="나눔고딕 ExtraBold" pitchFamily="50" charset="-127"/>
              <a:cs typeface="+mj-cs"/>
            </a:endParaRPr>
          </a:p>
          <a:p>
            <a:pPr algn="ctr" latinLnBrk="0">
              <a:spcBef>
                <a:spcPct val="20000"/>
              </a:spcBef>
              <a:defRPr/>
            </a:pPr>
            <a:endParaRPr lang="en-US" altLang="ko-KR" sz="1800" kern="0" dirty="0">
              <a:solidFill>
                <a:schemeClr val="bg2">
                  <a:lumMod val="75000"/>
                </a:schemeClr>
              </a:solidFill>
              <a:latin typeface="나눔고딕 ExtraBold" pitchFamily="50" charset="-127"/>
              <a:ea typeface="나눔고딕 ExtraBold" pitchFamily="50" charset="-127"/>
              <a:cs typeface="+mj-cs"/>
            </a:endParaRPr>
          </a:p>
          <a:p>
            <a:pPr algn="ctr" latinLnBrk="0">
              <a:spcBef>
                <a:spcPct val="20000"/>
              </a:spcBef>
              <a:defRPr/>
            </a:pPr>
            <a:r>
              <a:rPr lang="ko-KR" altLang="en-US" sz="1800" kern="0" dirty="0">
                <a:solidFill>
                  <a:schemeClr val="bg2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j-cs"/>
              </a:rPr>
              <a:t>한국환경정책</a:t>
            </a:r>
            <a:r>
              <a:rPr lang="en-US" altLang="ko-KR" sz="1800" kern="0" dirty="0">
                <a:solidFill>
                  <a:schemeClr val="bg2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j-cs"/>
              </a:rPr>
              <a:t>·</a:t>
            </a:r>
            <a:r>
              <a:rPr lang="ko-KR" altLang="en-US" sz="1800" kern="0" dirty="0" smtClean="0">
                <a:solidFill>
                  <a:schemeClr val="bg2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+mj-cs"/>
              </a:rPr>
              <a:t>평가연구원</a:t>
            </a:r>
            <a:endParaRPr lang="en-US" altLang="ko-KR" sz="1800" kern="0" dirty="0">
              <a:solidFill>
                <a:schemeClr val="bg2">
                  <a:lumMod val="75000"/>
                </a:schemeClr>
              </a:solidFill>
              <a:latin typeface="나눔고딕 ExtraBold" pitchFamily="50" charset="-127"/>
              <a:ea typeface="나눔고딕 ExtraBold" pitchFamily="50" charset="-127"/>
              <a:cs typeface="+mj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5D7D9B-E1EF-484E-9207-86265965106E}" type="slidenum">
              <a:rPr lang="ko-KR" altLang="en-US"/>
              <a:pPr>
                <a:defRPr/>
              </a:pPr>
              <a:t>1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1828800" y="1476375"/>
            <a:ext cx="7315200" cy="1012825"/>
          </a:xfrm>
        </p:spPr>
        <p:txBody>
          <a:bodyPr/>
          <a:lstStyle/>
          <a:p>
            <a:r>
              <a:rPr lang="ko-KR" altLang="en-US" smtClean="0">
                <a:latin typeface="나눔고딕 ExtraBold" pitchFamily="50" charset="-127"/>
                <a:ea typeface="나눔고딕 ExtraBold" pitchFamily="50" charset="-127"/>
              </a:rPr>
              <a:t>목   차</a:t>
            </a:r>
          </a:p>
        </p:txBody>
      </p:sp>
      <p:sp>
        <p:nvSpPr>
          <p:cNvPr id="16387" name="TextBox 3"/>
          <p:cNvSpPr txBox="1">
            <a:spLocks noChangeArrowheads="1"/>
          </p:cNvSpPr>
          <p:nvPr/>
        </p:nvSpPr>
        <p:spPr bwMode="auto">
          <a:xfrm>
            <a:off x="4917861" y="2956953"/>
            <a:ext cx="4069487" cy="286232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I. 1</a:t>
            </a: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차년도 성과 보고</a:t>
            </a:r>
            <a:endParaRPr lang="en-US" altLang="ko-KR" sz="20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50000"/>
              </a:lnSpc>
            </a:pPr>
            <a:r>
              <a:rPr lang="en-US" altLang="ko-KR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II. 2</a:t>
            </a: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차년도 계획 보고</a:t>
            </a:r>
            <a:endParaRPr lang="en-US" altLang="ko-KR" sz="20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>
              <a:lnSpc>
                <a:spcPct val="150000"/>
              </a:lnSpc>
              <a:buFontTx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연구개발 필요성 및 기대효과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>
              <a:lnSpc>
                <a:spcPct val="150000"/>
              </a:lnSpc>
              <a:buFontTx/>
              <a:buAutoNum type="arabicPeriod"/>
            </a:pP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연구 수행방법 및 추진전략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연구단장 및 주관기관 역량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 운영</a:t>
            </a:r>
            <a:r>
              <a:rPr lang="en-US" altLang="ko-KR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관리 계획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4BE045-CB57-4A83-9F91-C765DF5D3AF2}" type="slidenum">
              <a:rPr lang="ko-KR" altLang="en-US"/>
              <a:pPr>
                <a:defRPr/>
              </a:pPr>
              <a:t>2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1828800" y="2085975"/>
            <a:ext cx="7315200" cy="1012825"/>
          </a:xfrm>
        </p:spPr>
        <p:txBody>
          <a:bodyPr/>
          <a:lstStyle/>
          <a:p>
            <a:r>
              <a:rPr lang="en-US" altLang="ko-KR" sz="3200" dirty="0" smtClean="0">
                <a:latin typeface="나눔고딕 ExtraBold" pitchFamily="50" charset="-127"/>
                <a:ea typeface="나눔고딕 ExtraBold" pitchFamily="50" charset="-127"/>
              </a:rPr>
              <a:t>I. 1</a:t>
            </a:r>
            <a:r>
              <a:rPr lang="ko-KR" altLang="en-US" sz="3200" dirty="0" smtClean="0">
                <a:latin typeface="나눔고딕 ExtraBold" pitchFamily="50" charset="-127"/>
                <a:ea typeface="나눔고딕 ExtraBold" pitchFamily="50" charset="-127"/>
              </a:rPr>
              <a:t>차년도 성과</a:t>
            </a:r>
            <a:r>
              <a:rPr lang="en-US" altLang="ko-KR" sz="32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3200" dirty="0" smtClean="0">
                <a:latin typeface="나눔고딕 ExtraBold" pitchFamily="50" charset="-127"/>
                <a:ea typeface="나눔고딕 ExtraBold" pitchFamily="50" charset="-127"/>
              </a:rPr>
              <a:t>보고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7E678C-E6CB-4E50-AEFE-133E7F92174C}" type="slidenum">
              <a:rPr lang="ko-KR" altLang="en-US"/>
              <a:pPr>
                <a:defRPr/>
              </a:pPr>
              <a:t>3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4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성과목표 달성도</a:t>
            </a:r>
            <a:endParaRPr lang="ko-KR" altLang="en-US" sz="140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879567" y="1658266"/>
          <a:ext cx="8157730" cy="446385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49494"/>
                <a:gridCol w="1113036"/>
                <a:gridCol w="1558800"/>
                <a:gridCol w="2750400"/>
                <a:gridCol w="450000"/>
                <a:gridCol w="450000"/>
                <a:gridCol w="450000"/>
                <a:gridCol w="486000"/>
                <a:gridCol w="450000"/>
              </a:tblGrid>
              <a:tr h="3727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기관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구분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성과목표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성과지표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목표치</a:t>
                      </a:r>
                      <a:endParaRPr lang="en-US" altLang="ko-KR" sz="900" dirty="0" smtClean="0"/>
                    </a:p>
                    <a:p>
                      <a:pPr algn="ctr" latinLnBrk="1"/>
                      <a:r>
                        <a:rPr lang="en-US" altLang="ko-KR" sz="900" dirty="0" smtClean="0"/>
                        <a:t>(A)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가중치</a:t>
                      </a:r>
                      <a:endParaRPr lang="en-US" altLang="ko-KR" sz="900" dirty="0" smtClean="0"/>
                    </a:p>
                    <a:p>
                      <a:pPr algn="ctr" latinLnBrk="1"/>
                      <a:r>
                        <a:rPr lang="en-US" altLang="ko-KR" sz="900" dirty="0" smtClean="0"/>
                        <a:t>(%)(B)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/>
                        <a:t>실적치</a:t>
                      </a:r>
                      <a:endParaRPr lang="en-US" altLang="ko-KR" sz="900" dirty="0" smtClean="0"/>
                    </a:p>
                    <a:p>
                      <a:pPr algn="ctr" latinLnBrk="1"/>
                      <a:r>
                        <a:rPr lang="en-US" altLang="ko-KR" sz="900" dirty="0" smtClean="0"/>
                        <a:t>(C)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 smtClean="0"/>
                        <a:t>목표달성도</a:t>
                      </a:r>
                      <a:endParaRPr lang="en-US" altLang="ko-KR" sz="900" spc="-150" dirty="0" smtClean="0"/>
                    </a:p>
                    <a:p>
                      <a:pPr algn="ctr" latinLnBrk="1"/>
                      <a:r>
                        <a:rPr lang="en-US" altLang="ko-KR" sz="900" spc="-150" dirty="0" smtClean="0"/>
                        <a:t>(D=C/A)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지표</a:t>
                      </a:r>
                      <a:endParaRPr lang="en-US" altLang="ko-KR" sz="900" dirty="0" smtClean="0"/>
                    </a:p>
                    <a:p>
                      <a:pPr algn="ctr" latinLnBrk="1"/>
                      <a:r>
                        <a:rPr lang="ko-KR" altLang="en-US" sz="900" dirty="0" smtClean="0"/>
                        <a:t>점수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82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총괄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 smtClean="0"/>
                        <a:t>과학기술적 성과항목 </a:t>
                      </a:r>
                      <a:endParaRPr lang="en-US" altLang="ko-KR" sz="900" spc="-150" dirty="0" smtClean="0"/>
                    </a:p>
                    <a:p>
                      <a:pPr algn="ctr" latinLnBrk="1"/>
                      <a:r>
                        <a:rPr lang="ko-KR" altLang="en-US" sz="900" spc="-150" dirty="0" smtClean="0"/>
                        <a:t>및 성과지표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한국형 온실가스 감축 통합모형 구축을 위한 기반구축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[</a:t>
                      </a:r>
                      <a:r>
                        <a:rPr lang="ko-KR" altLang="en-US" sz="900" dirty="0" smtClean="0"/>
                        <a:t>인력양성</a:t>
                      </a:r>
                      <a:r>
                        <a:rPr lang="en-US" altLang="ko-KR" sz="900" dirty="0" smtClean="0"/>
                        <a:t>] </a:t>
                      </a:r>
                    </a:p>
                    <a:p>
                      <a:pPr latinLnBrk="1"/>
                      <a:r>
                        <a:rPr lang="ko-KR" altLang="en-US" sz="900" dirty="0" smtClean="0"/>
                        <a:t>기술 연수 및 교육훈련 실적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5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100.00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학술지 게재 </a:t>
                      </a:r>
                      <a:r>
                        <a:rPr lang="en-US" altLang="ko-KR" sz="900" dirty="0" smtClean="0"/>
                        <a:t>– SCI(E)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ko-KR" altLang="en-US" sz="900" baseline="0" dirty="0" smtClean="0"/>
                        <a:t>학술지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/>
                        <a:t>국내외 학술회의 발표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en-US" altLang="ko-KR" sz="900" dirty="0" smtClean="0"/>
                        <a:t>: 2014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ko-KR" altLang="en-US" sz="900" baseline="0" dirty="0" err="1" smtClean="0"/>
                        <a:t>한국경영과학회</a:t>
                      </a:r>
                      <a:r>
                        <a:rPr lang="ko-KR" altLang="en-US" sz="900" baseline="0" dirty="0" smtClean="0"/>
                        <a:t> 추계학술대회</a:t>
                      </a:r>
                      <a:r>
                        <a:rPr lang="en-US" altLang="ko-KR" sz="900" baseline="0" dirty="0" smtClean="0"/>
                        <a:t>, </a:t>
                      </a:r>
                      <a:r>
                        <a:rPr lang="ko-KR" altLang="en-US" sz="900" baseline="0" dirty="0" smtClean="0"/>
                        <a:t>고려대학교</a:t>
                      </a:r>
                      <a:r>
                        <a:rPr lang="en-US" altLang="ko-KR" sz="900" baseline="0" dirty="0" smtClean="0"/>
                        <a:t>, </a:t>
                      </a:r>
                      <a:r>
                        <a:rPr lang="ko-KR" altLang="en-US" sz="900" baseline="0" dirty="0" smtClean="0"/>
                        <a:t>김용건</a:t>
                      </a:r>
                      <a:r>
                        <a:rPr lang="en-US" altLang="ko-KR" sz="900" baseline="0" dirty="0" smtClean="0"/>
                        <a:t>, 2014/11,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 smtClean="0"/>
                        <a:t>                              </a:t>
                      </a:r>
                      <a:r>
                        <a:rPr lang="ko-KR" altLang="en-US" sz="900" baseline="0" dirty="0" smtClean="0"/>
                        <a:t>기후변화와 경영과학</a:t>
                      </a:r>
                      <a:endParaRPr lang="en-US" altLang="ko-KR" sz="90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국제학술회의 개최</a:t>
                      </a:r>
                      <a:r>
                        <a:rPr lang="en-US" altLang="ko-KR" sz="900" dirty="0" smtClean="0"/>
                        <a:t>: 2015 International</a:t>
                      </a:r>
                      <a:r>
                        <a:rPr lang="en-US" altLang="ko-KR" sz="900" baseline="0" dirty="0" smtClean="0"/>
                        <a:t> Workshop for Integrated GHG Modeling, 2015/3/11-14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인력지원 </a:t>
                      </a:r>
                      <a:r>
                        <a:rPr lang="en-US" altLang="ko-KR" sz="900" dirty="0" smtClean="0"/>
                        <a:t>:</a:t>
                      </a:r>
                      <a:r>
                        <a:rPr lang="en-US" altLang="ko-KR" sz="900" baseline="0" dirty="0" smtClean="0"/>
                        <a:t> </a:t>
                      </a:r>
                      <a:r>
                        <a:rPr lang="ko-KR" altLang="en-US" sz="900" baseline="0" dirty="0" smtClean="0"/>
                        <a:t>학사 </a:t>
                      </a:r>
                      <a:r>
                        <a:rPr lang="en-US" altLang="ko-KR" sz="900" baseline="0" dirty="0" smtClean="0"/>
                        <a:t>2</a:t>
                      </a:r>
                      <a:r>
                        <a:rPr lang="ko-KR" altLang="en-US" sz="900" baseline="0" dirty="0" smtClean="0"/>
                        <a:t>명</a:t>
                      </a:r>
                      <a:r>
                        <a:rPr lang="en-US" altLang="ko-KR" sz="900" baseline="0" dirty="0" smtClean="0"/>
                        <a:t>, </a:t>
                      </a:r>
                      <a:r>
                        <a:rPr lang="ko-KR" altLang="en-US" sz="900" baseline="0" dirty="0" smtClean="0"/>
                        <a:t>석사 </a:t>
                      </a:r>
                      <a:r>
                        <a:rPr lang="en-US" altLang="ko-KR" sz="900" baseline="0" dirty="0" smtClean="0"/>
                        <a:t>2</a:t>
                      </a:r>
                      <a:r>
                        <a:rPr lang="ko-KR" altLang="en-US" sz="900" baseline="0" dirty="0" smtClean="0"/>
                        <a:t>명</a:t>
                      </a:r>
                      <a:r>
                        <a:rPr lang="en-US" altLang="ko-KR" sz="900" baseline="0" dirty="0" smtClean="0"/>
                        <a:t>, </a:t>
                      </a:r>
                      <a:r>
                        <a:rPr lang="ko-KR" altLang="en-US" sz="900" baseline="0" dirty="0" smtClean="0"/>
                        <a:t>박사 </a:t>
                      </a:r>
                      <a:r>
                        <a:rPr lang="en-US" altLang="ko-KR" sz="900" baseline="0" dirty="0" smtClean="0"/>
                        <a:t>2</a:t>
                      </a:r>
                      <a:r>
                        <a:rPr lang="ko-KR" altLang="en-US" sz="900" baseline="0" dirty="0" smtClean="0"/>
                        <a:t>명</a:t>
                      </a:r>
                      <a:r>
                        <a:rPr lang="en-US" altLang="ko-KR" sz="900" baseline="0" dirty="0" smtClean="0"/>
                        <a:t>, </a:t>
                      </a:r>
                      <a:r>
                        <a:rPr lang="ko-KR" altLang="en-US" sz="900" baseline="0" dirty="0" smtClean="0"/>
                        <a:t>기타 </a:t>
                      </a:r>
                      <a:r>
                        <a:rPr lang="en-US" altLang="ko-KR" sz="900" baseline="0" dirty="0" smtClean="0"/>
                        <a:t>2</a:t>
                      </a:r>
                      <a:r>
                        <a:rPr lang="ko-KR" altLang="en-US" sz="900" baseline="0" dirty="0" smtClean="0"/>
                        <a:t>명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 sz="9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소계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100.00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rowSpan="11"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 smtClean="0"/>
                        <a:t>세부</a:t>
                      </a:r>
                      <a:r>
                        <a:rPr lang="en-US" altLang="ko-KR" sz="900" spc="-150" dirty="0" smtClean="0"/>
                        <a:t>1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 smtClean="0"/>
                        <a:t>과학기술적 성과항목 </a:t>
                      </a:r>
                      <a:endParaRPr lang="en-US" altLang="ko-KR" sz="900" spc="-150" dirty="0" smtClean="0"/>
                    </a:p>
                    <a:p>
                      <a:pPr algn="ctr" latinLnBrk="1"/>
                      <a:r>
                        <a:rPr lang="ko-KR" altLang="en-US" sz="900" spc="-150" dirty="0" smtClean="0"/>
                        <a:t>및 성과지표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/>
                        <a:t>기술정보 목록</a:t>
                      </a:r>
                      <a:r>
                        <a:rPr lang="ko-KR" altLang="en-US" sz="900" baseline="0" dirty="0" smtClean="0"/>
                        <a:t> 도출</a:t>
                      </a:r>
                      <a:r>
                        <a:rPr lang="en-US" altLang="ko-KR" sz="900" baseline="0" dirty="0" smtClean="0"/>
                        <a:t>, </a:t>
                      </a:r>
                    </a:p>
                    <a:p>
                      <a:pPr latinLnBrk="1"/>
                      <a:r>
                        <a:rPr lang="ko-KR" altLang="en-US" sz="900" baseline="0" dirty="0" smtClean="0"/>
                        <a:t>기존 기술 </a:t>
                      </a:r>
                      <a:r>
                        <a:rPr lang="en-US" altLang="ko-KR" sz="900" baseline="0" dirty="0" smtClean="0"/>
                        <a:t>DB</a:t>
                      </a:r>
                      <a:r>
                        <a:rPr lang="ko-KR" altLang="en-US" sz="900" baseline="0" dirty="0" smtClean="0"/>
                        <a:t>취합</a:t>
                      </a:r>
                      <a:r>
                        <a:rPr lang="en-US" altLang="ko-KR" sz="900" baseline="0" dirty="0" smtClean="0"/>
                        <a:t>, </a:t>
                      </a:r>
                    </a:p>
                    <a:p>
                      <a:pPr latinLnBrk="1"/>
                      <a:r>
                        <a:rPr lang="ko-KR" altLang="en-US" sz="900" spc="-150" baseline="0" dirty="0" smtClean="0"/>
                        <a:t>기술확산</a:t>
                      </a:r>
                      <a:r>
                        <a:rPr lang="en-US" altLang="ko-KR" sz="900" spc="-150" baseline="0" dirty="0" smtClean="0"/>
                        <a:t>/</a:t>
                      </a:r>
                      <a:r>
                        <a:rPr lang="ko-KR" altLang="en-US" sz="900" spc="-150" baseline="0" dirty="0" smtClean="0"/>
                        <a:t>변화 이론 조사</a:t>
                      </a:r>
                      <a:r>
                        <a:rPr lang="en-US" altLang="ko-KR" sz="900" baseline="0" dirty="0" smtClean="0"/>
                        <a:t>, </a:t>
                      </a:r>
                    </a:p>
                    <a:p>
                      <a:pPr latinLnBrk="1"/>
                      <a:r>
                        <a:rPr lang="ko-KR" altLang="en-US" sz="900" baseline="0" dirty="0" smtClean="0"/>
                        <a:t>선진 </a:t>
                      </a:r>
                      <a:r>
                        <a:rPr lang="ko-KR" altLang="en-US" sz="900" baseline="0" dirty="0" err="1" smtClean="0"/>
                        <a:t>상하향식</a:t>
                      </a:r>
                      <a:r>
                        <a:rPr lang="ko-KR" altLang="en-US" sz="900" baseline="0" dirty="0" smtClean="0"/>
                        <a:t> 모형 구조 </a:t>
                      </a:r>
                      <a:endParaRPr lang="en-US" altLang="ko-KR" sz="900" baseline="0" dirty="0" smtClean="0"/>
                    </a:p>
                    <a:p>
                      <a:pPr latinLnBrk="1"/>
                      <a:r>
                        <a:rPr lang="ko-KR" altLang="en-US" sz="900" baseline="0" dirty="0" smtClean="0"/>
                        <a:t>분석 및 개념 제안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pc="-150" dirty="0" smtClean="0"/>
                        <a:t>기술정보</a:t>
                      </a:r>
                      <a:r>
                        <a:rPr lang="en-US" altLang="ko-KR" sz="900" spc="-150" baseline="0" dirty="0" smtClean="0"/>
                        <a:t> </a:t>
                      </a:r>
                      <a:r>
                        <a:rPr lang="ko-KR" altLang="en-US" sz="900" spc="-150" baseline="0" dirty="0" smtClean="0"/>
                        <a:t>목록 도출 후 </a:t>
                      </a:r>
                      <a:r>
                        <a:rPr lang="en-US" altLang="ko-KR" sz="900" spc="-150" baseline="0" dirty="0" smtClean="0"/>
                        <a:t>1</a:t>
                      </a:r>
                      <a:r>
                        <a:rPr lang="ko-KR" altLang="en-US" sz="900" spc="-150" baseline="0" dirty="0" smtClean="0"/>
                        <a:t>차년도 보고서에 문서화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20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20.00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pc="-150" dirty="0" smtClean="0"/>
                        <a:t>기 구축된 국내외 기술 </a:t>
                      </a:r>
                      <a:r>
                        <a:rPr lang="en-US" altLang="ko-KR" sz="900" spc="-150" dirty="0" smtClean="0"/>
                        <a:t>DB </a:t>
                      </a:r>
                      <a:r>
                        <a:rPr lang="ko-KR" altLang="en-US" sz="900" spc="-150" dirty="0" smtClean="0"/>
                        <a:t>취합 후 </a:t>
                      </a:r>
                      <a:r>
                        <a:rPr lang="en-US" altLang="ko-KR" sz="900" spc="-150" dirty="0" smtClean="0"/>
                        <a:t>1</a:t>
                      </a:r>
                      <a:r>
                        <a:rPr lang="ko-KR" altLang="en-US" sz="900" spc="-150" dirty="0" smtClean="0"/>
                        <a:t>차년도 보고서에 문서화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30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30.00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pc="-150" dirty="0" smtClean="0"/>
                        <a:t>기술확산</a:t>
                      </a:r>
                      <a:r>
                        <a:rPr lang="en-US" altLang="ko-KR" sz="900" spc="-150" dirty="0" smtClean="0"/>
                        <a:t>/</a:t>
                      </a:r>
                      <a:r>
                        <a:rPr lang="ko-KR" altLang="en-US" sz="900" spc="-150" dirty="0" smtClean="0"/>
                        <a:t>변화에 대한 이론 조사 후 </a:t>
                      </a:r>
                      <a:r>
                        <a:rPr lang="en-US" altLang="ko-KR" sz="900" spc="-150" dirty="0" smtClean="0"/>
                        <a:t>1</a:t>
                      </a:r>
                      <a:r>
                        <a:rPr lang="ko-KR" altLang="en-US" sz="900" spc="-150" dirty="0" smtClean="0"/>
                        <a:t>차년도 보고서에 문서화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30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30.00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82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pc="-150" dirty="0" smtClean="0"/>
                        <a:t>본 세부과제가 분석하기로 한 선진 통합모형에 대한 구조 분석 및 타 연구팀과 공동으로 한국형 평가모형 개념 제안</a:t>
                      </a:r>
                      <a:endParaRPr lang="ko-KR" altLang="en-US" sz="900" spc="-1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20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20.00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/>
                        <a:t>학술지 게재 </a:t>
                      </a:r>
                      <a:r>
                        <a:rPr lang="en-US" altLang="ko-KR" sz="900" dirty="0" smtClean="0"/>
                        <a:t>– </a:t>
                      </a:r>
                      <a:r>
                        <a:rPr lang="ko-KR" altLang="en-US" sz="900" dirty="0" smtClean="0"/>
                        <a:t>일반학술지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7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kern="1200" dirty="0" smtClean="0"/>
                        <a:t>국내외 학술회의 발표</a:t>
                      </a:r>
                      <a:r>
                        <a:rPr lang="en-US" altLang="ko-KR" sz="900" kern="1200" dirty="0" smtClean="0"/>
                        <a:t>: HICSS-48</a:t>
                      </a:r>
                      <a:r>
                        <a:rPr lang="en-US" altLang="ko-KR" sz="900" kern="1200" baseline="0" dirty="0" smtClean="0"/>
                        <a:t> Conference, </a:t>
                      </a:r>
                      <a:r>
                        <a:rPr lang="ko-KR" altLang="en-US" sz="900" kern="1200" baseline="0" dirty="0" smtClean="0"/>
                        <a:t>하와이 </a:t>
                      </a:r>
                      <a:r>
                        <a:rPr lang="ko-KR" altLang="en-US" sz="900" kern="1200" baseline="0" dirty="0" err="1" smtClean="0"/>
                        <a:t>카우라이</a:t>
                      </a:r>
                      <a:r>
                        <a:rPr lang="ko-KR" altLang="en-US" sz="900" kern="1200" baseline="0" dirty="0" smtClean="0"/>
                        <a:t> </a:t>
                      </a:r>
                      <a:r>
                        <a:rPr lang="ko-KR" altLang="en-US" sz="900" kern="1200" baseline="0" dirty="0" err="1" smtClean="0"/>
                        <a:t>그랜드하이얏트</a:t>
                      </a:r>
                      <a:r>
                        <a:rPr lang="en-US" altLang="ko-KR" sz="900" kern="1200" baseline="0" dirty="0" smtClean="0"/>
                        <a:t>, </a:t>
                      </a:r>
                      <a:r>
                        <a:rPr lang="ko-KR" altLang="en-US" sz="900" kern="1200" baseline="0" dirty="0" smtClean="0"/>
                        <a:t>유소영</a:t>
                      </a:r>
                      <a:r>
                        <a:rPr lang="en-US" altLang="ko-KR" sz="900" kern="1200" baseline="0" dirty="0" smtClean="0"/>
                        <a:t>, 2015/01, </a:t>
                      </a:r>
                    </a:p>
                    <a:p>
                      <a:pPr algn="l" latinLnBrk="1"/>
                      <a:r>
                        <a:rPr lang="en-US" altLang="ko-KR" sz="900" kern="1200" baseline="0" dirty="0" smtClean="0"/>
                        <a:t>   The Role of Environmental Information Disclosure Systems and their Impacts on Firm Performance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kern="1200" dirty="0" smtClean="0"/>
                        <a:t>국제협력 기반</a:t>
                      </a:r>
                      <a:r>
                        <a:rPr lang="en-US" altLang="ko-KR" sz="900" kern="1200" dirty="0" smtClean="0"/>
                        <a:t>- MOU </a:t>
                      </a:r>
                      <a:r>
                        <a:rPr lang="ko-KR" altLang="en-US" sz="900" kern="1200" dirty="0" smtClean="0"/>
                        <a:t>체결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kern="1200" dirty="0" smtClean="0"/>
                        <a:t>인력지원</a:t>
                      </a:r>
                      <a:r>
                        <a:rPr lang="en-US" altLang="ko-KR" sz="900" kern="1200" dirty="0" smtClean="0"/>
                        <a:t>: </a:t>
                      </a:r>
                      <a:r>
                        <a:rPr lang="ko-KR" altLang="en-US" sz="900" kern="1200" dirty="0" smtClean="0"/>
                        <a:t>석사 </a:t>
                      </a:r>
                      <a:r>
                        <a:rPr lang="en-US" altLang="ko-KR" sz="900" kern="1200" dirty="0" smtClean="0"/>
                        <a:t>4</a:t>
                      </a:r>
                      <a:r>
                        <a:rPr lang="ko-KR" altLang="en-US" sz="900" kern="1200" dirty="0" smtClean="0"/>
                        <a:t>명</a:t>
                      </a:r>
                      <a:r>
                        <a:rPr lang="en-US" altLang="ko-KR" sz="900" kern="1200" dirty="0" smtClean="0"/>
                        <a:t>, </a:t>
                      </a:r>
                      <a:r>
                        <a:rPr lang="ko-KR" altLang="en-US" sz="900" kern="1200" dirty="0" smtClean="0"/>
                        <a:t>박사 </a:t>
                      </a:r>
                      <a:r>
                        <a:rPr lang="en-US" altLang="ko-KR" sz="900" kern="1200" dirty="0" smtClean="0"/>
                        <a:t>3</a:t>
                      </a:r>
                      <a:r>
                        <a:rPr lang="ko-KR" altLang="en-US" sz="900" kern="1200" dirty="0" smtClean="0"/>
                        <a:t>명</a:t>
                      </a:r>
                      <a:r>
                        <a:rPr lang="en-US" altLang="ko-KR" sz="900" kern="1200" dirty="0" smtClean="0"/>
                        <a:t>, </a:t>
                      </a:r>
                      <a:r>
                        <a:rPr lang="ko-KR" altLang="en-US" sz="900" kern="1200" dirty="0" smtClean="0"/>
                        <a:t>기타 </a:t>
                      </a:r>
                      <a:r>
                        <a:rPr lang="en-US" altLang="ko-KR" sz="900" kern="1200" dirty="0" smtClean="0"/>
                        <a:t>2</a:t>
                      </a:r>
                      <a:r>
                        <a:rPr lang="ko-KR" altLang="en-US" sz="900" kern="1200" dirty="0" smtClean="0"/>
                        <a:t>명 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/>
                        <a:t>10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kern="1200" dirty="0" smtClean="0"/>
                        <a:t>법</a:t>
                      </a:r>
                      <a:r>
                        <a:rPr lang="en-US" altLang="ko-KR" sz="900" kern="1200" dirty="0" smtClean="0"/>
                        <a:t>·</a:t>
                      </a:r>
                      <a:r>
                        <a:rPr lang="ko-KR" altLang="en-US" sz="900" kern="1200" dirty="0" smtClean="0"/>
                        <a:t>정책</a:t>
                      </a:r>
                      <a:r>
                        <a:rPr lang="en-US" altLang="ko-KR" sz="900" kern="1200" dirty="0" smtClean="0"/>
                        <a:t>·</a:t>
                      </a:r>
                      <a:r>
                        <a:rPr lang="ko-KR" altLang="en-US" sz="900" kern="1200" dirty="0" smtClean="0"/>
                        <a:t>지침 활용 성과</a:t>
                      </a:r>
                      <a:r>
                        <a:rPr lang="en-US" altLang="ko-KR" sz="900" kern="1200" dirty="0" smtClean="0"/>
                        <a:t>: Post 2020 </a:t>
                      </a:r>
                      <a:r>
                        <a:rPr lang="ko-KR" altLang="en-US" sz="900" kern="1200" dirty="0" smtClean="0"/>
                        <a:t>기후변화 정책 수립 관련 정책 제안</a:t>
                      </a:r>
                      <a:r>
                        <a:rPr lang="en-US" altLang="ko-KR" sz="900" kern="1200" dirty="0" smtClean="0"/>
                        <a:t>(GIR)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900" kern="1200" dirty="0" smtClean="0"/>
                        <a:t>0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900" kern="1200" dirty="0" smtClean="0"/>
                        <a:t>1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ko-KR" altLang="en-US" sz="900" kern="1200" dirty="0" smtClean="0"/>
                        <a:t>보도실적</a:t>
                      </a:r>
                      <a:r>
                        <a:rPr lang="en-US" altLang="ko-KR" sz="900" kern="1200" dirty="0" smtClean="0"/>
                        <a:t>: 2014-10-29, </a:t>
                      </a:r>
                      <a:r>
                        <a:rPr lang="en-US" altLang="ko-KR" sz="900" kern="1200" dirty="0" err="1" smtClean="0"/>
                        <a:t>NEWSis</a:t>
                      </a:r>
                      <a:r>
                        <a:rPr lang="en-US" altLang="ko-KR" sz="900" kern="1200" dirty="0" smtClean="0"/>
                        <a:t>,</a:t>
                      </a:r>
                      <a:r>
                        <a:rPr lang="en-US" altLang="ko-KR" sz="900" kern="1200" baseline="0" dirty="0" smtClean="0"/>
                        <a:t> KAIST,</a:t>
                      </a:r>
                      <a:r>
                        <a:rPr lang="ko-KR" altLang="en-US" sz="900" kern="1200" baseline="0" dirty="0" smtClean="0"/>
                        <a:t>국제응용시스템분석연구소와 환경이슈 공동연구 </a:t>
                      </a:r>
                      <a:r>
                        <a:rPr lang="en-US" altLang="ko-KR" sz="900" kern="1200" baseline="0" dirty="0" smtClean="0"/>
                        <a:t>MOU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900" kern="1200" dirty="0" smtClean="0"/>
                        <a:t>0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900" kern="120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900" kern="1200" dirty="0" smtClean="0"/>
                        <a:t>1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900" kern="1200" dirty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996">
                <a:tc vMerge="1">
                  <a:txBody>
                    <a:bodyPr/>
                    <a:lstStyle/>
                    <a:p>
                      <a:pPr latinLnBrk="1"/>
                      <a:endParaRPr lang="ko-KR" altLang="en-US" sz="9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/>
                        <a:t>소계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/>
                        <a:t>100.00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marT="10800" marB="108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성과목표 달성도</a:t>
            </a:r>
            <a:endParaRPr lang="ko-KR" altLang="en-US" sz="140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49233" y="1762778"/>
          <a:ext cx="8084325" cy="238065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52850"/>
                <a:gridCol w="783771"/>
                <a:gridCol w="1558834"/>
                <a:gridCol w="2481943"/>
                <a:gridCol w="618309"/>
                <a:gridCol w="577531"/>
                <a:gridCol w="557347"/>
                <a:gridCol w="584928"/>
                <a:gridCol w="468812"/>
              </a:tblGrid>
              <a:tr h="208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기관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성과목표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성과지표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목표치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(A)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가중치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(%)(B)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실적치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(C)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 smtClean="0">
                          <a:latin typeface="맑은 고딕" pitchFamily="50" charset="-127"/>
                          <a:ea typeface="맑은 고딕" pitchFamily="50" charset="-127"/>
                        </a:rPr>
                        <a:t>목표달성도</a:t>
                      </a:r>
                      <a:endParaRPr lang="en-US" altLang="ko-KR" sz="900" spc="-15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(D=C/A)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지표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점수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1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과학기술적 성과항목 </a:t>
                      </a:r>
                      <a:endParaRPr lang="en-US" altLang="ko-KR" sz="9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및 성과지표</a:t>
                      </a: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국내 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편 및 국외 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편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1-8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학술회의 발표 논문 건수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100.00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국내외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학술회의 발표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: 2014 </a:t>
                      </a:r>
                      <a:r>
                        <a:rPr lang="ko-KR" altLang="en-US" sz="9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한국경영과학회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추계학술대회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고려대학교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2014/11,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                           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매립지 온실가스 측정을 위한 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FOD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방법에 대한 수리적 고찰</a:t>
                      </a: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4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법</a:t>
                      </a: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정책</a:t>
                      </a: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지침 활용 성과</a:t>
                      </a: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정부온실가스 감축정책 지원</a:t>
                      </a: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매뉴얼 활용</a:t>
                      </a: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(GIR, 2014/11)</a:t>
                      </a:r>
                      <a:endParaRPr lang="ko-KR" altLang="en-US" sz="9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650">
                <a:tc vMerge="1">
                  <a:txBody>
                    <a:bodyPr/>
                    <a:lstStyle/>
                    <a:p>
                      <a:pPr latinLnBrk="1"/>
                      <a:endParaRPr lang="ko-KR" altLang="en-US" sz="9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소계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5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100.00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53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과학기술적 성과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분석을 통한 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GCAM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의 </a:t>
                      </a:r>
                      <a:r>
                        <a:rPr lang="en-US" altLang="ko-KR" sz="9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Blackbow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구조 확인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변환하는 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GCAM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의 호환성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확장성에 따른 개발성과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평가</a:t>
                      </a:r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532"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Second Generation Model(SGM)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의 코드분석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SGM</a:t>
                      </a:r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의 코드분석을 통한 통합모형 개발 방안 마련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65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소계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맑은 고딕" pitchFamily="50" charset="-127"/>
                          <a:ea typeface="맑은 고딕" pitchFamily="50" charset="-127"/>
                        </a:rPr>
                        <a:t>100.00</a:t>
                      </a:r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54000" marR="5400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주요</a:t>
            </a:r>
            <a:r>
              <a:rPr lang="en-US" altLang="ko-KR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연구개발 성과</a:t>
            </a:r>
            <a:endParaRPr lang="ko-KR" altLang="en-US" sz="140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722813" y="1989247"/>
          <a:ext cx="8264433" cy="1737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10043"/>
                <a:gridCol w="786677"/>
                <a:gridCol w="1141114"/>
                <a:gridCol w="2543467"/>
                <a:gridCol w="921866"/>
                <a:gridCol w="1180633"/>
                <a:gridCol w="1180633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SCI(E)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게재년월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논문명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학술지명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Vol.(no),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페이지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저자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총괄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SCI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2014.12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An emissions trading scheme design for power industries facing price regulation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Energy Policy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75, pp. 084-099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김용건</a:t>
                      </a: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임종수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SCI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2015.07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Driving forces of rapid CO2 emissions growth: A case of Korea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Energy Policy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82,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pp. 144-155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김용건</a:t>
                      </a: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유종현</a:t>
                      </a: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오완근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일반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2015.02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Demand response of Korean Commercial and industrial businesses to critical peak pricing of electricity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Journal of Cleaner Production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90, pp. 275-290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장동식</a:t>
                      </a: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</a:t>
                      </a: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김문규</a:t>
                      </a: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노재중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3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논문</a:t>
            </a:r>
            <a:endParaRPr lang="en-US" altLang="ko-KR" sz="1400" b="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606010" y="3847656"/>
            <a:ext cx="8313737" cy="3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국내외 학술회의 발표</a:t>
            </a:r>
            <a:endParaRPr lang="en-US" altLang="ko-KR" sz="1400" b="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731520" y="4192484"/>
          <a:ext cx="8255724" cy="1864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2514"/>
                <a:gridCol w="1001486"/>
                <a:gridCol w="1454331"/>
                <a:gridCol w="1436915"/>
                <a:gridCol w="2873828"/>
                <a:gridCol w="96665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일시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학술회의명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발표주제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발표자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총괄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2014. 11. 01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대한민국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고려대학교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한국경영과학회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추계학술대회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기후변화와 경영과학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김용건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백천현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2015.01.05-08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미국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하와이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카우라이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그랜드하이얏트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Hawaii International Conference </a:t>
                      </a:r>
                      <a:b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on System Sciences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(HICSS)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48 Conference</a:t>
                      </a: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The Role of Environmental Information Disclosure Systems and their Impacts on Firm Performance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유소영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2014.11.01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대한민국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고려대학교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한국경영과학회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추계학술대회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매립지 온실가스 측정을 위한 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FOD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방법에 대한 수리적 고찰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7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주요</a:t>
            </a:r>
            <a:r>
              <a:rPr lang="en-US" altLang="ko-KR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연구개발 성과</a:t>
            </a:r>
            <a:endParaRPr lang="ko-KR" altLang="en-US" sz="140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3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단기연수 지원</a:t>
            </a:r>
            <a:endParaRPr lang="en-US" altLang="ko-KR" sz="1400" b="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48937" y="2041429"/>
          <a:ext cx="8229600" cy="218826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5429"/>
                <a:gridCol w="975360"/>
                <a:gridCol w="818605"/>
                <a:gridCol w="1158240"/>
                <a:gridCol w="3823063"/>
                <a:gridCol w="1018903"/>
              </a:tblGrid>
              <a:tr h="252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일시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주최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교육명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참석자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93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총괄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2014.08.04-08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미국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콜로라도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GAMS Development Corporation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GAMS Training Course 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Basic &amp; Advanced GAMS Class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0" marR="17780" marT="17780" marB="1778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권오상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9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2014.09.29-10.03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독일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에센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University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of </a:t>
                      </a:r>
                    </a:p>
                    <a:p>
                      <a:pPr algn="ctr" latinLnBrk="1"/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Duisburg-Essen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10th Ruhr Graduate Summer School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  Trade and Climate Policy Analysis with GAMS and MPSGE </a:t>
                      </a: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임종수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9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2015.01.19-23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스페인 </a:t>
                      </a:r>
                      <a:endParaRPr lang="en-US" altLang="ko-KR" sz="10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라스팔마스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University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of </a:t>
                      </a:r>
                    </a:p>
                    <a:p>
                      <a:pPr algn="ctr" latinLnBrk="1"/>
                      <a:r>
                        <a:rPr lang="en-US" altLang="ko-KR" sz="10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LasPalmas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15th Workshop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on Economic Modeling: 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Applied Policy Analysis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using GTAP in GAMS: Economic Impact Assessment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of Trade, Labor and Climate Policies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임종수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구윤모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5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2015.01.26-30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싱가포르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EcoMod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Network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EcoMod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Modeling school</a:t>
                      </a:r>
                    </a:p>
                    <a:p>
                      <a:pPr algn="ctr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Energy and Environmental CGE Modeling with</a:t>
                      </a:r>
                      <a:r>
                        <a:rPr lang="en-US" altLang="ko-KR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GAMS</a:t>
                      </a:r>
                      <a:endParaRPr lang="ko-KR" altLang="en-US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김민준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11" name="Rectangle 3"/>
          <p:cNvSpPr>
            <a:spLocks noGrp="1" noChangeArrowheads="1"/>
          </p:cNvSpPr>
          <p:nvPr/>
        </p:nvSpPr>
        <p:spPr bwMode="auto">
          <a:xfrm>
            <a:off x="606010" y="4483413"/>
            <a:ext cx="8313737" cy="3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MOU 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체결</a:t>
            </a:r>
            <a:endParaRPr lang="en-US" altLang="ko-KR" sz="1400" b="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753293" y="4867361"/>
          <a:ext cx="8229600" cy="80142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5429"/>
                <a:gridCol w="975360"/>
                <a:gridCol w="3409404"/>
                <a:gridCol w="3409407"/>
              </a:tblGrid>
              <a:tr h="252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일시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MOU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체결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기관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연구협약 내용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</a:tr>
              <a:tr h="4679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</a:t>
                      </a:r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2014.10.29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IIASA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국제</a:t>
                      </a:r>
                      <a:r>
                        <a:rPr lang="ko-KR" altLang="en-US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응용시스템분석연구소</a:t>
                      </a:r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en-US" altLang="ko-KR" sz="10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International Institute for Applied System Analysis)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녹색 기술의 확산 분석 분야의 공동연구 수행</a:t>
                      </a: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경제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에너지</a:t>
                      </a:r>
                      <a:r>
                        <a:rPr lang="en-US" altLang="ko-KR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환경 통합 평가 모형 개발 및 개선</a:t>
                      </a:r>
                      <a:r>
                        <a:rPr lang="ko-KR" altLang="en-US" sz="1000" kern="1200" baseline="0" dirty="0" smtClean="0">
                          <a:solidFill>
                            <a:schemeClr val="dk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등</a:t>
                      </a:r>
                      <a:endParaRPr lang="en-US" altLang="ko-KR" sz="1000" kern="1200" dirty="0" smtClean="0">
                        <a:solidFill>
                          <a:schemeClr val="dk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7780" marR="17780" marT="17780" marB="1778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777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월례 </a:t>
            </a:r>
            <a:r>
              <a:rPr lang="en-US" altLang="ko-KR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Workshop </a:t>
            </a:r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개최실적</a:t>
            </a:r>
            <a:endParaRPr lang="ko-KR" altLang="en-US" sz="1400" spc="-15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466690" y="1634711"/>
          <a:ext cx="7459596" cy="447537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7053"/>
                <a:gridCol w="972991"/>
                <a:gridCol w="908125"/>
                <a:gridCol w="4151427"/>
              </a:tblGrid>
              <a:tr h="21847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개최 시기 및 장소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1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발표자</a:t>
                      </a:r>
                      <a:r>
                        <a:rPr lang="ko-KR" altLang="en-US" sz="1100" kern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및 발표 내용</a:t>
                      </a:r>
                      <a:endParaRPr lang="en-US" altLang="ko-KR" sz="1100" b="1" kern="1200" baseline="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lt"/>
                        <a:ea typeface="-윤명조120"/>
                        <a:cs typeface="+mn-cs"/>
                      </a:endParaRPr>
                    </a:p>
                  </a:txBody>
                  <a:tcPr marL="25813" marR="25813" marT="7137" marB="7137" anchor="ctr"/>
                </a:tc>
              </a:tr>
              <a:tr h="163727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lang="ko-KR" altLang="en-US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월례 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워크숍</a:t>
                      </a:r>
                      <a:endParaRPr lang="en-US" altLang="ko-KR" sz="1100" kern="12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KEI)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강성원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하향식 모형 구조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경북대학교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정기호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몬테칼로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모의실험과 회귀분석을 이용한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CGE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모형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MESSAGE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시스템 및 부문 특성 분석을 통한 한국형 하향 통합모형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아주대학교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오재익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GCAM code analysis and Korean update: Progress and challenges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MESSAGE-MACRO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소개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rowSpan="8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월례 워크숍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한양대학교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김동우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Integrated assessment of energy policies: Decomposing…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김용건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General equilibrium, electricity generation technologies and …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서울대학교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권오상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Hybrid SAM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을 이용한 상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·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하향통합모형 분석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Distributional and efficiency impacts of clean and renewable…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조철흥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국내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구축현황 및 해외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소개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서강대학교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김중현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메타 기술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시스템 구축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아주대학교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오재익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GCAM overview: Price/Demand/Supply mechanism and energy…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부산외대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정용주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MESSAGE-KOREA: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가정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산업 부문 온실가스 감축 </a:t>
                      </a: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잠재량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분석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  <a:p>
                      <a:pPr algn="ctr"/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월례 워크숍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서울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kern="12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토즈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강성원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하향식 모형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EPPA, Linkage, ADAGE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김용건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WITCH: A world induced technical change hybrid model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조철흥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MARKAL-MACRO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소개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Hybrid modeling of </a:t>
                      </a:r>
                      <a:r>
                        <a:rPr lang="en-US" altLang="ko-KR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longterm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carbon …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LP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기반 상향식 모형의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new formulation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및 다양한 </a:t>
                      </a: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제약식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구현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Development of a global CGE model coupled with detailed energy …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  <a:p>
                      <a:pPr algn="ctr"/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월례 워크숍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KEI)</a:t>
                      </a:r>
                      <a:endParaRPr lang="ko-KR" altLang="en-US" sz="1100" kern="12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강성원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연구 진행 상황 및 하향식 모형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MSG, MAMS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서울대학교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권오상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하향식 모형 리뷰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Log Differentials vs. Levels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아주대학교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김수덕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GCAM/SGM(Second Generation Model)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소개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통합메타 기술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시스템 설계 추진 계획 및 경과 공유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온실가스 감축기술의 변화 및 확산에 대한 이론 조사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동의대학교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백천현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A brief review of MARKAL and TIMES family model generators 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동의대학교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백천현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Bottom-up modeling for BAU assessment: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반도체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27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세부과제 진행 경과 및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Bottom-up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전문가 세미나 개최 방안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777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월례 </a:t>
            </a:r>
            <a:r>
              <a:rPr lang="en-US" altLang="ko-KR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Workshop </a:t>
            </a:r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개최실적</a:t>
            </a:r>
            <a:endParaRPr lang="ko-KR" altLang="en-US" sz="1400" spc="-15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463039" y="1635581"/>
          <a:ext cx="7461505" cy="383594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7418"/>
                <a:gridCol w="973240"/>
                <a:gridCol w="908357"/>
                <a:gridCol w="4152490"/>
              </a:tblGrid>
              <a:tr h="23589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>
                          <a:latin typeface="맑은 고딕" pitchFamily="50" charset="-127"/>
                          <a:ea typeface="맑은 고딕" pitchFamily="50" charset="-127"/>
                        </a:rPr>
                        <a:t>개최 시기 및 장소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1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발표자</a:t>
                      </a:r>
                      <a:r>
                        <a:rPr lang="ko-KR" altLang="en-US" sz="1100" kern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1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및 발표 내용</a:t>
                      </a:r>
                      <a:endParaRPr lang="en-US" altLang="ko-KR" sz="1100" b="1" kern="1200" baseline="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lt"/>
                        <a:ea typeface="-윤명조120"/>
                        <a:cs typeface="+mn-cs"/>
                      </a:endParaRPr>
                    </a:p>
                  </a:txBody>
                  <a:tcPr marL="25813" marR="25813" marT="7137" marB="7137" anchor="ctr"/>
                </a:tc>
              </a:tr>
              <a:tr h="171270">
                <a:tc rowSpan="8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endParaRPr lang="ko-KR" altLang="en-US" sz="1100" kern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kern="1200" dirty="0">
                          <a:latin typeface="맑은 고딕" pitchFamily="50" charset="-127"/>
                          <a:ea typeface="맑은 고딕" pitchFamily="50" charset="-127"/>
                        </a:rPr>
                        <a:t>월례 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워크숍</a:t>
                      </a:r>
                      <a:endParaRPr lang="en-US" altLang="ko-KR" sz="1100" kern="12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KEI)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대한상공회의소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최광림 실장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온실가스 감축기술 조사를 통한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B </a:t>
                      </a:r>
                      <a:r>
                        <a:rPr lang="en-US" altLang="ko-KR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ottom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-up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온실가스 감축 </a:t>
                      </a: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잠재량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파악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김용건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국제워크숍 개최 추진 현황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아주대학교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백민호 외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GCAM: Building Sector - Empirical work and Code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통합메타 기술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시스템 요구사항 인터뷰 결과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상향식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LP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모형의 </a:t>
                      </a: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제약식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구조 및 구현 방안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한양대학교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김동우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상하향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통합문제에 대한 시각 및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CGE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해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해법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KEI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강성원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총괄과제 연구진행 상황 보고 및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ENVISAGE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모형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서울대학교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권오상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모델링 출장 결과 및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PMP(Positive Mathematical Problem)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모형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row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월례 워크숍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</a:t>
                      </a:r>
                      <a:r>
                        <a:rPr lang="en-US" altLang="ko-KR" sz="11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KEI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서울대학교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이한빈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기존 하향식 모형 장단점 파악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: IPETS, </a:t>
                      </a:r>
                      <a:r>
                        <a:rPr lang="en-US" altLang="ko-KR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WorldScan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, G-Cubed</a:t>
                      </a:r>
                      <a:endParaRPr lang="en-US" altLang="ko-KR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경북대학교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정기호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AIDADS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수요모형의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CGE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모형 접목 노력 정리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전체 참여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상향식 모델 연구방향에 대한 토론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2014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  <a:p>
                      <a:pPr algn="ctr"/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월례 워크숍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KAIST)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한양대학교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김동우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Decomposition and Linking between LP and MACRO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서울대학교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권오상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Calibrationg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PMP Models using GAMS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아주대학교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김수덕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GCAM-Korea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및 한국형 상하 </a:t>
                      </a:r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향식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모형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SW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조철흥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GIR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의 기술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활용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상향식 모형 기술구조 분석 및 개선 방향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dirty="0"/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부산외대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정용주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가정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·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상업 부문 모형화 사례 분석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2015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  <a:p>
                      <a:pPr algn="ctr"/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월례 워크숍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장소</a:t>
                      </a:r>
                      <a:r>
                        <a:rPr lang="en-US" altLang="ko-KR" sz="1100" kern="1200" dirty="0" smtClean="0">
                          <a:latin typeface="맑은 고딕" pitchFamily="50" charset="-127"/>
                          <a:ea typeface="맑은 고딕" pitchFamily="50" charset="-127"/>
                        </a:rPr>
                        <a:t>: GIR)</a:t>
                      </a:r>
                      <a:endParaRPr lang="ko-KR" altLang="en-US" sz="1100" kern="12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KAIST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엄지용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감축기술의 메타 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구축에 기 반한 기술변화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·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확신 개념 연구 및 모듈 구현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부경대학교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김영진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기존 상향식 모형의 개요 및 구축 현황</a:t>
                      </a: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MESSAGE 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시스템 및 수리적 특성 분석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 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수송부문 분석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7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-윤고딕120"/>
                        <a:ea typeface="+mn-ea"/>
                        <a:cs typeface="+mn-cs"/>
                      </a:endParaRPr>
                    </a:p>
                  </a:txBody>
                  <a:tcPr marL="25813" marR="25813" marT="7137" marB="713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부산외대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정용주 교수</a:t>
                      </a:r>
                      <a:endParaRPr lang="ko-KR" altLang="en-US" sz="90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가정 및 상업부문 기존모형 분석 </a:t>
                      </a:r>
                      <a:endParaRPr lang="ko-KR" altLang="en-US" sz="900" kern="120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777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전문가 세미나</a:t>
            </a:r>
            <a:r>
              <a:rPr lang="en-US" altLang="ko-KR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 </a:t>
            </a:r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개최실적</a:t>
            </a:r>
            <a:endParaRPr lang="ko-KR" altLang="en-US" sz="1400" spc="-15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469135" y="1628172"/>
          <a:ext cx="7461505" cy="421015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27418"/>
                <a:gridCol w="1103006"/>
                <a:gridCol w="778592"/>
                <a:gridCol w="4152489"/>
              </a:tblGrid>
              <a:tr h="2737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smtClean="0"/>
                        <a:t>개최 시기 및 장소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100" kern="1200" baseline="0" dirty="0" smtClean="0"/>
                        <a:t>발표자</a:t>
                      </a:r>
                      <a:r>
                        <a:rPr lang="ko-KR" altLang="en-US" sz="1100" kern="1200" baseline="0" dirty="0"/>
                        <a:t> </a:t>
                      </a:r>
                      <a:r>
                        <a:rPr lang="ko-KR" altLang="en-US" sz="1100" kern="1200" baseline="0" dirty="0" smtClean="0"/>
                        <a:t>및 발표 내용</a:t>
                      </a:r>
                      <a:endParaRPr lang="en-US" altLang="ko-KR" sz="1100" b="1" kern="1200" baseline="0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baseline="0" dirty="0" smtClean="0">
                        <a:solidFill>
                          <a:schemeClr val="tx1"/>
                        </a:solidFill>
                        <a:latin typeface="+mn-lt"/>
                        <a:ea typeface="-윤명조120"/>
                        <a:cs typeface="+mn-cs"/>
                      </a:endParaRPr>
                    </a:p>
                  </a:txBody>
                  <a:tcPr marL="25813" marR="25813" marT="7137" marB="7137" anchor="ctr"/>
                </a:tc>
              </a:tr>
              <a:tr h="783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kern="1200" dirty="0"/>
                        <a:t>2014</a:t>
                      </a:r>
                      <a:r>
                        <a:rPr lang="ko-KR" altLang="en-US" sz="1050" kern="1200" dirty="0"/>
                        <a:t>년 </a:t>
                      </a:r>
                      <a:r>
                        <a:rPr lang="en-US" altLang="ko-KR" sz="1050" kern="1200" dirty="0" smtClean="0"/>
                        <a:t>7</a:t>
                      </a:r>
                      <a:r>
                        <a:rPr lang="ko-KR" altLang="en-US" sz="1050" kern="1200" dirty="0" smtClean="0"/>
                        <a:t>월 </a:t>
                      </a:r>
                      <a:r>
                        <a:rPr lang="en-US" altLang="ko-KR" sz="1050" kern="1200" dirty="0" smtClean="0"/>
                        <a:t>23</a:t>
                      </a:r>
                      <a:r>
                        <a:rPr lang="ko-KR" altLang="en-US" sz="1050" kern="1200" dirty="0" smtClean="0"/>
                        <a:t>일 </a:t>
                      </a:r>
                      <a:endParaRPr lang="ko-KR" altLang="en-US" sz="1050" kern="1200" dirty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1</a:t>
                      </a:r>
                      <a:r>
                        <a:rPr lang="ko-KR" altLang="en-US" sz="1050" kern="1200" dirty="0" smtClean="0"/>
                        <a:t>차 전문가 세미나</a:t>
                      </a:r>
                      <a:endParaRPr lang="en-US" altLang="ko-KR" sz="1050" kern="1200" dirty="0" smtClean="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(</a:t>
                      </a:r>
                      <a:r>
                        <a:rPr lang="ko-KR" altLang="en-US" sz="1050" kern="1200" dirty="0" smtClean="0"/>
                        <a:t>장소</a:t>
                      </a:r>
                      <a:r>
                        <a:rPr lang="en-US" altLang="ko-KR" sz="1050" kern="1200" dirty="0" smtClean="0"/>
                        <a:t>: KEI)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함부르크 </a:t>
                      </a:r>
                      <a:endParaRPr lang="en-US" altLang="ko-KR" sz="1050" kern="1200" baseline="0" dirty="0" smtClean="0"/>
                    </a:p>
                    <a:p>
                      <a:pPr algn="ctr"/>
                      <a:r>
                        <a:rPr lang="ko-KR" altLang="en-US" sz="1050" kern="1200" baseline="0" dirty="0" smtClean="0"/>
                        <a:t>대학교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최형식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/>
                        <a:t>Understanding and enhancing integrated energy-economy model </a:t>
                      </a:r>
                      <a:endParaRPr lang="en-US" altLang="ko-KR" sz="105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60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2014</a:t>
                      </a:r>
                      <a:r>
                        <a:rPr lang="ko-KR" altLang="en-US" sz="1050" kern="1200" dirty="0" smtClean="0"/>
                        <a:t>년 </a:t>
                      </a:r>
                      <a:r>
                        <a:rPr lang="en-US" altLang="ko-KR" sz="1050" kern="1200" dirty="0" smtClean="0"/>
                        <a:t>8</a:t>
                      </a:r>
                      <a:r>
                        <a:rPr lang="ko-KR" altLang="en-US" sz="1050" kern="1200" dirty="0" smtClean="0"/>
                        <a:t>월 </a:t>
                      </a:r>
                      <a:r>
                        <a:rPr lang="en-US" altLang="ko-KR" sz="1050" kern="1200" dirty="0" smtClean="0"/>
                        <a:t>6</a:t>
                      </a:r>
                      <a:r>
                        <a:rPr lang="ko-KR" altLang="en-US" sz="1050" kern="1200" dirty="0" smtClean="0"/>
                        <a:t>일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2</a:t>
                      </a:r>
                      <a:r>
                        <a:rPr lang="ko-KR" altLang="en-US" sz="1050" kern="1200" dirty="0" smtClean="0"/>
                        <a:t>차 전문가 세미나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(</a:t>
                      </a:r>
                      <a:r>
                        <a:rPr lang="ko-KR" altLang="en-US" sz="1050" kern="1200" dirty="0" smtClean="0"/>
                        <a:t>장소</a:t>
                      </a:r>
                      <a:r>
                        <a:rPr lang="en-US" altLang="ko-KR" sz="1050" kern="1200" dirty="0" smtClean="0"/>
                        <a:t>:</a:t>
                      </a:r>
                      <a:r>
                        <a:rPr lang="en-US" altLang="ko-KR" sz="1050" kern="1200" baseline="0" dirty="0" smtClean="0"/>
                        <a:t> KEI</a:t>
                      </a:r>
                      <a:r>
                        <a:rPr lang="en-US" altLang="ko-KR" sz="1050" kern="1200" dirty="0" smtClean="0"/>
                        <a:t>)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건국대학교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오인하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 smtClean="0"/>
                        <a:t>전원구성계획을 고려한 에너지</a:t>
                      </a:r>
                      <a:r>
                        <a:rPr lang="en-US" altLang="ko-KR" sz="1050" dirty="0" smtClean="0"/>
                        <a:t>·</a:t>
                      </a:r>
                      <a:r>
                        <a:rPr lang="ko-KR" altLang="en-US" sz="1050" dirty="0" smtClean="0"/>
                        <a:t>기후변화 정책분석 모형개발</a:t>
                      </a:r>
                      <a:r>
                        <a:rPr lang="en-US" altLang="ko-KR" sz="1050" dirty="0" smtClean="0"/>
                        <a:t> </a:t>
                      </a:r>
                      <a:endParaRPr lang="en-US" altLang="ko-KR" sz="105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60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kern="1200" dirty="0" smtClean="0"/>
                        <a:t>2014</a:t>
                      </a:r>
                      <a:r>
                        <a:rPr lang="ko-KR" altLang="en-US" sz="1050" kern="1200" dirty="0" smtClean="0"/>
                        <a:t>년 </a:t>
                      </a:r>
                      <a:r>
                        <a:rPr lang="en-US" altLang="ko-KR" sz="1050" kern="1200" dirty="0" smtClean="0"/>
                        <a:t>9</a:t>
                      </a:r>
                      <a:r>
                        <a:rPr lang="ko-KR" altLang="en-US" sz="1050" kern="1200" dirty="0" smtClean="0"/>
                        <a:t>월 </a:t>
                      </a:r>
                      <a:r>
                        <a:rPr lang="en-US" altLang="ko-KR" sz="1050" kern="1200" dirty="0" smtClean="0"/>
                        <a:t>12</a:t>
                      </a:r>
                      <a:r>
                        <a:rPr lang="ko-KR" altLang="en-US" sz="1050" kern="1200" dirty="0" smtClean="0"/>
                        <a:t>일</a:t>
                      </a:r>
                      <a:endParaRPr lang="en-US" altLang="ko-KR" sz="1050" kern="1200" dirty="0" smtClean="0"/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3</a:t>
                      </a:r>
                      <a:r>
                        <a:rPr lang="ko-KR" altLang="en-US" sz="1050" kern="1200" dirty="0" smtClean="0"/>
                        <a:t>차 전문가 세미나</a:t>
                      </a:r>
                      <a:endParaRPr lang="en-US" altLang="ko-KR" sz="1050" kern="1200" dirty="0" smtClean="0"/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(</a:t>
                      </a:r>
                      <a:r>
                        <a:rPr lang="ko-KR" altLang="en-US" sz="1050" kern="1200" dirty="0" smtClean="0"/>
                        <a:t>장소</a:t>
                      </a:r>
                      <a:r>
                        <a:rPr lang="en-US" altLang="ko-KR" sz="1050" kern="1200" dirty="0" smtClean="0"/>
                        <a:t>: KEI)</a:t>
                      </a:r>
                      <a:endParaRPr lang="ko-KR" altLang="en-US" sz="1050" kern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산업연구원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황원식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baseline="0" dirty="0" smtClean="0"/>
                        <a:t> </a:t>
                      </a:r>
                      <a:r>
                        <a:rPr lang="en-US" altLang="ko-KR" sz="1050" dirty="0" smtClean="0"/>
                        <a:t>A CGE analysis for quantitative evaluation of electricity market change </a:t>
                      </a:r>
                      <a:endParaRPr lang="en-US" altLang="ko-KR" sz="105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050" kern="1200" dirty="0" smtClean="0"/>
                        <a:t>2014</a:t>
                      </a:r>
                      <a:r>
                        <a:rPr lang="ko-KR" altLang="en-US" sz="1050" kern="1200" dirty="0" smtClean="0"/>
                        <a:t>년 </a:t>
                      </a:r>
                      <a:r>
                        <a:rPr lang="en-US" altLang="ko-KR" sz="1050" kern="1200" dirty="0" smtClean="0"/>
                        <a:t>10</a:t>
                      </a:r>
                      <a:r>
                        <a:rPr lang="ko-KR" altLang="en-US" sz="1050" kern="1200" dirty="0" smtClean="0"/>
                        <a:t>월 </a:t>
                      </a:r>
                      <a:r>
                        <a:rPr lang="en-US" altLang="ko-KR" sz="1050" kern="1200" dirty="0" smtClean="0"/>
                        <a:t>17</a:t>
                      </a:r>
                      <a:r>
                        <a:rPr lang="ko-KR" altLang="en-US" sz="1050" kern="1200" dirty="0" smtClean="0"/>
                        <a:t>일</a:t>
                      </a:r>
                    </a:p>
                    <a:p>
                      <a:pPr algn="ctr"/>
                      <a:r>
                        <a:rPr lang="en-US" altLang="ko-KR" sz="1050" kern="1200" dirty="0" smtClean="0"/>
                        <a:t>4</a:t>
                      </a:r>
                      <a:r>
                        <a:rPr lang="ko-KR" altLang="en-US" sz="1050" kern="1200" dirty="0" smtClean="0"/>
                        <a:t>차 전문가 세미나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(</a:t>
                      </a:r>
                      <a:r>
                        <a:rPr lang="ko-KR" altLang="en-US" sz="1050" kern="1200" dirty="0" smtClean="0"/>
                        <a:t>장소</a:t>
                      </a:r>
                      <a:r>
                        <a:rPr lang="en-US" altLang="ko-KR" sz="1050" kern="1200" dirty="0" smtClean="0"/>
                        <a:t>: KEI)</a:t>
                      </a:r>
                      <a:endParaRPr lang="ko-KR" altLang="en-US" sz="1050" kern="12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에너지기술</a:t>
                      </a:r>
                      <a:endParaRPr lang="en-US" altLang="ko-KR" sz="1050" kern="1200" baseline="0" dirty="0" smtClean="0"/>
                    </a:p>
                    <a:p>
                      <a:pPr algn="ctr"/>
                      <a:r>
                        <a:rPr lang="ko-KR" altLang="en-US" sz="1050" kern="1200" baseline="0" dirty="0" smtClean="0"/>
                        <a:t>연구원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박상용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spc="0" dirty="0" smtClean="0"/>
                        <a:t>KIER</a:t>
                      </a:r>
                      <a:r>
                        <a:rPr lang="ko-KR" altLang="en-US" sz="1050" spc="0" dirty="0" smtClean="0"/>
                        <a:t>의 상향식 에너지시스템 모형 개발 현황 및 향후 계획</a:t>
                      </a:r>
                      <a:r>
                        <a:rPr lang="en-US" altLang="ko-KR" sz="1050" spc="0" dirty="0" smtClean="0"/>
                        <a:t>: MARKAL</a:t>
                      </a:r>
                      <a:r>
                        <a:rPr lang="ko-KR" altLang="en-US" sz="1050" spc="0" dirty="0" smtClean="0"/>
                        <a:t>모형에서 </a:t>
                      </a:r>
                      <a:r>
                        <a:rPr lang="en-US" altLang="ko-KR" sz="1050" spc="0" dirty="0" smtClean="0"/>
                        <a:t>TIMES</a:t>
                      </a:r>
                      <a:r>
                        <a:rPr lang="ko-KR" altLang="en-US" sz="1050" spc="0" dirty="0" smtClean="0"/>
                        <a:t>모형으로의 전환</a:t>
                      </a:r>
                      <a:r>
                        <a:rPr lang="en-US" altLang="ko-KR" sz="1050" spc="0" dirty="0" smtClean="0"/>
                        <a:t> </a:t>
                      </a:r>
                      <a:endParaRPr lang="ko-KR" altLang="en-US" sz="1050" kern="1200" spc="0" baseline="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온실가스종합</a:t>
                      </a:r>
                      <a:endParaRPr lang="en-US" altLang="ko-KR" sz="1050" kern="1200" baseline="0" dirty="0" smtClean="0"/>
                    </a:p>
                    <a:p>
                      <a:pPr algn="ctr"/>
                      <a:r>
                        <a:rPr lang="ko-KR" altLang="en-US" sz="1050" kern="1200" baseline="0" dirty="0" smtClean="0"/>
                        <a:t>정보센터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방종철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/>
                        <a:t>GIR MESSAGE </a:t>
                      </a:r>
                      <a:r>
                        <a:rPr lang="ko-KR" altLang="en-US" sz="1050" dirty="0" smtClean="0"/>
                        <a:t>구축 현황</a:t>
                      </a:r>
                      <a:r>
                        <a:rPr lang="en-US" altLang="ko-KR" sz="1050" dirty="0" smtClean="0"/>
                        <a:t>: </a:t>
                      </a:r>
                      <a:r>
                        <a:rPr lang="ko-KR" altLang="en-US" sz="1050" dirty="0" smtClean="0"/>
                        <a:t>발전 및 산업 부문을 중심으로</a:t>
                      </a:r>
                      <a:r>
                        <a:rPr lang="en-US" altLang="ko-KR" sz="1050" dirty="0" smtClean="0"/>
                        <a:t> </a:t>
                      </a:r>
                      <a:endParaRPr lang="en-US" altLang="ko-KR" sz="105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52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2014</a:t>
                      </a:r>
                      <a:r>
                        <a:rPr lang="ko-KR" altLang="en-US" sz="1050" kern="1200" dirty="0" smtClean="0"/>
                        <a:t>년 </a:t>
                      </a:r>
                      <a:r>
                        <a:rPr lang="en-US" altLang="ko-KR" sz="1050" kern="1200" dirty="0" smtClean="0"/>
                        <a:t>12</a:t>
                      </a:r>
                      <a:r>
                        <a:rPr lang="ko-KR" altLang="en-US" sz="1050" kern="1200" dirty="0" smtClean="0"/>
                        <a:t>월 </a:t>
                      </a:r>
                      <a:r>
                        <a:rPr lang="en-US" altLang="ko-KR" sz="1050" kern="1200" dirty="0" smtClean="0"/>
                        <a:t>16</a:t>
                      </a:r>
                      <a:r>
                        <a:rPr lang="ko-KR" altLang="en-US" sz="1050" kern="1200" dirty="0" smtClean="0"/>
                        <a:t>일</a:t>
                      </a:r>
                      <a:endParaRPr lang="en-US" altLang="ko-KR" sz="1050" kern="1200" dirty="0" smtClean="0"/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5</a:t>
                      </a:r>
                      <a:r>
                        <a:rPr lang="ko-KR" altLang="en-US" sz="1050" kern="1200" dirty="0" smtClean="0"/>
                        <a:t>차 전문가 세미나</a:t>
                      </a:r>
                      <a:endParaRPr lang="en-US" altLang="ko-KR" sz="1050" kern="1200" dirty="0" smtClean="0"/>
                    </a:p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</a:pPr>
                      <a:r>
                        <a:rPr lang="en-US" altLang="ko-KR" sz="1050" kern="1200" dirty="0" smtClean="0"/>
                        <a:t>(</a:t>
                      </a:r>
                      <a:r>
                        <a:rPr lang="ko-KR" altLang="en-US" sz="1050" kern="1200" dirty="0" smtClean="0"/>
                        <a:t>장소</a:t>
                      </a:r>
                      <a:r>
                        <a:rPr lang="en-US" altLang="ko-KR" sz="1050" kern="1200" dirty="0" smtClean="0"/>
                        <a:t>: </a:t>
                      </a:r>
                      <a:r>
                        <a:rPr lang="ko-KR" altLang="en-US" sz="1050" kern="1200" dirty="0" smtClean="0"/>
                        <a:t>명동</a:t>
                      </a:r>
                      <a:r>
                        <a:rPr lang="en-US" altLang="ko-KR" sz="1050" kern="1200" dirty="0" smtClean="0"/>
                        <a:t>)</a:t>
                      </a:r>
                      <a:endParaRPr lang="ko-KR" altLang="en-US" sz="1050" kern="12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한국은행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kern="1200" baseline="0" dirty="0" smtClean="0"/>
                        <a:t>이우기</a:t>
                      </a:r>
                      <a:endParaRPr lang="ko-KR" altLang="en-US" sz="1050" kern="1200" baseline="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/>
                        <a:t>WIOD</a:t>
                      </a:r>
                      <a:r>
                        <a:rPr lang="ko-KR" altLang="en-US" sz="1050" dirty="0" smtClean="0"/>
                        <a:t>를 활용한 글로벌 </a:t>
                      </a:r>
                      <a:r>
                        <a:rPr lang="ko-KR" altLang="en-US" sz="1050" dirty="0" err="1" smtClean="0"/>
                        <a:t>벨류체인</a:t>
                      </a:r>
                      <a:r>
                        <a:rPr lang="ko-KR" altLang="en-US" sz="1050" dirty="0" smtClean="0"/>
                        <a:t> 분석 </a:t>
                      </a:r>
                      <a:endParaRPr lang="en-US" altLang="ko-KR" sz="105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5813" marR="25813" marT="7137" marB="713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1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차년도 주요성과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11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777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국제 </a:t>
            </a:r>
            <a:r>
              <a:rPr lang="en-US" altLang="ko-KR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Workshop</a:t>
            </a:r>
            <a:r>
              <a:rPr lang="ko-KR" altLang="en-US" sz="1400" spc="-150" dirty="0" smtClean="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 개최실적</a:t>
            </a:r>
            <a:endParaRPr lang="ko-KR" altLang="en-US" sz="1400" spc="-150" dirty="0">
              <a:solidFill>
                <a:schemeClr val="tx1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377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2015 International Workshop for Integrated GHG Modeling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일자 및 장소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 2015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월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11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일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-14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일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제주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해비치호텔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&amp;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리조트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참석자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 C.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Boehringer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T. F. Rutherford, S. Rausch,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연구단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국내 초청인사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 총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37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발표 내용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57300" lvl="2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20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Christoph</a:t>
            </a:r>
            <a:r>
              <a:rPr lang="ko-KR" altLang="en-US" sz="12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Boehringer</a:t>
            </a:r>
            <a:r>
              <a:rPr lang="en-US" altLang="ko-KR" sz="12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MCP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방법론 소개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714500" lvl="3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ü"/>
            </a:pP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재화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1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에너지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1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가구 상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-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모형을 단일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MCP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문제로 통합하는 방법 소개</a:t>
            </a:r>
          </a:p>
          <a:p>
            <a:pPr marL="1257300" lvl="2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2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Thomas F. Rutherford: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Decomposition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방법론 소개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714500" lvl="3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ü"/>
            </a:pP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-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 연계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decomposition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방법론을 소개하고 개선 방식을 제시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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Decomposition Solution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대해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sensitivity analysis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할 수 있는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GAMS program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을 소개</a:t>
            </a:r>
          </a:p>
          <a:p>
            <a:pPr marL="1257300" lvl="2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2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Sebastian Rausch: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Decomposition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이용 실증연구 소개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714500" lvl="3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ü"/>
            </a:pP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USREP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 </a:t>
            </a:r>
            <a:r>
              <a:rPr lang="en-US" altLang="ko-KR" sz="11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ReEDs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전력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 연계 분석 성과 소개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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대형 모형의 </a:t>
            </a:r>
            <a:r>
              <a:rPr lang="ko-KR" altLang="en-US" sz="11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상하향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 연계 </a:t>
            </a:r>
            <a:r>
              <a:rPr lang="ko-KR" altLang="en-US" sz="11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알고리듬에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 대해서는 다양한 가능성에 대하여 추가적인 연구 필요성 확인</a:t>
            </a:r>
            <a:endParaRPr lang="en-US" altLang="ko-KR" sz="11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57300" lvl="2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20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Yong-Gun Kim: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한국형 통합모형 구축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로드맵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소개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714500" lvl="3" indent="-342900" latinLnBrk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ü"/>
            </a:pP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 목표의 우선적 구체화와 그에 적합한 모형 구축을 권고 받음 </a:t>
            </a:r>
            <a:r>
              <a:rPr lang="en-US" altLang="ko-KR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  <a:sym typeface="Wingdings" pitchFamily="2" charset="2"/>
              </a:rPr>
              <a:t> </a:t>
            </a:r>
            <a:r>
              <a:rPr lang="ko-KR" altLang="en-US" sz="11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단순한 모형에서 시작하여 연구 목표에 적합하게 모형을 확장할 것을 권고 받음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1828800" y="2085975"/>
            <a:ext cx="7315200" cy="1012825"/>
          </a:xfrm>
        </p:spPr>
        <p:txBody>
          <a:bodyPr/>
          <a:lstStyle/>
          <a:p>
            <a:r>
              <a:rPr lang="en-US" altLang="ko-KR" sz="3200" dirty="0" smtClean="0">
                <a:latin typeface="나눔고딕 ExtraBold" pitchFamily="50" charset="-127"/>
                <a:ea typeface="나눔고딕 ExtraBold" pitchFamily="50" charset="-127"/>
              </a:rPr>
              <a:t>II. 2</a:t>
            </a:r>
            <a:r>
              <a:rPr lang="ko-KR" altLang="en-US" sz="3200" dirty="0" smtClean="0">
                <a:latin typeface="나눔고딕 ExtraBold" pitchFamily="50" charset="-127"/>
                <a:ea typeface="나눔고딕 ExtraBold" pitchFamily="50" charset="-127"/>
              </a:rPr>
              <a:t>차년도 계획 보고</a:t>
            </a:r>
          </a:p>
        </p:txBody>
      </p:sp>
      <p:sp>
        <p:nvSpPr>
          <p:cNvPr id="17411" name="TextBox 3"/>
          <p:cNvSpPr txBox="1">
            <a:spLocks noChangeArrowheads="1"/>
          </p:cNvSpPr>
          <p:nvPr/>
        </p:nvSpPr>
        <p:spPr bwMode="auto">
          <a:xfrm>
            <a:off x="4456176" y="3352800"/>
            <a:ext cx="445287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85800" lvl="1" indent="-228600" latinLnBrk="0">
              <a:lnSpc>
                <a:spcPct val="150000"/>
              </a:lnSpc>
              <a:buFontTx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연구개발 필요성 및 기대효과</a:t>
            </a:r>
            <a:endParaRPr lang="en-US" altLang="ko-KR" sz="20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 latinLnBrk="0">
              <a:lnSpc>
                <a:spcPct val="150000"/>
              </a:lnSpc>
              <a:buFontTx/>
              <a:buAutoNum type="arabicPeriod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연구 수행방법 및 추진전략</a:t>
            </a:r>
            <a:endParaRPr lang="en-US" altLang="ko-KR" sz="20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 latinLnBrk="0">
              <a:lnSpc>
                <a:spcPct val="150000"/>
              </a:lnSpc>
              <a:buFontTx/>
              <a:buAutoNum type="arabicPeriod"/>
            </a:pPr>
            <a:r>
              <a:rPr lang="en-US" altLang="ko-KR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연구단장 및 주관기관 역량</a:t>
            </a:r>
            <a:endParaRPr lang="en-US" altLang="ko-KR" sz="20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685800" lvl="1" indent="-228600" latinLnBrk="0">
              <a:lnSpc>
                <a:spcPct val="150000"/>
              </a:lnSpc>
              <a:buFontTx/>
              <a:buAutoNum type="arabicPeriod"/>
            </a:pPr>
            <a:r>
              <a:rPr lang="en-US" altLang="ko-KR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 운영</a:t>
            </a:r>
            <a:r>
              <a:rPr lang="en-US" altLang="ko-KR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관리 계획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7E678C-E6CB-4E50-AEFE-133E7F92174C}" type="slidenum">
              <a:rPr lang="ko-KR" altLang="en-US"/>
              <a:pPr>
                <a:defRPr/>
              </a:pPr>
              <a:t>12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1828800" y="2085975"/>
            <a:ext cx="7315200" cy="1012825"/>
          </a:xfrm>
        </p:spPr>
        <p:txBody>
          <a:bodyPr/>
          <a:lstStyle/>
          <a:p>
            <a:r>
              <a:rPr lang="en-US" altLang="ko-KR" sz="3200" smtClean="0">
                <a:latin typeface="나눔고딕 ExtraBold" pitchFamily="50" charset="-127"/>
                <a:ea typeface="나눔고딕 ExtraBold" pitchFamily="50" charset="-127"/>
              </a:rPr>
              <a:t>1. </a:t>
            </a:r>
            <a:r>
              <a:rPr lang="ko-KR" altLang="en-US" sz="3200" smtClean="0">
                <a:latin typeface="나눔고딕 ExtraBold" pitchFamily="50" charset="-127"/>
                <a:ea typeface="나눔고딕 ExtraBold" pitchFamily="50" charset="-127"/>
              </a:rPr>
              <a:t>연구개발 계획</a:t>
            </a:r>
          </a:p>
        </p:txBody>
      </p:sp>
      <p:sp>
        <p:nvSpPr>
          <p:cNvPr id="17411" name="TextBox 3"/>
          <p:cNvSpPr txBox="1">
            <a:spLocks noChangeArrowheads="1"/>
          </p:cNvSpPr>
          <p:nvPr/>
        </p:nvSpPr>
        <p:spPr bwMode="auto">
          <a:xfrm>
            <a:off x="4943475" y="3352800"/>
            <a:ext cx="3965575" cy="1885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기술개발 필요성 및 목표 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국내외 </a:t>
            </a: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기술 및 시장 동향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문제점 및 해결방안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기대효과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7E678C-E6CB-4E50-AEFE-133E7F92174C}" type="slidenum">
              <a:rPr lang="ko-KR" altLang="en-US"/>
              <a:pPr>
                <a:defRPr/>
              </a:pPr>
              <a:t>13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1-(1)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기술개발 필요성 및 목표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기술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 시스템 분석에는 상향식 모형과 하향식 모형이 활용되고 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있으나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각각 장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단점을 보유하고 있어 두 모형 간 통합적 모형 개발이 요구됨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분석에 주로 이용되는 연산일반균형모형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(CGE)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감축기술의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정보를 정확히 반영하지 못하는 반면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모형은 경제적 균형 영향 분석이 어려운 단점을 지님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분야별 차별화된 접근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통합적 접근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등이 연구되고 있으나 한국 상황에 맞는 모형에 대한 논의는 아직 확립되지 않음</a:t>
            </a:r>
            <a:r>
              <a:rPr lang="en-US" altLang="ko-KR" sz="11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11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9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F5D982-35A8-4074-9BBA-54A771AC6457}" type="slidenum">
              <a:rPr lang="ko-KR" altLang="en-US"/>
              <a:pPr>
                <a:defRPr/>
              </a:pPr>
              <a:t>14</a:t>
            </a:fld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914400" y="3482975"/>
          <a:ext cx="7486651" cy="246062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561512"/>
                <a:gridCol w="3369070"/>
                <a:gridCol w="3556069"/>
              </a:tblGrid>
              <a:tr h="30243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latin typeface="나눔고딕" pitchFamily="50" charset="-127"/>
                          <a:ea typeface="나눔고딕" pitchFamily="50" charset="-127"/>
                        </a:rPr>
                        <a:t>상향식 감축 모형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latin typeface="나눔고딕" pitchFamily="50" charset="-127"/>
                          <a:ea typeface="나눔고딕" pitchFamily="50" charset="-127"/>
                        </a:rPr>
                        <a:t>하향식 감축 모형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  <a:tr h="13890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latin typeface="나눔고딕" pitchFamily="50" charset="-127"/>
                          <a:ea typeface="나눔고딕" pitchFamily="50" charset="-127"/>
                        </a:rPr>
                        <a:t>장점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경제주체의 의사결정 변화에 따른 에너지소비 및 온실가스 배출량 변화를 세부적으로 분석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온실가스 감축 수단</a:t>
                      </a:r>
                      <a:r>
                        <a:rPr lang="en-US" altLang="ko-KR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온실가스 감축 잠재량</a:t>
                      </a:r>
                      <a:r>
                        <a:rPr lang="en-US" altLang="ko-KR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온실가스 감축 비용 분석에 용이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부문별 차별화된 정책수단 조합이나 정책강도를 결정하기에 용이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업종별 상이한 신기술 및 정책수단 고려 가능</a:t>
                      </a:r>
                      <a:r>
                        <a:rPr lang="en-US" altLang="ko-KR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endParaRPr lang="ko-KR" altLang="en-US" sz="105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경제전체의 움직임을 포괄적이고 집계적으로 묘사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정책수단이 국내총생산</a:t>
                      </a:r>
                      <a:r>
                        <a:rPr lang="en-US" altLang="ko-KR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(GDP)</a:t>
                      </a: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등 거시경제 지표에 미치는 효과를 추정하는데 효과적</a:t>
                      </a:r>
                      <a:endParaRPr lang="en-US" altLang="ko-KR" sz="1050" baseline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분석대상을 내생적인 조정과정 측면에서 표현</a:t>
                      </a:r>
                      <a:endParaRPr lang="en-US" altLang="ko-KR" sz="1050" baseline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77800" indent="-177800" latinLnBrk="1">
                        <a:buFont typeface="Arial" pitchFamily="34" charset="0"/>
                        <a:buChar char="•"/>
                      </a:pP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경제시스템 차원의</a:t>
                      </a:r>
                      <a:r>
                        <a:rPr lang="en-US" altLang="ko-KR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정책수단 선정 및 평가에 유용</a:t>
                      </a:r>
                      <a:endParaRPr lang="ko-KR" altLang="en-US" sz="105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  <a:tr h="769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latin typeface="나눔고딕" pitchFamily="50" charset="-127"/>
                          <a:ea typeface="나눔고딕" pitchFamily="50" charset="-127"/>
                        </a:rPr>
                        <a:t>단점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생산요소 및 부문간 대체를 고려하지 못함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최종수요가 고정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부가가치 등의 변수 제외</a:t>
                      </a:r>
                      <a:endParaRPr lang="en-US" altLang="ko-KR" sz="105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거시경제에 대한 파급효과 분석에는 부적합</a:t>
                      </a:r>
                      <a:endParaRPr lang="ko-KR" altLang="en-US" sz="105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부문별 기술적 차별성과 대체성을 고려하지 못함</a:t>
                      </a:r>
                      <a:endParaRPr lang="en-US" altLang="ko-KR" sz="1050" baseline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80975" lvl="0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부문별 감축 잠재량</a:t>
                      </a:r>
                      <a:r>
                        <a:rPr lang="en-US" altLang="ko-KR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5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감축비용에 대한 구체적인 정보를 제시하지 못함</a:t>
                      </a:r>
                      <a:endParaRPr lang="ko-KR" altLang="en-US" sz="1050" b="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455" name="직사각형 9"/>
          <p:cNvSpPr>
            <a:spLocks noChangeArrowheads="1"/>
          </p:cNvSpPr>
          <p:nvPr/>
        </p:nvSpPr>
        <p:spPr bwMode="auto">
          <a:xfrm>
            <a:off x="2938463" y="3186113"/>
            <a:ext cx="35433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감축 모형과 하향식 감축 모형의 특성 비교</a:t>
            </a: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1-(1)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기술개발 필요성 및 목표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48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경제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]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다양한 온실가스 감축 정책이 시행되고 있으나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정책의 성과 및 파급효과에 대한 정량적 상시 분석 시스템의 미비로 효율적인 정책의 설계 및 평가가 어려운 상황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목표 지향적 기후정책 추진</a:t>
            </a: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중장기 환경경제의 거시적 전망 및 배출량의 예측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감축의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잠재력 및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감축활동의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실효성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정책 추진에 따른 경제사회적 파급효과 등에 대한 계량적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과학적 분석역량의 확보가 중요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급변하는 국내외 여건에 선제적으로 대처</a:t>
            </a: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경제적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환경적 여건의 변화를 적시 반영하여 배출량 전망 및 파급효과 분석 등을 상시적이고 과학적으로 분석할 수 있는 시스템 구축 필요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경제사회적 현상과 기후 문제의 통합적 분석</a:t>
            </a:r>
            <a:r>
              <a:rPr lang="en-US" altLang="ko-KR" sz="12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시장균형에 토대를 둔 경제모형과 오염원 활동 및 기술적 대안에 따른 행태변화를 반영하는 에너지환경모형을 연계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분석하는 방식의 환경경제모형 개발 필요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F053CE-075D-4D38-B1CE-45E822E49B3D}" type="slidenum">
              <a:rPr lang="ko-KR" altLang="en-US"/>
              <a:pPr>
                <a:defRPr/>
              </a:pPr>
              <a:t>15</a:t>
            </a:fld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295400" y="3971925"/>
            <a:ext cx="7115175" cy="73342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lnSpc>
                <a:spcPct val="120000"/>
              </a:lnSpc>
              <a:defRPr/>
            </a:pPr>
            <a:r>
              <a:rPr lang="en-US" altLang="ko-KR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목표</a:t>
            </a:r>
            <a:r>
              <a:rPr lang="en-US" altLang="ko-KR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]  </a:t>
            </a:r>
            <a:r>
              <a:rPr lang="ko-KR" altLang="en-US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온실가스 감축 기술 현황을 반영하는 상향식 감축모형과 감축정책의 </a:t>
            </a:r>
            <a:r>
              <a:rPr lang="ko-KR" altLang="en-US" sz="140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산업 </a:t>
            </a:r>
            <a:r>
              <a:rPr lang="ko-KR" altLang="en-US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및  거시경제 파급효과를 분석하는 하향식 일반균형모형을 통합하는 통합감축 시스템 구축</a:t>
            </a:r>
            <a:endParaRPr lang="ko-KR" altLang="en-US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7" name="오른쪽 화살표 6"/>
          <p:cNvSpPr/>
          <p:nvPr/>
        </p:nvSpPr>
        <p:spPr bwMode="auto">
          <a:xfrm>
            <a:off x="762000" y="4067175"/>
            <a:ext cx="428625" cy="43815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r" latinLnBrk="0">
              <a:defRPr/>
            </a:pPr>
            <a:endParaRPr lang="ko-KR" altLang="en-US" dirty="0">
              <a:latin typeface="Arial" charset="0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1352550" y="4752975"/>
            <a:ext cx="7010400" cy="11049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8160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 기술현황을 반영한 감축 모형 개발 및 영향 분석</a:t>
            </a:r>
            <a:endParaRPr lang="en-US" altLang="ko-KR" sz="12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8160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 정책의 파급효과 분석을 위한 하향식 모형 개발 및 분석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8160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감축정책  및 기술확산 효과 분석</a:t>
            </a:r>
            <a:r>
              <a:rPr lang="en-US" altLang="ko-KR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비용효율적 감축 </a:t>
            </a:r>
            <a:r>
              <a:rPr lang="ko-KR" altLang="en-US" sz="1200" dirty="0" err="1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잠재량</a:t>
            </a: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분석</a:t>
            </a:r>
            <a:r>
              <a:rPr lang="en-US" altLang="ko-KR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감축정책 평가 기능을 포함한 통합 감축분석시스템 개발 및 운용</a:t>
            </a:r>
            <a:endParaRPr lang="en-US" altLang="ko-KR" sz="12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국내외 기술</a:t>
            </a:r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및 시장 동향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7859585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 모형으로 상향식 모형과 하향식 모형이 각각 활발하게 활용되고 있음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모형은 주로 에너지 기술 선택 모형에서 출발하여 온실가스 감축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잠재량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분석으로 영역을 확장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LEAP(SEI-Boston), MESSAGE(IIASA), MARKAL(IEA), GCAM(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美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PNNL)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모형은 일반균형모형을 기초로 경제변수가 온실가스 배출량에 미치는 영향을 분석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Env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-Linkage(OECD), EPPA(MIT),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GTAP(Purdue University),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PEP(PEP)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 통합의 필요성은 인정되지만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현재 활용되는 통합모형은 거시변수 또는 비용함수를 이용한 초보적인 통합에 그쳐 정책 평가에 한계 존재 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기존의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통합모형은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모형을 연성결합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(soft-link)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하거나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모형을 단순화하여 상향식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모형에 포괄하는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방식을 주로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활용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모형을 경성결합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(hard-link)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 경우 복잡도가 증가하여 해를 구하기 어려워 분해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(decomposition)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방법을 사용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(B</a:t>
            </a:r>
            <a:r>
              <a:rPr lang="az-Cyrl-AZ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ӧ</a:t>
            </a:r>
            <a:r>
              <a:rPr lang="en-US" altLang="ko-KR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hringer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and Rutherford, 2009)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하였으나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다수의 상향식 모형을 동시에 결합한 경우는 없음</a:t>
            </a:r>
            <a:endParaRPr lang="ko-KR" altLang="en-US" sz="14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기존 방식은 에너지 수요 분석에 경제상황을 반영할 수는 있으나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감축정책이 기술선택에 미치는 영향 분석 및 기술선택의 경제적 파급효과 분석에 한계 존재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모형에서 활용 가능한 모든 기술을 하향식 모형의 산업과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1:1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로 대응시키는 유기적인 결합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방식은 이론적으로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개발되었으나 활용은 부족한 상황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기존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 모형 연구는 전환부문에 국한되어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산업 공정상 온실가스 배출 산업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철강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시멘트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및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비산업부문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감축정책 연구에 한계</a:t>
            </a:r>
            <a:endParaRPr lang="en-US" altLang="ko-KR" sz="8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010400" y="6578600"/>
            <a:ext cx="2133600" cy="279400"/>
          </a:xfrm>
        </p:spPr>
        <p:txBody>
          <a:bodyPr/>
          <a:lstStyle/>
          <a:p>
            <a:pPr>
              <a:defRPr/>
            </a:pPr>
            <a:fld id="{7DFF1D27-800F-4EE2-8F1F-39CCC0D96D2B}" type="slidenum">
              <a:rPr lang="ko-KR" altLang="en-US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26629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해외 기술 동향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국내외 기술</a:t>
            </a:r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및 시장 동향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AC8232-32E6-478B-A24E-5B19B5B53737}" type="slidenum">
              <a:rPr lang="ko-KR" altLang="en-US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해외 기술 동향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809625" y="1749425"/>
          <a:ext cx="7820029" cy="4313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00179"/>
                <a:gridCol w="1952625"/>
                <a:gridCol w="1181100"/>
                <a:gridCol w="1095375"/>
                <a:gridCol w="1095375"/>
                <a:gridCol w="1095375"/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Model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Institution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Region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Regional</a:t>
                      </a:r>
                      <a:r>
                        <a:rPr lang="en-US" altLang="ko-KR" sz="9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scope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Time horizon 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Time step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AIM-CGE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NIES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Japan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2001-2100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AIM-</a:t>
                      </a:r>
                      <a:r>
                        <a:rPr lang="en-US" altLang="ko-KR" sz="1000" b="1" dirty="0" err="1" smtClean="0">
                          <a:latin typeface="나눔고딕" pitchFamily="50" charset="-127"/>
                          <a:ea typeface="나눔고딕" pitchFamily="50" charset="-127"/>
                        </a:rPr>
                        <a:t>Enduse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NIES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Japan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2005-2050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DNE21+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RITE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Japan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2005-2050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5-10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EPPA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MIT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USA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2004-2100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GCAM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PNNL/JGCRI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USA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1990-2095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GCAM-IIM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IIM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India 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India</a:t>
                      </a:r>
                      <a:r>
                        <a:rPr lang="en-US" altLang="ko-KR" sz="1000" baseline="40000" dirty="0" smtClean="0">
                          <a:latin typeface="나눔고딕" pitchFamily="50" charset="-127"/>
                          <a:ea typeface="나눔고딕" pitchFamily="50" charset="-127"/>
                        </a:rPr>
                        <a:t>1)</a:t>
                      </a:r>
                      <a:endParaRPr lang="ko-KR" altLang="en-US" sz="1000" baseline="40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1990-2095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GEM-E3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European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Commission/NTUA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EU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2004-2050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GRAPE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IAE</a:t>
                      </a:r>
                      <a:endParaRPr lang="ko-KR" altLang="en-US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Japan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2000-2100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GTEM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ABARES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Australia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IMAGE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PBL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The Netherlands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1970-2100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 smtClean="0">
                          <a:latin typeface="나눔고딕" pitchFamily="50" charset="-127"/>
                          <a:ea typeface="나눔고딕" pitchFamily="50" charset="-127"/>
                        </a:rPr>
                        <a:t>iPETS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NCAR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USA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2004-2100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KEI-Linkages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KEI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Korea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2004-2050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MARIA-23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Tokyo Univ. of Science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Japan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1997-2107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MERGE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EPRI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USA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2000-2100</a:t>
                      </a:r>
                      <a:r>
                        <a:rPr lang="en-US" altLang="ko-KR" sz="1000" baseline="40000" dirty="0" smtClean="0">
                          <a:latin typeface="나눔고딕" pitchFamily="50" charset="-127"/>
                          <a:ea typeface="나눔고딕" pitchFamily="50" charset="-127"/>
                        </a:rPr>
                        <a:t>2)</a:t>
                      </a:r>
                      <a:endParaRPr lang="ko-KR" altLang="en-US" sz="1000" baseline="40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MESSAGE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IIASA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Austria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1990-2110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5-10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Nepal-MARKAL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AIT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Nepal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Nepal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PECE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Renmin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University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China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China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2005-2050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Phoenix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PSU, BU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USA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2004-2070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POLES-IPTS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IPTS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EU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2000-2050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 smtClean="0">
                          <a:latin typeface="나눔고딕" pitchFamily="50" charset="-127"/>
                          <a:ea typeface="나눔고딕" pitchFamily="50" charset="-127"/>
                        </a:rPr>
                        <a:t>ReMIND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PIK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Germany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2005-2150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TIAM-WORLD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Kanlo-KanORS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France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TIMES-VTT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VTT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Finland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2005-2100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WITCH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FEEM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Italy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Global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2005-2150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T="10800" marB="144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sp>
        <p:nvSpPr>
          <p:cNvPr id="27830" name="Rectangle 3"/>
          <p:cNvSpPr>
            <a:spLocks noGrp="1" noChangeArrowheads="1"/>
          </p:cNvSpPr>
          <p:nvPr/>
        </p:nvSpPr>
        <p:spPr bwMode="auto">
          <a:xfrm>
            <a:off x="730250" y="1360488"/>
            <a:ext cx="8313738" cy="459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아시아 모델링 포럼 참여 모형 목록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11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1450" y="6057900"/>
            <a:ext cx="46958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1) GCAM-IIM is technically global in scope, but the authors only focus on the India region. </a:t>
            </a:r>
          </a:p>
          <a:p>
            <a:pPr>
              <a:defRPr/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2)  MERGE computes economic variables through 2100 and climate variables through 2200. </a:t>
            </a:r>
          </a:p>
          <a:p>
            <a:pPr>
              <a:defRPr/>
            </a:pP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*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자료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: K. Calvin et al., Energy Economics 34(2012)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</a:rPr>
              <a:t>S251-S260.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국내외 기술</a:t>
            </a:r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및 시장 동향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모형을 개별적으로 활용한 온실가스 감축정책 연구는 활발하게 수행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모형으로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LEAP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 기반의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ROK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MARKAL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MESSAGE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 등을 주로 활용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모형은 다양한 모형이 혼재하며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개별 연구자들이 주요 분석 대상에 따라 필요한 모형을 직접 개발하는 창의적인 연구도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진행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조경엽 외</a:t>
            </a:r>
            <a:r>
              <a:rPr lang="en-US" altLang="ko-KR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(2006), </a:t>
            </a:r>
            <a:r>
              <a:rPr lang="ko-KR" altLang="en-US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정현식 외</a:t>
            </a:r>
            <a:r>
              <a:rPr lang="en-US" altLang="ko-KR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(2007), </a:t>
            </a:r>
            <a:r>
              <a:rPr lang="ko-KR" altLang="en-US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임재규</a:t>
            </a:r>
            <a:r>
              <a:rPr lang="en-US" altLang="ko-KR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(GTEM-Korea), </a:t>
            </a:r>
            <a:r>
              <a:rPr lang="ko-KR" altLang="en-US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</a:t>
            </a:r>
            <a:r>
              <a:rPr lang="en-US" altLang="ko-KR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(KEI-Linkages), </a:t>
            </a:r>
            <a:r>
              <a:rPr lang="ko-KR" altLang="en-US" sz="1050" b="0" spc="-5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권오상</a:t>
            </a:r>
            <a:r>
              <a:rPr lang="en-US" altLang="ko-KR" sz="1050" b="0" spc="-5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․</a:t>
            </a:r>
            <a:r>
              <a:rPr lang="ko-KR" altLang="en-US" sz="1050" b="0" spc="-5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이한빈</a:t>
            </a:r>
            <a:r>
              <a:rPr lang="en-US" altLang="ko-KR" sz="1050" b="0" spc="-5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(2013), </a:t>
            </a:r>
            <a:r>
              <a:rPr lang="ko-KR" altLang="en-US" sz="1050" b="0" spc="-5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강성원</a:t>
            </a:r>
            <a:r>
              <a:rPr lang="en-US" altLang="ko-KR" sz="1050" b="0" spc="-5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(2012, 2013</a:t>
            </a:r>
            <a:r>
              <a:rPr lang="en-US" altLang="ko-KR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050" b="0" spc="-5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</a:t>
            </a:r>
            <a:endParaRPr lang="en-US" altLang="ko-KR" sz="1050" b="0" spc="-5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6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>
              <a:spcBef>
                <a:spcPct val="20000"/>
              </a:spcBef>
              <a:buClr>
                <a:srgbClr val="183883"/>
              </a:buClr>
              <a:buFont typeface="Wingdings" pitchFamily="2" charset="2"/>
              <a:buChar char="§"/>
              <a:defRPr/>
            </a:pPr>
            <a:r>
              <a:rPr lang="ko-KR" altLang="en-US" sz="1400" b="0" kern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한국환경정책∙평가연구원은 상</a:t>
            </a:r>
            <a:r>
              <a:rPr lang="en-US" altLang="ko-KR" sz="1400" b="0" kern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kern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 </a:t>
            </a:r>
            <a:r>
              <a:rPr lang="ko-KR" altLang="en-US" sz="1400" b="0" kern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통합을 </a:t>
            </a:r>
            <a:r>
              <a:rPr lang="ko-KR" altLang="en-US" sz="1400" b="0" kern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위한 </a:t>
            </a:r>
            <a:r>
              <a:rPr lang="ko-KR" altLang="en-US" sz="1400" b="0" kern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사전연구를 </a:t>
            </a:r>
            <a:r>
              <a:rPr lang="ko-KR" altLang="en-US" sz="1400" b="0" kern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진행</a:t>
            </a:r>
            <a:endParaRPr lang="en-US" altLang="ko-KR" sz="1400" b="0" kern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>
              <a:spcBef>
                <a:spcPct val="20000"/>
              </a:spcBef>
              <a:buFont typeface="나눔고딕" pitchFamily="50" charset="-127"/>
              <a:buChar char="‐"/>
              <a:defRPr/>
            </a:pPr>
            <a:r>
              <a:rPr lang="ko-KR" altLang="en-US" sz="1200" b="0" kern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환경경제모형개발</a:t>
            </a:r>
            <a:r>
              <a:rPr lang="en-US" altLang="ko-KR" sz="1200" b="0" kern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1200" b="0" kern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2008~2011) </a:t>
            </a:r>
            <a:r>
              <a:rPr lang="ko-KR" altLang="en-US" sz="1200" b="0" kern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에서 </a:t>
            </a:r>
            <a:r>
              <a:rPr lang="ko-KR" altLang="en-US" sz="1200" b="0" kern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 주도식 통합모형 개발</a:t>
            </a:r>
            <a:endParaRPr lang="en-US" altLang="ko-KR" sz="1200" b="0" kern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>
              <a:spcBef>
                <a:spcPct val="20000"/>
              </a:spcBef>
              <a:buFont typeface="나눔고딕" pitchFamily="50" charset="-127"/>
              <a:buChar char="‐"/>
              <a:defRPr/>
            </a:pPr>
            <a:r>
              <a:rPr lang="en-US" altLang="ko-KR" sz="1200" b="0" kern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‘</a:t>
            </a:r>
            <a:r>
              <a:rPr lang="ko-KR" altLang="en-US" sz="1200" b="0" kern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저탄소</a:t>
            </a:r>
            <a:r>
              <a:rPr lang="ko-KR" altLang="en-US" sz="1200" b="0" kern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사회로의 이행을 위한 소비행태 조사 및 분석 모형 개발</a:t>
            </a:r>
            <a:r>
              <a:rPr lang="ko-KR" altLang="en-US" sz="1200" b="0" kern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∙운</a:t>
            </a:r>
            <a:r>
              <a:rPr lang="ko-KR" altLang="en-US" sz="1200" b="0" kern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용</a:t>
            </a:r>
            <a:r>
              <a:rPr lang="en-US" altLang="ko-KR" sz="1200" b="0" kern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’ </a:t>
            </a:r>
            <a:r>
              <a:rPr lang="ko-KR" altLang="en-US" sz="1200" b="0" kern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에서 소비행태를 감축기술단위로 세분한 실태조사를 통해 상∙하향식 통합모형 구축의 기초자료 확보</a:t>
            </a:r>
            <a:endParaRPr lang="en-US" altLang="ko-KR" sz="1200" b="0" kern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rgbClr val="365B91"/>
              </a:buClr>
              <a:buSzPct val="85000"/>
            </a:pPr>
            <a:endParaRPr lang="en-US" altLang="ko-KR" sz="6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MESSAGE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를 이용한 국가 부문별 상향식 모형이 구축되어 활용되며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부문별 공정과 특성 파악 진행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2011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~2014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 에너지 다소비 업종 외에 반도체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디스플레이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섬유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음식료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농축산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폐기물 등 모든 업종에 대하여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MESSAGE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 구축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18122-3678-4B65-B1EA-BBB3070B4F4B}" type="slidenum">
              <a:rPr lang="ko-KR" altLang="en-US"/>
              <a:pPr>
                <a:defRPr/>
              </a:pPr>
              <a:t>18</a:t>
            </a:fld>
            <a:endParaRPr lang="ko-KR" altLang="en-US" dirty="0"/>
          </a:p>
        </p:txBody>
      </p:sp>
      <p:sp>
        <p:nvSpPr>
          <p:cNvPr id="28677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국내 기술 동향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국내외 기술</a:t>
            </a:r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및 시장 동향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감축정책 분석 및 개발은 공공부문이 주도하므로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온실가스 통합감축시스템은 공공부문에서 주로 활용될 것으로 전망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통합기후모형 활용 문헌 중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94.5%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는 공공기관의 보고서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Nordhouse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2011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미국의 경우 온실가스 감축정책 분석을 위한 하향식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CGE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‘ADAGE’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개발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운용 중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국내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감축잠재력 파악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감축정책 및 감축기술 선택의 심층적 파급효과 분석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감축정책 평가에 활용 가능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모형의 장점을 활용하면 기술선택의 가능성을 모두 고려한 비용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-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효율적 감축잠재력 파악 가능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모형을 통합하여 감축정책을 통한 기술선택 유인 변화가 기술 조합의 변화로 귀결되는 감축정책 파급효과 분석 및 이에 기반한 정책 평가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가능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국가 온실가스 중기감축목표 설정 및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거래제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기본계획 수립 시에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KEI-Linkages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MARKAL(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에기연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), CGE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(GIR)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등이 활용된 바 있음</a:t>
            </a: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감축의무 국제협상 기초자료 및 개도국 녹색경제 전략개발 컨설팅 수요 확대  전망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교토의정서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이후로 국제 온실가스 감축의무의 국가간 할당 방법 및 그에 따른 국제 탄소시장의 환경경제적 파급효과 분석에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OECD ENV-Linkages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 국제 연구기관의 감축분석 모형이 광범위하게 활용됨</a:t>
            </a: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6139AF-ED10-4D57-BAA0-C74A4854D56F}" type="slidenum">
              <a:rPr lang="ko-KR" altLang="en-US"/>
              <a:pPr>
                <a:defRPr/>
              </a:pPr>
              <a:t>19</a:t>
            </a:fld>
            <a:endParaRPr lang="ko-KR" altLang="en-US" dirty="0"/>
          </a:p>
        </p:txBody>
      </p:sp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기술 관련 시장분야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국내외 기술</a:t>
            </a:r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및 시장 동향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최근 다년 간의 기후변화 연구 및 기후변화 정책 입안 과정에서 상향식 모형 및 하향식 모형 설계 및 분석 역량이 축적됨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평가연구원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권오상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서울대학교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국제적 하향식 모형의 한국화 작업을 꾸준히 진행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‘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환경경제모형개발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I~III (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2008~2011)’,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‘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저탄소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사회로의 이행을 위한 소비행태 조사 및 분석모형  개발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운용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I~III (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2011~2013)’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 수행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평가연구원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상향식 모형인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ROK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모형의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국내화 작업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추진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076325" lvl="1" indent="-3619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(2009).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「환경경제모형 개발」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환경부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김후곤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경성대학교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상향식 모형인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MESSAGE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활용하여 다방면의 온실가스 감축정책에 기여</a:t>
            </a:r>
          </a:p>
          <a:p>
            <a:pPr marL="1076325" lvl="1" indent="-3619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김후곤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(2011).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MESSAGE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모형을 이용한 가정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상업 및 수송부문 온실가스 감축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잠재량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원자력연구원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1076325" lvl="1" indent="-3619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defRPr/>
            </a:pP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 환경정책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평가연구원을 중심으로 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모형의 심층적 결합에 필요한 사전작업이 진행 중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‘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환경경제모형 개발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’(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2008~2011)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 기반의 상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통합모형 개발을 시도하였으며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전력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수송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공정 온실가스 감축기술 등에 대한 비용특성 및 기술선택과정을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CGE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모형에 반영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강성원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(2012, 2013)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에서는 하향식 모형의 에너지 산업을 에너지원별로 세분화하여 상향식 모형의 기술선택을 포괄할 수 있는 기초를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확보하고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세분화된 소비자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집단별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소비성향 분석 방법 개발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5E4D80-3293-4974-8161-1A4464C61CF2}" type="slidenum">
              <a:rPr lang="ko-KR" altLang="en-US"/>
              <a:pPr>
                <a:defRPr/>
              </a:pPr>
              <a:t>20</a:t>
            </a:fld>
            <a:endParaRPr lang="ko-KR" altLang="en-US" dirty="0"/>
          </a:p>
        </p:txBody>
      </p:sp>
      <p:sp>
        <p:nvSpPr>
          <p:cNvPr id="30725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국내 기술개발 역량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국내외 기술</a:t>
            </a:r>
            <a:r>
              <a:rPr lang="en-US" altLang="ko-KR" sz="2400" dirty="0" smtClean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및 시장 동향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상향식 모형 및 하향식 모형 개별 연구는 선진국 수준에 근접하였으나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 통합 연구는 초보적인 단계 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개별 모형은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감축정책 및 에너지정책 연구에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활발히 활용되며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SCI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수준 해외학술지 기고 논문도 다수 존재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657350" lvl="3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 통합 연구는 사례가 희소하며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하향식 모형을 단순화하는 접근이 일반적인 상황이라 감축정책 및 감축기술의 파급효과 분석에 한계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세분화된 산업구조를 유지하면서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모형을 통합하는 방법론은 소개되어 있으나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실제 모형에 적용하는 연구는 선진국에 비해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부족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7E588AD-57CF-43C5-A8AF-9281302D9F9B}" type="slidenum">
              <a:rPr lang="ko-KR" altLang="en-US"/>
              <a:pPr>
                <a:defRPr/>
              </a:pPr>
              <a:t>21</a:t>
            </a:fld>
            <a:endParaRPr lang="ko-KR" altLang="en-US" dirty="0"/>
          </a:p>
        </p:txBody>
      </p:sp>
      <p:sp>
        <p:nvSpPr>
          <p:cNvPr id="31749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국내 기술개발 역량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123950" y="2635250"/>
          <a:ext cx="7477125" cy="14945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97794"/>
                <a:gridCol w="3402881"/>
                <a:gridCol w="2076450"/>
              </a:tblGrid>
              <a:tr h="3058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저자 및 연도</a:t>
                      </a:r>
                      <a:endParaRPr lang="ko-KR" altLang="en-US" sz="105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논문 및 저서 제목</a:t>
                      </a:r>
                      <a:endParaRPr lang="ko-KR" altLang="en-US" sz="105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출판지</a:t>
                      </a:r>
                      <a:r>
                        <a:rPr lang="en-US" altLang="ko-KR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출판기관</a:t>
                      </a:r>
                      <a:endParaRPr lang="ko-KR" altLang="en-US" sz="105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  <a:tr h="305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Hugon Kim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et al.(2011)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A MESSAGE Optimization Modeling of GHG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Emissions for Passenger Vehicles Sector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IJICIC Vol.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5 Issue 10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  <a:tr h="305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Lim,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J.S. and Y.G. Kim(2012)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Combining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Carbon Tax and R&amp;D Subsidy for Climate Change Mitigation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Energy Economics Vol.</a:t>
                      </a:r>
                      <a:r>
                        <a:rPr lang="en-US" altLang="ko-KR" sz="1000" baseline="0" dirty="0" smtClean="0">
                          <a:latin typeface="나눔고딕" pitchFamily="50" charset="-127"/>
                          <a:ea typeface="나눔고딕" pitchFamily="50" charset="-127"/>
                        </a:rPr>
                        <a:t> 34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  <a:tr h="3058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S. Yu, J. </a:t>
                      </a: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Eom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M. Evans, and   L. Clarke(2014)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A Long-term, Integrated Impact Assessment of Alternative Building Energy Code Scenarios in China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Energy Policy Vol. 67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래쪽 화살표 20"/>
          <p:cNvSpPr/>
          <p:nvPr/>
        </p:nvSpPr>
        <p:spPr bwMode="auto">
          <a:xfrm>
            <a:off x="3733800" y="4324350"/>
            <a:ext cx="2571750" cy="1762125"/>
          </a:xfrm>
          <a:prstGeom prst="downArrow">
            <a:avLst/>
          </a:prstGeom>
          <a:solidFill>
            <a:schemeClr val="bg1">
              <a:lumMod val="8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 latinLnBrk="0">
              <a:defRPr/>
            </a:pPr>
            <a:endParaRPr lang="ko-KR" altLang="en-US">
              <a:latin typeface="Arial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1-(3)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문제점 및 해결방안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3FDA56-D106-4E5C-9549-39A90F8FF24A}" type="slidenum">
              <a:rPr lang="ko-KR" altLang="en-US"/>
              <a:pPr>
                <a:defRPr/>
              </a:pPr>
              <a:t>22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971551" y="1600200"/>
            <a:ext cx="1238250" cy="92392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현행 기술의 문제점</a:t>
            </a:r>
          </a:p>
        </p:txBody>
      </p:sp>
      <p:sp>
        <p:nvSpPr>
          <p:cNvPr id="8" name="직사각형 7"/>
          <p:cNvSpPr/>
          <p:nvPr/>
        </p:nvSpPr>
        <p:spPr bwMode="auto">
          <a:xfrm>
            <a:off x="2305050" y="1619250"/>
            <a:ext cx="6134100" cy="9239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38160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 통합 성과가 부진하여 감축 </a:t>
            </a:r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잠재량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추정과 감축정책 평가에 한계</a:t>
            </a:r>
          </a:p>
          <a:p>
            <a:pPr marL="38160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상향식 모형 및 하향식 모형 모두 자료의 미비로 전환 외 부문에 대한 분석 및 미래 </a:t>
            </a: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예측 신뢰성이 높지 않은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상황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971551" y="2628900"/>
            <a:ext cx="1238250" cy="16073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기술개발의 애로사항</a:t>
            </a:r>
          </a:p>
        </p:txBody>
      </p:sp>
      <p:sp>
        <p:nvSpPr>
          <p:cNvPr id="10" name="직사각형 9"/>
          <p:cNvSpPr/>
          <p:nvPr/>
        </p:nvSpPr>
        <p:spPr bwMode="auto">
          <a:xfrm>
            <a:off x="2305050" y="2647950"/>
            <a:ext cx="6134100" cy="15525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38160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모형의 산업별 투입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-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산출 자료 및 가계소비 자료를 상향식 모형의 온실가스 감축기술 단위로 세분하기 위해 필요한 자료 부족</a:t>
            </a:r>
          </a:p>
          <a:p>
            <a:pPr marL="38160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부문 간 연계에 대한 이론적인 접근은 다양하나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실제 정책연구에 활용된 실례는 제한적이어서 방법론 선택 기준이 모호</a:t>
            </a:r>
          </a:p>
          <a:p>
            <a:pPr marL="38160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/>
            </a:pPr>
            <a:r>
              <a:rPr lang="ko-KR" altLang="en-US" sz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개별 모형이 요구하는 정보의 성격 및 운용환경이 상이하여 통합된 개발 환경 창출에 장애 존재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2777" name="그룹 21"/>
          <p:cNvGrpSpPr>
            <a:grpSpLocks/>
          </p:cNvGrpSpPr>
          <p:nvPr/>
        </p:nvGrpSpPr>
        <p:grpSpPr bwMode="auto">
          <a:xfrm>
            <a:off x="1590675" y="4543425"/>
            <a:ext cx="7029450" cy="1390650"/>
            <a:chOff x="1162051" y="4648202"/>
            <a:chExt cx="7029450" cy="1389993"/>
          </a:xfrm>
        </p:grpSpPr>
        <p:sp>
          <p:nvSpPr>
            <p:cNvPr id="13" name="순서도: 연결자 12"/>
            <p:cNvSpPr/>
            <p:nvPr/>
          </p:nvSpPr>
          <p:spPr bwMode="auto">
            <a:xfrm>
              <a:off x="1162051" y="4648202"/>
              <a:ext cx="400050" cy="371474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400" b="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나눔고딕" pitchFamily="50" charset="-127"/>
                  <a:ea typeface="나눔고딕" pitchFamily="50" charset="-127"/>
                </a:rPr>
                <a:t>1</a:t>
              </a:r>
              <a:endParaRPr lang="ko-KR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28776" y="4667243"/>
              <a:ext cx="6562725" cy="30783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lvl="1">
                <a:defRPr/>
              </a:pP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주요 온실가스 감축기술 현황 분석 및 미래 기술 예측 기능을 보유한 상향식 감축 모형 개발 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19251" y="5114707"/>
              <a:ext cx="6562725" cy="30783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lvl="1">
                <a:defRPr/>
              </a:pP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상</a:t>
              </a:r>
              <a:r>
                <a:rPr lang="en-US" altLang="ko-KR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·</a:t>
              </a: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하향식 감축 모형의 유기적 결합을 통한 감축 </a:t>
              </a:r>
              <a:r>
                <a:rPr lang="ko-KR" altLang="en-US" sz="1400" spc="-100" dirty="0" err="1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잠재량</a:t>
              </a: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 분석 시스템 개발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5625" y="5514568"/>
              <a:ext cx="6245351" cy="5236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1">
                <a:defRPr/>
              </a:pP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개별 모형의 자료 부족을 해소할 수 있고 상</a:t>
              </a:r>
              <a:r>
                <a:rPr lang="en-US" altLang="ko-KR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·</a:t>
              </a: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하향식 모형 통합에 필요한 정보를 총 망라하는  </a:t>
              </a:r>
              <a:r>
                <a:rPr lang="ko-KR" altLang="en-US" sz="1400" spc="-100" dirty="0" smtClean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구조화된 </a:t>
              </a:r>
              <a:r>
                <a:rPr lang="en-US" altLang="ko-KR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DB </a:t>
              </a:r>
              <a:r>
                <a:rPr lang="ko-KR" altLang="en-US" sz="1400" spc="-100" dirty="0">
                  <a:solidFill>
                    <a:schemeClr val="accent2"/>
                  </a:solidFill>
                  <a:latin typeface="나눔고딕" pitchFamily="50" charset="-127"/>
                  <a:ea typeface="나눔고딕" pitchFamily="50" charset="-127"/>
                </a:rPr>
                <a:t>구축</a:t>
              </a:r>
            </a:p>
          </p:txBody>
        </p:sp>
        <p:sp>
          <p:nvSpPr>
            <p:cNvPr id="19" name="순서도: 연결자 18"/>
            <p:cNvSpPr/>
            <p:nvPr/>
          </p:nvSpPr>
          <p:spPr bwMode="auto">
            <a:xfrm>
              <a:off x="1162051" y="5114927"/>
              <a:ext cx="400050" cy="371474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400" b="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나눔고딕" pitchFamily="50" charset="-127"/>
                  <a:ea typeface="나눔고딕" pitchFamily="50" charset="-127"/>
                </a:rPr>
                <a:t>2</a:t>
              </a:r>
              <a:endParaRPr lang="ko-KR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0" name="순서도: 연결자 19"/>
            <p:cNvSpPr/>
            <p:nvPr/>
          </p:nvSpPr>
          <p:spPr bwMode="auto">
            <a:xfrm>
              <a:off x="1171576" y="5581652"/>
              <a:ext cx="400050" cy="371474"/>
            </a:xfrm>
            <a:prstGeom prst="flowChart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400" b="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나눔고딕" pitchFamily="50" charset="-127"/>
                  <a:ea typeface="나눔고딕" pitchFamily="50" charset="-127"/>
                </a:rPr>
                <a:t>3</a:t>
              </a:r>
              <a:endParaRPr lang="ko-KR" altLang="en-US" sz="14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32778" name="직사각형 23"/>
          <p:cNvSpPr>
            <a:spLocks noChangeArrowheads="1"/>
          </p:cNvSpPr>
          <p:nvPr/>
        </p:nvSpPr>
        <p:spPr bwMode="auto">
          <a:xfrm>
            <a:off x="1362075" y="4448175"/>
            <a:ext cx="7143750" cy="1543050"/>
          </a:xfrm>
          <a:prstGeom prst="rect">
            <a:avLst/>
          </a:prstGeom>
          <a:noFill/>
          <a:ln w="15240" algn="ctr">
            <a:solidFill>
              <a:schemeClr val="accent2"/>
            </a:solidFill>
            <a:prstDash val="sysDash"/>
            <a:round/>
            <a:headEnd/>
            <a:tailEnd/>
          </a:ln>
        </p:spPr>
        <p:txBody>
          <a:bodyPr/>
          <a:lstStyle/>
          <a:p>
            <a:pPr algn="r" latinLnBrk="0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 bwMode="auto">
          <a:xfrm>
            <a:off x="981075" y="4439964"/>
            <a:ext cx="447675" cy="156078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나눔고딕" pitchFamily="50" charset="-127"/>
                <a:ea typeface="나눔고딕" pitchFamily="50" charset="-127"/>
              </a:rPr>
              <a:t>해결방안</a:t>
            </a:r>
            <a:endParaRPr lang="ko-KR" altLang="en-US" sz="140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1-(4)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기대효과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중장기 온실가스 감축목표 수립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감축정책 설계 및 </a:t>
            </a:r>
            <a:r>
              <a:rPr lang="ko-KR" altLang="en-US" sz="14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범지구적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온실가스 협상 진전에 기여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거래제의 할당 및 경매 수입 활용방안 등에 대한 정교한 분석을 통해 경제성장과 온실가스 감축은 물론 고용 창출을 유발하는 최적의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거래제가 설계될 수 있도록 과학적 연구결과를 제공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중장기 감축목표의 합리적 설계를 통해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Post-2020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 온실가스 감축의무 협상의 성공적 타결에 기여하고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 탄소시장 등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범지구적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저탄소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경제발전을 위한 이론적 기초와 분석적 연구결과 생산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온실가스 감축정책 분석모형 분야의 국제적 연구를 선도하며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궁극적으로 국제적 수준의 통합영향평가 모형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(Integrated Assessment Model: IAM)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개발에 기여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국제적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수준의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통합 모형을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구축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운용함으로써 감축모형 연구의 글로벌 허브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감축모형 국제공동연구 주도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한국형 모형의 개도국 보급 등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역할 도모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감축분석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통합모형을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기후변화 영향평가 및 적응정책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분석모형과 연계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통합하여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한국형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IAM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개발을 촉진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ko-KR" altLang="en-US" sz="8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모형 결합 및 기술변화 예측 기능을 포함하는 한국형 통합 온실가스 감축 시스템 구축을 통해 감축 </a:t>
            </a:r>
            <a:r>
              <a:rPr lang="ko-KR" altLang="en-US" sz="14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잠재량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예측 및 정책 평가 수준 제고 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기술현황 및 기술진보의 기대성과를 반영한 정교한 감축잠재력 예측 가능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현실 데이터에 기반한 모형의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모수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추정치가 제공되어 감축잠재력 예측 기능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강화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9735C8-0310-43D4-B4CE-123CBB717EB4}" type="slidenum">
              <a:rPr lang="ko-KR" altLang="en-US"/>
              <a:pPr>
                <a:defRPr/>
              </a:pPr>
              <a:t>23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>
          <a:xfrm>
            <a:off x="1828800" y="2085975"/>
            <a:ext cx="7315200" cy="1012825"/>
          </a:xfrm>
        </p:spPr>
        <p:txBody>
          <a:bodyPr/>
          <a:lstStyle/>
          <a:p>
            <a:r>
              <a:rPr lang="en-US" altLang="ko-KR" sz="3200" smtClean="0">
                <a:latin typeface="나눔고딕 ExtraBold" pitchFamily="50" charset="-127"/>
                <a:ea typeface="나눔고딕 ExtraBold" pitchFamily="50" charset="-127"/>
              </a:rPr>
              <a:t>2. </a:t>
            </a:r>
            <a:r>
              <a:rPr lang="ko-KR" altLang="en-US" sz="3200" smtClean="0">
                <a:latin typeface="나눔고딕 ExtraBold" pitchFamily="50" charset="-127"/>
                <a:ea typeface="나눔고딕 ExtraBold" pitchFamily="50" charset="-127"/>
              </a:rPr>
              <a:t>연구 수행방법 및 추진전략</a:t>
            </a:r>
          </a:p>
        </p:txBody>
      </p:sp>
      <p:sp>
        <p:nvSpPr>
          <p:cNvPr id="34819" name="TextBox 3"/>
          <p:cNvSpPr txBox="1">
            <a:spLocks noChangeArrowheads="1"/>
          </p:cNvSpPr>
          <p:nvPr/>
        </p:nvSpPr>
        <p:spPr bwMode="auto">
          <a:xfrm>
            <a:off x="4431793" y="3352800"/>
            <a:ext cx="447725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세부 추진전략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관련기술 </a:t>
            </a:r>
            <a:r>
              <a:rPr lang="ko-KR" altLang="en-US" sz="20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확보방안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연도별 연구개발의 목표 및 내용</a:t>
            </a:r>
            <a:endParaRPr lang="en-US" altLang="ko-KR" sz="200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소요예산 및 연구인력</a:t>
            </a:r>
            <a:endParaRPr lang="en-US" altLang="ko-KR" sz="20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F8AF9D-B41F-48E4-8BFD-754DD354A2AE}" type="slidenum">
              <a:rPr lang="ko-KR" altLang="en-US"/>
              <a:pPr>
                <a:defRPr/>
              </a:pPr>
              <a:t>24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2-(1)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세부 추진전략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최종 연구목적인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‘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한국형 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온실가스 통합 감축 시스템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’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구축을 위하여 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①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dirty="0" err="1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로드맵</a:t>
            </a: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작성 및 모듈 구축</a:t>
            </a: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② </a:t>
            </a:r>
            <a:r>
              <a:rPr lang="ko-KR" altLang="en-US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한국형 온실가스 통합감축 시스템 구축</a:t>
            </a: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③ </a:t>
            </a:r>
            <a:r>
              <a:rPr lang="ko-KR" altLang="en-US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통합감축 시스템 검증 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단계로 구성 </a:t>
            </a:r>
            <a:endParaRPr lang="en-US" altLang="ko-KR" sz="11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F9BB45-917A-488C-B2D7-7F423BDF5687}" type="slidenum">
              <a:rPr lang="ko-KR" altLang="en-US"/>
              <a:pPr>
                <a:defRPr/>
              </a:pPr>
              <a:t>25</a:t>
            </a:fld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1035939" y="2686050"/>
            <a:ext cx="2066925" cy="1333500"/>
          </a:xfrm>
          <a:prstGeom prst="roundRect">
            <a:avLst/>
          </a:prstGeom>
          <a:noFill/>
          <a:ln w="19050" cap="flat" cmpd="sng" algn="ctr">
            <a:solidFill>
              <a:srgbClr val="FF99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36000" rIns="36000" anchor="ctr"/>
          <a:lstStyle/>
          <a:p>
            <a:pPr algn="ctr" latinLnBrk="0">
              <a:defRPr/>
            </a:pPr>
            <a:r>
              <a:rPr lang="en-US" altLang="ko-KR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[1</a:t>
            </a:r>
            <a:r>
              <a:rPr lang="ko-KR" altLang="en-US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단계</a:t>
            </a:r>
            <a:r>
              <a:rPr lang="en-US" altLang="ko-KR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050" u="sng" dirty="0" err="1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로드맵</a:t>
            </a:r>
            <a:r>
              <a:rPr lang="ko-KR" altLang="en-US" sz="1050" u="sng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 작성 및 모듈 구축</a:t>
            </a:r>
            <a:r>
              <a:rPr lang="en-US" altLang="ko-KR" sz="1050" u="sng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endParaRPr lang="en-US" altLang="ko-KR" sz="1050" u="sng" dirty="0">
              <a:solidFill>
                <a:srgbClr val="FF6600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 latinLnBrk="0">
              <a:defRPr/>
            </a:pP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선행연구 및 기존모형을 점검하여 통합모형을 설계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1035939" y="4124325"/>
            <a:ext cx="2066925" cy="904875"/>
          </a:xfrm>
          <a:prstGeom prst="roundRect">
            <a:avLst/>
          </a:prstGeom>
          <a:noFill/>
          <a:ln w="19050" cap="flat" cmpd="sng" algn="ctr">
            <a:solidFill>
              <a:srgbClr val="FF99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36000" rIns="36000" anchor="ctr"/>
          <a:lstStyle/>
          <a:p>
            <a:pPr algn="ctr" latinLnBrk="0">
              <a:defRPr/>
            </a:pPr>
            <a:r>
              <a:rPr lang="en-US" altLang="ko-KR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[2</a:t>
            </a:r>
            <a:r>
              <a:rPr lang="ko-KR" altLang="en-US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단계</a:t>
            </a:r>
            <a:r>
              <a:rPr lang="en-US" altLang="ko-KR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050" u="sng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한국형 온실가스 통합감축 시스템 구축</a:t>
            </a:r>
            <a:r>
              <a:rPr lang="en-US" altLang="ko-KR" sz="1050" u="sng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endParaRPr lang="en-US" altLang="ko-KR" sz="1050" u="sng" dirty="0">
              <a:solidFill>
                <a:srgbClr val="FF6600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 latinLnBrk="0">
              <a:defRPr/>
            </a:pP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통합모형의 구성요소를 </a:t>
            </a:r>
            <a:r>
              <a:rPr lang="ko-KR" altLang="en-US" sz="1050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구축</a:t>
            </a:r>
            <a:endParaRPr lang="ko-KR" altLang="en-US" sz="1050" dirty="0">
              <a:solidFill>
                <a:srgbClr val="FF66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1035939" y="5133975"/>
            <a:ext cx="2066925" cy="904875"/>
          </a:xfrm>
          <a:prstGeom prst="roundRect">
            <a:avLst/>
          </a:prstGeom>
          <a:noFill/>
          <a:ln w="19050" cap="flat" cmpd="sng" algn="ctr">
            <a:solidFill>
              <a:srgbClr val="FF99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36000" rIns="36000" anchor="ctr"/>
          <a:lstStyle/>
          <a:p>
            <a:pPr algn="ctr" latinLnBrk="0">
              <a:defRPr/>
            </a:pPr>
            <a:r>
              <a:rPr lang="en-US" altLang="ko-KR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[3</a:t>
            </a:r>
            <a:r>
              <a:rPr lang="ko-KR" altLang="en-US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단계</a:t>
            </a:r>
            <a:r>
              <a:rPr lang="en-US" altLang="ko-KR" sz="1050" u="sng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050" u="sng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통합감축 시스템 검증</a:t>
            </a:r>
            <a:r>
              <a:rPr lang="en-US" altLang="ko-KR" sz="1050" u="sng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]</a:t>
            </a:r>
            <a:r>
              <a:rPr lang="en-US" altLang="ko-KR" sz="1050" dirty="0" smtClean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1050" dirty="0">
              <a:solidFill>
                <a:srgbClr val="FF6600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 latinLnBrk="0">
              <a:defRPr/>
            </a:pP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모형을 완성하고 기존 모형과 비교분석을 통한 신뢰성 점검 및 정책수행을 통한 활용도 점검</a:t>
            </a:r>
          </a:p>
        </p:txBody>
      </p:sp>
      <p:sp>
        <p:nvSpPr>
          <p:cNvPr id="35848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5849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247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2472" name="_x213744864" descr="EMB000011885613"/>
          <p:cNvPicPr>
            <a:picLocks noChangeAspect="1" noChangeArrowheads="1"/>
          </p:cNvPicPr>
          <p:nvPr/>
        </p:nvPicPr>
        <p:blipFill>
          <a:blip r:embed="rId3" cstate="print"/>
          <a:srcRect r="-95" b="8669"/>
          <a:stretch>
            <a:fillRect/>
          </a:stretch>
        </p:blipFill>
        <p:spPr bwMode="auto">
          <a:xfrm>
            <a:off x="3352800" y="2365247"/>
            <a:ext cx="5407060" cy="37830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2-(2)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관련기술 확보방안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/>
        </p:nvSpPr>
        <p:spPr bwMode="auto">
          <a:xfrm>
            <a:off x="672687" y="152418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평가연구원은 온실가스 감축 모형 개발에 있어 가장 선두에 있는 기관 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평가연구원은 기후변화 대응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특히 온실가스 감축정책 개발을 위한 기반 구축 및 각종 정책 연구 수행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076325" lvl="1" indent="-371475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연구단장 및 총괄과제책임자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 선임연구위원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는 과거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 이상 온실가스 감축정책 분야 연구책임자로 다수의 과제를 수행하여 연구경험 및 전문성 축적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076325" lvl="1" indent="-371475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총괄과제 참여연구진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강성원 연구위원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지난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년간 한국형 하향식 모형 및 통합환경모형 개발 연구 수행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076325" lvl="1" indent="-371475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endParaRPr lang="en-US" altLang="ko-KR" sz="8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상향식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온실가스 감축모형 및 감축기술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DB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 경험이 풍부한 전문가들이 연구진에 직접 참여 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총괄과제 참여연구진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경북대학교 정기호 교수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서울대학교 권오상 교수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하향식 모형 및 계량경제학 부문 연구 경험이 풍부하여 현실 정합성 제고 공헌 기대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MESSAGE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기반 상향식 모듈 세부과제 연구진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과제책임자 경성대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김후곤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교수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상향식 모형의 구동원리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부문별 구성 및 부문별 연계방식에 대한 다년간의 연구실적 보유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기술 변화 행태 분석 기반 상향식 모듈 세부과제 연구진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과제책임자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KAIST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엄지용 교수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은 상향식 모형의 개발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기술변화에 따른 온실가스 시나리오 분석에 대한 다년간의 연구실적을 보유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MESSAGE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를 소유한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IIASA, GCAM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을 소유한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PNNL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과 공식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비공식 네트워크를 통해 모형 구축의 경험 및 관련 정보 습득 가능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  <a:defRPr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외부 전문가 초빙 세미나를 정기적으로 수행하고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대규모 설문조사를 실시하여 공공 통계의 미비점 보완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1029C5-6431-4677-A5F6-8767ACF64D25}" type="slidenum">
              <a:rPr lang="ko-KR" altLang="en-US"/>
              <a:pPr>
                <a:defRPr/>
              </a:pPr>
              <a:t>26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/>
        </p:nvSpPr>
        <p:spPr bwMode="auto">
          <a:xfrm>
            <a:off x="773113" y="13144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연도별 연구개발의 목표 및 내용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82636-1D0A-4683-92CE-9DCF8BF46AEA}" type="slidenum">
              <a:rPr lang="ko-KR" altLang="en-US"/>
              <a:pPr>
                <a:defRPr/>
              </a:pPr>
              <a:t>27</a:t>
            </a:fld>
            <a:endParaRPr lang="ko-KR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01440" y="676275"/>
            <a:ext cx="5242560" cy="58102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2-(3) </a:t>
            </a:r>
            <a:r>
              <a:rPr kumimoji="0" lang="ko-KR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연도별 연구개발의 목표 및 내용</a:t>
            </a:r>
            <a:endParaRPr kumimoji="0" lang="en-US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j-cs"/>
            </a:endParaRPr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75634551"/>
              </p:ext>
            </p:extLst>
          </p:nvPr>
        </p:nvGraphicFramePr>
        <p:xfrm>
          <a:off x="866395" y="1798320"/>
          <a:ext cx="7966710" cy="4163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3"/>
                <a:gridCol w="780288"/>
                <a:gridCol w="2462784"/>
                <a:gridCol w="4200145"/>
              </a:tblGrid>
              <a:tr h="413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목표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내용 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</a:tr>
              <a:tr h="405092">
                <a:tc rowSpan="9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차년도</a:t>
                      </a:r>
                      <a:endParaRPr lang="en-US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모형통합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온실가스 통합감축시스템 설계 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상하향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모듈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간 연계방식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설계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전망모형 사례 분석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전망 방식 및 전망 관련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수집 방안 검토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모형 개념설계 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표준 하향식 모형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개발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추정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모수 계량경제학적 추정 선행연구 분석 및 추정방식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점검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추정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생산요소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노동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자본 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간 및 에너지원간 탄력성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취합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운용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고도화 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 부문  에너지 환경 경제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구축 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산업연관표와 에너지 센서스 자료 연계방안 도출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유형 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이론 정립 및 미래 예측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실증연구 및 이론 정립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농업부문 기술 확산 행태분석 및 미래 양상 예측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비용곡선 추정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평가 모듈 이론 연구 및 설계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변화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확산 개념을 구현한 한국형 상향식 모듈 개념 제안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구축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 부문 상향식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 베타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구축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전력부문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load region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을 고려한 수리 모형화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50983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 부문 분석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전력부문  기존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모형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국내 전력부문 수요 및 공급기술 환경 분석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전력부문 고유 특성 분석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40509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시스템 설계 및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프로토타입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방법론 개발 및 기능 테스트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/>
        </p:nvSpPr>
        <p:spPr bwMode="auto">
          <a:xfrm>
            <a:off x="773113" y="13144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연도별 연구개발의 목표 및 내용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82636-1D0A-4683-92CE-9DCF8BF46AEA}" type="slidenum">
              <a:rPr lang="ko-KR" altLang="en-US"/>
              <a:pPr>
                <a:defRPr/>
              </a:pPr>
              <a:t>28</a:t>
            </a:fld>
            <a:endParaRPr lang="ko-KR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01440" y="676275"/>
            <a:ext cx="5242560" cy="58102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2-(3) </a:t>
            </a:r>
            <a:r>
              <a:rPr kumimoji="0" lang="ko-KR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연도별 연구개발의 목표 및 내용</a:t>
            </a:r>
            <a:endParaRPr kumimoji="0" lang="en-US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j-cs"/>
            </a:endParaRPr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75634551"/>
              </p:ext>
            </p:extLst>
          </p:nvPr>
        </p:nvGraphicFramePr>
        <p:xfrm>
          <a:off x="866395" y="1798320"/>
          <a:ext cx="7966710" cy="42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3"/>
                <a:gridCol w="780288"/>
                <a:gridCol w="2462784"/>
                <a:gridCol w="4200145"/>
              </a:tblGrid>
              <a:tr h="39311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목표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내용 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</a:tr>
              <a:tr h="385589">
                <a:tc rowSpan="9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차년도</a:t>
                      </a:r>
                      <a:endParaRPr lang="en-US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모형통합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온실가스 통합감축 시스템 연계 모듈 구축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 및 농업 부문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상하향식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모듈 연계 시범 분석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385589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구축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전환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신재생에너지포함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공정포함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)/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농업부문 세밀화 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</a:tr>
              <a:tr h="385589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추정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추정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생산요소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노동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자본 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간 및 에너지원 간 탄력성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계속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7086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취합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운용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고도화 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농업부문 에너지 환경 경제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보완 및 확장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에너지 환경 경제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구축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527677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유형 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이론 정립 및 미래 예측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농업부문 주요 미래 감축기술 조사 보완 및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update</a:t>
                      </a:r>
                      <a:endParaRPr lang="ko-KR" altLang="en-US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기술 확산 행태분석 및 미래 양상 예측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비용곡선 추정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주요 미래 감축기술 조사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85589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평가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모듈 이론 연구 및 설계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확산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개념을 구현한 한국형 상향식 모듈 세부 설계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7086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개발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농업부문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완성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beta version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5639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전환 부문 분석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전력부문 분석 완료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국내외 정유부문 기존 상향식 연구 분석</a:t>
                      </a:r>
                    </a:p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국내 정유부문 수요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공급기술 환경분석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22757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9525" marR="9525" marT="9525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베타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/>
        </p:nvSpPr>
        <p:spPr bwMode="auto">
          <a:xfrm>
            <a:off x="773113" y="13144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연도별 연구개발의 목표 및 내용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82636-1D0A-4683-92CE-9DCF8BF46AEA}" type="slidenum">
              <a:rPr lang="ko-KR" altLang="en-US"/>
              <a:pPr>
                <a:defRPr/>
              </a:pPr>
              <a:t>29</a:t>
            </a:fld>
            <a:endParaRPr lang="ko-KR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01440" y="676275"/>
            <a:ext cx="5242560" cy="58102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2-(3) </a:t>
            </a:r>
            <a:r>
              <a:rPr kumimoji="0" lang="ko-KR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연도별 연구개발의 목표 및 내용</a:t>
            </a:r>
            <a:endParaRPr kumimoji="0" lang="en-US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j-cs"/>
            </a:endParaRPr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75634551"/>
              </p:ext>
            </p:extLst>
          </p:nvPr>
        </p:nvGraphicFramePr>
        <p:xfrm>
          <a:off x="866395" y="1798321"/>
          <a:ext cx="7966710" cy="4285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3"/>
                <a:gridCol w="780288"/>
                <a:gridCol w="2462784"/>
                <a:gridCol w="4200145"/>
              </a:tblGrid>
              <a:tr h="34051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목표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내용 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</a:tr>
              <a:tr h="669852">
                <a:tc rowSpan="9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차년도</a:t>
                      </a:r>
                      <a:endParaRPr lang="en-US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모형통합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온실가스 통합감축 시스템 베타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전력 및 농업 부문 상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연계 보완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 부문 상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연계 시범 분석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 하향식 모듈을 사용한 전망기능 제고방안 수립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부문별 상향식 모형과 하향식 모형의 다중 연계 방법론 개발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3399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조정 및 심화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수송부문 모형화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3399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모수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추정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추정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아밍턴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탄력성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수출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내수 대체탄력성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수요탄력성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0785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취합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운용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고도화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에너지 환경 경제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보완 및 확장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산업공정부문 에너지 환경 경제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베타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66985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확산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유형 분석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이론 정립 및 미래 예측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수요 부문별 용도별 원단위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활동도 추세 분석 및 예측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  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주요 미래 감축기술 조사 보완 및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update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산업공정부문 기술 확산 행태분석 및 미래 양상 예측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비용곡선 추정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산업공정부문 주요 미래 감축기술 조사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5351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통합 평가 모형 설계 및 기술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영향 분석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개발된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평가 모형을 활용해 기술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유형이 감축에 미치는 영향 분석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0785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 상향식 모듈 완성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산업공정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 상향식 모듈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beta version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884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상용 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279569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통합모형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Software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통합모형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프로토타입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/>
        </p:nvSpPr>
        <p:spPr bwMode="auto">
          <a:xfrm>
            <a:off x="773113" y="13144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연도별 연구개발의 목표 및 내용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82636-1D0A-4683-92CE-9DCF8BF46AEA}" type="slidenum">
              <a:rPr lang="ko-KR" altLang="en-US"/>
              <a:pPr>
                <a:defRPr/>
              </a:pPr>
              <a:t>30</a:t>
            </a:fld>
            <a:endParaRPr lang="ko-KR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01440" y="676275"/>
            <a:ext cx="5242560" cy="58102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2-(3) </a:t>
            </a:r>
            <a:r>
              <a:rPr kumimoji="0" lang="ko-KR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연도별 연구개발의 목표 및 내용</a:t>
            </a:r>
            <a:endParaRPr kumimoji="0" lang="en-US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j-cs"/>
            </a:endParaRPr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75634551"/>
              </p:ext>
            </p:extLst>
          </p:nvPr>
        </p:nvGraphicFramePr>
        <p:xfrm>
          <a:off x="866395" y="1798321"/>
          <a:ext cx="7966710" cy="4292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3"/>
                <a:gridCol w="780288"/>
                <a:gridCol w="2462784"/>
                <a:gridCol w="4200145"/>
              </a:tblGrid>
              <a:tr h="34051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목표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내용 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</a:tr>
              <a:tr h="669852">
                <a:tc rowSpan="9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차년도</a:t>
                      </a:r>
                      <a:endParaRPr lang="en-US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모형통합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온실가스 통합감축 시스템 구축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2954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수송부문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연계 보완</a:t>
                      </a:r>
                    </a:p>
                    <a:p>
                      <a:pPr marL="0" marR="0" indent="-12954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 및 산업부문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연계 시범 분석</a:t>
                      </a:r>
                    </a:p>
                    <a:p>
                      <a:pPr marL="0" marR="0" indent="-12954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부문별 상향식 모형과 하향식 모형의 다중 연계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알고리듬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3399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조정 및 심화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Global/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Global Version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베타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건물부문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 세밀화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3399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모수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추정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탄력성 추정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아밍턴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탄력성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수출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내수 대체탄력성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수요탄력성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계속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0785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취합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운용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고도화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산업공정부문 에너지환경경제 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완성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토지이용부문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에너지환경경제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베타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66985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 기술의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유형 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이론 정립 및 미래 예측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수요 부문별 용도별 원단위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활동도 추세 분석 및 예측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농업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산업공정부문 주요 미래 감축기술 조사 보완 및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update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토지이용부문 기술 확산 행태분석 및 미래 양상 예측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비용곡선 추정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토지이용부문 주요 미래 감축기술 조사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5351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통합 평가 모형 설계 및 기술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영향 분석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개발된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평가 모형을 활용해 기술 확산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변화 유형이 감축에 미치는 영향 분석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0785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구축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산업부문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완성</a:t>
                      </a:r>
                    </a:p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 부문 상향식 모듈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beta version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884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상용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version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배포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279569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통합모형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Software 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및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UI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완성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GUI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를 포함한 통합모형과의 연동모듈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/>
        </p:nvSpPr>
        <p:spPr bwMode="auto">
          <a:xfrm>
            <a:off x="773113" y="13144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연도별 연구개발의 목표 및 내용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782636-1D0A-4683-92CE-9DCF8BF46AEA}" type="slidenum">
              <a:rPr lang="ko-KR" altLang="en-US"/>
              <a:pPr>
                <a:defRPr/>
              </a:pPr>
              <a:t>31</a:t>
            </a:fld>
            <a:endParaRPr lang="ko-KR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01440" y="676275"/>
            <a:ext cx="5242560" cy="581025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2-(3) </a:t>
            </a:r>
            <a:r>
              <a:rPr kumimoji="0" lang="ko-KR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 ExtraBold" pitchFamily="50" charset="-127"/>
                <a:ea typeface="나눔고딕 ExtraBold" pitchFamily="50" charset="-127"/>
                <a:cs typeface="+mj-cs"/>
              </a:rPr>
              <a:t>연도별 연구개발의 목표 및 내용</a:t>
            </a:r>
            <a:endParaRPr kumimoji="0" lang="en-US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 ExtraBold" pitchFamily="50" charset="-127"/>
              <a:ea typeface="나눔고딕 ExtraBold" pitchFamily="50" charset="-127"/>
              <a:cs typeface="+mj-cs"/>
            </a:endParaRPr>
          </a:p>
        </p:txBody>
      </p:sp>
      <p:graphicFrame>
        <p:nvGraphicFramePr>
          <p:cNvPr id="8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75634551"/>
              </p:ext>
            </p:extLst>
          </p:nvPr>
        </p:nvGraphicFramePr>
        <p:xfrm>
          <a:off x="866395" y="1798319"/>
          <a:ext cx="7966710" cy="2663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3"/>
                <a:gridCol w="780288"/>
                <a:gridCol w="2462784"/>
                <a:gridCol w="4200145"/>
              </a:tblGrid>
              <a:tr h="24425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목표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연구개발의 내용 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5000"/>
                      </a:schemeClr>
                    </a:solidFill>
                  </a:tcPr>
                </a:tc>
              </a:tr>
              <a:tr h="498466">
                <a:tc rowSpan="7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차년도</a:t>
                      </a:r>
                      <a:endParaRPr lang="en-US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모형통합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온실가스 통합감축 시스템 검증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건물 및 산업부문 상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연계 보완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 부문 상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연계 시범분석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부문별 상향식 모형과 하향식 모형의 다중 연계 </a:t>
                      </a:r>
                      <a:r>
                        <a:rPr lang="ko-KR" altLang="en-US" sz="1000" b="1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알고리듬의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안정성 검증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4438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모듈 조정 및 심화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세밀화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글로벌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 완성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4438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취합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운용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고도화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토지이용부문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에너지환경경제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보완 및 확장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 부문 에너지환경경제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의 운용 및 고도화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49894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통합 모형 평가 및 활용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개발된 상하향 통합모형의 정책평가 기능 제고방안 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19885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상향식모듈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모듈 구축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토지이용 부문 상향식 모듈 완성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34438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배포 및 현장 교육활용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부문별 상향식 통합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시험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 구축 완료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  <a:tr h="190295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통합모형 소프트웨어 검증 및 수정</a:t>
                      </a: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 모형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배포</a:t>
                      </a:r>
                      <a:endParaRPr lang="en-US" altLang="ko-KR" sz="1000" b="1" kern="12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75634551"/>
              </p:ext>
            </p:extLst>
          </p:nvPr>
        </p:nvGraphicFramePr>
        <p:xfrm>
          <a:off x="866395" y="4492751"/>
          <a:ext cx="7966710" cy="1553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3"/>
                <a:gridCol w="780288"/>
                <a:gridCol w="2462784"/>
                <a:gridCol w="4200145"/>
              </a:tblGrid>
              <a:tr h="501301">
                <a:tc rowSpan="5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차년도</a:t>
                      </a:r>
                      <a:endParaRPr lang="en-US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모형통합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온실가스 통합감축 시스템 검증 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활용도점검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감축잠재량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추정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배출권 할당 등 정책 고안에 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반영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21867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취합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분석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운용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고도화 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 부문 에너지환경경제 </a:t>
                      </a:r>
                      <a:r>
                        <a:rPr lang="en-US" altLang="ko-KR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의 운용 및 고도화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  <a:tr h="29675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통합 모형 평가 및 활용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개발된 보형의 신뢰성 평가 및 각종 정책 분석에 활용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  <a:tr h="21867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상향식모듈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 모형 상용 시스템 배포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신뢰성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활용도 검증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교육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  <a:tr h="31801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통합모형 소프트웨어 검증 및 수정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연계구조를 감안한 통합모형의 연동모듈 수정 및 검증 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2-(4)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소요예산 및 연구인력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소요예산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본 과제는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7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년 간 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107.1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억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원이 소요될 전망이며 전액 정부출연금으로 충당 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연도별로 연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14.6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억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~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15.5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억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과제별로는 총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2.25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억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~70.4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억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원 소요 전망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연구인력</a:t>
            </a:r>
            <a:r>
              <a:rPr lang="en-US" altLang="ko-KR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r>
              <a:rPr lang="ko-KR" altLang="en-US" sz="14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박사급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연구인력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26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명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학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석사급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연구인력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35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명 참여 예정 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(2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차년도 계획 기준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14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8550B6-1E5E-4C73-BAFC-0079763D2B02}" type="slidenum">
              <a:rPr lang="ko-KR" altLang="en-US"/>
              <a:pPr>
                <a:defRPr/>
              </a:pPr>
              <a:t>32</a:t>
            </a:fld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942975" y="2311407"/>
          <a:ext cx="7620001" cy="170262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17871"/>
                <a:gridCol w="3088252"/>
                <a:gridCol w="517871"/>
                <a:gridCol w="475139"/>
                <a:gridCol w="475139"/>
                <a:gridCol w="475139"/>
                <a:gridCol w="475139"/>
                <a:gridCol w="475139"/>
                <a:gridCol w="560156"/>
                <a:gridCol w="560156"/>
              </a:tblGrid>
              <a:tr h="15020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구분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과제명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예산배분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억 원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0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년 차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계</a:t>
                      </a:r>
                    </a:p>
                  </a:txBody>
                  <a:tcPr marL="60961" marR="60961" marT="16854" marB="16854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502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총괄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한국형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상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하향식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온실가스 통합 감축 시스템 개발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7.40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70.40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06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세부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감축기술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DB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구축 및 기술확산을 반영한 한국형 상향식 모형 구조 설계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2.70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2.25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17.45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</a:tr>
              <a:tr h="2806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세부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MESSAGE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모형 고도화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부문별 특성 분석 및 한국형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상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하향식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통합모형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SW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시스템 개발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2.25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2.25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2.50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17.00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</a:tr>
              <a:tr h="1502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세부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GCAM-KOREA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및 한국형 상향식 모형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SW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시스템 개발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2.25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-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2.25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</a:tr>
              <a:tr h="22022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합   계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14.60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15.00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15.50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15.50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15.50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15.50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15.50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107.10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0961" marR="60961" marT="16854" marB="16854" anchor="ctr"/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923925" y="4630858"/>
          <a:ext cx="7658103" cy="116959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600075"/>
                <a:gridCol w="4943475"/>
                <a:gridCol w="704851"/>
                <a:gridCol w="704851"/>
                <a:gridCol w="704851"/>
              </a:tblGrid>
              <a:tr h="12067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</a:t>
                      </a:r>
                    </a:p>
                  </a:txBody>
                  <a:tcPr marL="63138" marR="63138" marT="17456" marB="17456" anchor="ctr"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과제명</a:t>
                      </a:r>
                    </a:p>
                  </a:txBody>
                  <a:tcPr marL="63138" marR="63138" marT="17456" marB="17456" anchor="ctr"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인력소요</a:t>
                      </a: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명</a:t>
                      </a: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8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박사급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여타인력</a:t>
                      </a:r>
                    </a:p>
                  </a:txBody>
                  <a:tcPr marL="63138" marR="63138" marT="17456" marB="17456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계</a:t>
                      </a:r>
                    </a:p>
                  </a:txBody>
                  <a:tcPr marL="63138" marR="63138" marT="17456" marB="17456" anchor="ctr"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268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총괄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한국형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상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하향식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온실가스 통합 감축 시스템 개발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13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28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1268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세부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감축기술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DB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구축 및 기술확산을 반영한 한국형 상향식 모형 구조 설계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12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15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</a:tr>
              <a:tr h="1926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세부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MESSAGE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모형 고도화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부문별 특성 분석 및 한국형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상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하향식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통합모형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SW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시스템 개발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8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18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</a:tr>
              <a:tr h="126874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latin typeface="나눔고딕" pitchFamily="50" charset="-127"/>
                          <a:ea typeface="나눔고딕" pitchFamily="50" charset="-127"/>
                        </a:rPr>
                        <a:t>합   계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26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35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61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63138" marR="63138" marT="17456" marB="17456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/>
          <p:cNvSpPr>
            <a:spLocks noGrp="1"/>
          </p:cNvSpPr>
          <p:nvPr>
            <p:ph type="title"/>
          </p:nvPr>
        </p:nvSpPr>
        <p:spPr>
          <a:xfrm>
            <a:off x="1828800" y="2085975"/>
            <a:ext cx="7315200" cy="1012825"/>
          </a:xfrm>
        </p:spPr>
        <p:txBody>
          <a:bodyPr/>
          <a:lstStyle/>
          <a:p>
            <a:r>
              <a:rPr lang="en-US" altLang="ko-KR" sz="3200" smtClean="0">
                <a:latin typeface="나눔고딕 ExtraBold" pitchFamily="50" charset="-127"/>
                <a:ea typeface="나눔고딕 ExtraBold" pitchFamily="50" charset="-127"/>
              </a:rPr>
              <a:t>3. </a:t>
            </a:r>
            <a:r>
              <a:rPr lang="ko-KR" altLang="en-US" sz="3200" smtClean="0">
                <a:latin typeface="나눔고딕 ExtraBold" pitchFamily="50" charset="-127"/>
                <a:ea typeface="나눔고딕 ExtraBold" pitchFamily="50" charset="-127"/>
              </a:rPr>
              <a:t>연구단장 및 주관기관 역량</a:t>
            </a:r>
          </a:p>
        </p:txBody>
      </p:sp>
      <p:sp>
        <p:nvSpPr>
          <p:cNvPr id="49155" name="TextBox 3"/>
          <p:cNvSpPr txBox="1">
            <a:spLocks noChangeArrowheads="1"/>
          </p:cNvSpPr>
          <p:nvPr/>
        </p:nvSpPr>
        <p:spPr bwMode="auto">
          <a:xfrm>
            <a:off x="4943475" y="3352800"/>
            <a:ext cx="3965575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연구단장 및 주관기관 </a:t>
            </a:r>
            <a:endParaRPr lang="en-US" altLang="ko-KR" sz="20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주요 연구실적</a:t>
            </a:r>
            <a:endParaRPr lang="en-US" altLang="ko-KR" sz="20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비전 및 가치관</a:t>
            </a:r>
            <a:endParaRPr lang="en-US" altLang="ko-KR" sz="20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C6780-2B8C-4D7F-B374-D74CF7B86016}" type="slidenum">
              <a:rPr lang="ko-KR" altLang="en-US"/>
              <a:pPr>
                <a:defRPr/>
              </a:pPr>
              <a:t>33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3-(1)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연구단장 및 주관기관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연구단장</a:t>
            </a: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김용건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평가연구원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선임연구위원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1400" b="0" dirty="0" smtClean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 모형 및 정책 관련 연구사업 최근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년간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16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건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약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32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억 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의 연구책임자 수행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환경경제 모형개발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(I, II, III),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주요국의 온실가스 감축 정책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동향 및 시사점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우리나라 기후변화의 경제학적 분석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(I, II),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한중일 탄소시장 연계의 파급효과 분석 등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국가 온실가스 감축목표 설정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거래제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기본계획 수립 과정에서 감축모형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(KEI-Linkages)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을 활용한 파급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/>
            </a:r>
            <a:b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효과  분석 결과를 기초자료로 제공하여 정책 수립에 반영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최근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 간 모델링 관련 국외논문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건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국내논문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건 등 학술연구 활동 수행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환경경제학회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기후변화학회 이사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742950" lvl="1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 세계 주요 모델링 팀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30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여 개가 참여하는 아시아지역 모델링포럼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(Asian Modeling Exercise: AME)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Steering Committee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위원으로 참여하여 국제 공동연구를 주도하는 등 국제 연구협력활동 수행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OECD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환경국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감축모형팀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컨설턴트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(2006~2008),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기후변화 국제협상 정부대표단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(1997~2013)</a:t>
            </a:r>
          </a:p>
          <a:p>
            <a:pPr marL="1200150" lvl="2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미국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스탠포드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대학교에서 운영하고 있는 에너지모델링포럼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(EMF)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 참여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endParaRPr lang="en-US" altLang="ko-KR" sz="8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[</a:t>
            </a:r>
            <a:r>
              <a:rPr lang="ko-KR" altLang="en-US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주관기관</a:t>
            </a:r>
            <a:r>
              <a:rPr lang="en-US" altLang="ko-KR" sz="14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] 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제안기관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평가연구원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은 하향식 및 상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통합 온실가스 감축 모형 개발에 있어 국제적 수준의 연구실적 및 역량을 보유</a:t>
            </a:r>
          </a:p>
          <a:p>
            <a:pPr marL="742950" lvl="1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아시아지역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모델링포럼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(Asian Modeling Exercise: AME)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국제학회를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KEI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주관으로 개최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(2010.9.13~15, 20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여 개 모형연구팀 참여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하는 등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모형관련 국제연구에 적극적인 역할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수행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우리나라 유일 대표모형으로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KEI-Linkages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모형팀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참여 및 국제학술지 특집호에 모형분석결과 게재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4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charset="0"/>
              <a:buChar char="–"/>
              <a:defRPr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 정책 담당 국책 연구기관으로 신뢰성과 안정성을 갖추고 있으며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기후대기연구실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국가기후변화적응센터 등 모델링 관련 지원 조직과 풍부한 인력 및 자원 보유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9E1192-F817-4DFE-922E-B3A442C88D7F}" type="slidenum">
              <a:rPr lang="ko-KR" altLang="en-US"/>
              <a:pPr>
                <a:defRPr/>
              </a:pPr>
              <a:t>34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주요 연구실적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연구단장의 주요 연구과제 수행 현황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2D402-9F42-4A05-AFE4-19F86E8E3BAA}" type="slidenum">
              <a:rPr lang="ko-KR" altLang="en-US"/>
              <a:pPr>
                <a:defRPr/>
              </a:pPr>
              <a:t>35</a:t>
            </a:fld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71525" y="2105025"/>
          <a:ext cx="7915275" cy="3952875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514600"/>
                <a:gridCol w="3819525"/>
                <a:gridCol w="790575"/>
                <a:gridCol w="790575"/>
              </a:tblGrid>
              <a:tr h="415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연구제목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연구개발 내용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연구기간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연구개발비 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지급기관</a:t>
                      </a:r>
                      <a:endParaRPr lang="ko-KR" altLang="en-US" sz="1000" b="1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dk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발전부문 배출권 할당방안 마련을 위한 연구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발전부문 배출권 할당방안 수립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2013.08~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2014.01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환경부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</a:tr>
              <a:tr h="67733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저탄소 사회로의 이행을 위한 소비행태 조사 및 분석 모형 개발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운용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III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국제 에너지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온실가스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DB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구축 및 스마트계량기를 통한 기기별 전력사용량 조사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상향식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전력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수송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및 하향식 온실가스 감축모형을 적용한 온실가스 감축잠재력 분석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2013.01~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2013.12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KEI</a:t>
                      </a: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화석연료</a:t>
                      </a:r>
                      <a:r>
                        <a:rPr lang="ko-KR" altLang="en-US" sz="1000" b="1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사용의 사회적 비용 추정 및 가격 합리화 방안 </a:t>
                      </a:r>
                      <a:r>
                        <a:rPr lang="en-US" altLang="ko-KR" sz="1000" b="1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II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에너지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세제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DB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구축 및 하향식 모형을 적용한 에너지 세제정책 분석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 01~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12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KEI</a:t>
                      </a: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배출권 거래제의 경제적 영향 분석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하향식 모형을 활용한 배출권 거래제 파급효과 분석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배출권 거래제 기본계획에 반영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07~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2013. 09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기획재정부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저탄소 사회로의 이행을 위한 소비행태 조사 및 분석 모형 개발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운용 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II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국제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에너지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이산화탄소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DB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구축 및 하향식 온실가스 감축 모형 분석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2012.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01~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2012. 12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KEI</a:t>
                      </a: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주요국 온실가스 감축정책 동향 및 시사점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주요국 온실가스 감축 정책 동향 분석 및 시사점 도출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2012. 01~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2012. 12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KEI</a:t>
                      </a: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부처별 온실가스 감축목표 관리제 도입방안 마련 연구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온실가스 감축목표 관리체계 설계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2012. 04~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2012.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07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녹색성장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위원회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한중일 탄소시장 연계에 따른 파급효과 분석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하향식 모형을 활용한 국제 탄소시장 파급효과 분석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2011. 01~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2011. 12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KEI</a:t>
                      </a:r>
                    </a:p>
                  </a:txBody>
                  <a:tcPr marL="17907" marR="17907" marT="17907" marB="17907" anchor="ctr"/>
                </a:tc>
              </a:tr>
              <a:tr h="3574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국가 온실가스 </a:t>
                      </a:r>
                      <a:r>
                        <a:rPr lang="ko-KR" altLang="en-US" sz="1000" b="1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감축잠재량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분석연구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하향식 모형을 통해 국가 온실가스 중기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(2020) 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감축목표 설정에 따른 환경경제적 파급효과 분석</a:t>
                      </a:r>
                    </a:p>
                  </a:txBody>
                  <a:tcPr marL="72000" marR="17907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2008.12~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2009.10</a:t>
                      </a:r>
                      <a:endParaRPr lang="en-US" sz="10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국무총리실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주요 연구실적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아시아 모델링 포럼을 통한 국제 공동연구 및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SSCI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학술지 게재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전세계 주요 모델링 팀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여 개가 참여하는 아시아 모델링 포럼에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Steering Committee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위원으로 참여하여 국제 공동연구를 주도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포럼 국제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워크샵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회 중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회를 서울 유치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 측에서는 유일한 팀으로 참여하였으며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 결과를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SSCI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국제학술지 ‘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Energy Economics’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게재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(2012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(KEI-Linkages)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을 개선하여 내생적인 기술진보를 반영한 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R&amp;D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보조금의 환경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경제적 파급효과를 분석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R&amp;D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지원정책이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탄소세와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결합될 경우 온실가스 배출감소와 경제성장을 동시에 달성 가능하다는 결과 제시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환경경제모형 개발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2008~2011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를 통한 상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통합모형 개발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LEAP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 상향식 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연산가능일반균형모형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(CGE)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을 비롯한 하향식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모형에 대한 분석 및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통합모형 개발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운용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통합 분석모형 개발 및 적용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전력부문 기술 세분화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원자력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CCS,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신재생에너지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등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공정배출 온실가스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(Non-CO</a:t>
            </a:r>
            <a:r>
              <a:rPr lang="en-US" altLang="ko-KR" sz="1200" b="0" baseline="-250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포함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감축기술 모형화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수송부문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자가용 및 대중교통 선택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메카니즘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모형화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기술진보 이론 고찰 및 내생적 기술변화 모형 개발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효용함수 및 소비구조모형 개선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 ELES, AIDADS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 모형화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개발된 감축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잠재량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분석모형을 활용하여 국가 온실가스 중기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(2020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감축목표 수립 시 경제적 파급효과를 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CDA577-C0BA-44D0-8FC3-EC6B15A802DC}" type="slidenum">
              <a:rPr lang="ko-KR" altLang="en-US"/>
              <a:pPr>
                <a:defRPr/>
              </a:pPr>
              <a:t>36</a:t>
            </a:fld>
            <a:endParaRPr lang="ko-KR" altLang="en-US" dirty="0"/>
          </a:p>
        </p:txBody>
      </p:sp>
      <p:sp>
        <p:nvSpPr>
          <p:cNvPr id="52229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52230" name="_x172697848" descr="EMB0000070814c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3857625"/>
            <a:ext cx="277495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1" name="직사각형 9"/>
          <p:cNvSpPr>
            <a:spLocks noChangeArrowheads="1"/>
          </p:cNvSpPr>
          <p:nvPr/>
        </p:nvSpPr>
        <p:spPr bwMode="auto">
          <a:xfrm>
            <a:off x="6796088" y="6176963"/>
            <a:ext cx="15335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&lt;ROK2009</a:t>
            </a:r>
            <a:r>
              <a:rPr lang="ko-KR" altLang="en-US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의 기본구조</a:t>
            </a: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주요 연구실적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 err="1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저탄소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사회로의 이행을 위한 소비행태 조사 및 분석 모형 개발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운용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(2011∼2013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를 통한  국제 환경경제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DB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구축 및 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상</a:t>
            </a:r>
            <a:r>
              <a:rPr lang="en-US" altLang="ko-KR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하향식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모형 개발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운용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전력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수송 부문의 상향식 모형과 하향식 모형을 개발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운용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가정부문 에너지 소비실태 및 자동차 운행실태 조사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가전기기별 실시간 모니터링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구축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전세계 국가별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업종별 경제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구축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(6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 온실가스 종별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및 소비행태에 따른 온실가스 유발효과 분석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무역체화배출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(Emission Embodied in Bilateral Trade: EEBT)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 및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다지역투입산출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(Multi-Regional Input-Output: MRIO)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분석을 이용하여 국가간 무역에 따른 온실가스 유발경로를 분석하고 국가별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Carbon Footprint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평가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CO</a:t>
            </a:r>
            <a:r>
              <a:rPr lang="en-US" altLang="ko-KR" sz="1200" b="0" baseline="-250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비롯하여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CH</a:t>
            </a:r>
            <a:r>
              <a:rPr lang="en-US" altLang="ko-KR" sz="1200" b="0" baseline="-250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N</a:t>
            </a:r>
            <a:r>
              <a:rPr lang="en-US" altLang="ko-KR" sz="1200" b="0" baseline="-250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O, HFCs, PFCs, SF</a:t>
            </a:r>
            <a:r>
              <a:rPr lang="en-US" altLang="ko-KR" sz="1200" b="0" baseline="-2500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6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대해 국가별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에너지원별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업종별 온실가스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인벤토리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구축하고 이를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다지역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사회계정행렬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(Social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Accounting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Matrix: SAM)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 연계함으로써 에너지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구축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</a:t>
            </a: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※ GTAP, EDGAR, IEA, World Bank </a:t>
            </a:r>
            <a:r>
              <a:rPr lang="ko-KR" altLang="en-US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등의 </a:t>
            </a:r>
            <a:endParaRPr lang="en-US" altLang="ko-KR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  DB</a:t>
            </a:r>
            <a:r>
              <a:rPr lang="ko-KR" altLang="en-US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연계 활용</a:t>
            </a: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개발된 모형을 활용하여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2015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년부터 시행되는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배출권거래제의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파급효과를 분석하였으며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그 결과를 ‘온실가스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거래제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기본계획’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(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기획재정부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2014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반영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18A9B9-D6D7-42C7-B284-83B66DF87D41}" type="slidenum">
              <a:rPr lang="ko-KR" altLang="en-US"/>
              <a:pPr>
                <a:defRPr/>
              </a:pPr>
              <a:t>37</a:t>
            </a:fld>
            <a:endParaRPr lang="ko-KR" altLang="en-US" dirty="0"/>
          </a:p>
        </p:txBody>
      </p:sp>
      <p:pic>
        <p:nvPicPr>
          <p:cNvPr id="53253" name="Picture 1"/>
          <p:cNvPicPr>
            <a:picLocks noChangeAspect="1" noChangeArrowheads="1"/>
          </p:cNvPicPr>
          <p:nvPr/>
        </p:nvPicPr>
        <p:blipFill>
          <a:blip r:embed="rId3" cstate="print"/>
          <a:srcRect t="7339"/>
          <a:stretch>
            <a:fillRect/>
          </a:stretch>
        </p:blipFill>
        <p:spPr bwMode="auto">
          <a:xfrm>
            <a:off x="4591050" y="4362450"/>
            <a:ext cx="41624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4" name="직사각형 9"/>
          <p:cNvSpPr>
            <a:spLocks noChangeArrowheads="1"/>
          </p:cNvSpPr>
          <p:nvPr/>
        </p:nvSpPr>
        <p:spPr bwMode="auto">
          <a:xfrm>
            <a:off x="5700713" y="4233863"/>
            <a:ext cx="206533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각 모형별 경제적 영향 분석 결과</a:t>
            </a: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주요 연구실적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IPCC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제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차 평가보고서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(WG-III: Mitigation)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주저자 활동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아시아 모델링 국제연구 등의 성과를 바탕으로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IPCC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보고서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주저자로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선정되어 온실가스 감축에 대한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IPCC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차 평가보고서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공동 집필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1990∼2010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년간 전세계 온실가스 배출량 추이를 분석하고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배출집약도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(GDP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단위당 배출량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일인당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GDP,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인구 변화 등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 3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요인별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기여도 평가를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 지역을 구분하여 실시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1990∼2020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년간 전세계 온실가스 집약도와 소득수준의 연관성을 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   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분석하여 온실가스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쿠즈네츠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가설을 검증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OECD </a:t>
            </a:r>
            <a:r>
              <a:rPr lang="ko-KR" altLang="en-US" sz="1400" b="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환경국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환경경제모형 개발 참여 및 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OECD Environment Outlook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공동 집필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2006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월부터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OECD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환경국에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컨설턴트로 재직하면서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OECD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의 하향식 감축모형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ENV-Linkages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개선 및 분석 작업을 수행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개도국의 온실가스 감축의무 참여 시점에 따른 온실가스 감축 효과 및 경제적 파급효과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탄소 가격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GDP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영향 등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를 분석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모델링 분석결과를 활용하여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'OECD Environment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Outlook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2030'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을 공동 집필하였으며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 학술지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OECD Economic Studies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 모델링 분석 결과를 게재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(2008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  </a:t>
            </a: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※ Philip </a:t>
            </a:r>
            <a:r>
              <a:rPr lang="en-US" altLang="ko-KR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Bagnoli</a:t>
            </a: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Jean </a:t>
            </a:r>
            <a:r>
              <a:rPr lang="en-US" altLang="ko-KR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Chaeau</a:t>
            </a: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and Yong Gun Kim., </a:t>
            </a:r>
            <a:r>
              <a:rPr lang="en-US" altLang="ko-KR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2008,The </a:t>
            </a: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Incidence of Carbon Pricing: Norway, Russia and the Middle East</a:t>
            </a:r>
            <a:r>
              <a:rPr lang="en-US" altLang="ko-KR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OECD Economic Studies, No. 44.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B6678EF-22E0-469B-A948-18FB9E01722C}" type="slidenum">
              <a:rPr lang="ko-KR" altLang="en-US"/>
              <a:pPr>
                <a:defRPr/>
              </a:pPr>
              <a:t>38</a:t>
            </a:fld>
            <a:endParaRPr lang="ko-KR" altLang="en-US" dirty="0"/>
          </a:p>
        </p:txBody>
      </p:sp>
      <p:sp>
        <p:nvSpPr>
          <p:cNvPr id="5427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54278" name="_x172697208" descr="EMB0000070814c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1943100"/>
            <a:ext cx="315277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9" name="직사각형 9"/>
          <p:cNvSpPr>
            <a:spLocks noChangeArrowheads="1"/>
          </p:cNvSpPr>
          <p:nvPr/>
        </p:nvSpPr>
        <p:spPr bwMode="auto">
          <a:xfrm>
            <a:off x="5795963" y="1671638"/>
            <a:ext cx="3160712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지역별 온실가스 배출 유발 요인별 분해</a:t>
            </a: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1990-2010&gt;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Grp="1" noChangeArrowheads="1"/>
          </p:cNvSpPr>
          <p:nvPr/>
        </p:nvSpPr>
        <p:spPr bwMode="auto">
          <a:xfrm>
            <a:off x="735013" y="14287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환경기술 관련 수상 실적</a:t>
            </a: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05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주요 조직관리 경력</a:t>
            </a: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6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환경기술개발사업 관련 주요 위원회 참여실적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주요 연구실적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2D969A-CE67-4E83-BA0B-793A3857623B}" type="slidenum">
              <a:rPr lang="ko-KR" altLang="en-US"/>
              <a:pPr>
                <a:defRPr/>
              </a:pPr>
              <a:t>39</a:t>
            </a:fld>
            <a:endParaRPr lang="ko-KR" altLang="en-US" dirty="0"/>
          </a:p>
        </p:txBody>
      </p:sp>
      <p:sp>
        <p:nvSpPr>
          <p:cNvPr id="5530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1063625" y="1790700"/>
          <a:ext cx="7384416" cy="1188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1938"/>
                <a:gridCol w="1497218"/>
                <a:gridCol w="1548509"/>
                <a:gridCol w="2326751"/>
              </a:tblGrid>
              <a:tr h="167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수상명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수상일자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수상기관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수상내역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</a:tr>
              <a:tr h="167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국무총리 표창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2005.10.06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국무총리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환경정책 발전에 기여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</a:tr>
              <a:tr h="167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환경부장관 표창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2000.12.31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환경부 장관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환경문제 해결에 기여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</a:tr>
              <a:tr h="167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우수보고서 선정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2013.07.01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KEI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원장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우수보고서 작성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</a:tr>
              <a:tr h="167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우수직원 표창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2010.02.02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KEI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원장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연구원 발전에 기여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</a:tr>
              <a:tr h="167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우수보고서 표창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latin typeface="나눔고딕" pitchFamily="50" charset="-127"/>
                          <a:ea typeface="나눔고딕" pitchFamily="50" charset="-127"/>
                        </a:rPr>
                        <a:t>2005.05.20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원장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우수보고서 작성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7907" marT="0" marB="0" anchor="ctr"/>
                </a:tc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1046163" y="3354388"/>
          <a:ext cx="7439851" cy="1386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85914"/>
                <a:gridCol w="1289586"/>
                <a:gridCol w="1684995"/>
                <a:gridCol w="2079356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조 직 명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역할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관리기간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주요 관리내용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한국환경정책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평가연구원 기획조정실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기획조정실장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2013.12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~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현재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연구원 연구 기획 및 관리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한국환경정책</a:t>
                      </a: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평가연구원 기후대기연구실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기후대기연구실장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2011.12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~2013.11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기후대기 분야 연구기획 및 관리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한국환경정책</a:t>
                      </a: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평가연구원 기후경제연구실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기후경제연구실장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2010.7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~2011.11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기후경제 분야 연구기획 및 관리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한국환경정책</a:t>
                      </a: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평가연구원 기후변화연구실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기후변화연구실장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2008.12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~2010.6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기후변화 분야 연구기획 및 관리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한국환경정책</a:t>
                      </a: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평가연구원 기후변화연구실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기후변화연구실장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2005.12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~2006.2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기후변화 분야 연구기획 및 관리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한국환경정책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평가연구원 기획조정실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기획조정팀장</a:t>
                      </a:r>
                      <a:endParaRPr lang="ko-KR" altLang="en-US" sz="8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2004.12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~2005.11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연구원 연구 기획 및 관리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035050" y="5133975"/>
          <a:ext cx="7471030" cy="990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0965"/>
                <a:gridCol w="1620965"/>
                <a:gridCol w="1409700"/>
                <a:gridCol w="1285875"/>
                <a:gridCol w="1533525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위원회명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주관부처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참여기간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역할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주요내용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중앙환경정책위원회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환경부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>
                          <a:latin typeface="나눔고딕" pitchFamily="50" charset="-127"/>
                          <a:ea typeface="나눔고딕" pitchFamily="50" charset="-127"/>
                        </a:rPr>
                        <a:t>2013.5</a:t>
                      </a: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월∼현재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위원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환경부 정책 자문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정책자문위원회</a:t>
                      </a:r>
                      <a:endParaRPr lang="ko-KR" altLang="en-US" sz="100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외교통상부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2010.8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월∼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2012.7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위원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환경협력분야 자문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2018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평창동계올림픽 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조직위원회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2018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평창동계올림픽 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조직위원회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2012.7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월∼현재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위원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환경전문위원회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동계올림픽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환경분야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자문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Grp="1" noChangeArrowheads="1"/>
          </p:cNvSpPr>
          <p:nvPr/>
        </p:nvSpPr>
        <p:spPr bwMode="auto">
          <a:xfrm>
            <a:off x="735013" y="14287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r>
              <a:rPr lang="ko-KR" altLang="en-US" sz="1400" b="0" dirty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국제활동 수행실적</a:t>
            </a:r>
            <a:endParaRPr lang="en-US" altLang="ko-KR" sz="140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rgbClr val="183883"/>
              </a:buClr>
              <a:buSzPct val="120000"/>
              <a:buFont typeface="Wingdings" pitchFamily="2" charset="2"/>
              <a:buChar char="§"/>
              <a:defRPr/>
            </a:pPr>
            <a:endParaRPr lang="en-US" altLang="ko-KR" sz="1050" b="0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주요 연구실적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F5D37C-48C8-443D-9C95-89EEBEBDC7C0}" type="slidenum">
              <a:rPr lang="ko-KR" altLang="en-US"/>
              <a:pPr>
                <a:defRPr/>
              </a:pPr>
              <a:t>40</a:t>
            </a:fld>
            <a:endParaRPr lang="ko-KR" altLang="en-US" dirty="0"/>
          </a:p>
        </p:txBody>
      </p:sp>
      <p:sp>
        <p:nvSpPr>
          <p:cNvPr id="5632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71525" y="1816100"/>
          <a:ext cx="7858125" cy="428695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0080"/>
                <a:gridCol w="1524358"/>
                <a:gridCol w="955112"/>
                <a:gridCol w="3838575"/>
              </a:tblGrid>
              <a:tr h="2254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latin typeface="나눔고딕" pitchFamily="50" charset="-127"/>
                          <a:ea typeface="나눔고딕" pitchFamily="50" charset="-127"/>
                        </a:rPr>
                        <a:t>기구명</a:t>
                      </a:r>
                      <a:r>
                        <a:rPr lang="en-US" altLang="ko-KR" sz="105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50" dirty="0" err="1">
                          <a:latin typeface="나눔고딕" pitchFamily="50" charset="-127"/>
                          <a:ea typeface="나눔고딕" pitchFamily="50" charset="-127"/>
                        </a:rPr>
                        <a:t>회의명</a:t>
                      </a:r>
                      <a:endParaRPr lang="ko-KR" altLang="en-US" sz="105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latin typeface="나눔고딕" pitchFamily="50" charset="-127"/>
                          <a:ea typeface="나눔고딕" pitchFamily="50" charset="-127"/>
                        </a:rPr>
                        <a:t>역할</a:t>
                      </a:r>
                      <a:endParaRPr lang="ko-KR" altLang="en-US" sz="105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latin typeface="나눔고딕" pitchFamily="50" charset="-127"/>
                          <a:ea typeface="나눔고딕" pitchFamily="50" charset="-127"/>
                        </a:rPr>
                        <a:t>활동기간</a:t>
                      </a:r>
                      <a:endParaRPr lang="ko-KR" altLang="en-US" sz="105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smtClean="0">
                          <a:latin typeface="나눔고딕" pitchFamily="50" charset="-127"/>
                          <a:ea typeface="나눔고딕" pitchFamily="50" charset="-127"/>
                        </a:rPr>
                        <a:t>활동 중 </a:t>
                      </a:r>
                      <a:r>
                        <a:rPr lang="ko-KR" altLang="en-US" sz="1050" dirty="0">
                          <a:latin typeface="나눔고딕" pitchFamily="50" charset="-127"/>
                          <a:ea typeface="나눔고딕" pitchFamily="50" charset="-127"/>
                        </a:rPr>
                        <a:t>주요 실적</a:t>
                      </a:r>
                      <a:endParaRPr lang="ko-KR" altLang="en-US" sz="105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</a:tr>
              <a:tr h="5440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IPCC 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(Inter-governmental </a:t>
                      </a:r>
                      <a:endParaRPr lang="en-US" sz="900" b="1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나눔고딕" pitchFamily="50" charset="-127"/>
                          <a:ea typeface="나눔고딕" pitchFamily="50" charset="-127"/>
                        </a:rPr>
                        <a:t>Panel </a:t>
                      </a:r>
                      <a:r>
                        <a:rPr 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on Climate </a:t>
                      </a:r>
                      <a:r>
                        <a:rPr lang="en-US" sz="900" b="1" dirty="0" smtClean="0">
                          <a:latin typeface="나눔고딕" pitchFamily="50" charset="-127"/>
                          <a:ea typeface="나눔고딕" pitchFamily="50" charset="-127"/>
                        </a:rPr>
                        <a:t>Change)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제</a:t>
                      </a: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차 평가보고서 주저자</a:t>
                      </a: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(lead author)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2010.8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~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현재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차 평가보고서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, Working Group III(WG-III, Climate Mitigation)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보고서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14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장 공동 집필</a:t>
                      </a:r>
                    </a:p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IPCC AR5 WG-III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주저자 회의 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회 참석 등 온실가스 감축정책 분야 전문가 교류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</a:tr>
              <a:tr h="6100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OECD 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(Organization for </a:t>
                      </a:r>
                      <a:endParaRPr lang="en-US" sz="900" b="1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나눔고딕" pitchFamily="50" charset="-127"/>
                          <a:ea typeface="나눔고딕" pitchFamily="50" charset="-127"/>
                        </a:rPr>
                        <a:t>Economic </a:t>
                      </a:r>
                      <a:r>
                        <a:rPr lang="en-US" sz="900" b="1" dirty="0">
                          <a:latin typeface="나눔고딕" pitchFamily="50" charset="-127"/>
                          <a:ea typeface="나눔고딕" pitchFamily="50" charset="-127"/>
                        </a:rPr>
                        <a:t>Cooperation and Development)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dirty="0" err="1">
                          <a:latin typeface="나눔고딕" pitchFamily="50" charset="-127"/>
                          <a:ea typeface="나눔고딕" pitchFamily="50" charset="-127"/>
                        </a:rPr>
                        <a:t>환경국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환경경제모형팀</a:t>
                      </a:r>
                      <a:endParaRPr lang="en-US" altLang="ko-KR" sz="1000" b="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하향식 모형</a:t>
                      </a: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컨설턴트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2006.3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~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2008.2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OECD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가 개발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운용하는 하향식 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CGE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모형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(ENV-Linkage)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팀에 참여하여 모형의 개선 및 활용 작업 수행</a:t>
                      </a:r>
                    </a:p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OECD Environmental Outlook 2030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보고서 공동 집필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기후변화 관련 모형 분석 및 결과 집필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</a:tr>
              <a:tr h="8903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Asia Modeling Forum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Steering Committee 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위원 및 한국 대표 모형 개발</a:t>
                      </a: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분석 책임자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2009.9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~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2012.12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Steering Committee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위원으로서 아시아 지역 온실가스 감축잠재력 공동연구 기획 및 참여</a:t>
                      </a:r>
                    </a:p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한국 대표 모형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(KEI-Linkage)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개발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분석을 통한 공동연구 참여</a:t>
                      </a:r>
                    </a:p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차 아시아 모델링 포럼 회의 주최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(2010.9.13~15, </a:t>
                      </a:r>
                      <a:r>
                        <a:rPr lang="ko-KR" altLang="en-US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그랜드힐튼호텔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9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SSCI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국제학술지 게재</a:t>
                      </a:r>
                    </a:p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아시아 모델링 국제회의 참가 및 한국 모형 분석 결과 발표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(4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회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</a:tr>
              <a:tr h="4616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000" b="1" dirty="0">
                          <a:latin typeface="나눔고딕" pitchFamily="50" charset="-127"/>
                          <a:ea typeface="나눔고딕" pitchFamily="50" charset="-127"/>
                        </a:rPr>
                        <a:t>UNFCCC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900" b="1" dirty="0">
                          <a:latin typeface="나눔고딕" pitchFamily="50" charset="-127"/>
                          <a:ea typeface="나눔고딕" pitchFamily="50" charset="-127"/>
                        </a:rPr>
                        <a:t>(UN Framework Convention on Climate Change)</a:t>
                      </a:r>
                      <a:endParaRPr lang="fr-FR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기후변화협약 국제협상회의 정부대표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1997.12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~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2012.5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기후변화협약 국제협상 회의에 정부 대표단으로 참여하여 한국 정부의 온실가스 감축 협상 대응전략 수립 및 협상 지원 활동 수행 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국제협상회의 정부대표단 참여 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20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여건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</a:tr>
              <a:tr h="3297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OECD 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기후변화 전문가 포럼 국제회의 정부대표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2000.3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~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2005.10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OECD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기후변화 전문가 포럼에 정부대표단으로 참여하여 온실가스 감축정책에 대한 정부 정책 홍보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국제 포럼 참석 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회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</a:tr>
              <a:tr h="4946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World Bank</a:t>
                      </a:r>
                      <a:endParaRPr 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8258" marR="825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Partnership for Market Readiness (PMR) 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이사회 및 </a:t>
                      </a:r>
                      <a:r>
                        <a:rPr lang="ko-KR" altLang="en-US" sz="1000" b="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워</a:t>
                      </a:r>
                      <a:r>
                        <a:rPr lang="ko-KR" altLang="en-US" sz="1000" b="0" dirty="0" err="1">
                          <a:latin typeface="나눔고딕" pitchFamily="50" charset="-127"/>
                          <a:ea typeface="나눔고딕" pitchFamily="50" charset="-127"/>
                        </a:rPr>
                        <a:t>크</a:t>
                      </a:r>
                      <a:r>
                        <a:rPr lang="ko-KR" altLang="en-US" sz="1000" b="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샵</a:t>
                      </a:r>
                      <a:r>
                        <a:rPr lang="ko-KR" altLang="en-US" sz="1000" b="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참여</a:t>
                      </a:r>
                      <a:r>
                        <a:rPr lang="en-US" altLang="ko-KR" sz="1000" b="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1000" b="0" dirty="0">
                          <a:latin typeface="나눔고딕" pitchFamily="50" charset="-127"/>
                          <a:ea typeface="나눔고딕" pitchFamily="50" charset="-127"/>
                        </a:rPr>
                        <a:t>발표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2013.3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월</a:t>
                      </a:r>
                      <a:endParaRPr lang="en-US" altLang="ko-KR" sz="1000" dirty="0" smtClean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11~15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일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85725" marR="0" indent="-85725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-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세계은행의 탄소시장 지원 프로젝트인 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PMR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의 이사회 및 웍샵에 참가하여 국내 </a:t>
                      </a:r>
                      <a:r>
                        <a:rPr lang="ko-KR" altLang="en-US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배출권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거래제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홍보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발표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및 국제전문가</a:t>
                      </a:r>
                      <a:r>
                        <a:rPr lang="en-US" altLang="ko-KR" sz="900" dirty="0">
                          <a:latin typeface="나눔고딕" pitchFamily="50" charset="-127"/>
                          <a:ea typeface="나눔고딕" pitchFamily="50" charset="-127"/>
                        </a:rPr>
                        <a:t>·</a:t>
                      </a:r>
                      <a:r>
                        <a:rPr lang="ko-KR" altLang="en-US" sz="900" dirty="0">
                          <a:latin typeface="나눔고딕" pitchFamily="50" charset="-127"/>
                          <a:ea typeface="나눔고딕" pitchFamily="50" charset="-127"/>
                        </a:rPr>
                        <a:t>정책담당자 교류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8000" marR="1800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3-(3)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비전 및 가치관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6C1E7D-B214-4EA2-AB04-703D9C332542}" type="slidenum">
              <a:rPr lang="ko-KR" altLang="en-US"/>
              <a:pPr>
                <a:defRPr/>
              </a:pPr>
              <a:t>41</a:t>
            </a:fld>
            <a:endParaRPr lang="ko-KR" altLang="en-US" dirty="0"/>
          </a:p>
        </p:txBody>
      </p:sp>
      <p:grpSp>
        <p:nvGrpSpPr>
          <p:cNvPr id="57348" name="그룹 10"/>
          <p:cNvGrpSpPr>
            <a:grpSpLocks/>
          </p:cNvGrpSpPr>
          <p:nvPr/>
        </p:nvGrpSpPr>
        <p:grpSpPr bwMode="auto">
          <a:xfrm>
            <a:off x="876300" y="1590675"/>
            <a:ext cx="7753350" cy="2276475"/>
            <a:chOff x="876300" y="1495424"/>
            <a:chExt cx="7753350" cy="2276475"/>
          </a:xfrm>
        </p:grpSpPr>
        <p:graphicFrame>
          <p:nvGraphicFramePr>
            <p:cNvPr id="5" name="다이어그램 4"/>
            <p:cNvGraphicFramePr/>
            <p:nvPr/>
          </p:nvGraphicFramePr>
          <p:xfrm>
            <a:off x="876300" y="1495424"/>
            <a:ext cx="7753350" cy="227647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7354" name="TextBox 6"/>
            <p:cNvSpPr txBox="1">
              <a:spLocks noChangeArrowheads="1"/>
            </p:cNvSpPr>
            <p:nvPr/>
          </p:nvSpPr>
          <p:spPr bwMode="auto">
            <a:xfrm>
              <a:off x="1162050" y="3057525"/>
              <a:ext cx="73628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42875" indent="-142875"/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※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우리나라에 대한 상</a:t>
              </a:r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·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하향식 감축분석 통합모형과 함께 글로벌 감축분석 모형을 동시에 개발함으로써 국내 온실가스 감축정책 뿐만 아니라 국가별 감축정책의 상호 연관효과를 분석함으로써 우리나라의 감축의무 국제협상 대응전략은 물론 글로벌 기후체제의 발전방향을 제시</a:t>
              </a:r>
            </a:p>
          </p:txBody>
        </p:sp>
      </p:grpSp>
      <p:grpSp>
        <p:nvGrpSpPr>
          <p:cNvPr id="57349" name="그룹 9"/>
          <p:cNvGrpSpPr>
            <a:grpSpLocks/>
          </p:cNvGrpSpPr>
          <p:nvPr/>
        </p:nvGrpSpPr>
        <p:grpSpPr bwMode="auto">
          <a:xfrm>
            <a:off x="876300" y="3143250"/>
            <a:ext cx="7753350" cy="2955925"/>
            <a:chOff x="876300" y="3028949"/>
            <a:chExt cx="7753350" cy="2955925"/>
          </a:xfrm>
        </p:grpSpPr>
        <p:graphicFrame>
          <p:nvGraphicFramePr>
            <p:cNvPr id="14" name="다이어그램 13"/>
            <p:cNvGraphicFramePr/>
            <p:nvPr/>
          </p:nvGraphicFramePr>
          <p:xfrm>
            <a:off x="876300" y="3028949"/>
            <a:ext cx="7753350" cy="295592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57352" name="TextBox 11"/>
            <p:cNvSpPr txBox="1">
              <a:spLocks noChangeArrowheads="1"/>
            </p:cNvSpPr>
            <p:nvPr/>
          </p:nvSpPr>
          <p:spPr bwMode="auto">
            <a:xfrm>
              <a:off x="1171575" y="4505325"/>
              <a:ext cx="73628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42875" indent="-142875"/>
              <a:r>
                <a:rPr lang="en-US" altLang="ko-KR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※ </a:t>
              </a:r>
              <a:r>
                <a:rPr lang="ko-KR" altLang="en-US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배출권 거래제의 유</a:t>
              </a:r>
              <a:r>
                <a:rPr lang="en-US" altLang="ko-KR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·</a:t>
              </a:r>
              <a:r>
                <a:rPr lang="ko-KR" altLang="en-US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무상 할당비중</a:t>
              </a:r>
              <a:r>
                <a:rPr lang="en-US" altLang="ko-KR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, </a:t>
              </a:r>
              <a:r>
                <a:rPr lang="ko-KR" altLang="en-US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유상할당 수익의 활용방식 등에 따라 배출권 거래제의 경제적 파급효과가 큰 차이를 유발할 수 있으므로</a:t>
              </a:r>
              <a:r>
                <a:rPr lang="en-US" altLang="ko-KR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, </a:t>
              </a:r>
              <a:r>
                <a:rPr lang="ko-KR" altLang="en-US" sz="900" b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이에 대한 과학적 분석을 통해 합리적 제도 수립을 지원</a:t>
              </a:r>
              <a:endPara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57350" name="TextBox 15"/>
          <p:cNvSpPr txBox="1">
            <a:spLocks noChangeArrowheads="1"/>
          </p:cNvSpPr>
          <p:nvPr/>
        </p:nvSpPr>
        <p:spPr bwMode="auto">
          <a:xfrm>
            <a:off x="1171575" y="5514975"/>
            <a:ext cx="736282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/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※ </a:t>
            </a:r>
            <a:r>
              <a:rPr lang="ko-KR" altLang="en-US" sz="9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저탄소</a:t>
            </a:r>
            <a:r>
              <a:rPr lang="ko-KR" altLang="en-US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사회로의 이행을 위한 소비행태 조사 및 분석 모형 개발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운용</a:t>
            </a:r>
            <a:r>
              <a:rPr lang="en-US" altLang="ko-KR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 외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2013), </a:t>
            </a:r>
            <a:r>
              <a:rPr lang="ko-KR" altLang="en-US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화석연료 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사용의 사회적 비용 추정 및 가격 합리화 </a:t>
            </a:r>
            <a:r>
              <a:rPr lang="ko-KR" altLang="en-US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방안</a:t>
            </a:r>
            <a:r>
              <a:rPr lang="en-US" altLang="ko-KR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 외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2013), </a:t>
            </a:r>
            <a:r>
              <a:rPr lang="ko-KR" altLang="en-US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환경경제모형 개발</a:t>
            </a:r>
            <a:r>
              <a:rPr lang="en-US" altLang="ko-KR" sz="9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김용건 외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2011) 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등의 연구에서 경제발전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 및 고용 촉진을 동시에 달성하는 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9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중배당</a:t>
            </a:r>
            <a:r>
              <a:rPr lang="en-US" altLang="ko-KR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(Triple Dividend) </a:t>
            </a:r>
            <a:r>
              <a:rPr lang="ko-KR" altLang="en-US" sz="9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가능성을 제시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그룹 10"/>
          <p:cNvGrpSpPr>
            <a:grpSpLocks/>
          </p:cNvGrpSpPr>
          <p:nvPr/>
        </p:nvGrpSpPr>
        <p:grpSpPr bwMode="auto">
          <a:xfrm>
            <a:off x="876300" y="3276600"/>
            <a:ext cx="7753350" cy="2955925"/>
            <a:chOff x="876300" y="3143249"/>
            <a:chExt cx="7753350" cy="2955925"/>
          </a:xfrm>
        </p:grpSpPr>
        <p:graphicFrame>
          <p:nvGraphicFramePr>
            <p:cNvPr id="14" name="다이어그램 13"/>
            <p:cNvGraphicFramePr/>
            <p:nvPr/>
          </p:nvGraphicFramePr>
          <p:xfrm>
            <a:off x="876300" y="3143249"/>
            <a:ext cx="7753350" cy="295592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58377" name="TextBox 11"/>
            <p:cNvSpPr txBox="1">
              <a:spLocks noChangeArrowheads="1"/>
            </p:cNvSpPr>
            <p:nvPr/>
          </p:nvSpPr>
          <p:spPr bwMode="auto">
            <a:xfrm>
              <a:off x="1171575" y="4705350"/>
              <a:ext cx="7362825" cy="507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42875" indent="-142875"/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※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상</a:t>
              </a:r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·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하향식 온실가스 감축분석 통합모형을 토대로 기후 </a:t>
              </a:r>
              <a:r>
                <a:rPr lang="ko-KR" altLang="en-US" sz="900" b="0" dirty="0" err="1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메카니즘에</a:t>
              </a:r>
              <a:r>
                <a:rPr lang="ko-KR" altLang="en-US" sz="900" b="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대한 모형을 접목시켜 </a:t>
              </a:r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IAM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모형을 개발할 경우 온실가스 감축의 경제적 파급효과 뿐만 아니라</a:t>
              </a:r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,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온실가스 감축에 따른 전지구적 지구온난화 </a:t>
              </a:r>
              <a:r>
                <a:rPr lang="ko-KR" altLang="en-US" sz="900" b="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완화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및 </a:t>
              </a:r>
              <a:r>
                <a:rPr lang="ko-KR" altLang="en-US" sz="900" b="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그에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따른 경제적 </a:t>
              </a:r>
              <a:r>
                <a:rPr lang="ko-KR" altLang="en-US" sz="900" b="0" dirty="0" smtClean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편익의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과학적 평가가 가능함으로써</a:t>
              </a:r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, 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온실가스 감축정책의 비용</a:t>
              </a:r>
              <a:r>
                <a:rPr lang="en-US" altLang="ko-KR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·</a:t>
              </a:r>
              <a:r>
                <a:rPr lang="ko-KR" altLang="en-US" sz="900" b="0" dirty="0">
                  <a:solidFill>
                    <a:srgbClr val="000000"/>
                  </a:solidFill>
                  <a:latin typeface="나눔고딕" pitchFamily="50" charset="-127"/>
                  <a:ea typeface="나눔고딕" pitchFamily="50" charset="-127"/>
                </a:rPr>
                <a:t>편익을 종합적으로 평가하고 합리적인 기후정책의 과학적 근거를 제시할 수 있음</a:t>
              </a:r>
            </a:p>
          </p:txBody>
        </p:sp>
      </p:grp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3-(3)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비전 및 가치관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66C1E-C3AB-4D30-8151-6576DA81A077}" type="slidenum">
              <a:rPr lang="ko-KR" altLang="en-US"/>
              <a:pPr>
                <a:defRPr/>
              </a:pPr>
              <a:t>42</a:t>
            </a:fld>
            <a:endParaRPr lang="ko-KR" altLang="en-US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876300" y="1590674"/>
          <a:ext cx="7753350" cy="2276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8374" name="TextBox 6"/>
          <p:cNvSpPr txBox="1">
            <a:spLocks noChangeArrowheads="1"/>
          </p:cNvSpPr>
          <p:nvPr/>
        </p:nvSpPr>
        <p:spPr bwMode="auto">
          <a:xfrm>
            <a:off x="1162050" y="3248025"/>
            <a:ext cx="7362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42875" indent="-142875"/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※ KEI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글로벌 전략센터의 개도국 지원 사업과 연계하여 동남아 지역을 비롯한 주요 관련 개도국의 발전전략 컨설팅 시 온실가스 인벤토리 구축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CDM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등 온실가스 감축 국제협력사업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탄소세 등 온실가스 감축정책 등에 대한 중장기 전략수립을 지원</a:t>
            </a:r>
          </a:p>
        </p:txBody>
      </p:sp>
      <p:sp>
        <p:nvSpPr>
          <p:cNvPr id="58375" name="TextBox 12"/>
          <p:cNvSpPr txBox="1">
            <a:spLocks noChangeArrowheads="1"/>
          </p:cNvSpPr>
          <p:nvPr/>
        </p:nvSpPr>
        <p:spPr bwMode="auto">
          <a:xfrm>
            <a:off x="1171575" y="5810250"/>
            <a:ext cx="7362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42875" indent="-142875"/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※ KEI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국토환경정보센터와 협력하여 기후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경제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에너지 관련 빅데이터를 통합 관리하는 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 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관리 시스템을 구축하고 </a:t>
            </a:r>
            <a:r>
              <a:rPr lang="en-US" altLang="ko-KR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IAM</a:t>
            </a:r>
            <a:r>
              <a:rPr lang="ko-KR" altLang="en-US" sz="9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 연계하여 세계적 수준의 기후경제 분석능력을 확보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제목 1"/>
          <p:cNvSpPr>
            <a:spLocks noGrp="1"/>
          </p:cNvSpPr>
          <p:nvPr>
            <p:ph type="title"/>
          </p:nvPr>
        </p:nvSpPr>
        <p:spPr>
          <a:xfrm>
            <a:off x="1828800" y="2085975"/>
            <a:ext cx="7315200" cy="1012825"/>
          </a:xfrm>
        </p:spPr>
        <p:txBody>
          <a:bodyPr/>
          <a:lstStyle/>
          <a:p>
            <a:r>
              <a:rPr lang="en-US" altLang="ko-KR" sz="3200" smtClean="0">
                <a:latin typeface="나눔고딕 ExtraBold" pitchFamily="50" charset="-127"/>
                <a:ea typeface="나눔고딕 ExtraBold" pitchFamily="50" charset="-127"/>
              </a:rPr>
              <a:t>4. </a:t>
            </a:r>
            <a:r>
              <a:rPr lang="ko-KR" altLang="en-US" sz="3200" smtClean="0">
                <a:latin typeface="나눔고딕 ExtraBold" pitchFamily="50" charset="-127"/>
                <a:ea typeface="나눔고딕 ExtraBold" pitchFamily="50" charset="-127"/>
              </a:rPr>
              <a:t>연구단 운영</a:t>
            </a:r>
            <a:r>
              <a:rPr lang="en-US" altLang="ko-KR" sz="3200" smtClean="0">
                <a:latin typeface="나눔고딕 ExtraBold" pitchFamily="50" charset="-127"/>
                <a:ea typeface="나눔고딕 ExtraBold" pitchFamily="50" charset="-127"/>
              </a:rPr>
              <a:t>·</a:t>
            </a:r>
            <a:r>
              <a:rPr lang="ko-KR" altLang="en-US" sz="3200" smtClean="0">
                <a:latin typeface="나눔고딕 ExtraBold" pitchFamily="50" charset="-127"/>
                <a:ea typeface="나눔고딕 ExtraBold" pitchFamily="50" charset="-127"/>
              </a:rPr>
              <a:t>관리 계획</a:t>
            </a:r>
          </a:p>
        </p:txBody>
      </p:sp>
      <p:sp>
        <p:nvSpPr>
          <p:cNvPr id="59395" name="TextBox 3"/>
          <p:cNvSpPr txBox="1">
            <a:spLocks noChangeArrowheads="1"/>
          </p:cNvSpPr>
          <p:nvPr/>
        </p:nvSpPr>
        <p:spPr bwMode="auto">
          <a:xfrm>
            <a:off x="5181600" y="3352800"/>
            <a:ext cx="3860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 운영방안</a:t>
            </a:r>
            <a:endParaRPr lang="en-US" altLang="ko-KR" sz="20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457200" indent="-457200" latinLnBrk="0">
              <a:lnSpc>
                <a:spcPct val="150000"/>
              </a:lnSpc>
              <a:buFontTx/>
              <a:buAutoNum type="arabicParenBoth"/>
            </a:pPr>
            <a:r>
              <a:rPr lang="ko-KR" altLang="en-US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연구단과제 관리계획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2EE361-67BF-44ED-BAB1-C8BC18A9F57B}" type="slidenum">
              <a:rPr lang="ko-KR" altLang="en-US"/>
              <a:pPr>
                <a:defRPr/>
              </a:pPr>
              <a:t>43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dirty="0" smtClean="0">
                <a:latin typeface="나눔고딕 ExtraBold" pitchFamily="50" charset="-127"/>
                <a:ea typeface="나눔고딕 ExtraBold" pitchFamily="50" charset="-127"/>
              </a:rPr>
              <a:t>4-(1) </a:t>
            </a:r>
            <a:r>
              <a:rPr lang="ko-KR" altLang="en-US" sz="2400" dirty="0" smtClean="0">
                <a:latin typeface="나눔고딕 ExtraBold" pitchFamily="50" charset="-127"/>
                <a:ea typeface="나눔고딕 ExtraBold" pitchFamily="50" charset="-127"/>
              </a:rPr>
              <a:t>연구단 운영방안</a:t>
            </a:r>
            <a:endParaRPr lang="en-US" altLang="ko-KR" sz="2400" dirty="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참여 세부연구기관과의 공동연구 체계를 통한 시너지 효과 극대화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총괄주관연구기관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평가연구원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과 세부연구기관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(KAIST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산학협력단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경성대학교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산학협력단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간의 전문성에 기반하여 역할 분담</a:t>
            </a: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한국환경정책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평가연구원 연구진과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온실가스 감축모형 관련 전문가들의 협업으로 학술적 지식 공유 및 파급효과 발생 기대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6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관련 기관 및 부처와의 구체적인 협력방안 구축을 통한 연구성과 완성도 제고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성공적인 한국형 상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·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하향식 온실가스 통합 감축모형 개발을 위해 환경부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종합정보센터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국립환경과학원 등 관련 기관 및 정부부처와의 협력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추진</a:t>
            </a:r>
            <a:endParaRPr lang="en-US" altLang="ko-KR" sz="1200" b="0" dirty="0" smtClean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환경부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거래제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기획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할당 등 정책 시나리오 구성 과정에 적극 참여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&amp;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지속적인 협력 체계를 통해 정보 공유 및 전문가 네트워크 구축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종합정보센터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센터의 온실가스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인벤토리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및 감축기술 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활용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국립환경과학원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국립환경과학원 온실가스 배출통계를 활용하여 통합모형의 입력자료 생성 및 검증 과정에 활용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39179A-4023-4D4E-B0CC-840865D325E0}" type="slidenum">
              <a:rPr lang="ko-KR" altLang="en-US"/>
              <a:pPr>
                <a:defRPr/>
              </a:pPr>
              <a:t>44</a:t>
            </a:fld>
            <a:endParaRPr lang="ko-KR" altLang="en-US" dirty="0"/>
          </a:p>
        </p:txBody>
      </p:sp>
      <p:sp>
        <p:nvSpPr>
          <p:cNvPr id="6042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6042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4-(1)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 운영방안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효율적인 연구과제 관리를 위해 평가단 운영 및 평가계획 수립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감축모형 관련 국내 저명 연구자를 대상으로 환경부 등 유관 정부기관과 협의하여 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 내외의 평가단 구성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연구성과 평가는 연차평가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최종평가 및 자체평가로 구분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자체평가는 분기별 진도관리 및 연차별 자체평가로 수행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8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endParaRPr lang="en-US" altLang="ko-KR" sz="1400" b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온라인 과제관리시스템을 통한 연구과제 관리에 협조하며</a:t>
            </a:r>
            <a:r>
              <a:rPr lang="en-US" altLang="ko-KR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연구개발비 관리 방안과 보안관리 방안에 따라 연구 수행 및 연구단 운영 예정</a:t>
            </a:r>
            <a:endParaRPr lang="en-US" altLang="ko-KR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0C0907-2162-46C3-88A3-93555CAE6EA1}" type="slidenum">
              <a:rPr lang="ko-KR" altLang="en-US"/>
              <a:pPr>
                <a:defRPr/>
              </a:pPr>
              <a:t>45</a:t>
            </a:fld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990600" y="2598738"/>
          <a:ext cx="7620000" cy="274643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62050"/>
                <a:gridCol w="1885950"/>
                <a:gridCol w="1524000"/>
                <a:gridCol w="1524000"/>
                <a:gridCol w="1524000"/>
              </a:tblGrid>
              <a:tr h="21352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dirty="0">
                          <a:latin typeface="나눔고딕" pitchFamily="50" charset="-127"/>
                          <a:ea typeface="나눔고딕" pitchFamily="50" charset="-127"/>
                        </a:rPr>
                        <a:t>구 분</a:t>
                      </a:r>
                      <a:endParaRPr lang="ko-KR" altLang="en-US" sz="105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solidFill>
                      <a:srgbClr val="96B8D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dirty="0">
                          <a:latin typeface="나눔고딕" pitchFamily="50" charset="-127"/>
                          <a:ea typeface="나눔고딕" pitchFamily="50" charset="-127"/>
                        </a:rPr>
                        <a:t>자체평가</a:t>
                      </a:r>
                      <a:endParaRPr lang="ko-KR" altLang="en-US" sz="105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lnB w="12700" cmpd="sng">
                      <a:noFill/>
                    </a:lnB>
                    <a:solidFill>
                      <a:srgbClr val="96B8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dirty="0">
                          <a:latin typeface="나눔고딕" pitchFamily="50" charset="-127"/>
                          <a:ea typeface="나눔고딕" pitchFamily="50" charset="-127"/>
                        </a:rPr>
                        <a:t>연차평가</a:t>
                      </a:r>
                      <a:endParaRPr lang="ko-KR" altLang="en-US" sz="105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solidFill>
                      <a:srgbClr val="96B8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dirty="0">
                          <a:latin typeface="나눔고딕" pitchFamily="50" charset="-127"/>
                          <a:ea typeface="나눔고딕" pitchFamily="50" charset="-127"/>
                        </a:rPr>
                        <a:t>최종평가</a:t>
                      </a:r>
                      <a:endParaRPr lang="ko-KR" altLang="en-US" sz="105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solidFill>
                      <a:srgbClr val="96B8D6"/>
                    </a:solidFill>
                  </a:tcPr>
                </a:tc>
              </a:tr>
              <a:tr h="2135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dirty="0">
                          <a:latin typeface="나눔고딕" pitchFamily="50" charset="-127"/>
                          <a:ea typeface="나눔고딕" pitchFamily="50" charset="-127"/>
                        </a:rPr>
                        <a:t>분기별 진도관리</a:t>
                      </a:r>
                      <a:endParaRPr lang="ko-KR" altLang="en-US" sz="105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lnL w="12700" cmpd="sng">
                      <a:noFill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8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dirty="0">
                          <a:latin typeface="나눔고딕" pitchFamily="50" charset="-127"/>
                          <a:ea typeface="나눔고딕" pitchFamily="50" charset="-127"/>
                        </a:rPr>
                        <a:t>연차별 자체평가</a:t>
                      </a:r>
                      <a:endParaRPr lang="ko-KR" altLang="en-US" sz="105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8D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51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평가주체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연구단장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연구단장 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전문기관의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전문기관의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장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</a:tr>
              <a:tr h="6987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보고서 등</a:t>
                      </a:r>
                    </a:p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제출시기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개별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과제 책임자는 연구단장에게 분기 시작 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주 이내 분기별 목표 제출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개별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과제 책임자는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사분기 진도관리 시에 당해연도 연차보고서 및 차년도 계획서 제출 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당해연도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연구과제 종료일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개월 전에 연차보고서 및 계획서 제출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최종년도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사업종료후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개월 이내에 최종보고서 제출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</a:tr>
              <a:tr h="3629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평가시기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분기별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수시 가능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연도별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(4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사분기 기준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보고서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제출후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개월 이내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초안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제출후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개월 내외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</a:tr>
              <a:tr h="8665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평가방법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마일스톤관리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평가단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운영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필요시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현장평가팀에 의한 현장평가 실시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마일스톤 관리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평가단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운영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필요 시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현장평가팀에 의한 현장평가 실시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절대평가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전문가평가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상대평가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총괄조정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절대평가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전문가평가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</a:tr>
              <a:tr h="1951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나눔고딕" pitchFamily="50" charset="-127"/>
                          <a:ea typeface="나눔고딕" pitchFamily="50" charset="-127"/>
                        </a:rPr>
                        <a:t>평가기준</a:t>
                      </a:r>
                      <a:endParaRPr lang="ko-KR" altLang="en-US" sz="1000" b="1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계속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중단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보완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계속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중단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보완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계속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중단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  <a:tc>
                  <a:txBody>
                    <a:bodyPr/>
                    <a:lstStyle/>
                    <a:p>
                      <a:pPr marL="108000" marR="0" indent="-10800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 성공</a:t>
                      </a:r>
                      <a:r>
                        <a:rPr lang="en-US" altLang="ko-KR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smtClean="0">
                          <a:latin typeface="나눔고딕" pitchFamily="50" charset="-127"/>
                          <a:ea typeface="나눔고딕" pitchFamily="50" charset="-127"/>
                        </a:rPr>
                        <a:t>실패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761" marR="17761" marT="17761" marB="17761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4-(1)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 운영방안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연구단 발전방향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감축기술 현황을 반영하는 상향식 감축모형과 감축정책의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산업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및 거시경제 파급효과를 분석하는 하향식 일반균형모형을 통합하는 통합감축 시스템 운영의 선두주자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본 총괄과제 및 세부과제의 성과가 사업종료 이후 단절되지 않도록 지속적인 모형 개선 및 유지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‧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관리를 수행하며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국내외 전문가 네트워크를 통해 상시 최신의 기술을 공유 및 반영할 수 있도록 온실가스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감축모형의 국제적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허브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(Hub)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역할 수행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연구과제 수행 과정에서 활발한 연구성과 홍보활동을 통해 정보를 공유하고 잠재적 수요자의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니즈를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파악하며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이를 통해 연구단의 역할 및 발전방향 모색 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중장기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감축정책 수립을 위한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글로벌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싱크탱크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(Think-Tank)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로 발전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중장기 온실가스 감축목표 수립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거래제를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위한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할당계획 수립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부문별 온실가스 감축 잠재력 분석 등 국가 온실가스 감축정책 수립을 지원할 수 있는 과학적 자료 및 분석결과 제공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 온실가스 감축의무 협상에 기여하고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IPCC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제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6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차 평가보고서에 참여할 수 있는 온실가스 감축모형 전문가를 보유하는 등 국제적 온실가스 감축 활동에서 한국의 위상을 높일 수 있도록 연구성과 창출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개발된 통합 감축모형을 다수의 개발도상국에 적용 및 전파함으로써 국제협력 사업을 지속적으로 발굴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한국형 통합 감축모형은 국제적 수준의 통합영향평가모형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(IAM)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으로 확장 추진</a:t>
            </a:r>
          </a:p>
          <a:p>
            <a:pPr marL="1200150" lvl="2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 뿐만 아니라 기후변화 완화에 따른 파급효과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적응정책 및 기후변화 영향까지 통합적으로 분석할 수 있는 통합영향평가모형의 필요성이 활발히 제기됨에 따라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본 연구단에서 개발된 한국형 통합 감축모형과 관련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DB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가 통합영향평가모형 개발에 연계될 것으로 기대</a:t>
            </a:r>
          </a:p>
          <a:p>
            <a:pPr marL="742950" lvl="1" indent="-285750" latinLnBrk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E83573-943A-48C5-AA28-279847F98173}" type="slidenum">
              <a:rPr lang="ko-KR" altLang="en-US"/>
              <a:pPr>
                <a:defRPr/>
              </a:pPr>
              <a:t>46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4-(2)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연구단과제 관리계획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Milestone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에 입각한 과제관리로 연구진척도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성과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예산 집행 등에 대한 분기별 목표 수립 및 관리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연구과제 추진 단계별로 목표를 설정하고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각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Milestone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이 종료될 때마다 목표 달성여부를 점검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‧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평가하여 다음 단계로의 진행 여부 및 추진방향을 결정하는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Milestone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제도 반영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연구단장은 총괄 및 세부과제 책임자에게 과제 시작 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주 이내에 분기별 목표를 제출하도록 요청하며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별도로 구성되는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평가단의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검토의견을 반영하여 과제 시작 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주 이내에 분기별 목표를 확정하여 개별 책임자에게 통보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연구단장은 분기별 목표의 달성 여부에 대하여 분기 종료 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주 이내에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평가단의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검토의견을 반영한 평가결과를 개별 책임자에게 통보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계획 대비 추진실적이 미진하거나 현장평가가 필요하다고 판단되는 경우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현장평가팀을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구성하여 현장평가 실시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분기별 평가 결과는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계속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중단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보완의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단계로 제시하여 후속대책 마련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6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분기별 목표 달성 및 연구성과 제고를 위한 정기적 연구 관리방안 수립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총괄 및 세부과제 책임자는 격주로 지정된 일자에 연구진행상황을 연구단장에게 보고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매월 총괄 및 세무과제 연구진이 참여하는 월례회의를 개최하여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개별 과제의 연구진행상황을 발표 및 공유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연구개발 동향 및 모형 개발자 정기모임을 통해 연구진행상황 점검 및 자문 수행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4E40F3-53DF-47D7-B62C-D2C4352C04C8}" type="slidenum">
              <a:rPr lang="ko-KR" altLang="en-US"/>
              <a:pPr>
                <a:defRPr/>
              </a:pPr>
              <a:t>47</a:t>
            </a:fld>
            <a:endParaRPr lang="ko-KR" altLang="en-US" dirty="0"/>
          </a:p>
        </p:txBody>
      </p:sp>
      <p:sp>
        <p:nvSpPr>
          <p:cNvPr id="63493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세부과제 목표관리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4-(2)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연구단과제 관리계획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연구성과 평가는 연차평가</a:t>
            </a:r>
            <a:r>
              <a:rPr lang="en-US" altLang="ko-KR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최종평가 및 자체평가로 구분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연차평가 및 최종평가에서는 본 연구단과제의 성과를 바탕으로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계속여부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또는 성공여부를 판단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자체평가에서는 세부과제별 평가절차 및 기준을 통해 평가를 수행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</a:pPr>
            <a:endParaRPr lang="en-US" altLang="ko-KR" sz="600" b="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3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연구성과 평가의 착안점 및 정량적 기준</a:t>
            </a: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endParaRPr lang="en-US" altLang="ko-KR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F56FF8-F927-45D0-88BA-054511AE0E49}" type="slidenum">
              <a:rPr lang="ko-KR" altLang="en-US"/>
              <a:pPr>
                <a:defRPr/>
              </a:pPr>
              <a:t>48</a:t>
            </a:fld>
            <a:endParaRPr lang="ko-KR" altLang="en-US" dirty="0"/>
          </a:p>
        </p:txBody>
      </p:sp>
      <p:sp>
        <p:nvSpPr>
          <p:cNvPr id="64517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연구성과 평가계획</a:t>
            </a:r>
          </a:p>
        </p:txBody>
      </p:sp>
      <p:sp>
        <p:nvSpPr>
          <p:cNvPr id="64518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750951" y="3333750"/>
            <a:ext cx="2238375" cy="971550"/>
          </a:xfrm>
          <a:prstGeom prst="roundRect">
            <a:avLst/>
          </a:prstGeom>
          <a:noFill/>
          <a:ln w="19050" cap="flat" cmpd="sng" algn="ctr">
            <a:solidFill>
              <a:srgbClr val="FF99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atinLnBrk="0">
              <a:defRPr/>
            </a:pP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평가의 착안점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총괄과제 및 세부과제의 </a:t>
            </a:r>
            <a:r>
              <a:rPr lang="ko-KR" altLang="en-US" sz="1050" dirty="0" err="1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연차별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 세부 내용에 따라 평가의 착안점 및 기준을 마련하여 평가 수행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741426" y="4476750"/>
            <a:ext cx="2247900" cy="1152525"/>
          </a:xfrm>
          <a:prstGeom prst="roundRect">
            <a:avLst/>
          </a:prstGeom>
          <a:noFill/>
          <a:ln w="19050" cap="flat" cmpd="sng" algn="ctr">
            <a:solidFill>
              <a:srgbClr val="FF9933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atinLnBrk="0">
              <a:defRPr/>
            </a:pP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정량적 기준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총괄 및 세부과제별 평가를 위한 정량적 기준은 경제사회적 성과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과학기술적 성과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국제협력 성과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인력 활용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양성 성과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공공적 성과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기타 성과의 </a:t>
            </a:r>
            <a:r>
              <a:rPr lang="en-US" altLang="ko-KR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6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개 </a:t>
            </a:r>
            <a:r>
              <a:rPr lang="ko-KR" altLang="en-US" sz="1050" dirty="0" err="1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대분류로</a:t>
            </a:r>
            <a:r>
              <a:rPr lang="ko-KR" altLang="en-US" sz="1050" dirty="0">
                <a:solidFill>
                  <a:srgbClr val="FF6600"/>
                </a:solidFill>
                <a:latin typeface="나눔고딕" pitchFamily="50" charset="-127"/>
                <a:ea typeface="나눔고딕" pitchFamily="50" charset="-127"/>
              </a:rPr>
              <a:t> 구분하여 작성</a:t>
            </a:r>
          </a:p>
        </p:txBody>
      </p:sp>
      <p:sp>
        <p:nvSpPr>
          <p:cNvPr id="64521" name="Rectangle 10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ko-KR" altLang="ko-KR"/>
          </a:p>
        </p:txBody>
      </p:sp>
      <p:pic>
        <p:nvPicPr>
          <p:cNvPr id="12" name="그림 11" descr="그림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00252" y="3197130"/>
            <a:ext cx="5900098" cy="2872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4-(2)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연구단과제 관리계획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세부과제 자체평가 계획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평가단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구성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감축모형 관련 국내 저명 연구자를 대상으로 환경부 등 유관 정부기관과 협의하여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5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인 내외의 평가단 구성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단계별로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국제평가단을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구성하여 단계별 연구성과를 평가하고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단계별 최종연도의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평가단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평가에 결과 반영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평가절차 및 방법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연구단장은 분기별 진도관리와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연차별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자체평가를 실시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분기별 진도관리는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세부과제 목표관리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계획에 따라 실시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연차별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자체평가는 연구단장이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평가단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구성을 통해 실시하며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개별 과제 책임자는 매년 </a:t>
            </a:r>
            <a:r>
              <a:rPr lang="en-US" altLang="ko-KR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사분기 진도관리 시에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당해연도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연차보고서 및 차년도 계획서를 제출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평가기준 및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일정별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평가내용</a:t>
            </a: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분기별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진도관리는 분기별 계획 대비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실적 평가</a:t>
            </a: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연차별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자체평가는 해당 연도에 대한 목표 대비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실적 평가</a:t>
            </a: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 결과에 따라 최종적으로 계속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보완</a:t>
            </a:r>
            <a:r>
              <a:rPr lang="en-US" altLang="ko-KR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또는 중단 결정</a:t>
            </a:r>
            <a:endParaRPr lang="ko-KR" altLang="en-US" sz="1200" b="0" dirty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1200150" lvl="2" indent="-285750" latinLnBrk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85000"/>
              <a:buFont typeface="Arial" pitchFamily="34" charset="0"/>
              <a:buChar char="•"/>
            </a:pP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평가 </a:t>
            </a:r>
            <a:r>
              <a:rPr lang="ko-KR" altLang="en-US" sz="1200" b="0" dirty="0" err="1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결과별</a:t>
            </a:r>
            <a:r>
              <a:rPr lang="ko-KR" altLang="en-US" sz="1200" b="0" dirty="0" smtClean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조치는 분기별 진도관리와 </a:t>
            </a:r>
            <a:r>
              <a:rPr lang="ko-KR" altLang="en-US" sz="1200" b="0" dirty="0" err="1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연차별</a:t>
            </a:r>
            <a:r>
              <a:rPr lang="ko-KR" altLang="en-US" sz="1200" b="0" dirty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 자체평가에서 동일하게 적용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A74083-6B4B-416C-8C86-FC71045EF2E0}" type="slidenum">
              <a:rPr lang="ko-KR" altLang="en-US"/>
              <a:pPr>
                <a:defRPr/>
              </a:pPr>
              <a:t>49</a:t>
            </a:fld>
            <a:endParaRPr lang="ko-KR" altLang="en-US" dirty="0"/>
          </a:p>
        </p:txBody>
      </p:sp>
      <p:sp>
        <p:nvSpPr>
          <p:cNvPr id="65541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연구성과 평가계획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14850" y="676275"/>
            <a:ext cx="4629150" cy="581025"/>
          </a:xfrm>
        </p:spPr>
        <p:txBody>
          <a:bodyPr/>
          <a:lstStyle/>
          <a:p>
            <a:pPr algn="just" eaLnBrk="1" hangingPunct="1"/>
            <a:r>
              <a:rPr lang="en-GB" altLang="ko-KR" sz="2400" smtClean="0">
                <a:latin typeface="나눔고딕 ExtraBold" pitchFamily="50" charset="-127"/>
                <a:ea typeface="나눔고딕 ExtraBold" pitchFamily="50" charset="-127"/>
              </a:rPr>
              <a:t>4-(2) </a:t>
            </a:r>
            <a:r>
              <a:rPr lang="ko-KR" altLang="en-US" sz="2400" smtClean="0">
                <a:latin typeface="나눔고딕 ExtraBold" pitchFamily="50" charset="-127"/>
                <a:ea typeface="나눔고딕 ExtraBold" pitchFamily="50" charset="-127"/>
              </a:rPr>
              <a:t>연구단과제 관리계획</a:t>
            </a:r>
            <a:endParaRPr lang="en-US" altLang="ko-KR" sz="2400" smtClean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/>
        </p:nvSpPr>
        <p:spPr bwMode="auto">
          <a:xfrm>
            <a:off x="601663" y="1657350"/>
            <a:ext cx="8313737" cy="459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매년 연구성과발표회 </a:t>
            </a:r>
            <a:r>
              <a:rPr lang="en-US" altLang="ko-KR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회 개최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연차별 연구과제 종료 후 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개월 이내에 국내 관련 분야 전문가를 대상으로 총괄 및 세부과제의 성과를 홍보하고 정보를 공유하기 위한 연구성과발표회 개최 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연구성과발표회에 대한 보도자료 배포 및 기자 설명회 개최로 대내외 홍보 강화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endParaRPr lang="en-US" altLang="ko-KR" sz="8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개발된 한국형 온실가스 통합 감축모형에 대한 정기적 교육 실시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환경부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온실가스 종합정보센터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국립환경과학원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배출권거래제기획단 등 한국형 온실가스 통합 감축모형의 주요 활용처에 대해 연 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회 이상의 정기 교육 실시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교육 수요자별 맞춤형 교육이 가능하도록 다양한 교육방법 개발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오프라인뿐만 아니라 온라인 교육을 통한 국내외 홍보 강화방안 고려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endParaRPr lang="ko-KR" altLang="en-US" sz="8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매년 국제학술대회 </a:t>
            </a:r>
            <a:r>
              <a:rPr lang="en-US" altLang="ko-KR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회 개최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국내외 온실가스 감축모형 전문가 및 유관 분야 전문가를 대상으로 국제학술대회를 개최하여 본 연구단의 결과물을 발표하고 공유하는 정보의 장 마련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한국형 감축모형 관련 연구진 및 연구내용에 대한 국제적 홍보를 통해 연구성과의 활용도를 높이고</a:t>
            </a:r>
            <a:r>
              <a:rPr lang="en-US" altLang="ko-KR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국제학술대회를 주관함에 따라 연구단의 위상을 제고 </a:t>
            </a:r>
            <a:endParaRPr lang="en-US" altLang="ko-KR" sz="12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endParaRPr lang="ko-KR" altLang="en-US" sz="800" b="0">
              <a:solidFill>
                <a:srgbClr val="000000"/>
              </a:solidFill>
              <a:latin typeface="나눔고딕" pitchFamily="50" charset="-127"/>
              <a:ea typeface="나눔고딕" pitchFamily="50" charset="-127"/>
            </a:endParaRPr>
          </a:p>
          <a:p>
            <a:pPr marL="342900" indent="-342900" latinLnBrk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120000"/>
              <a:buFont typeface="Wingdings" pitchFamily="2" charset="2"/>
              <a:buChar char="§"/>
            </a:pP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온라인 뉴스레터를 제작</a:t>
            </a:r>
            <a:r>
              <a:rPr lang="en-US" altLang="ko-KR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‧</a:t>
            </a:r>
            <a:r>
              <a:rPr lang="ko-KR" altLang="en-US" sz="14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배포하여 정기적으로 연구단의 소식 및 활동 내역 공유</a:t>
            </a:r>
          </a:p>
          <a:p>
            <a:pPr marL="742950" lvl="1" indent="-285750" latinLnBrk="0">
              <a:lnSpc>
                <a:spcPct val="110000"/>
              </a:lnSpc>
              <a:spcBef>
                <a:spcPct val="20000"/>
              </a:spcBef>
              <a:buClr>
                <a:srgbClr val="365B91"/>
              </a:buClr>
              <a:buSzPct val="85000"/>
              <a:buFont typeface="Arial" pitchFamily="34" charset="0"/>
              <a:buChar char="–"/>
            </a:pPr>
            <a:r>
              <a:rPr lang="ko-KR" altLang="en-US" sz="1200" b="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rPr>
              <a:t>연구단 및 연구내용에 대한 인지도를 높이고 개발된 통합모형의 잠재적 수요처를 확대시키는 효과를 기대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8195C5-4784-44A8-A180-437A83DB3483}" type="slidenum">
              <a:rPr lang="ko-KR" altLang="en-US"/>
              <a:pPr>
                <a:defRPr/>
              </a:pPr>
              <a:t>50</a:t>
            </a:fld>
            <a:endParaRPr lang="ko-KR" altLang="en-US" dirty="0"/>
          </a:p>
        </p:txBody>
      </p:sp>
      <p:sp>
        <p:nvSpPr>
          <p:cNvPr id="66565" name="TextBox 4"/>
          <p:cNvSpPr txBox="1">
            <a:spLocks noChangeArrowheads="1"/>
          </p:cNvSpPr>
          <p:nvPr/>
        </p:nvSpPr>
        <p:spPr bwMode="auto">
          <a:xfrm>
            <a:off x="7077075" y="1257300"/>
            <a:ext cx="2066925" cy="307975"/>
          </a:xfrm>
          <a:prstGeom prst="rect">
            <a:avLst/>
          </a:prstGeom>
          <a:solidFill>
            <a:srgbClr val="FCC07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나눔고딕 Bold" pitchFamily="50" charset="-127"/>
                <a:ea typeface="나눔고딕 Bold" pitchFamily="50" charset="-127"/>
              </a:rPr>
              <a:t>연구성과 홍보계획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내용 개체 틀 2"/>
          <p:cNvSpPr>
            <a:spLocks noGrp="1"/>
          </p:cNvSpPr>
          <p:nvPr>
            <p:ph idx="1"/>
          </p:nvPr>
        </p:nvSpPr>
        <p:spPr>
          <a:xfrm>
            <a:off x="3060700" y="2565400"/>
            <a:ext cx="3048000" cy="920750"/>
          </a:xfrm>
        </p:spPr>
        <p:txBody>
          <a:bodyPr/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ko-KR" altLang="en-US" sz="3200" smtClean="0">
                <a:latin typeface="나눔고딕 ExtraBold" pitchFamily="50" charset="-127"/>
                <a:ea typeface="나눔고딕 ExtraBold" pitchFamily="50" charset="-127"/>
              </a:rPr>
              <a:t>감사합니다</a:t>
            </a:r>
            <a:r>
              <a:rPr lang="en-US" altLang="ko-KR" sz="3200" smtClean="0">
                <a:latin typeface="나눔고딕 ExtraBold" pitchFamily="50" charset="-127"/>
                <a:ea typeface="나눔고딕 ExtraBold" pitchFamily="50" charset="-127"/>
              </a:rPr>
              <a:t>!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937017-A04C-4417-93AE-419137F9965A}" type="slidenum">
              <a:rPr lang="ko-KR" altLang="en-US"/>
              <a:pPr>
                <a:defRPr/>
              </a:pPr>
              <a:t>51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183883"/>
      </a:dk1>
      <a:lt1>
        <a:srgbClr val="FFFFFF"/>
      </a:lt1>
      <a:dk2>
        <a:srgbClr val="183883"/>
      </a:dk2>
      <a:lt2>
        <a:srgbClr val="808080"/>
      </a:lt2>
      <a:accent1>
        <a:srgbClr val="D4E3F7"/>
      </a:accent1>
      <a:accent2>
        <a:srgbClr val="0067AF"/>
      </a:accent2>
      <a:accent3>
        <a:srgbClr val="FFFFFF"/>
      </a:accent3>
      <a:accent4>
        <a:srgbClr val="132E6F"/>
      </a:accent4>
      <a:accent5>
        <a:srgbClr val="E6EFFA"/>
      </a:accent5>
      <a:accent6>
        <a:srgbClr val="005D9E"/>
      </a:accent6>
      <a:hlink>
        <a:srgbClr val="365B91"/>
      </a:hlink>
      <a:folHlink>
        <a:srgbClr val="0099A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183883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132E6F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183883"/>
        </a:dk1>
        <a:lt1>
          <a:srgbClr val="FFFFFF"/>
        </a:lt1>
        <a:dk2>
          <a:srgbClr val="000000"/>
        </a:dk2>
        <a:lt2>
          <a:srgbClr val="808080"/>
        </a:lt2>
        <a:accent1>
          <a:srgbClr val="D4E3F7"/>
        </a:accent1>
        <a:accent2>
          <a:srgbClr val="333399"/>
        </a:accent2>
        <a:accent3>
          <a:srgbClr val="FFFFFF"/>
        </a:accent3>
        <a:accent4>
          <a:srgbClr val="132E6F"/>
        </a:accent4>
        <a:accent5>
          <a:srgbClr val="E6EFF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183883"/>
        </a:dk1>
        <a:lt1>
          <a:srgbClr val="FFFFFF"/>
        </a:lt1>
        <a:dk2>
          <a:srgbClr val="183883"/>
        </a:dk2>
        <a:lt2>
          <a:srgbClr val="808080"/>
        </a:lt2>
        <a:accent1>
          <a:srgbClr val="D4E3F7"/>
        </a:accent1>
        <a:accent2>
          <a:srgbClr val="333399"/>
        </a:accent2>
        <a:accent3>
          <a:srgbClr val="FFFFFF"/>
        </a:accent3>
        <a:accent4>
          <a:srgbClr val="132E6F"/>
        </a:accent4>
        <a:accent5>
          <a:srgbClr val="E6EFF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183883"/>
        </a:dk1>
        <a:lt1>
          <a:srgbClr val="FFFFFF"/>
        </a:lt1>
        <a:dk2>
          <a:srgbClr val="183883"/>
        </a:dk2>
        <a:lt2>
          <a:srgbClr val="808080"/>
        </a:lt2>
        <a:accent1>
          <a:srgbClr val="D4E3F7"/>
        </a:accent1>
        <a:accent2>
          <a:srgbClr val="0067AF"/>
        </a:accent2>
        <a:accent3>
          <a:srgbClr val="FFFFFF"/>
        </a:accent3>
        <a:accent4>
          <a:srgbClr val="132E6F"/>
        </a:accent4>
        <a:accent5>
          <a:srgbClr val="E6EFFA"/>
        </a:accent5>
        <a:accent6>
          <a:srgbClr val="005D9E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6825</TotalTime>
  <Words>8754</Words>
  <Application>Microsoft Office PowerPoint</Application>
  <PresentationFormat>화면 슬라이드 쇼(4:3)</PresentationFormat>
  <Paragraphs>1626</Paragraphs>
  <Slides>51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0" baseType="lpstr">
      <vt:lpstr>굴림</vt:lpstr>
      <vt:lpstr>Arial</vt:lpstr>
      <vt:lpstr>나눔고딕 ExtraBold</vt:lpstr>
      <vt:lpstr>나눔고딕</vt:lpstr>
      <vt:lpstr>나눔고딕 Bold</vt:lpstr>
      <vt:lpstr>맑은 고딕</vt:lpstr>
      <vt:lpstr>Wingdings</vt:lpstr>
      <vt:lpstr>Verdana</vt:lpstr>
      <vt:lpstr>Default Design</vt:lpstr>
      <vt:lpstr>한국형 상·하향식 온실가스 통합 감축 시스템 개발</vt:lpstr>
      <vt:lpstr>목   차</vt:lpstr>
      <vt:lpstr>I. 1차년도 성과 보고</vt:lpstr>
      <vt:lpstr>1차년도 주요성과</vt:lpstr>
      <vt:lpstr>1차년도 주요성과</vt:lpstr>
      <vt:lpstr>1차년도 주요성과</vt:lpstr>
      <vt:lpstr>1차년도 주요성과</vt:lpstr>
      <vt:lpstr>1차년도 주요성과</vt:lpstr>
      <vt:lpstr>1차년도 주요성과</vt:lpstr>
      <vt:lpstr>1차년도 주요성과</vt:lpstr>
      <vt:lpstr>1차년도 주요성과</vt:lpstr>
      <vt:lpstr>II. 2차년도 계획 보고</vt:lpstr>
      <vt:lpstr>1. 연구개발 계획</vt:lpstr>
      <vt:lpstr>1-(1) 기술개발 필요성 및 목표</vt:lpstr>
      <vt:lpstr>1-(1) 기술개발 필요성 및 목표</vt:lpstr>
      <vt:lpstr>1-(2) 국내외 기술 및 시장 동향</vt:lpstr>
      <vt:lpstr>1-(2) 국내외 기술 및 시장 동향</vt:lpstr>
      <vt:lpstr>1-(2) 국내외 기술 및 시장 동향</vt:lpstr>
      <vt:lpstr>1-(2) 국내외 기술 및 시장 동향</vt:lpstr>
      <vt:lpstr>1-(2) 국내외 기술 및 시장 동향</vt:lpstr>
      <vt:lpstr>1-(2) 국내외 기술 및 시장 동향</vt:lpstr>
      <vt:lpstr>1-(3) 문제점 및 해결방안</vt:lpstr>
      <vt:lpstr>1-(4) 기대효과</vt:lpstr>
      <vt:lpstr>2. 연구 수행방법 및 추진전략</vt:lpstr>
      <vt:lpstr>2-(1) 세부 추진전략</vt:lpstr>
      <vt:lpstr>2-(2) 관련기술 확보방안</vt:lpstr>
      <vt:lpstr>슬라이드 27</vt:lpstr>
      <vt:lpstr>슬라이드 28</vt:lpstr>
      <vt:lpstr>슬라이드 29</vt:lpstr>
      <vt:lpstr>슬라이드 30</vt:lpstr>
      <vt:lpstr>슬라이드 31</vt:lpstr>
      <vt:lpstr>2-(4) 소요예산 및 연구인력</vt:lpstr>
      <vt:lpstr>3. 연구단장 및 주관기관 역량</vt:lpstr>
      <vt:lpstr>3-(1) 연구단장 및 주관기관</vt:lpstr>
      <vt:lpstr>3-(2) 주요 연구실적</vt:lpstr>
      <vt:lpstr>3-(2) 주요 연구실적</vt:lpstr>
      <vt:lpstr>3-(2) 주요 연구실적</vt:lpstr>
      <vt:lpstr>3-(2) 주요 연구실적</vt:lpstr>
      <vt:lpstr>3-(2) 주요 연구실적</vt:lpstr>
      <vt:lpstr>3-(2) 주요 연구실적</vt:lpstr>
      <vt:lpstr>3-(3) 비전 및 가치관</vt:lpstr>
      <vt:lpstr>3-(3) 비전 및 가치관</vt:lpstr>
      <vt:lpstr>4. 연구단 운영·관리 계획</vt:lpstr>
      <vt:lpstr>4-(1) 연구단 운영방안</vt:lpstr>
      <vt:lpstr>4-(1) 연구단 운영방안</vt:lpstr>
      <vt:lpstr>4-(1) 연구단 운영방안</vt:lpstr>
      <vt:lpstr>4-(2) 연구단과제 관리계획</vt:lpstr>
      <vt:lpstr>4-(2) 연구단과제 관리계획</vt:lpstr>
      <vt:lpstr>4-(2) 연구단과제 관리계획</vt:lpstr>
      <vt:lpstr>4-(2) 연구단과제 관리계획</vt:lpstr>
      <vt:lpstr>슬라이드 51</vt:lpstr>
    </vt:vector>
  </TitlesOfParts>
  <Company>Presentation Magazine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2 Template</dc:title>
  <dc:creator>Presentation Magazine</dc:creator>
  <cp:lastModifiedBy>KEI</cp:lastModifiedBy>
  <cp:revision>901</cp:revision>
  <dcterms:created xsi:type="dcterms:W3CDTF">2005-02-28T14:06:28Z</dcterms:created>
  <dcterms:modified xsi:type="dcterms:W3CDTF">2015-04-13T09:44:02Z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hecked by">
    <vt:lpwstr>Presentation Helper</vt:lpwstr>
  </property>
</Properties>
</file>